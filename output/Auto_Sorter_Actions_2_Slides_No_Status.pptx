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b6581834ee46da" /><Relationship Type="http://schemas.openxmlformats.org/officeDocument/2006/relationships/extended-properties" Target="/docProps/app.xml" Id="Rb48f6c94ee784e32" /><Relationship Type="http://schemas.openxmlformats.org/officeDocument/2006/relationships/officeDocument" Target="/ppt/presentation.xml" Id="R2f4df73b22c34c9f" /></Relationships>
</file>

<file path=ppt/presentation.xml><?xml version="1.0" encoding="utf-8"?>
<p:presentation xmlns:p="http://schemas.openxmlformats.org/presentationml/2006/main">
  <p:sldMasterIdLst>
    <p:sldMasterId xmlns:r="http://schemas.openxmlformats.org/officeDocument/2006/relationships" id="2147483648" r:id="R0a78a581ca294b2b"/>
  </p:sldMasterIdLst>
  <p:notesMasterIdLst>
    <p:notesMasterId xmlns:r="http://schemas.openxmlformats.org/officeDocument/2006/relationships" r:id="R70bd4d8b14254830"/>
  </p:notesMasterIdLst>
  <p:sldIdLst>
    <p:sldId xmlns:r="http://schemas.openxmlformats.org/officeDocument/2006/relationships" id="256" r:id="R85cd8e12aaf14805"/>
    <p:sldId xmlns:r="http://schemas.openxmlformats.org/officeDocument/2006/relationships" id="257" r:id="Rbc4703fa69964c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b1789fe5264061" /><Relationship Type="http://schemas.openxmlformats.org/officeDocument/2006/relationships/slideMaster" Target="/ppt/slideMasters/slideMaster1.xml" Id="R0a78a581ca294b2b" /><Relationship Type="http://schemas.openxmlformats.org/officeDocument/2006/relationships/notesMaster" Target="/ppt/notesMasters/notesMaster1.xml" Id="R70bd4d8b14254830" /><Relationship Type="http://schemas.openxmlformats.org/officeDocument/2006/relationships/presProps" Target="/ppt/presProps.xml" Id="R9a89c7fbe1c44a00" /><Relationship Type="http://schemas.openxmlformats.org/officeDocument/2006/relationships/tableStyles" Target="/ppt/tableStyles.xml" Id="Rb73b4b8bc6c644ba" /><Relationship Type="http://schemas.openxmlformats.org/officeDocument/2006/relationships/slide" Target="/ppt/slides/slide1.xml" Id="R85cd8e12aaf14805" /><Relationship Type="http://schemas.openxmlformats.org/officeDocument/2006/relationships/slide" Target="/ppt/slides/slide2.xml" Id="Rbc4703fa69964c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442b3cb0034a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93503efc6a437a" /><Relationship Type="http://schemas.openxmlformats.org/officeDocument/2006/relationships/notesMaster" Target="/ppt/notesMasters/notesMaster1.xml" Id="Rfcb572ac74ce46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08f0fa102c41f7" /><Relationship Type="http://schemas.openxmlformats.org/officeDocument/2006/relationships/notesMaster" Target="/ppt/notesMasters/notesMaster1.xml" Id="Rf0a7923cefc748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33–35. The 30-day recovery and locked measured values are stated on source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36–42. Source 36–39 describe measurement validation, image pairing, data protection, and sorting. Source 40–41 describe raw and summarized quality reporting. Source 42 database schema was omitted. The user confirmed all work is now complete, so no project status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802069d51a4f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7e701f07134b53" /><Relationship Type="http://schemas.openxmlformats.org/officeDocument/2006/relationships/slideLayout" Target="/ppt/slideLayouts/slideLayout1.xml" Id="R9619cfdc424e4d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19cfdc424e4d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086adc46b5425f" /><Relationship Type="http://schemas.openxmlformats.org/officeDocument/2006/relationships/image" Target="/ppt/media/image.png" Id="R927ed6ad32834bf9" /><Relationship Type="http://schemas.openxmlformats.org/officeDocument/2006/relationships/notesSlide" Target="/ppt/notesSlides/notesSlide1.xml" Id="R16083270c45941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e0c21ab0b64106" /><Relationship Type="http://schemas.openxmlformats.org/officeDocument/2006/relationships/image" Target="/ppt/media/image2.png" Id="R1ef266cac988485c" /><Relationship Type="http://schemas.openxmlformats.org/officeDocument/2006/relationships/notesSlide" Target="/ppt/notesSlides/notesSlide2.xml" Id="Raae3312d6600423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B07D261-F093-4C0C-8A8B-B744EA2B475C}"/>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Actions</a:t>
            </a:r>
          </a:p>
        </p:txBody>
      </p:sp>
      <p:sp>
        <p:nvSpPr>
          <p:cNvPr id="2" name="">
            <a:extLst xmlns:a="http://schemas.openxmlformats.org/drawingml/2006/main">
              <a:ext uri="{FF2B5EF4-FFF2-40B4-BE49-F238E27FC236}">
                <a16:creationId xmlns:a16="http://schemas.microsoft.com/office/drawing/2014/main" id="{11E1E75B-3983-4429-B9B0-A866784C679B}"/>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35A987-A914-433B-9269-251E4333A1B2}"/>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Operator Workflow</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27ed6ad32834bf9"/>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A370A1-7CFA-4E5C-97C9-B820749489C4}"/>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52585A-D24C-4CC1-B8C7-9D1CF53DAB94}"/>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a:solidFill>
                  <a:srgbClr val="082A68"/>
                </a:solidFill>
                <a:latin typeface="Arial"/>
                <a:ea typeface="Arial"/>
                <a:cs typeface="Arial"/>
              </a:defRPr>
            </a:pPr>
            <a:r>
              <a:rPr sz="2625" b="1">
                <a:solidFill>
                  <a:srgbClr val="082A68"/>
                </a:solidFill>
                <a:latin typeface="Arial"/>
                <a:ea typeface="Arial"/>
                <a:cs typeface="Arial"/>
              </a:rPr>
              <a:t>One workflow from setup to report</a:t>
            </a:r>
          </a:p>
        </p:txBody>
      </p:sp>
      <p:sp>
        <p:nvSpPr>
          <p:cNvPr id="7" name="">
            <a:extLst xmlns:a="http://schemas.openxmlformats.org/drawingml/2006/main">
              <a:ext uri="{FF2B5EF4-FFF2-40B4-BE49-F238E27FC236}">
                <a16:creationId xmlns:a16="http://schemas.microsoft.com/office/drawing/2014/main" id="{D03EC539-576B-4112-979D-4F98201B75F0}"/>
              </a:ext>
            </a:extLst>
          </p:cNvPr>
          <p:cNvSpPr>
            <a:spLocks xmlns:a="http://schemas.openxmlformats.org/drawingml/2006/main" noGrp="1"/>
          </p:cNvSpPr>
          <p:nvPr/>
        </p:nvSpPr>
        <p:spPr>
          <a:xfrm xmlns:a="http://schemas.openxmlformats.org/drawingml/2006/main">
            <a:off x="876300" y="18002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525C6C"/>
                </a:solidFill>
                <a:latin typeface="Arial"/>
                <a:ea typeface="Arial"/>
                <a:cs typeface="Arial"/>
              </a:defRPr>
            </a:pPr>
            <a:r>
              <a:rPr sz="1650" b="0">
                <a:solidFill>
                  <a:srgbClr val="525C6C"/>
                </a:solidFill>
                <a:latin typeface="Arial"/>
                <a:ea typeface="Arial"/>
                <a:cs typeface="Arial"/>
              </a:rPr>
              <a:t>Operators use one place to prepare, monitor, and retrieve ALPL measurements.</a:t>
            </a:r>
          </a:p>
        </p:txBody>
      </p:sp>
      <p:sp>
        <p:nvSpPr>
          <p:cNvPr id="8" name="">
            <a:extLst xmlns:a="http://schemas.openxmlformats.org/drawingml/2006/main">
              <a:ext uri="{FF2B5EF4-FFF2-40B4-BE49-F238E27FC236}">
                <a16:creationId xmlns:a16="http://schemas.microsoft.com/office/drawing/2014/main" id="{38D647C6-36E7-46FB-B8B6-2E3405B92548}"/>
              </a:ext>
            </a:extLst>
          </p:cNvPr>
          <p:cNvSpPr>
            <a:spLocks xmlns:a="http://schemas.openxmlformats.org/drawingml/2006/main" noGrp="1"/>
          </p:cNvSpPr>
          <p:nvPr/>
        </p:nvSpPr>
        <p:spPr>
          <a:xfrm xmlns:a="http://schemas.openxmlformats.org/drawingml/2006/main">
            <a:off x="666750" y="2209800"/>
            <a:ext cx="3333750" cy="2352675"/>
          </a:xfrm>
          <a:prstGeom xmlns:a="http://schemas.openxmlformats.org/drawingml/2006/main" prst="roundRect">
            <a:avLst>
              <a:gd name="adj" fmla="val 3239"/>
            </a:avLst>
          </a:prstGeom>
          <a:solidFill xmlns:a="http://schemas.openxmlformats.org/drawingml/2006/main">
            <a:srgbClr val="FBE8DC"/>
          </a:solidFill>
          <a:ln xmlns:a="http://schemas.openxmlformats.org/drawingml/2006/main" w="9525">
            <a:solidFill>
              <a:srgbClr val="C5D0D8"/>
            </a:solidFill>
            <a:prstDash val="solid"/>
          </a:ln>
        </p:spPr>
      </p:sp>
      <p:sp>
        <p:nvSpPr>
          <p:cNvPr id="9" name="">
            <a:extLst xmlns:a="http://schemas.openxmlformats.org/drawingml/2006/main">
              <a:ext uri="{FF2B5EF4-FFF2-40B4-BE49-F238E27FC236}">
                <a16:creationId xmlns:a16="http://schemas.microsoft.com/office/drawing/2014/main" id="{B346540F-6235-4346-ABB1-D4C3C8DABEE0}"/>
              </a:ext>
            </a:extLst>
          </p:cNvPr>
          <p:cNvSpPr>
            <a:spLocks xmlns:a="http://schemas.openxmlformats.org/drawingml/2006/main" noGrp="1"/>
          </p:cNvSpPr>
          <p:nvPr/>
        </p:nvSpPr>
        <p:spPr>
          <a:xfrm xmlns:a="http://schemas.openxmlformats.org/drawingml/2006/main">
            <a:off x="666750" y="2209800"/>
            <a:ext cx="3333750" cy="485775"/>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47366C-1569-4493-8853-E13AEF6BF2C3}"/>
              </a:ext>
            </a:extLst>
          </p:cNvPr>
          <p:cNvSpPr>
            <a:spLocks xmlns:a="http://schemas.openxmlformats.org/drawingml/2006/main" noGrp="1"/>
          </p:cNvSpPr>
          <p:nvPr/>
        </p:nvSpPr>
        <p:spPr>
          <a:xfrm xmlns:a="http://schemas.openxmlformats.org/drawingml/2006/main">
            <a:off x="84772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7084740B-31EC-4871-BED9-417418804EC4}"/>
              </a:ext>
            </a:extLst>
          </p:cNvPr>
          <p:cNvSpPr>
            <a:spLocks xmlns:a="http://schemas.openxmlformats.org/drawingml/2006/main" noGrp="1"/>
          </p:cNvSpPr>
          <p:nvPr/>
        </p:nvSpPr>
        <p:spPr>
          <a:xfrm xmlns:a="http://schemas.openxmlformats.org/drawingml/2006/main">
            <a:off x="129540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Prepare</a:t>
            </a:r>
          </a:p>
        </p:txBody>
      </p:sp>
      <p:sp>
        <p:nvSpPr>
          <p:cNvPr id="12" name="">
            <a:extLst xmlns:a="http://schemas.openxmlformats.org/drawingml/2006/main">
              <a:ext uri="{FF2B5EF4-FFF2-40B4-BE49-F238E27FC236}">
                <a16:creationId xmlns:a16="http://schemas.microsoft.com/office/drawing/2014/main" id="{F06AF5F4-73A6-4C48-8A1F-D06F180498B1}"/>
              </a:ext>
            </a:extLst>
          </p:cNvPr>
          <p:cNvSpPr>
            <a:spLocks xmlns:a="http://schemas.openxmlformats.org/drawingml/2006/main" noGrp="1"/>
          </p:cNvSpPr>
          <p:nvPr/>
        </p:nvSpPr>
        <p:spPr>
          <a:xfrm xmlns:a="http://schemas.openxmlformats.org/drawingml/2006/main">
            <a:off x="89535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Select the ALPL and specifications.</a:t>
            </a:r>
          </a:p>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Build the part queue before the run.</a:t>
            </a:r>
          </a:p>
        </p:txBody>
      </p:sp>
      <p:sp>
        <p:nvSpPr>
          <p:cNvPr id="13" name="">
            <a:extLst xmlns:a="http://schemas.openxmlformats.org/drawingml/2006/main">
              <a:ext uri="{FF2B5EF4-FFF2-40B4-BE49-F238E27FC236}">
                <a16:creationId xmlns:a16="http://schemas.microsoft.com/office/drawing/2014/main" id="{1B6B3381-FC4E-4818-965A-936779E5B1B9}"/>
              </a:ext>
            </a:extLst>
          </p:cNvPr>
          <p:cNvSpPr>
            <a:spLocks xmlns:a="http://schemas.openxmlformats.org/drawingml/2006/main" noGrp="1"/>
          </p:cNvSpPr>
          <p:nvPr/>
        </p:nvSpPr>
        <p:spPr>
          <a:xfrm xmlns:a="http://schemas.openxmlformats.org/drawingml/2006/main">
            <a:off x="4429125"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4" name="">
            <a:extLst xmlns:a="http://schemas.openxmlformats.org/drawingml/2006/main">
              <a:ext uri="{FF2B5EF4-FFF2-40B4-BE49-F238E27FC236}">
                <a16:creationId xmlns:a16="http://schemas.microsoft.com/office/drawing/2014/main" id="{627B6943-C87E-49AC-AD3E-589F48DF4F16}"/>
              </a:ext>
            </a:extLst>
          </p:cNvPr>
          <p:cNvSpPr>
            <a:spLocks xmlns:a="http://schemas.openxmlformats.org/drawingml/2006/main" noGrp="1"/>
          </p:cNvSpPr>
          <p:nvPr/>
        </p:nvSpPr>
        <p:spPr>
          <a:xfrm xmlns:a="http://schemas.openxmlformats.org/drawingml/2006/main">
            <a:off x="4429125"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3A12A64-1F30-409E-BC7F-767EB33BD4AC}"/>
              </a:ext>
            </a:extLst>
          </p:cNvPr>
          <p:cNvSpPr>
            <a:spLocks xmlns:a="http://schemas.openxmlformats.org/drawingml/2006/main" noGrp="1"/>
          </p:cNvSpPr>
          <p:nvPr/>
        </p:nvSpPr>
        <p:spPr>
          <a:xfrm xmlns:a="http://schemas.openxmlformats.org/drawingml/2006/main">
            <a:off x="4610100"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6EBCB627-EC86-478F-A641-053C51E0DC49}"/>
              </a:ext>
            </a:extLst>
          </p:cNvPr>
          <p:cNvSpPr>
            <a:spLocks xmlns:a="http://schemas.openxmlformats.org/drawingml/2006/main" noGrp="1"/>
          </p:cNvSpPr>
          <p:nvPr/>
        </p:nvSpPr>
        <p:spPr>
          <a:xfrm xmlns:a="http://schemas.openxmlformats.org/drawingml/2006/main">
            <a:off x="5057775"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Measure</a:t>
            </a:r>
          </a:p>
        </p:txBody>
      </p:sp>
      <p:sp>
        <p:nvSpPr>
          <p:cNvPr id="17" name="">
            <a:extLst xmlns:a="http://schemas.openxmlformats.org/drawingml/2006/main">
              <a:ext uri="{FF2B5EF4-FFF2-40B4-BE49-F238E27FC236}">
                <a16:creationId xmlns:a16="http://schemas.microsoft.com/office/drawing/2014/main" id="{F11BC0AF-7EC6-4C10-9AFC-D4CD480E5098}"/>
              </a:ext>
            </a:extLst>
          </p:cNvPr>
          <p:cNvSpPr>
            <a:spLocks xmlns:a="http://schemas.openxmlformats.org/drawingml/2006/main" noGrp="1"/>
          </p:cNvSpPr>
          <p:nvPr/>
        </p:nvSpPr>
        <p:spPr>
          <a:xfrm xmlns:a="http://schemas.openxmlformats.org/drawingml/2006/main">
            <a:off x="4657725"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See each value, pass/fail result, camera image, and queue progress live.</a:t>
            </a:r>
          </a:p>
        </p:txBody>
      </p:sp>
      <p:sp>
        <p:nvSpPr>
          <p:cNvPr id="18" name="">
            <a:extLst xmlns:a="http://schemas.openxmlformats.org/drawingml/2006/main">
              <a:ext uri="{FF2B5EF4-FFF2-40B4-BE49-F238E27FC236}">
                <a16:creationId xmlns:a16="http://schemas.microsoft.com/office/drawing/2014/main" id="{1D4DAB2D-53FE-4794-AFDA-EFB082D15AF6}"/>
              </a:ext>
            </a:extLst>
          </p:cNvPr>
          <p:cNvSpPr>
            <a:spLocks xmlns:a="http://schemas.openxmlformats.org/drawingml/2006/main" noGrp="1"/>
          </p:cNvSpPr>
          <p:nvPr/>
        </p:nvSpPr>
        <p:spPr>
          <a:xfrm xmlns:a="http://schemas.openxmlformats.org/drawingml/2006/main">
            <a:off x="8191500"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9" name="">
            <a:extLst xmlns:a="http://schemas.openxmlformats.org/drawingml/2006/main">
              <a:ext uri="{FF2B5EF4-FFF2-40B4-BE49-F238E27FC236}">
                <a16:creationId xmlns:a16="http://schemas.microsoft.com/office/drawing/2014/main" id="{E135E1D8-785E-4D0F-A0D7-0D99287A6CD4}"/>
              </a:ext>
            </a:extLst>
          </p:cNvPr>
          <p:cNvSpPr>
            <a:spLocks xmlns:a="http://schemas.openxmlformats.org/drawingml/2006/main" noGrp="1"/>
          </p:cNvSpPr>
          <p:nvPr/>
        </p:nvSpPr>
        <p:spPr>
          <a:xfrm xmlns:a="http://schemas.openxmlformats.org/drawingml/2006/main">
            <a:off x="8191500"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3ADC3C7-6CC9-4336-990A-E16B5A9B8805}"/>
              </a:ext>
            </a:extLst>
          </p:cNvPr>
          <p:cNvSpPr>
            <a:spLocks xmlns:a="http://schemas.openxmlformats.org/drawingml/2006/main" noGrp="1"/>
          </p:cNvSpPr>
          <p:nvPr/>
        </p:nvSpPr>
        <p:spPr>
          <a:xfrm xmlns:a="http://schemas.openxmlformats.org/drawingml/2006/main">
            <a:off x="837247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6E7C4A12-289D-44D7-B7BE-49CCDF423477}"/>
              </a:ext>
            </a:extLst>
          </p:cNvPr>
          <p:cNvSpPr>
            <a:spLocks xmlns:a="http://schemas.openxmlformats.org/drawingml/2006/main" noGrp="1"/>
          </p:cNvSpPr>
          <p:nvPr/>
        </p:nvSpPr>
        <p:spPr>
          <a:xfrm xmlns:a="http://schemas.openxmlformats.org/drawingml/2006/main">
            <a:off x="882015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Review &amp; share</a:t>
            </a:r>
          </a:p>
        </p:txBody>
      </p:sp>
      <p:sp>
        <p:nvSpPr>
          <p:cNvPr id="22" name="">
            <a:extLst xmlns:a="http://schemas.openxmlformats.org/drawingml/2006/main">
              <a:ext uri="{FF2B5EF4-FFF2-40B4-BE49-F238E27FC236}">
                <a16:creationId xmlns:a16="http://schemas.microsoft.com/office/drawing/2014/main" id="{1A27AAB1-A670-476C-B538-60CF464DC2D5}"/>
              </a:ext>
            </a:extLst>
          </p:cNvPr>
          <p:cNvSpPr>
            <a:spLocks xmlns:a="http://schemas.openxmlformats.org/drawingml/2006/main" noGrp="1"/>
          </p:cNvSpPr>
          <p:nvPr/>
        </p:nvSpPr>
        <p:spPr>
          <a:xfrm xmlns:a="http://schemas.openxmlformats.org/drawingml/2006/main">
            <a:off x="842010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Search records by ALPL or date. Export filtered results to Excel, PDF, or CSV.</a:t>
            </a:r>
          </a:p>
        </p:txBody>
      </p:sp>
      <p:sp>
        <p:nvSpPr>
          <p:cNvPr id="23" name="">
            <a:extLst xmlns:a="http://schemas.openxmlformats.org/drawingml/2006/main">
              <a:ext uri="{FF2B5EF4-FFF2-40B4-BE49-F238E27FC236}">
                <a16:creationId xmlns:a16="http://schemas.microsoft.com/office/drawing/2014/main" id="{CDBB0A9E-E848-4768-90B0-8F78B984BB30}"/>
              </a:ext>
            </a:extLst>
          </p:cNvPr>
          <p:cNvSpPr>
            <a:spLocks xmlns:a="http://schemas.openxmlformats.org/drawingml/2006/main" noGrp="1"/>
          </p:cNvSpPr>
          <p:nvPr/>
        </p:nvSpPr>
        <p:spPr>
          <a:xfrm xmlns:a="http://schemas.openxmlformats.org/drawingml/2006/main">
            <a:off x="666750" y="4829175"/>
            <a:ext cx="10858500" cy="19050"/>
          </a:xfrm>
          <a:prstGeom xmlns:a="http://schemas.openxmlformats.org/drawingml/2006/main" prst="rect">
            <a:avLst/>
          </a:prstGeom>
          <a:solidFill xmlns:a="http://schemas.openxmlformats.org/drawingml/2006/main">
            <a:srgbClr val="C4CED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5693E86-3A68-430B-A4A5-36931888E55C}"/>
              </a:ext>
            </a:extLst>
          </p:cNvPr>
          <p:cNvSpPr>
            <a:spLocks xmlns:a="http://schemas.openxmlformats.org/drawingml/2006/main" noGrp="1"/>
          </p:cNvSpPr>
          <p:nvPr/>
        </p:nvSpPr>
        <p:spPr>
          <a:xfrm xmlns:a="http://schemas.openxmlformats.org/drawingml/2006/main">
            <a:off x="666750" y="5057775"/>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Saved automatically</a:t>
            </a:r>
          </a:p>
        </p:txBody>
      </p:sp>
      <p:sp>
        <p:nvSpPr>
          <p:cNvPr id="25" name="">
            <a:extLst xmlns:a="http://schemas.openxmlformats.org/drawingml/2006/main">
              <a:ext uri="{FF2B5EF4-FFF2-40B4-BE49-F238E27FC236}">
                <a16:creationId xmlns:a16="http://schemas.microsoft.com/office/drawing/2014/main" id="{B54F8481-5EC1-4C64-8FDC-B21652478B4A}"/>
              </a:ext>
            </a:extLst>
          </p:cNvPr>
          <p:cNvSpPr>
            <a:spLocks xmlns:a="http://schemas.openxmlformats.org/drawingml/2006/main" noGrp="1"/>
          </p:cNvSpPr>
          <p:nvPr/>
        </p:nvSpPr>
        <p:spPr>
          <a:xfrm xmlns:a="http://schemas.openxmlformats.org/drawingml/2006/main">
            <a:off x="666750" y="54292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Every measurement and its image are kept together, without a handwritten result log.</a:t>
            </a:r>
          </a:p>
        </p:txBody>
      </p:sp>
      <p:sp>
        <p:nvSpPr>
          <p:cNvPr id="26" name="">
            <a:extLst xmlns:a="http://schemas.openxmlformats.org/drawingml/2006/main">
              <a:ext uri="{FF2B5EF4-FFF2-40B4-BE49-F238E27FC236}">
                <a16:creationId xmlns:a16="http://schemas.microsoft.com/office/drawing/2014/main" id="{DF99D3C5-32FC-4CDB-B75D-48EA02450F3B}"/>
              </a:ext>
            </a:extLst>
          </p:cNvPr>
          <p:cNvSpPr>
            <a:spLocks xmlns:a="http://schemas.openxmlformats.org/drawingml/2006/main" noGrp="1"/>
          </p:cNvSpPr>
          <p:nvPr/>
        </p:nvSpPr>
        <p:spPr>
          <a:xfrm xmlns:a="http://schemas.openxmlformats.org/drawingml/2006/main">
            <a:off x="6143625" y="50577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Changes remain traceable</a:t>
            </a:r>
          </a:p>
        </p:txBody>
      </p:sp>
      <p:sp>
        <p:nvSpPr>
          <p:cNvPr id="27" name="">
            <a:extLst xmlns:a="http://schemas.openxmlformats.org/drawingml/2006/main">
              <a:ext uri="{FF2B5EF4-FFF2-40B4-BE49-F238E27FC236}">
                <a16:creationId xmlns:a16="http://schemas.microsoft.com/office/drawing/2014/main" id="{AF455E46-F9C7-4528-AD9D-EF1917E37A24}"/>
              </a:ext>
            </a:extLst>
          </p:cNvPr>
          <p:cNvSpPr>
            <a:spLocks xmlns:a="http://schemas.openxmlformats.org/drawingml/2006/main" noGrp="1"/>
          </p:cNvSpPr>
          <p:nvPr/>
        </p:nvSpPr>
        <p:spPr>
          <a:xfrm xmlns:a="http://schemas.openxmlformats.org/drawingml/2006/main">
            <a:off x="6143625" y="542925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Corrections are logged. Measured values stay locked, and deleted records can be recovered for 30 days.</a:t>
            </a:r>
          </a:p>
        </p:txBody>
      </p:sp>
    </p:spTree>
    <p:extLst>
      <p:ext uri="{BB962C8B-B14F-4D97-AF65-F5344CB8AC3E}">
        <p14:creationId xmlns:p14="http://schemas.microsoft.com/office/powerpoint/2010/main" val="4224909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A5A0016-8F16-4F74-A096-35210D29C4C4}"/>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Actions</a:t>
            </a:r>
          </a:p>
        </p:txBody>
      </p:sp>
      <p:sp>
        <p:nvSpPr>
          <p:cNvPr id="2" name="">
            <a:extLst xmlns:a="http://schemas.openxmlformats.org/drawingml/2006/main">
              <a:ext uri="{FF2B5EF4-FFF2-40B4-BE49-F238E27FC236}">
                <a16:creationId xmlns:a16="http://schemas.microsoft.com/office/drawing/2014/main" id="{303F9213-B4FC-44BD-A47D-FC05407DF573}"/>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50B186-5496-435A-98F3-3B1F969E40B1}"/>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Operational Value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ef266cac988485c"/>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CD7BBA-C81A-4985-BBC3-A2EA8FBF747D}"/>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6F7666-7A30-4D8E-ACE9-9EB970B61184}"/>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What changes in daily operations</a:t>
            </a:r>
          </a:p>
        </p:txBody>
      </p:sp>
      <p:sp>
        <p:nvSpPr>
          <p:cNvPr id="7" name="">
            <a:extLst xmlns:a="http://schemas.openxmlformats.org/drawingml/2006/main">
              <a:ext uri="{FF2B5EF4-FFF2-40B4-BE49-F238E27FC236}">
                <a16:creationId xmlns:a16="http://schemas.microsoft.com/office/drawing/2014/main" id="{218DCE13-3310-420C-AB54-FB6B6C514CED}"/>
              </a:ext>
            </a:extLst>
          </p:cNvPr>
          <p:cNvSpPr>
            <a:spLocks xmlns:a="http://schemas.openxmlformats.org/drawingml/2006/main" noGrp="1"/>
          </p:cNvSpPr>
          <p:nvPr/>
        </p:nvSpPr>
        <p:spPr>
          <a:xfrm xmlns:a="http://schemas.openxmlformats.org/drawingml/2006/main">
            <a:off x="876300" y="180022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525C6C"/>
                </a:solidFill>
                <a:latin typeface="Arial"/>
                <a:ea typeface="Arial"/>
                <a:cs typeface="Arial"/>
              </a:defRPr>
            </a:pPr>
            <a:r>
              <a:rPr sz="1575" b="0">
                <a:solidFill>
                  <a:srgbClr val="525C6C"/>
                </a:solidFill>
                <a:latin typeface="Arial"/>
                <a:ea typeface="Arial"/>
                <a:cs typeface="Arial"/>
              </a:rPr>
              <a:t>Measurements now support automatic sorting and clear quality review.</a:t>
            </a:r>
          </a:p>
        </p:txBody>
      </p:sp>
      <p:sp>
        <p:nvSpPr>
          <p:cNvPr id="8" name="">
            <a:extLst xmlns:a="http://schemas.openxmlformats.org/drawingml/2006/main">
              <a:ext uri="{FF2B5EF4-FFF2-40B4-BE49-F238E27FC236}">
                <a16:creationId xmlns:a16="http://schemas.microsoft.com/office/drawing/2014/main" id="{08D3483E-6777-40E4-A288-41D5C4D3B58B}"/>
              </a:ext>
            </a:extLst>
          </p:cNvPr>
          <p:cNvSpPr>
            <a:spLocks xmlns:a="http://schemas.openxmlformats.org/drawingml/2006/main" noGrp="1"/>
          </p:cNvSpPr>
          <p:nvPr/>
        </p:nvSpPr>
        <p:spPr>
          <a:xfrm xmlns:a="http://schemas.openxmlformats.org/drawingml/2006/main">
            <a:off x="676275" y="23336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9" name="">
            <a:extLst xmlns:a="http://schemas.openxmlformats.org/drawingml/2006/main">
              <a:ext uri="{FF2B5EF4-FFF2-40B4-BE49-F238E27FC236}">
                <a16:creationId xmlns:a16="http://schemas.microsoft.com/office/drawing/2014/main" id="{08815A22-6EE2-4889-ADD3-488678541043}"/>
              </a:ext>
            </a:extLst>
          </p:cNvPr>
          <p:cNvSpPr>
            <a:spLocks xmlns:a="http://schemas.openxmlformats.org/drawingml/2006/main" noGrp="1"/>
          </p:cNvSpPr>
          <p:nvPr/>
        </p:nvSpPr>
        <p:spPr>
          <a:xfrm xmlns:a="http://schemas.openxmlformats.org/drawingml/2006/main">
            <a:off x="676275" y="2333625"/>
            <a:ext cx="133350" cy="1066800"/>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A0E50C-C24D-47F4-AC60-5A8D0ADE5692}"/>
              </a:ext>
            </a:extLst>
          </p:cNvPr>
          <p:cNvSpPr>
            <a:spLocks xmlns:a="http://schemas.openxmlformats.org/drawingml/2006/main" noGrp="1"/>
          </p:cNvSpPr>
          <p:nvPr/>
        </p:nvSpPr>
        <p:spPr>
          <a:xfrm xmlns:a="http://schemas.openxmlformats.org/drawingml/2006/main">
            <a:off x="1028700" y="25908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C25418"/>
                </a:solidFill>
                <a:latin typeface="Arial"/>
                <a:ea typeface="Arial"/>
                <a:cs typeface="Arial"/>
              </a:defRPr>
            </a:pPr>
            <a:r>
              <a:rPr sz="2325" b="1">
                <a:solidFill>
                  <a:srgbClr val="C2541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404B61C8-2287-41F8-9DA1-AC4317ECE441}"/>
              </a:ext>
            </a:extLst>
          </p:cNvPr>
          <p:cNvSpPr>
            <a:spLocks xmlns:a="http://schemas.openxmlformats.org/drawingml/2006/main" noGrp="1"/>
          </p:cNvSpPr>
          <p:nvPr/>
        </p:nvSpPr>
        <p:spPr>
          <a:xfrm xmlns:a="http://schemas.openxmlformats.org/drawingml/2006/main">
            <a:off x="1819275" y="24860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Automatic sorting</a:t>
            </a:r>
          </a:p>
        </p:txBody>
      </p:sp>
      <p:sp>
        <p:nvSpPr>
          <p:cNvPr id="12" name="">
            <a:extLst xmlns:a="http://schemas.openxmlformats.org/drawingml/2006/main">
              <a:ext uri="{FF2B5EF4-FFF2-40B4-BE49-F238E27FC236}">
                <a16:creationId xmlns:a16="http://schemas.microsoft.com/office/drawing/2014/main" id="{AC394D35-B320-47D2-9EAD-BDD75D147768}"/>
              </a:ext>
            </a:extLst>
          </p:cNvPr>
          <p:cNvSpPr>
            <a:spLocks xmlns:a="http://schemas.openxmlformats.org/drawingml/2006/main" noGrp="1"/>
          </p:cNvSpPr>
          <p:nvPr/>
        </p:nvSpPr>
        <p:spPr>
          <a:xfrm xmlns:a="http://schemas.openxmlformats.org/drawingml/2006/main">
            <a:off x="1819275" y="28670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98"/>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The system checks measurement results against specifications and routes each ALPL to the correct output.</a:t>
            </a:r>
          </a:p>
        </p:txBody>
      </p:sp>
      <p:sp>
        <p:nvSpPr>
          <p:cNvPr id="13" name="">
            <a:extLst xmlns:a="http://schemas.openxmlformats.org/drawingml/2006/main">
              <a:ext uri="{FF2B5EF4-FFF2-40B4-BE49-F238E27FC236}">
                <a16:creationId xmlns:a16="http://schemas.microsoft.com/office/drawing/2014/main" id="{AF5AC1A7-3A51-4C28-BFF9-8DCB596E75C3}"/>
              </a:ext>
            </a:extLst>
          </p:cNvPr>
          <p:cNvSpPr>
            <a:spLocks xmlns:a="http://schemas.openxmlformats.org/drawingml/2006/main" noGrp="1"/>
          </p:cNvSpPr>
          <p:nvPr/>
        </p:nvSpPr>
        <p:spPr>
          <a:xfrm xmlns:a="http://schemas.openxmlformats.org/drawingml/2006/main">
            <a:off x="676275" y="35528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4" name="">
            <a:extLst xmlns:a="http://schemas.openxmlformats.org/drawingml/2006/main">
              <a:ext uri="{FF2B5EF4-FFF2-40B4-BE49-F238E27FC236}">
                <a16:creationId xmlns:a16="http://schemas.microsoft.com/office/drawing/2014/main" id="{0A9EC0E4-54B5-4616-A2C9-9273EE404986}"/>
              </a:ext>
            </a:extLst>
          </p:cNvPr>
          <p:cNvSpPr>
            <a:spLocks xmlns:a="http://schemas.openxmlformats.org/drawingml/2006/main" noGrp="1"/>
          </p:cNvSpPr>
          <p:nvPr/>
        </p:nvSpPr>
        <p:spPr>
          <a:xfrm xmlns:a="http://schemas.openxmlformats.org/drawingml/2006/main">
            <a:off x="676275" y="35528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EC4AB6-196C-4230-8C17-ECF6199CC92E}"/>
              </a:ext>
            </a:extLst>
          </p:cNvPr>
          <p:cNvSpPr>
            <a:spLocks xmlns:a="http://schemas.openxmlformats.org/drawingml/2006/main" noGrp="1"/>
          </p:cNvSpPr>
          <p:nvPr/>
        </p:nvSpPr>
        <p:spPr>
          <a:xfrm xmlns:a="http://schemas.openxmlformats.org/drawingml/2006/main">
            <a:off x="1028700" y="38100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40C14BC-6066-4038-9E3C-024ECD4DE3E0}"/>
              </a:ext>
            </a:extLst>
          </p:cNvPr>
          <p:cNvSpPr>
            <a:spLocks xmlns:a="http://schemas.openxmlformats.org/drawingml/2006/main" noGrp="1"/>
          </p:cNvSpPr>
          <p:nvPr/>
        </p:nvSpPr>
        <p:spPr>
          <a:xfrm xmlns:a="http://schemas.openxmlformats.org/drawingml/2006/main">
            <a:off x="1819275" y="37052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Reliable records</a:t>
            </a:r>
          </a:p>
        </p:txBody>
      </p:sp>
      <p:sp>
        <p:nvSpPr>
          <p:cNvPr id="17" name="">
            <a:extLst xmlns:a="http://schemas.openxmlformats.org/drawingml/2006/main">
              <a:ext uri="{FF2B5EF4-FFF2-40B4-BE49-F238E27FC236}">
                <a16:creationId xmlns:a16="http://schemas.microsoft.com/office/drawing/2014/main" id="{734959CD-8CE2-4FCF-99C6-AB3185EBF699}"/>
              </a:ext>
            </a:extLst>
          </p:cNvPr>
          <p:cNvSpPr>
            <a:spLocks xmlns:a="http://schemas.openxmlformats.org/drawingml/2006/main" noGrp="1"/>
          </p:cNvSpPr>
          <p:nvPr/>
        </p:nvSpPr>
        <p:spPr>
          <a:xfrm xmlns:a="http://schemas.openxmlformats.org/drawingml/2006/main">
            <a:off x="1819275" y="40862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21"/>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Each value is paired with its camera image. Invalid readings are excluded, and changes remain available for review.</a:t>
            </a:r>
          </a:p>
        </p:txBody>
      </p:sp>
      <p:sp>
        <p:nvSpPr>
          <p:cNvPr id="18" name="">
            <a:extLst xmlns:a="http://schemas.openxmlformats.org/drawingml/2006/main">
              <a:ext uri="{FF2B5EF4-FFF2-40B4-BE49-F238E27FC236}">
                <a16:creationId xmlns:a16="http://schemas.microsoft.com/office/drawing/2014/main" id="{8488F920-8CEE-4CB5-8675-A0FCB0EF81D5}"/>
              </a:ext>
            </a:extLst>
          </p:cNvPr>
          <p:cNvSpPr>
            <a:spLocks xmlns:a="http://schemas.openxmlformats.org/drawingml/2006/main" noGrp="1"/>
          </p:cNvSpPr>
          <p:nvPr/>
        </p:nvSpPr>
        <p:spPr>
          <a:xfrm xmlns:a="http://schemas.openxmlformats.org/drawingml/2006/main">
            <a:off x="676275" y="47720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9" name="">
            <a:extLst xmlns:a="http://schemas.openxmlformats.org/drawingml/2006/main">
              <a:ext uri="{FF2B5EF4-FFF2-40B4-BE49-F238E27FC236}">
                <a16:creationId xmlns:a16="http://schemas.microsoft.com/office/drawing/2014/main" id="{4F4F4D7F-2620-4AD7-8B18-554821B26AE7}"/>
              </a:ext>
            </a:extLst>
          </p:cNvPr>
          <p:cNvSpPr>
            <a:spLocks xmlns:a="http://schemas.openxmlformats.org/drawingml/2006/main" noGrp="1"/>
          </p:cNvSpPr>
          <p:nvPr/>
        </p:nvSpPr>
        <p:spPr>
          <a:xfrm xmlns:a="http://schemas.openxmlformats.org/drawingml/2006/main">
            <a:off x="676275" y="47720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D997E3-E5F5-4DE3-A809-65CCF7A96DD2}"/>
              </a:ext>
            </a:extLst>
          </p:cNvPr>
          <p:cNvSpPr>
            <a:spLocks xmlns:a="http://schemas.openxmlformats.org/drawingml/2006/main" noGrp="1"/>
          </p:cNvSpPr>
          <p:nvPr/>
        </p:nvSpPr>
        <p:spPr>
          <a:xfrm xmlns:a="http://schemas.openxmlformats.org/drawingml/2006/main">
            <a:off x="1028700" y="50292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D4BBBA1C-98A6-4EB2-92B5-BAE8A7A450C2}"/>
              </a:ext>
            </a:extLst>
          </p:cNvPr>
          <p:cNvSpPr>
            <a:spLocks xmlns:a="http://schemas.openxmlformats.org/drawingml/2006/main" noGrp="1"/>
          </p:cNvSpPr>
          <p:nvPr/>
        </p:nvSpPr>
        <p:spPr>
          <a:xfrm xmlns:a="http://schemas.openxmlformats.org/drawingml/2006/main">
            <a:off x="1819275" y="49244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Quality visibility</a:t>
            </a:r>
          </a:p>
        </p:txBody>
      </p:sp>
      <p:sp>
        <p:nvSpPr>
          <p:cNvPr id="22" name="">
            <a:extLst xmlns:a="http://schemas.openxmlformats.org/drawingml/2006/main">
              <a:ext uri="{FF2B5EF4-FFF2-40B4-BE49-F238E27FC236}">
                <a16:creationId xmlns:a16="http://schemas.microsoft.com/office/drawing/2014/main" id="{C2D72F36-5645-4108-ADEE-BF7C64C7E7E9}"/>
              </a:ext>
            </a:extLst>
          </p:cNvPr>
          <p:cNvSpPr>
            <a:spLocks xmlns:a="http://schemas.openxmlformats.org/drawingml/2006/main" noGrp="1"/>
          </p:cNvSpPr>
          <p:nvPr/>
        </p:nvSpPr>
        <p:spPr>
          <a:xfrm xmlns:a="http://schemas.openxmlformats.org/drawingml/2006/main">
            <a:off x="1819275" y="53054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88"/>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Teams can filter results and view Good/Fail counts by package size or part number, along with yield trends.</a:t>
            </a:r>
          </a:p>
        </p:txBody>
      </p:sp>
    </p:spTree>
    <p:extLst>
      <p:ext uri="{BB962C8B-B14F-4D97-AF65-F5344CB8AC3E}">
        <p14:creationId xmlns:p14="http://schemas.microsoft.com/office/powerpoint/2010/main" val="1151284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2026-09-28T17:33:20.6940000Z</dcterms:created>
  <dcterms:modified xsi:type="dcterms:W3CDTF">2026-09-28T17:33:20.6940000Z</dcterms:modified>
</coreProperties>
</file>