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2a9d1444234f5c" /><Relationship Type="http://schemas.openxmlformats.org/officeDocument/2006/relationships/extended-properties" Target="/docProps/app.xml" Id="R8d16249e3fae4bde" /><Relationship Type="http://schemas.openxmlformats.org/officeDocument/2006/relationships/officeDocument" Target="/ppt/presentation.xml" Id="R56405952c1db4bc5" /></Relationships>
</file>

<file path=ppt/presentation.xml><?xml version="1.0" encoding="utf-8"?>
<p:presentation xmlns:p="http://schemas.openxmlformats.org/presentationml/2006/main">
  <p:sldMasterIdLst>
    <p:sldMasterId xmlns:r="http://schemas.openxmlformats.org/officeDocument/2006/relationships" id="2147483648" r:id="R91c48d6f524244f0"/>
  </p:sldMasterIdLst>
  <p:notesMasterIdLst>
    <p:notesMasterId xmlns:r="http://schemas.openxmlformats.org/officeDocument/2006/relationships" r:id="Re0ce504660624f61"/>
  </p:notesMasterIdLst>
  <p:sldIdLst>
    <p:sldId xmlns:r="http://schemas.openxmlformats.org/officeDocument/2006/relationships" id="256" r:id="Rb8e4164779494159"/>
    <p:sldId xmlns:r="http://schemas.openxmlformats.org/officeDocument/2006/relationships" id="257" r:id="R4a538f2f7fa242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fd4dffe1b24d82" /><Relationship Type="http://schemas.openxmlformats.org/officeDocument/2006/relationships/slideMaster" Target="/ppt/slideMasters/slideMaster1.xml" Id="R91c48d6f524244f0" /><Relationship Type="http://schemas.openxmlformats.org/officeDocument/2006/relationships/notesMaster" Target="/ppt/notesMasters/notesMaster1.xml" Id="Re0ce504660624f61" /><Relationship Type="http://schemas.openxmlformats.org/officeDocument/2006/relationships/presProps" Target="/ppt/presProps.xml" Id="Rac911133b63d4452" /><Relationship Type="http://schemas.openxmlformats.org/officeDocument/2006/relationships/tableStyles" Target="/ppt/tableStyles.xml" Id="Rc5c6254fbd6f4da8" /><Relationship Type="http://schemas.openxmlformats.org/officeDocument/2006/relationships/slide" Target="/ppt/slides/slide1.xml" Id="Rb8e4164779494159" /><Relationship Type="http://schemas.openxmlformats.org/officeDocument/2006/relationships/slide" Target="/ppt/slides/slide2.xml" Id="R4a538f2f7fa242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b02be876b243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08047331dc4aae" /><Relationship Type="http://schemas.openxmlformats.org/officeDocument/2006/relationships/notesMaster" Target="/ppt/notesMasters/notesMaster1.xml" Id="R9cf5936af4d54d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5b0edd1f084c8e" /><Relationship Type="http://schemas.openxmlformats.org/officeDocument/2006/relationships/notesMaster" Target="/ppt/notesMasters/notesMaster1.xml" Id="Rb7c6e185c4244e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source slides 33–39. Source 33–35 describe the web application, measurement records, and export. Source 36–39 describe validation, image pairing, data management, and sorting. The 30-day recovery and locked measured values are stated on source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source slides 33–42. Source 33 states that every reading is kept rather than written down. Source 36–39 describe measurement validation and sorting. Source 40–41 describe raw and summarized quality reporting. Source 42 database schema was omitted. The user confirmed all work is now complete, so no project status is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8521509c8141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dc721d92704c39" /><Relationship Type="http://schemas.openxmlformats.org/officeDocument/2006/relationships/slideLayout" Target="/ppt/slideLayouts/slideLayout1.xml" Id="Ra5a04ae3cb6f41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a04ae3cb6f41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653a6c19a94c87" /><Relationship Type="http://schemas.openxmlformats.org/officeDocument/2006/relationships/image" Target="/ppt/media/image.png" Id="Ra0edf6922c184086" /><Relationship Type="http://schemas.openxmlformats.org/officeDocument/2006/relationships/notesSlide" Target="/ppt/notesSlides/notesSlide1.xml" Id="Rd9194191417d4d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cb670374a94e88" /><Relationship Type="http://schemas.openxmlformats.org/officeDocument/2006/relationships/image" Target="/ppt/media/image2.png" Id="Re0bac1df56244a39" /><Relationship Type="http://schemas.openxmlformats.org/officeDocument/2006/relationships/notesSlide" Target="/ppt/notesSlides/notesSlide2.xml" Id="R2861769fd0a644a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F7E3F46-960B-400C-B538-8AA95DA26203}"/>
              </a:ext>
            </a:extLst>
          </p:cNvPr>
          <p:cNvSpPr>
            <a:spLocks xmlns:a="http://schemas.openxmlformats.org/drawingml/2006/main" noGrp="1"/>
          </p:cNvSpPr>
          <p:nvPr/>
        </p:nvSpPr>
        <p:spPr>
          <a:xfrm xmlns:a="http://schemas.openxmlformats.org/drawingml/2006/main">
            <a:off x="876300" y="6096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Actions</a:t>
            </a:r>
          </a:p>
        </p:txBody>
      </p:sp>
      <p:sp>
        <p:nvSpPr>
          <p:cNvPr id="2" name="">
            <a:extLst xmlns:a="http://schemas.openxmlformats.org/drawingml/2006/main">
              <a:ext uri="{FF2B5EF4-FFF2-40B4-BE49-F238E27FC236}">
                <a16:creationId xmlns:a16="http://schemas.microsoft.com/office/drawing/2014/main" id="{0E470981-0569-40E7-91C3-99931FF85BE5}"/>
              </a:ext>
            </a:extLst>
          </p:cNvPr>
          <p:cNvSpPr>
            <a:spLocks xmlns:a="http://schemas.openxmlformats.org/drawingml/2006/main" noGrp="1"/>
          </p:cNvSpPr>
          <p:nvPr/>
        </p:nvSpPr>
        <p:spPr>
          <a:xfrm xmlns:a="http://schemas.openxmlformats.org/drawingml/2006/main">
            <a:off x="2381250" y="609600"/>
            <a:ext cx="4191000" cy="495300"/>
          </a:xfrm>
          <a:prstGeom xmlns:a="http://schemas.openxmlformats.org/drawingml/2006/main" prst="rect">
            <a:avLst/>
          </a:prstGeom>
          <a:solidFill xmlns:a="http://schemas.openxmlformats.org/drawingml/2006/main">
            <a:srgbClr val="F8E9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90F5A88-215B-4F95-83F2-182A53C95554}"/>
              </a:ext>
            </a:extLst>
          </p:cNvPr>
          <p:cNvSpPr>
            <a:spLocks xmlns:a="http://schemas.openxmlformats.org/drawingml/2006/main" noGrp="1"/>
          </p:cNvSpPr>
          <p:nvPr/>
        </p:nvSpPr>
        <p:spPr>
          <a:xfrm xmlns:a="http://schemas.openxmlformats.org/drawingml/2006/main">
            <a:off x="2600325" y="666750"/>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Auto Sorter Module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0edf6922c184086"/>
          <a:stretch xmlns:a="http://schemas.openxmlformats.org/drawingml/2006/main"/>
        </p:blipFill>
        <p:spPr>
          <a:xfrm xmlns:a="http://schemas.openxmlformats.org/drawingml/2006/main">
            <a:off x="10172700" y="352425"/>
            <a:ext cx="1809750" cy="50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684EE3F-92C6-44DA-888B-95BC86354093}"/>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0A67A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C94F0D3-BF28-43A8-857F-E6C315B1BC0B}"/>
              </a:ext>
            </a:extLst>
          </p:cNvPr>
          <p:cNvSpPr>
            <a:spLocks xmlns:a="http://schemas.openxmlformats.org/drawingml/2006/main" noGrp="1"/>
          </p:cNvSpPr>
          <p:nvPr/>
        </p:nvSpPr>
        <p:spPr>
          <a:xfrm xmlns:a="http://schemas.openxmlformats.org/drawingml/2006/main">
            <a:off x="866775" y="13239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25" b="1">
                <a:solidFill>
                  <a:srgbClr val="082A68"/>
                </a:solidFill>
                <a:latin typeface="Arial"/>
                <a:ea typeface="Arial"/>
                <a:cs typeface="Arial"/>
              </a:defRPr>
            </a:pPr>
            <a:r>
              <a:rPr sz="2625" b="1">
                <a:solidFill>
                  <a:srgbClr val="082A68"/>
                </a:solidFill>
                <a:latin typeface="Arial"/>
                <a:ea typeface="Arial"/>
                <a:cs typeface="Arial"/>
              </a:rPr>
              <a:t>Three actions for ALPL measurement</a:t>
            </a:r>
          </a:p>
        </p:txBody>
      </p:sp>
      <p:sp>
        <p:nvSpPr>
          <p:cNvPr id="7" name="">
            <a:extLst xmlns:a="http://schemas.openxmlformats.org/drawingml/2006/main">
              <a:ext uri="{FF2B5EF4-FFF2-40B4-BE49-F238E27FC236}">
                <a16:creationId xmlns:a16="http://schemas.microsoft.com/office/drawing/2014/main" id="{ECE02DC2-8C3E-45F1-B48D-AC4CD5D787FD}"/>
              </a:ext>
            </a:extLst>
          </p:cNvPr>
          <p:cNvSpPr>
            <a:spLocks xmlns:a="http://schemas.openxmlformats.org/drawingml/2006/main" noGrp="1"/>
          </p:cNvSpPr>
          <p:nvPr/>
        </p:nvSpPr>
        <p:spPr>
          <a:xfrm xmlns:a="http://schemas.openxmlformats.org/drawingml/2006/main">
            <a:off x="876300" y="18002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525C6C"/>
                </a:solidFill>
                <a:latin typeface="Arial"/>
                <a:ea typeface="Arial"/>
                <a:cs typeface="Arial"/>
              </a:defRPr>
            </a:pPr>
            <a:r>
              <a:rPr sz="1650" b="0">
                <a:solidFill>
                  <a:srgbClr val="525C6C"/>
                </a:solidFill>
                <a:latin typeface="Arial"/>
                <a:ea typeface="Arial"/>
                <a:cs typeface="Arial"/>
              </a:rPr>
              <a:t>Replace separate Excel records with one connected measurement process.</a:t>
            </a:r>
          </a:p>
        </p:txBody>
      </p:sp>
      <p:sp>
        <p:nvSpPr>
          <p:cNvPr id="8" name="">
            <a:extLst xmlns:a="http://schemas.openxmlformats.org/drawingml/2006/main">
              <a:ext uri="{FF2B5EF4-FFF2-40B4-BE49-F238E27FC236}">
                <a16:creationId xmlns:a16="http://schemas.microsoft.com/office/drawing/2014/main" id="{5D6419F5-0B4A-4A05-BE31-A6CE6C0DE6DF}"/>
              </a:ext>
            </a:extLst>
          </p:cNvPr>
          <p:cNvSpPr>
            <a:spLocks xmlns:a="http://schemas.openxmlformats.org/drawingml/2006/main" noGrp="1"/>
          </p:cNvSpPr>
          <p:nvPr/>
        </p:nvSpPr>
        <p:spPr>
          <a:xfrm xmlns:a="http://schemas.openxmlformats.org/drawingml/2006/main">
            <a:off x="666750" y="2209800"/>
            <a:ext cx="3333750" cy="2352675"/>
          </a:xfrm>
          <a:prstGeom xmlns:a="http://schemas.openxmlformats.org/drawingml/2006/main" prst="roundRect">
            <a:avLst>
              <a:gd name="adj" fmla="val 3239"/>
            </a:avLst>
          </a:prstGeom>
          <a:solidFill xmlns:a="http://schemas.openxmlformats.org/drawingml/2006/main">
            <a:srgbClr val="FBE8DC"/>
          </a:solidFill>
          <a:ln xmlns:a="http://schemas.openxmlformats.org/drawingml/2006/main" w="9525">
            <a:solidFill>
              <a:srgbClr val="C5D0D8"/>
            </a:solidFill>
            <a:prstDash val="solid"/>
          </a:ln>
        </p:spPr>
      </p:sp>
      <p:sp>
        <p:nvSpPr>
          <p:cNvPr id="9" name="">
            <a:extLst xmlns:a="http://schemas.openxmlformats.org/drawingml/2006/main">
              <a:ext uri="{FF2B5EF4-FFF2-40B4-BE49-F238E27FC236}">
                <a16:creationId xmlns:a16="http://schemas.microsoft.com/office/drawing/2014/main" id="{45A91A26-1E3D-4CBE-81A9-56E8E96405AA}"/>
              </a:ext>
            </a:extLst>
          </p:cNvPr>
          <p:cNvSpPr>
            <a:spLocks xmlns:a="http://schemas.openxmlformats.org/drawingml/2006/main" noGrp="1"/>
          </p:cNvSpPr>
          <p:nvPr/>
        </p:nvSpPr>
        <p:spPr>
          <a:xfrm xmlns:a="http://schemas.openxmlformats.org/drawingml/2006/main">
            <a:off x="666750" y="2209800"/>
            <a:ext cx="3333750" cy="485775"/>
          </a:xfrm>
          <a:prstGeom xmlns:a="http://schemas.openxmlformats.org/drawingml/2006/main" prst="rect">
            <a:avLst/>
          </a:prstGeom>
          <a:solidFill xmlns:a="http://schemas.openxmlformats.org/drawingml/2006/main">
            <a:srgbClr val="C254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8BC8A49-DB45-4569-9CB0-D229371656FC}"/>
              </a:ext>
            </a:extLst>
          </p:cNvPr>
          <p:cNvSpPr>
            <a:spLocks xmlns:a="http://schemas.openxmlformats.org/drawingml/2006/main" noGrp="1"/>
          </p:cNvSpPr>
          <p:nvPr/>
        </p:nvSpPr>
        <p:spPr>
          <a:xfrm xmlns:a="http://schemas.openxmlformats.org/drawingml/2006/main">
            <a:off x="847725"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861349CB-39DB-4841-9FF0-0D47E2E6BFE0}"/>
              </a:ext>
            </a:extLst>
          </p:cNvPr>
          <p:cNvSpPr>
            <a:spLocks xmlns:a="http://schemas.openxmlformats.org/drawingml/2006/main" noGrp="1"/>
          </p:cNvSpPr>
          <p:nvPr/>
        </p:nvSpPr>
        <p:spPr>
          <a:xfrm xmlns:a="http://schemas.openxmlformats.org/drawingml/2006/main">
            <a:off x="1295400"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Centralize setup</a:t>
            </a:r>
          </a:p>
        </p:txBody>
      </p:sp>
      <p:sp>
        <p:nvSpPr>
          <p:cNvPr id="12" name="">
            <a:extLst xmlns:a="http://schemas.openxmlformats.org/drawingml/2006/main">
              <a:ext uri="{FF2B5EF4-FFF2-40B4-BE49-F238E27FC236}">
                <a16:creationId xmlns:a16="http://schemas.microsoft.com/office/drawing/2014/main" id="{D2B69104-232A-4F57-86F8-09AE3F26694C}"/>
              </a:ext>
            </a:extLst>
          </p:cNvPr>
          <p:cNvSpPr>
            <a:spLocks xmlns:a="http://schemas.openxmlformats.org/drawingml/2006/main" noGrp="1"/>
          </p:cNvSpPr>
          <p:nvPr/>
        </p:nvSpPr>
        <p:spPr>
          <a:xfrm xmlns:a="http://schemas.openxmlformats.org/drawingml/2006/main">
            <a:off x="895350"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Register ALPL specifications and build the part queue in one web application.</a:t>
            </a:r>
          </a:p>
        </p:txBody>
      </p:sp>
      <p:sp>
        <p:nvSpPr>
          <p:cNvPr id="13" name="">
            <a:extLst xmlns:a="http://schemas.openxmlformats.org/drawingml/2006/main">
              <a:ext uri="{FF2B5EF4-FFF2-40B4-BE49-F238E27FC236}">
                <a16:creationId xmlns:a16="http://schemas.microsoft.com/office/drawing/2014/main" id="{0E148941-1832-49AC-8772-00356AD21304}"/>
              </a:ext>
            </a:extLst>
          </p:cNvPr>
          <p:cNvSpPr>
            <a:spLocks xmlns:a="http://schemas.openxmlformats.org/drawingml/2006/main" noGrp="1"/>
          </p:cNvSpPr>
          <p:nvPr/>
        </p:nvSpPr>
        <p:spPr>
          <a:xfrm xmlns:a="http://schemas.openxmlformats.org/drawingml/2006/main">
            <a:off x="4429125" y="2209800"/>
            <a:ext cx="3333750" cy="2352675"/>
          </a:xfrm>
          <a:prstGeom xmlns:a="http://schemas.openxmlformats.org/drawingml/2006/main" prst="roundRect">
            <a:avLst>
              <a:gd name="adj" fmla="val 3239"/>
            </a:avLst>
          </a:prstGeom>
          <a:solidFill xmlns:a="http://schemas.openxmlformats.org/drawingml/2006/main">
            <a:srgbClr val="E7F4FB"/>
          </a:solidFill>
          <a:ln xmlns:a="http://schemas.openxmlformats.org/drawingml/2006/main" w="9525">
            <a:solidFill>
              <a:srgbClr val="C5D0D8"/>
            </a:solidFill>
            <a:prstDash val="solid"/>
          </a:ln>
        </p:spPr>
      </p:sp>
      <p:sp>
        <p:nvSpPr>
          <p:cNvPr id="14" name="">
            <a:extLst xmlns:a="http://schemas.openxmlformats.org/drawingml/2006/main">
              <a:ext uri="{FF2B5EF4-FFF2-40B4-BE49-F238E27FC236}">
                <a16:creationId xmlns:a16="http://schemas.microsoft.com/office/drawing/2014/main" id="{8BBE931C-9579-43AE-9054-29AA30CA06B9}"/>
              </a:ext>
            </a:extLst>
          </p:cNvPr>
          <p:cNvSpPr>
            <a:spLocks xmlns:a="http://schemas.openxmlformats.org/drawingml/2006/main" noGrp="1"/>
          </p:cNvSpPr>
          <p:nvPr/>
        </p:nvSpPr>
        <p:spPr>
          <a:xfrm xmlns:a="http://schemas.openxmlformats.org/drawingml/2006/main">
            <a:off x="4429125" y="2209800"/>
            <a:ext cx="3333750" cy="485775"/>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A181971-7571-443C-9F0D-0F7542629C71}"/>
              </a:ext>
            </a:extLst>
          </p:cNvPr>
          <p:cNvSpPr>
            <a:spLocks xmlns:a="http://schemas.openxmlformats.org/drawingml/2006/main" noGrp="1"/>
          </p:cNvSpPr>
          <p:nvPr/>
        </p:nvSpPr>
        <p:spPr>
          <a:xfrm xmlns:a="http://schemas.openxmlformats.org/drawingml/2006/main">
            <a:off x="4610100"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46D0DDD9-44DC-477C-A2A3-92303EEB1A5D}"/>
              </a:ext>
            </a:extLst>
          </p:cNvPr>
          <p:cNvSpPr>
            <a:spLocks xmlns:a="http://schemas.openxmlformats.org/drawingml/2006/main" noGrp="1"/>
          </p:cNvSpPr>
          <p:nvPr/>
        </p:nvSpPr>
        <p:spPr>
          <a:xfrm xmlns:a="http://schemas.openxmlformats.org/drawingml/2006/main">
            <a:off x="5057775"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Automate decisions</a:t>
            </a:r>
          </a:p>
        </p:txBody>
      </p:sp>
      <p:sp>
        <p:nvSpPr>
          <p:cNvPr id="17" name="">
            <a:extLst xmlns:a="http://schemas.openxmlformats.org/drawingml/2006/main">
              <a:ext uri="{FF2B5EF4-FFF2-40B4-BE49-F238E27FC236}">
                <a16:creationId xmlns:a16="http://schemas.microsoft.com/office/drawing/2014/main" id="{C0124BA9-7C67-4102-A4B9-97663317431B}"/>
              </a:ext>
            </a:extLst>
          </p:cNvPr>
          <p:cNvSpPr>
            <a:spLocks xmlns:a="http://schemas.openxmlformats.org/drawingml/2006/main" noGrp="1"/>
          </p:cNvSpPr>
          <p:nvPr/>
        </p:nvSpPr>
        <p:spPr>
          <a:xfrm xmlns:a="http://schemas.openxmlformats.org/drawingml/2006/main">
            <a:off x="4657725"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Display each result and image live, then use the pass/fail decision to sort the part.</a:t>
            </a:r>
          </a:p>
        </p:txBody>
      </p:sp>
      <p:sp>
        <p:nvSpPr>
          <p:cNvPr id="18" name="">
            <a:extLst xmlns:a="http://schemas.openxmlformats.org/drawingml/2006/main">
              <a:ext uri="{FF2B5EF4-FFF2-40B4-BE49-F238E27FC236}">
                <a16:creationId xmlns:a16="http://schemas.microsoft.com/office/drawing/2014/main" id="{E4240A15-03D3-4B85-81A8-212B169DA391}"/>
              </a:ext>
            </a:extLst>
          </p:cNvPr>
          <p:cNvSpPr>
            <a:spLocks xmlns:a="http://schemas.openxmlformats.org/drawingml/2006/main" noGrp="1"/>
          </p:cNvSpPr>
          <p:nvPr/>
        </p:nvSpPr>
        <p:spPr>
          <a:xfrm xmlns:a="http://schemas.openxmlformats.org/drawingml/2006/main">
            <a:off x="8191500" y="2209800"/>
            <a:ext cx="3333750" cy="2352675"/>
          </a:xfrm>
          <a:prstGeom xmlns:a="http://schemas.openxmlformats.org/drawingml/2006/main" prst="roundRect">
            <a:avLst>
              <a:gd name="adj" fmla="val 3239"/>
            </a:avLst>
          </a:prstGeom>
          <a:solidFill xmlns:a="http://schemas.openxmlformats.org/drawingml/2006/main">
            <a:srgbClr val="E7F4FB"/>
          </a:solidFill>
          <a:ln xmlns:a="http://schemas.openxmlformats.org/drawingml/2006/main" w="9525">
            <a:solidFill>
              <a:srgbClr val="C5D0D8"/>
            </a:solidFill>
            <a:prstDash val="solid"/>
          </a:ln>
        </p:spPr>
      </p:sp>
      <p:sp>
        <p:nvSpPr>
          <p:cNvPr id="19" name="">
            <a:extLst xmlns:a="http://schemas.openxmlformats.org/drawingml/2006/main">
              <a:ext uri="{FF2B5EF4-FFF2-40B4-BE49-F238E27FC236}">
                <a16:creationId xmlns:a16="http://schemas.microsoft.com/office/drawing/2014/main" id="{E8069B80-4DE6-4054-A199-8AD8E39F0A23}"/>
              </a:ext>
            </a:extLst>
          </p:cNvPr>
          <p:cNvSpPr>
            <a:spLocks xmlns:a="http://schemas.openxmlformats.org/drawingml/2006/main" noGrp="1"/>
          </p:cNvSpPr>
          <p:nvPr/>
        </p:nvSpPr>
        <p:spPr>
          <a:xfrm xmlns:a="http://schemas.openxmlformats.org/drawingml/2006/main">
            <a:off x="8191500" y="2209800"/>
            <a:ext cx="3333750" cy="485775"/>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6A98B3E-A74E-44E1-9E0D-F1D99D6D66C3}"/>
              </a:ext>
            </a:extLst>
          </p:cNvPr>
          <p:cNvSpPr>
            <a:spLocks xmlns:a="http://schemas.openxmlformats.org/drawingml/2006/main" noGrp="1"/>
          </p:cNvSpPr>
          <p:nvPr/>
        </p:nvSpPr>
        <p:spPr>
          <a:xfrm xmlns:a="http://schemas.openxmlformats.org/drawingml/2006/main">
            <a:off x="8372475"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9F1FC695-6684-4619-A9A6-071D74D75C01}"/>
              </a:ext>
            </a:extLst>
          </p:cNvPr>
          <p:cNvSpPr>
            <a:spLocks xmlns:a="http://schemas.openxmlformats.org/drawingml/2006/main" noGrp="1"/>
          </p:cNvSpPr>
          <p:nvPr/>
        </p:nvSpPr>
        <p:spPr>
          <a:xfrm xmlns:a="http://schemas.openxmlformats.org/drawingml/2006/main">
            <a:off x="8820150"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Capture &amp; report</a:t>
            </a:r>
          </a:p>
        </p:txBody>
      </p:sp>
      <p:sp>
        <p:nvSpPr>
          <p:cNvPr id="22" name="">
            <a:extLst xmlns:a="http://schemas.openxmlformats.org/drawingml/2006/main">
              <a:ext uri="{FF2B5EF4-FFF2-40B4-BE49-F238E27FC236}">
                <a16:creationId xmlns:a16="http://schemas.microsoft.com/office/drawing/2014/main" id="{179D9AEF-DB79-47E8-93EB-62B19705E351}"/>
              </a:ext>
            </a:extLst>
          </p:cNvPr>
          <p:cNvSpPr>
            <a:spLocks xmlns:a="http://schemas.openxmlformats.org/drawingml/2006/main" noGrp="1"/>
          </p:cNvSpPr>
          <p:nvPr/>
        </p:nvSpPr>
        <p:spPr>
          <a:xfrm xmlns:a="http://schemas.openxmlformats.org/drawingml/2006/main">
            <a:off x="8420100"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Save every result with its image. Make records searchable and available for export.</a:t>
            </a:r>
          </a:p>
        </p:txBody>
      </p:sp>
      <p:sp>
        <p:nvSpPr>
          <p:cNvPr id="23" name="">
            <a:extLst xmlns:a="http://schemas.openxmlformats.org/drawingml/2006/main">
              <a:ext uri="{FF2B5EF4-FFF2-40B4-BE49-F238E27FC236}">
                <a16:creationId xmlns:a16="http://schemas.microsoft.com/office/drawing/2014/main" id="{FA5BC114-E5F0-4B50-8008-9A3334027430}"/>
              </a:ext>
            </a:extLst>
          </p:cNvPr>
          <p:cNvSpPr>
            <a:spLocks xmlns:a="http://schemas.openxmlformats.org/drawingml/2006/main" noGrp="1"/>
          </p:cNvSpPr>
          <p:nvPr/>
        </p:nvSpPr>
        <p:spPr>
          <a:xfrm xmlns:a="http://schemas.openxmlformats.org/drawingml/2006/main">
            <a:off x="666750" y="4829175"/>
            <a:ext cx="10858500" cy="19050"/>
          </a:xfrm>
          <a:prstGeom xmlns:a="http://schemas.openxmlformats.org/drawingml/2006/main" prst="rect">
            <a:avLst/>
          </a:prstGeom>
          <a:solidFill xmlns:a="http://schemas.openxmlformats.org/drawingml/2006/main">
            <a:srgbClr val="C4CED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2377684-4D75-4DD4-B4D0-FF8A7CABC3B4}"/>
              </a:ext>
            </a:extLst>
          </p:cNvPr>
          <p:cNvSpPr>
            <a:spLocks xmlns:a="http://schemas.openxmlformats.org/drawingml/2006/main" noGrp="1"/>
          </p:cNvSpPr>
          <p:nvPr/>
        </p:nvSpPr>
        <p:spPr>
          <a:xfrm xmlns:a="http://schemas.openxmlformats.org/drawingml/2006/main">
            <a:off x="666750" y="5057775"/>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082A68"/>
                </a:solidFill>
                <a:latin typeface="Arial"/>
                <a:ea typeface="Arial"/>
                <a:cs typeface="Arial"/>
              </a:defRPr>
            </a:pPr>
            <a:r>
              <a:rPr sz="1800" b="1">
                <a:solidFill>
                  <a:srgbClr val="082A68"/>
                </a:solidFill>
                <a:latin typeface="Arial"/>
                <a:ea typeface="Arial"/>
                <a:cs typeface="Arial"/>
              </a:rPr>
              <a:t>No manual result log</a:t>
            </a:r>
          </a:p>
        </p:txBody>
      </p:sp>
      <p:sp>
        <p:nvSpPr>
          <p:cNvPr id="25" name="">
            <a:extLst xmlns:a="http://schemas.openxmlformats.org/drawingml/2006/main">
              <a:ext uri="{FF2B5EF4-FFF2-40B4-BE49-F238E27FC236}">
                <a16:creationId xmlns:a16="http://schemas.microsoft.com/office/drawing/2014/main" id="{BE9082C1-939B-46F5-B1A8-8047523D0D48}"/>
              </a:ext>
            </a:extLst>
          </p:cNvPr>
          <p:cNvSpPr>
            <a:spLocks xmlns:a="http://schemas.openxmlformats.org/drawingml/2006/main" noGrp="1"/>
          </p:cNvSpPr>
          <p:nvPr/>
        </p:nvSpPr>
        <p:spPr>
          <a:xfrm xmlns:a="http://schemas.openxmlformats.org/drawingml/2006/main">
            <a:off x="666750" y="54292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B3157"/>
                </a:solidFill>
                <a:latin typeface="Arial"/>
                <a:ea typeface="Arial"/>
                <a:cs typeface="Arial"/>
              </a:defRPr>
            </a:pPr>
            <a:r>
              <a:rPr sz="1650" b="0">
                <a:solidFill>
                  <a:srgbClr val="1B3157"/>
                </a:solidFill>
                <a:latin typeface="Arial"/>
                <a:ea typeface="Arial"/>
                <a:cs typeface="Arial"/>
              </a:rPr>
              <a:t>Measurements and images are recorded automatically during the run.</a:t>
            </a:r>
          </a:p>
        </p:txBody>
      </p:sp>
      <p:sp>
        <p:nvSpPr>
          <p:cNvPr id="26" name="">
            <a:extLst xmlns:a="http://schemas.openxmlformats.org/drawingml/2006/main">
              <a:ext uri="{FF2B5EF4-FFF2-40B4-BE49-F238E27FC236}">
                <a16:creationId xmlns:a16="http://schemas.microsoft.com/office/drawing/2014/main" id="{133079A1-75E1-463D-A318-231FA783AB3E}"/>
              </a:ext>
            </a:extLst>
          </p:cNvPr>
          <p:cNvSpPr>
            <a:spLocks xmlns:a="http://schemas.openxmlformats.org/drawingml/2006/main" noGrp="1"/>
          </p:cNvSpPr>
          <p:nvPr/>
        </p:nvSpPr>
        <p:spPr>
          <a:xfrm xmlns:a="http://schemas.openxmlformats.org/drawingml/2006/main">
            <a:off x="6143625" y="505777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082A68"/>
                </a:solidFill>
                <a:latin typeface="Arial"/>
                <a:ea typeface="Arial"/>
                <a:cs typeface="Arial"/>
              </a:defRPr>
            </a:pPr>
            <a:r>
              <a:rPr sz="1800" b="1">
                <a:solidFill>
                  <a:srgbClr val="082A68"/>
                </a:solidFill>
                <a:latin typeface="Arial"/>
                <a:ea typeface="Arial"/>
                <a:cs typeface="Arial"/>
              </a:rPr>
              <a:t>Controlled changes</a:t>
            </a:r>
          </a:p>
        </p:txBody>
      </p:sp>
      <p:sp>
        <p:nvSpPr>
          <p:cNvPr id="27" name="">
            <a:extLst xmlns:a="http://schemas.openxmlformats.org/drawingml/2006/main">
              <a:ext uri="{FF2B5EF4-FFF2-40B4-BE49-F238E27FC236}">
                <a16:creationId xmlns:a16="http://schemas.microsoft.com/office/drawing/2014/main" id="{C3721E2D-A4A2-4C06-B41E-89B5BEC35FAA}"/>
              </a:ext>
            </a:extLst>
          </p:cNvPr>
          <p:cNvSpPr>
            <a:spLocks xmlns:a="http://schemas.openxmlformats.org/drawingml/2006/main" noGrp="1"/>
          </p:cNvSpPr>
          <p:nvPr/>
        </p:nvSpPr>
        <p:spPr>
          <a:xfrm xmlns:a="http://schemas.openxmlformats.org/drawingml/2006/main">
            <a:off x="6143625" y="5429250"/>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B3157"/>
                </a:solidFill>
                <a:latin typeface="Arial"/>
                <a:ea typeface="Arial"/>
                <a:cs typeface="Arial"/>
              </a:defRPr>
            </a:pPr>
            <a:r>
              <a:rPr sz="1650" b="0">
                <a:solidFill>
                  <a:srgbClr val="1B3157"/>
                </a:solidFill>
                <a:latin typeface="Arial"/>
                <a:ea typeface="Arial"/>
                <a:cs typeface="Arial"/>
              </a:rPr>
              <a:t>Corrections are logged. Measured values stay locked, and deleted records can be recovered for 30 days.</a:t>
            </a:r>
          </a:p>
        </p:txBody>
      </p:sp>
    </p:spTree>
    <p:extLst>
      <p:ext uri="{BB962C8B-B14F-4D97-AF65-F5344CB8AC3E}">
        <p14:creationId xmlns:p14="http://schemas.microsoft.com/office/powerpoint/2010/main" val="15390899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4E2FF1A-35FD-4CB0-B77B-185EDAC33C76}"/>
              </a:ext>
            </a:extLst>
          </p:cNvPr>
          <p:cNvSpPr>
            <a:spLocks xmlns:a="http://schemas.openxmlformats.org/drawingml/2006/main" noGrp="1"/>
          </p:cNvSpPr>
          <p:nvPr/>
        </p:nvSpPr>
        <p:spPr>
          <a:xfrm xmlns:a="http://schemas.openxmlformats.org/drawingml/2006/main">
            <a:off x="876300" y="6096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351"/>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Outcomes</a:t>
            </a:r>
          </a:p>
        </p:txBody>
      </p:sp>
      <p:sp>
        <p:nvSpPr>
          <p:cNvPr id="2" name="">
            <a:extLst xmlns:a="http://schemas.openxmlformats.org/drawingml/2006/main">
              <a:ext uri="{FF2B5EF4-FFF2-40B4-BE49-F238E27FC236}">
                <a16:creationId xmlns:a16="http://schemas.microsoft.com/office/drawing/2014/main" id="{D6E03417-5704-4448-AEDC-B751E6E24BE5}"/>
              </a:ext>
            </a:extLst>
          </p:cNvPr>
          <p:cNvSpPr>
            <a:spLocks xmlns:a="http://schemas.openxmlformats.org/drawingml/2006/main" noGrp="1"/>
          </p:cNvSpPr>
          <p:nvPr/>
        </p:nvSpPr>
        <p:spPr>
          <a:xfrm xmlns:a="http://schemas.openxmlformats.org/drawingml/2006/main">
            <a:off x="2381250" y="609600"/>
            <a:ext cx="4191000" cy="495300"/>
          </a:xfrm>
          <a:prstGeom xmlns:a="http://schemas.openxmlformats.org/drawingml/2006/main" prst="rect">
            <a:avLst/>
          </a:prstGeom>
          <a:solidFill xmlns:a="http://schemas.openxmlformats.org/drawingml/2006/main">
            <a:srgbClr val="F8E9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7F8121-607C-45C9-A88B-DF6F6609EE33}"/>
              </a:ext>
            </a:extLst>
          </p:cNvPr>
          <p:cNvSpPr>
            <a:spLocks xmlns:a="http://schemas.openxmlformats.org/drawingml/2006/main" noGrp="1"/>
          </p:cNvSpPr>
          <p:nvPr/>
        </p:nvSpPr>
        <p:spPr>
          <a:xfrm xmlns:a="http://schemas.openxmlformats.org/drawingml/2006/main">
            <a:off x="2600325" y="666750"/>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Production &amp; Quality</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0bac1df56244a39"/>
          <a:stretch xmlns:a="http://schemas.openxmlformats.org/drawingml/2006/main"/>
        </p:blipFill>
        <p:spPr>
          <a:xfrm xmlns:a="http://schemas.openxmlformats.org/drawingml/2006/main">
            <a:off x="10172700" y="352425"/>
            <a:ext cx="1809750" cy="50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974E72C-A01A-476A-BB7B-87A29AE70D08}"/>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0A67A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DD8601-F616-4E55-8A63-807AE90B66C1}"/>
              </a:ext>
            </a:extLst>
          </p:cNvPr>
          <p:cNvSpPr>
            <a:spLocks xmlns:a="http://schemas.openxmlformats.org/drawingml/2006/main" noGrp="1"/>
          </p:cNvSpPr>
          <p:nvPr/>
        </p:nvSpPr>
        <p:spPr>
          <a:xfrm xmlns:a="http://schemas.openxmlformats.org/drawingml/2006/main">
            <a:off x="866775" y="13239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What the solution changes</a:t>
            </a:r>
          </a:p>
        </p:txBody>
      </p:sp>
      <p:sp>
        <p:nvSpPr>
          <p:cNvPr id="7" name="">
            <a:extLst xmlns:a="http://schemas.openxmlformats.org/drawingml/2006/main">
              <a:ext uri="{FF2B5EF4-FFF2-40B4-BE49-F238E27FC236}">
                <a16:creationId xmlns:a16="http://schemas.microsoft.com/office/drawing/2014/main" id="{1DEEB323-3D1F-4E2B-9FE9-7D9C3BE4DB42}"/>
              </a:ext>
            </a:extLst>
          </p:cNvPr>
          <p:cNvSpPr>
            <a:spLocks xmlns:a="http://schemas.openxmlformats.org/drawingml/2006/main" noGrp="1"/>
          </p:cNvSpPr>
          <p:nvPr/>
        </p:nvSpPr>
        <p:spPr>
          <a:xfrm xmlns:a="http://schemas.openxmlformats.org/drawingml/2006/main">
            <a:off x="876300" y="180022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525C6C"/>
                </a:solidFill>
                <a:latin typeface="Arial"/>
                <a:ea typeface="Arial"/>
                <a:cs typeface="Arial"/>
              </a:defRPr>
            </a:pPr>
            <a:r>
              <a:rPr sz="1575" b="0">
                <a:solidFill>
                  <a:srgbClr val="525C6C"/>
                </a:solidFill>
                <a:latin typeface="Arial"/>
                <a:ea typeface="Arial"/>
                <a:cs typeface="Arial"/>
              </a:rPr>
              <a:t>Less recording work, consistent sorting, and a clearer view of quality.</a:t>
            </a:r>
          </a:p>
        </p:txBody>
      </p:sp>
      <p:sp>
        <p:nvSpPr>
          <p:cNvPr id="8" name="">
            <a:extLst xmlns:a="http://schemas.openxmlformats.org/drawingml/2006/main">
              <a:ext uri="{FF2B5EF4-FFF2-40B4-BE49-F238E27FC236}">
                <a16:creationId xmlns:a16="http://schemas.microsoft.com/office/drawing/2014/main" id="{FE353A3C-2449-47AD-8977-61261926CC95}"/>
              </a:ext>
            </a:extLst>
          </p:cNvPr>
          <p:cNvSpPr>
            <a:spLocks xmlns:a="http://schemas.openxmlformats.org/drawingml/2006/main" noGrp="1"/>
          </p:cNvSpPr>
          <p:nvPr/>
        </p:nvSpPr>
        <p:spPr>
          <a:xfrm xmlns:a="http://schemas.openxmlformats.org/drawingml/2006/main">
            <a:off x="676275" y="23336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9" name="">
            <a:extLst xmlns:a="http://schemas.openxmlformats.org/drawingml/2006/main">
              <a:ext uri="{FF2B5EF4-FFF2-40B4-BE49-F238E27FC236}">
                <a16:creationId xmlns:a16="http://schemas.microsoft.com/office/drawing/2014/main" id="{693BC406-9A59-4CA7-9D4C-CBA2CAD260D8}"/>
              </a:ext>
            </a:extLst>
          </p:cNvPr>
          <p:cNvSpPr>
            <a:spLocks xmlns:a="http://schemas.openxmlformats.org/drawingml/2006/main" noGrp="1"/>
          </p:cNvSpPr>
          <p:nvPr/>
        </p:nvSpPr>
        <p:spPr>
          <a:xfrm xmlns:a="http://schemas.openxmlformats.org/drawingml/2006/main">
            <a:off x="676275" y="2333625"/>
            <a:ext cx="133350" cy="1066800"/>
          </a:xfrm>
          <a:prstGeom xmlns:a="http://schemas.openxmlformats.org/drawingml/2006/main" prst="rect">
            <a:avLst/>
          </a:prstGeom>
          <a:solidFill xmlns:a="http://schemas.openxmlformats.org/drawingml/2006/main">
            <a:srgbClr val="C254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CA6316-52B7-40D1-858C-9163B6A81545}"/>
              </a:ext>
            </a:extLst>
          </p:cNvPr>
          <p:cNvSpPr>
            <a:spLocks xmlns:a="http://schemas.openxmlformats.org/drawingml/2006/main" noGrp="1"/>
          </p:cNvSpPr>
          <p:nvPr/>
        </p:nvSpPr>
        <p:spPr>
          <a:xfrm xmlns:a="http://schemas.openxmlformats.org/drawingml/2006/main">
            <a:off x="1028700" y="25908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C25418"/>
                </a:solidFill>
                <a:latin typeface="Arial"/>
                <a:ea typeface="Arial"/>
                <a:cs typeface="Arial"/>
              </a:defRPr>
            </a:pPr>
            <a:r>
              <a:rPr sz="2325" b="1">
                <a:solidFill>
                  <a:srgbClr val="C2541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4462DBCA-B21A-46FC-BD2C-85C1CA08050E}"/>
              </a:ext>
            </a:extLst>
          </p:cNvPr>
          <p:cNvSpPr>
            <a:spLocks xmlns:a="http://schemas.openxmlformats.org/drawingml/2006/main" noGrp="1"/>
          </p:cNvSpPr>
          <p:nvPr/>
        </p:nvSpPr>
        <p:spPr>
          <a:xfrm xmlns:a="http://schemas.openxmlformats.org/drawingml/2006/main">
            <a:off x="1819275" y="24860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Less manual recording</a:t>
            </a:r>
          </a:p>
        </p:txBody>
      </p:sp>
      <p:sp>
        <p:nvSpPr>
          <p:cNvPr id="12" name="">
            <a:extLst xmlns:a="http://schemas.openxmlformats.org/drawingml/2006/main">
              <a:ext uri="{FF2B5EF4-FFF2-40B4-BE49-F238E27FC236}">
                <a16:creationId xmlns:a16="http://schemas.microsoft.com/office/drawing/2014/main" id="{C8C28AEB-3C56-443A-AD44-F2F5796D3723}"/>
              </a:ext>
            </a:extLst>
          </p:cNvPr>
          <p:cNvSpPr>
            <a:spLocks xmlns:a="http://schemas.openxmlformats.org/drawingml/2006/main" noGrp="1"/>
          </p:cNvSpPr>
          <p:nvPr/>
        </p:nvSpPr>
        <p:spPr>
          <a:xfrm xmlns:a="http://schemas.openxmlformats.org/drawingml/2006/main">
            <a:off x="1819275" y="28670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Results and images are saved with each run, so operators do not need to write them down.</a:t>
            </a:r>
          </a:p>
        </p:txBody>
      </p:sp>
      <p:sp>
        <p:nvSpPr>
          <p:cNvPr id="13" name="">
            <a:extLst xmlns:a="http://schemas.openxmlformats.org/drawingml/2006/main">
              <a:ext uri="{FF2B5EF4-FFF2-40B4-BE49-F238E27FC236}">
                <a16:creationId xmlns:a16="http://schemas.microsoft.com/office/drawing/2014/main" id="{E89A04E5-C443-4541-A635-DE2581026697}"/>
              </a:ext>
            </a:extLst>
          </p:cNvPr>
          <p:cNvSpPr>
            <a:spLocks xmlns:a="http://schemas.openxmlformats.org/drawingml/2006/main" noGrp="1"/>
          </p:cNvSpPr>
          <p:nvPr/>
        </p:nvSpPr>
        <p:spPr>
          <a:xfrm xmlns:a="http://schemas.openxmlformats.org/drawingml/2006/main">
            <a:off x="676275" y="35528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14" name="">
            <a:extLst xmlns:a="http://schemas.openxmlformats.org/drawingml/2006/main">
              <a:ext uri="{FF2B5EF4-FFF2-40B4-BE49-F238E27FC236}">
                <a16:creationId xmlns:a16="http://schemas.microsoft.com/office/drawing/2014/main" id="{C43C86E2-A484-4F23-95C7-255AA4B78DE7}"/>
              </a:ext>
            </a:extLst>
          </p:cNvPr>
          <p:cNvSpPr>
            <a:spLocks xmlns:a="http://schemas.openxmlformats.org/drawingml/2006/main" noGrp="1"/>
          </p:cNvSpPr>
          <p:nvPr/>
        </p:nvSpPr>
        <p:spPr>
          <a:xfrm xmlns:a="http://schemas.openxmlformats.org/drawingml/2006/main">
            <a:off x="676275" y="3552825"/>
            <a:ext cx="133350" cy="1066800"/>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FD322BF-4850-4BA1-A743-549C2604114F}"/>
              </a:ext>
            </a:extLst>
          </p:cNvPr>
          <p:cNvSpPr>
            <a:spLocks xmlns:a="http://schemas.openxmlformats.org/drawingml/2006/main" noGrp="1"/>
          </p:cNvSpPr>
          <p:nvPr/>
        </p:nvSpPr>
        <p:spPr>
          <a:xfrm xmlns:a="http://schemas.openxmlformats.org/drawingml/2006/main">
            <a:off x="1028700" y="38100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4B9BD3"/>
                </a:solidFill>
                <a:latin typeface="Arial"/>
                <a:ea typeface="Arial"/>
                <a:cs typeface="Arial"/>
              </a:defRPr>
            </a:pPr>
            <a:r>
              <a:rPr sz="2325" b="1">
                <a:solidFill>
                  <a:srgbClr val="4B9BD3"/>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413C6030-FDEE-47AC-8398-13B079E12C14}"/>
              </a:ext>
            </a:extLst>
          </p:cNvPr>
          <p:cNvSpPr>
            <a:spLocks xmlns:a="http://schemas.openxmlformats.org/drawingml/2006/main" noGrp="1"/>
          </p:cNvSpPr>
          <p:nvPr/>
        </p:nvSpPr>
        <p:spPr>
          <a:xfrm xmlns:a="http://schemas.openxmlformats.org/drawingml/2006/main">
            <a:off x="1819275" y="37052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Consistent sorting</a:t>
            </a:r>
          </a:p>
        </p:txBody>
      </p:sp>
      <p:sp>
        <p:nvSpPr>
          <p:cNvPr id="17" name="">
            <a:extLst xmlns:a="http://schemas.openxmlformats.org/drawingml/2006/main">
              <a:ext uri="{FF2B5EF4-FFF2-40B4-BE49-F238E27FC236}">
                <a16:creationId xmlns:a16="http://schemas.microsoft.com/office/drawing/2014/main" id="{4D4E758E-F63C-4808-A213-C71BCE8D9107}"/>
              </a:ext>
            </a:extLst>
          </p:cNvPr>
          <p:cNvSpPr>
            <a:spLocks xmlns:a="http://schemas.openxmlformats.org/drawingml/2006/main" noGrp="1"/>
          </p:cNvSpPr>
          <p:nvPr/>
        </p:nvSpPr>
        <p:spPr>
          <a:xfrm xmlns:a="http://schemas.openxmlformats.org/drawingml/2006/main">
            <a:off x="1819275" y="40862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The same ALPL specification is applied to each measurement, and the pass/fail result directs sorting.</a:t>
            </a:r>
          </a:p>
        </p:txBody>
      </p:sp>
      <p:sp>
        <p:nvSpPr>
          <p:cNvPr id="18" name="">
            <a:extLst xmlns:a="http://schemas.openxmlformats.org/drawingml/2006/main">
              <a:ext uri="{FF2B5EF4-FFF2-40B4-BE49-F238E27FC236}">
                <a16:creationId xmlns:a16="http://schemas.microsoft.com/office/drawing/2014/main" id="{86CD68ED-9161-44B3-B006-8B5E8667D221}"/>
              </a:ext>
            </a:extLst>
          </p:cNvPr>
          <p:cNvSpPr>
            <a:spLocks xmlns:a="http://schemas.openxmlformats.org/drawingml/2006/main" noGrp="1"/>
          </p:cNvSpPr>
          <p:nvPr/>
        </p:nvSpPr>
        <p:spPr>
          <a:xfrm xmlns:a="http://schemas.openxmlformats.org/drawingml/2006/main">
            <a:off x="676275" y="47720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19" name="">
            <a:extLst xmlns:a="http://schemas.openxmlformats.org/drawingml/2006/main">
              <a:ext uri="{FF2B5EF4-FFF2-40B4-BE49-F238E27FC236}">
                <a16:creationId xmlns:a16="http://schemas.microsoft.com/office/drawing/2014/main" id="{46FF5608-6EEF-4CE7-80A6-8A9C75DDC86E}"/>
              </a:ext>
            </a:extLst>
          </p:cNvPr>
          <p:cNvSpPr>
            <a:spLocks xmlns:a="http://schemas.openxmlformats.org/drawingml/2006/main" noGrp="1"/>
          </p:cNvSpPr>
          <p:nvPr/>
        </p:nvSpPr>
        <p:spPr>
          <a:xfrm xmlns:a="http://schemas.openxmlformats.org/drawingml/2006/main">
            <a:off x="676275" y="4772025"/>
            <a:ext cx="133350" cy="1066800"/>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84CB51-F4E9-43FA-A47D-9160BA31C74A}"/>
              </a:ext>
            </a:extLst>
          </p:cNvPr>
          <p:cNvSpPr>
            <a:spLocks xmlns:a="http://schemas.openxmlformats.org/drawingml/2006/main" noGrp="1"/>
          </p:cNvSpPr>
          <p:nvPr/>
        </p:nvSpPr>
        <p:spPr>
          <a:xfrm xmlns:a="http://schemas.openxmlformats.org/drawingml/2006/main">
            <a:off x="1028700" y="50292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4B9BD3"/>
                </a:solidFill>
                <a:latin typeface="Arial"/>
                <a:ea typeface="Arial"/>
                <a:cs typeface="Arial"/>
              </a:defRPr>
            </a:pPr>
            <a:r>
              <a:rPr sz="2325" b="1">
                <a:solidFill>
                  <a:srgbClr val="4B9BD3"/>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E20305C2-930D-417E-A4B5-B21DB432D721}"/>
              </a:ext>
            </a:extLst>
          </p:cNvPr>
          <p:cNvSpPr>
            <a:spLocks xmlns:a="http://schemas.openxmlformats.org/drawingml/2006/main" noGrp="1"/>
          </p:cNvSpPr>
          <p:nvPr/>
        </p:nvSpPr>
        <p:spPr>
          <a:xfrm xmlns:a="http://schemas.openxmlformats.org/drawingml/2006/main">
            <a:off x="1819275" y="49244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Clearer quality review</a:t>
            </a:r>
          </a:p>
        </p:txBody>
      </p:sp>
      <p:sp>
        <p:nvSpPr>
          <p:cNvPr id="22" name="">
            <a:extLst xmlns:a="http://schemas.openxmlformats.org/drawingml/2006/main">
              <a:ext uri="{FF2B5EF4-FFF2-40B4-BE49-F238E27FC236}">
                <a16:creationId xmlns:a16="http://schemas.microsoft.com/office/drawing/2014/main" id="{BBE254C6-822B-47E8-8679-10E68947EEF4}"/>
              </a:ext>
            </a:extLst>
          </p:cNvPr>
          <p:cNvSpPr>
            <a:spLocks xmlns:a="http://schemas.openxmlformats.org/drawingml/2006/main" noGrp="1"/>
          </p:cNvSpPr>
          <p:nvPr/>
        </p:nvSpPr>
        <p:spPr>
          <a:xfrm xmlns:a="http://schemas.openxmlformats.org/drawingml/2006/main">
            <a:off x="1819275" y="53054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79"/>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Teams can search records and view Good/Fail counts by package size or part number, along with yield trends.</a:t>
            </a:r>
          </a:p>
        </p:txBody>
      </p:sp>
    </p:spTree>
    <p:extLst>
      <p:ext uri="{BB962C8B-B14F-4D97-AF65-F5344CB8AC3E}">
        <p14:creationId xmlns:p14="http://schemas.microsoft.com/office/powerpoint/2010/main" val="4005342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2026-09-28T17:47:15.5660000Z</dcterms:created>
  <dcterms:modified xsi:type="dcterms:W3CDTF">2026-09-28T17:47:15.5660000Z</dcterms:modified>
</coreProperties>
</file>