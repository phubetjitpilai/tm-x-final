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573" r:id="rId2"/>
    <p:sldId id="411" r:id="rId3"/>
    <p:sldId id="399" r:id="rId4"/>
    <p:sldId id="268" r:id="rId5"/>
    <p:sldId id="288" r:id="rId6"/>
    <p:sldId id="593" r:id="rId7"/>
    <p:sldId id="598" r:id="rId8"/>
    <p:sldId id="256" r:id="rId9"/>
    <p:sldId id="413" r:id="rId10"/>
    <p:sldId id="430" r:id="rId11"/>
    <p:sldId id="421" r:id="rId12"/>
    <p:sldId id="511" r:id="rId13"/>
    <p:sldId id="403" r:id="rId14"/>
    <p:sldId id="303" r:id="rId15"/>
    <p:sldId id="400" r:id="rId16"/>
    <p:sldId id="594" r:id="rId17"/>
    <p:sldId id="414" r:id="rId18"/>
    <p:sldId id="595" r:id="rId19"/>
    <p:sldId id="532" r:id="rId20"/>
    <p:sldId id="412" r:id="rId21"/>
    <p:sldId id="596" r:id="rId22"/>
    <p:sldId id="283" r:id="rId23"/>
    <p:sldId id="339" r:id="rId24"/>
    <p:sldId id="301" r:id="rId25"/>
    <p:sldId id="322" r:id="rId26"/>
    <p:sldId id="597" r:id="rId27"/>
    <p:sldId id="260" r:id="rId28"/>
    <p:sldId id="355" r:id="rId29"/>
    <p:sldId id="299" r:id="rId30"/>
    <p:sldId id="261" r:id="rId31"/>
    <p:sldId id="576" r:id="rId32"/>
    <p:sldId id="587" r:id="rId33"/>
    <p:sldId id="552" r:id="rId34"/>
    <p:sldId id="583" r:id="rId35"/>
    <p:sldId id="545" r:id="rId36"/>
    <p:sldId id="584" r:id="rId37"/>
    <p:sldId id="558" r:id="rId38"/>
    <p:sldId id="559" r:id="rId39"/>
    <p:sldId id="585" r:id="rId40"/>
    <p:sldId id="384" r:id="rId41"/>
    <p:sldId id="529" r:id="rId42"/>
    <p:sldId id="586" r:id="rId43"/>
    <p:sldId id="503" r:id="rId44"/>
    <p:sldId id="523" r:id="rId45"/>
    <p:sldId id="520" r:id="rId46"/>
    <p:sldId id="524" r:id="rId47"/>
    <p:sldId id="515" r:id="rId48"/>
    <p:sldId id="533" r:id="rId49"/>
    <p:sldId id="534" r:id="rId50"/>
    <p:sldId id="535" r:id="rId51"/>
    <p:sldId id="525" r:id="rId52"/>
    <p:sldId id="526" r:id="rId53"/>
    <p:sldId id="528" r:id="rId54"/>
    <p:sldId id="522" r:id="rId55"/>
    <p:sldId id="387" r:id="rId56"/>
    <p:sldId id="543" r:id="rId57"/>
    <p:sldId id="592" r:id="rId58"/>
    <p:sldId id="539" r:id="rId59"/>
  </p:sldIdLst>
  <p:sldSz cx="12192000" cy="6858000"/>
  <p:notesSz cx="6858000" cy="9144000"/>
  <p:defaultText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Project" id="{6952F0A5-22D4-4AE4-991B-3D844FA5D874}">
          <p14:sldIdLst>
            <p14:sldId id="573"/>
          </p14:sldIdLst>
        </p14:section>
        <p14:section name="ADI Core" id="{1BC9E8EF-DFFB-4B26-B228-5F79D57C2AC5}">
          <p14:sldIdLst>
            <p14:sldId id="411"/>
          </p14:sldIdLst>
        </p14:section>
        <p14:section name="Project Charter" id="{63FF5CF3-06A8-486A-848B-4D468CADC3A2}">
          <p14:sldIdLst>
            <p14:sldId id="399"/>
          </p14:sldIdLst>
        </p14:section>
        <p14:section name="Backgroung" id="{5386CF51-DA84-483F-8C2F-3A8B1A885F83}">
          <p14:sldIdLst>
            <p14:sldId id="268"/>
            <p14:sldId id="288"/>
          </p14:sldIdLst>
        </p14:section>
        <p14:section name="Problem/Pain Point" id="{8E3D17CD-E7B5-48CD-9122-5F6627659D33}">
          <p14:sldIdLst>
            <p14:sldId id="593"/>
            <p14:sldId id="598"/>
            <p14:sldId id="256"/>
            <p14:sldId id="413"/>
            <p14:sldId id="430"/>
            <p14:sldId id="421"/>
            <p14:sldId id="511"/>
            <p14:sldId id="403"/>
          </p14:sldIdLst>
        </p14:section>
        <p14:section name="Data Collection" id="{5115067A-B199-45A2-B54E-D19E5583D0F1}">
          <p14:sldIdLst>
            <p14:sldId id="303"/>
            <p14:sldId id="400"/>
          </p14:sldIdLst>
        </p14:section>
        <p14:section name="Scope" id="{46ECE4AF-4C37-458C-A7C7-0128C254AEC6}">
          <p14:sldIdLst>
            <p14:sldId id="594"/>
            <p14:sldId id="414"/>
          </p14:sldIdLst>
        </p14:section>
        <p14:section name="Success Criteria" id="{4765A4CA-C8EE-4999-9674-AC3D0561CDCD}">
          <p14:sldIdLst>
            <p14:sldId id="595"/>
            <p14:sldId id="532"/>
          </p14:sldIdLst>
        </p14:section>
        <p14:section name="Milestone" id="{69A0A021-0E11-4668-A98C-4C9E3CC1BE42}">
          <p14:sldIdLst>
            <p14:sldId id="412"/>
          </p14:sldIdLst>
        </p14:section>
        <p14:section name="As-is" id="{35A3279B-0F30-4146-A420-8DBDA9D25568}">
          <p14:sldIdLst>
            <p14:sldId id="596"/>
            <p14:sldId id="283"/>
            <p14:sldId id="339"/>
            <p14:sldId id="301"/>
            <p14:sldId id="322"/>
          </p14:sldIdLst>
        </p14:section>
        <p14:section name="Current Process" id="{17DB5CBC-92AE-441D-B50A-CB102F3B94F8}">
          <p14:sldIdLst>
            <p14:sldId id="597"/>
            <p14:sldId id="260"/>
            <p14:sldId id="355"/>
            <p14:sldId id="299"/>
            <p14:sldId id="261"/>
          </p14:sldIdLst>
        </p14:section>
        <p14:section name="Pos-Con" id="{F0CF68AC-B38A-4B7D-9689-8A6C96160445}">
          <p14:sldIdLst>
            <p14:sldId id="576"/>
          </p14:sldIdLst>
        </p14:section>
        <p14:section name="Action (HW/SW)" id="{26016B1A-8BEF-4396-A6A8-D451FBA60D4F}">
          <p14:sldIdLst>
            <p14:sldId id="587"/>
            <p14:sldId id="552"/>
            <p14:sldId id="583"/>
            <p14:sldId id="545"/>
            <p14:sldId id="584"/>
            <p14:sldId id="558"/>
            <p14:sldId id="559"/>
            <p14:sldId id="585"/>
            <p14:sldId id="384"/>
            <p14:sldId id="529"/>
            <p14:sldId id="586"/>
            <p14:sldId id="503"/>
            <p14:sldId id="523"/>
            <p14:sldId id="520"/>
            <p14:sldId id="524"/>
            <p14:sldId id="515"/>
            <p14:sldId id="533"/>
            <p14:sldId id="534"/>
            <p14:sldId id="535"/>
            <p14:sldId id="525"/>
            <p14:sldId id="526"/>
            <p14:sldId id="528"/>
            <p14:sldId id="522"/>
          </p14:sldIdLst>
        </p14:section>
        <p14:section name="New Process" id="{EDE0B42F-0076-4E8A-948D-9911FFAE4A02}">
          <p14:sldIdLst>
            <p14:sldId id="387"/>
            <p14:sldId id="543"/>
          </p14:sldIdLst>
        </p14:section>
        <p14:section name="Summary" id="{07D139DD-85C6-4861-B412-235B16769617}">
          <p14:sldIdLst>
            <p14:sldId id="592"/>
            <p14:sldId id="539"/>
          </p14:sldIdLst>
        </p14:section>
        <p14:section name="Conclusion" id="{9FC0344B-4EDA-44FE-9B57-901ED222F285}">
          <p14:sldIdLst/>
        </p14:section>
        <p14:section name="Benefits" id="{62D91628-9576-4E2A-BA08-6F663CD017BF}">
          <p14:sldIdLst/>
        </p14:section>
        <p14:section name="Future Project" id="{07FB2BF6-9D68-44E5-BE30-7182184C051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7132"/>
    <a:srgbClr val="EFF7FB"/>
    <a:srgbClr val="FBFD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16" autoAdjust="0"/>
    <p:restoredTop sz="94660"/>
  </p:normalViewPr>
  <p:slideViewPr>
    <p:cSldViewPr snapToGrid="0">
      <p:cViewPr varScale="1">
        <p:scale>
          <a:sx n="78" d="100"/>
          <a:sy n="78" d="100"/>
        </p:scale>
        <p:origin x="88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ตัวแทนหัวกระดาษ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h-TH"/>
          </a:p>
        </p:txBody>
      </p:sp>
      <p:sp>
        <p:nvSpPr>
          <p:cNvPr id="3" name="ตัวแทนวันที่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CD2638-BCB3-4E97-BBCF-008DAC51586E}" type="datetimeFigureOut">
              <a:rPr lang="th-TH" smtClean="0"/>
              <a:t>29/09/69</a:t>
            </a:fld>
            <a:endParaRPr lang="th-TH"/>
          </a:p>
        </p:txBody>
      </p:sp>
      <p:sp>
        <p:nvSpPr>
          <p:cNvPr id="4" name="ตัวแทนรูปบนสไลด์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h-TH"/>
          </a:p>
        </p:txBody>
      </p:sp>
      <p:sp>
        <p:nvSpPr>
          <p:cNvPr id="5" name="ตัวแทนบันทึกย่อ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6" name="ตัวแทนท้ายกระดา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h-TH"/>
          </a:p>
        </p:txBody>
      </p:sp>
      <p:sp>
        <p:nvSpPr>
          <p:cNvPr id="7" name="ตัวแทนหมายเลขสไลด์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478C2C-1E9C-4331-98DC-852FADE301FE}" type="slidenum">
              <a:rPr lang="th-TH" smtClean="0"/>
              <a:t>‹#›</a:t>
            </a:fld>
            <a:endParaRPr lang="th-TH"/>
          </a:p>
        </p:txBody>
      </p:sp>
    </p:spTree>
    <p:extLst>
      <p:ext uri="{BB962C8B-B14F-4D97-AF65-F5344CB8AC3E}">
        <p14:creationId xmlns:p14="http://schemas.microsoft.com/office/powerpoint/2010/main" val="3535227831"/>
      </p:ext>
    </p:extLst>
  </p:cSld>
  <p:clrMap bg1="lt1" tx1="dk1" bg2="lt2" tx2="dk2" accent1="accent1" accent2="accent2" accent3="accent3" accent4="accent4" accent5="accent5" accent6="accent6" hlink="hlink" folHlink="folHlink"/>
  <p:notes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รูปบนสไลด์ 1"/>
          <p:cNvSpPr>
            <a:spLocks noGrp="1" noRot="1" noChangeAspect="1"/>
          </p:cNvSpPr>
          <p:nvPr>
            <p:ph type="sldImg"/>
          </p:nvPr>
        </p:nvSpPr>
        <p:spPr/>
        <p:txBody>
          <a:bodyPr/>
          <a:lstStyle/>
          <a:p>
            <a:endParaRPr lang="th-TH"/>
          </a:p>
        </p:txBody>
      </p:sp>
      <p:sp>
        <p:nvSpPr>
          <p:cNvPr id="3" name="ตัวแทนบันทึกย่อ 2"/>
          <p:cNvSpPr>
            <a:spLocks noGrp="1"/>
          </p:cNvSpPr>
          <p:nvPr>
            <p:ph type="body" idx="1"/>
          </p:nvPr>
        </p:nvSpPr>
        <p:spPr/>
        <p:txBody>
          <a:bodyPr/>
          <a:lstStyle/>
          <a:p>
            <a:endParaRPr lang="th-TH" dirty="0"/>
          </a:p>
        </p:txBody>
      </p:sp>
      <p:sp>
        <p:nvSpPr>
          <p:cNvPr id="4" name="ตัวแทนหมายเลขสไลด์ 3"/>
          <p:cNvSpPr>
            <a:spLocks noGrp="1"/>
          </p:cNvSpPr>
          <p:nvPr>
            <p:ph type="sldNum" sz="quarter" idx="5"/>
          </p:nvPr>
        </p:nvSpPr>
        <p:spPr/>
        <p:txBody>
          <a:bodyPr/>
          <a:lstStyle/>
          <a:p>
            <a:fld id="{E9E765B1-F2DB-4EF2-930A-9B7780E0B6EE}" type="slidenum">
              <a:rPr lang="th-TH" smtClean="0"/>
              <a:t>3</a:t>
            </a:fld>
            <a:endParaRPr lang="th-TH"/>
          </a:p>
        </p:txBody>
      </p:sp>
    </p:spTree>
    <p:extLst>
      <p:ext uri="{BB962C8B-B14F-4D97-AF65-F5344CB8AC3E}">
        <p14:creationId xmlns:p14="http://schemas.microsoft.com/office/powerpoint/2010/main" val="4047799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รูปบนสไลด์ 1"/>
          <p:cNvSpPr>
            <a:spLocks noGrp="1" noRot="1" noChangeAspect="1"/>
          </p:cNvSpPr>
          <p:nvPr>
            <p:ph type="sldImg"/>
          </p:nvPr>
        </p:nvSpPr>
        <p:spPr/>
        <p:txBody>
          <a:bodyPr/>
          <a:lstStyle/>
          <a:p>
            <a:endParaRPr lang="th-TH"/>
          </a:p>
        </p:txBody>
      </p:sp>
      <p:sp>
        <p:nvSpPr>
          <p:cNvPr id="3" name="ตัวแทนบันทึกย่อ 2"/>
          <p:cNvSpPr>
            <a:spLocks noGrp="1"/>
          </p:cNvSpPr>
          <p:nvPr>
            <p:ph type="body" idx="1"/>
          </p:nvPr>
        </p:nvSpPr>
        <p:spPr/>
        <p:txBody>
          <a:bodyPr/>
          <a:lstStyle/>
          <a:p>
            <a:r>
              <a:rPr lang="th-TH" dirty="0"/>
              <a:t>ในฐานะผู้นำด้านอุตสาหกรรมเซมิคอนดัก</a:t>
            </a:r>
            <a:r>
              <a:rPr lang="th-TH" dirty="0" err="1"/>
              <a:t>เต</a:t>
            </a:r>
            <a:r>
              <a:rPr lang="th-TH" dirty="0"/>
              <a:t>อร์ </a:t>
            </a:r>
            <a:r>
              <a:rPr lang="th-TH" dirty="0" err="1"/>
              <a:t>Analog</a:t>
            </a:r>
            <a:r>
              <a:rPr lang="th-TH" dirty="0"/>
              <a:t> Devices (ADI) จำเป็นต้องอาศัยอุปกรณ์จับยึดสำหรับทดสอบ IC (IC </a:t>
            </a:r>
            <a:r>
              <a:rPr lang="th-TH" dirty="0" err="1"/>
              <a:t>Testing</a:t>
            </a:r>
            <a:r>
              <a:rPr lang="th-TH" dirty="0"/>
              <a:t> </a:t>
            </a:r>
            <a:r>
              <a:rPr lang="th-TH" dirty="0" err="1"/>
              <a:t>Jigs</a:t>
            </a:r>
            <a:r>
              <a:rPr lang="th-TH" dirty="0"/>
              <a:t>) ที่มีค่าพิกัดความเผื่อ (</a:t>
            </a:r>
            <a:r>
              <a:rPr lang="th-TH" dirty="0" err="1"/>
              <a:t>Tolerances</a:t>
            </a:r>
            <a:r>
              <a:rPr lang="th-TH" dirty="0"/>
              <a:t>) ที่เข้มงวดและแม่นยำสูงมาก โดยเฉพาะอย่างยิ่ง </a:t>
            </a:r>
            <a:r>
              <a:rPr lang="th-TH" b="1" dirty="0"/>
              <a:t>แผ่นจัดตำแหน่ง (</a:t>
            </a:r>
            <a:r>
              <a:rPr lang="th-TH" b="1" dirty="0" err="1"/>
              <a:t>Alignment</a:t>
            </a:r>
            <a:r>
              <a:rPr lang="th-TH" b="1" dirty="0"/>
              <a:t> </a:t>
            </a:r>
            <a:r>
              <a:rPr lang="th-TH" b="1" dirty="0" err="1"/>
              <a:t>Plates</a:t>
            </a:r>
            <a:r>
              <a:rPr lang="th-TH" b="1" dirty="0"/>
              <a:t> - ALPL)</a:t>
            </a:r>
            <a:r>
              <a:rPr lang="th-TH" dirty="0"/>
              <a:t> และ </a:t>
            </a:r>
            <a:r>
              <a:rPr lang="th-TH" b="1" dirty="0" err="1"/>
              <a:t>Lead</a:t>
            </a:r>
            <a:r>
              <a:rPr lang="th-TH" b="1" dirty="0"/>
              <a:t> </a:t>
            </a:r>
            <a:r>
              <a:rPr lang="th-TH" b="1" dirty="0" err="1"/>
              <a:t>Breakers</a:t>
            </a:r>
            <a:endParaRPr lang="th-TH" dirty="0"/>
          </a:p>
          <a:p>
            <a:r>
              <a:rPr lang="th-TH" dirty="0"/>
              <a:t>ส่วนประกอบเหล่านี้มีความสำคัญอย่างยิ่งในการจัดตำแหน่ง </a:t>
            </a:r>
            <a:r>
              <a:rPr lang="th-TH" b="1" dirty="0" err="1"/>
              <a:t>Contact</a:t>
            </a:r>
            <a:r>
              <a:rPr lang="th-TH" b="1" dirty="0"/>
              <a:t> </a:t>
            </a:r>
            <a:r>
              <a:rPr lang="th-TH" b="1" dirty="0" err="1"/>
              <a:t>Pins</a:t>
            </a:r>
            <a:r>
              <a:rPr lang="th-TH" dirty="0"/>
              <a:t> ระหว่างเครื่อง </a:t>
            </a:r>
            <a:r>
              <a:rPr lang="th-TH" b="1" dirty="0" err="1"/>
              <a:t>Handler</a:t>
            </a:r>
            <a:r>
              <a:rPr lang="th-TH" dirty="0"/>
              <a:t> และเครื่อง </a:t>
            </a:r>
            <a:r>
              <a:rPr lang="th-TH" b="1" dirty="0" err="1"/>
              <a:t>Tester</a:t>
            </a:r>
            <a:r>
              <a:rPr lang="th-TH" dirty="0"/>
              <a:t> ให้มีความแม่นยำ</a:t>
            </a:r>
          </a:p>
          <a:p>
            <a:endParaRPr lang="th-TH" dirty="0"/>
          </a:p>
        </p:txBody>
      </p:sp>
      <p:sp>
        <p:nvSpPr>
          <p:cNvPr id="4" name="ตัวแทนหมายเลขสไลด์ 3"/>
          <p:cNvSpPr>
            <a:spLocks noGrp="1"/>
          </p:cNvSpPr>
          <p:nvPr>
            <p:ph type="sldNum" sz="quarter" idx="5"/>
          </p:nvPr>
        </p:nvSpPr>
        <p:spPr/>
        <p:txBody>
          <a:bodyPr/>
          <a:lstStyle/>
          <a:p>
            <a:fld id="{A3766003-7DEE-4D8A-9983-D0FF42899C89}" type="slidenum">
              <a:rPr lang="th-TH" smtClean="0"/>
              <a:t>4</a:t>
            </a:fld>
            <a:endParaRPr lang="th-TH"/>
          </a:p>
        </p:txBody>
      </p:sp>
    </p:spTree>
    <p:extLst>
      <p:ext uri="{BB962C8B-B14F-4D97-AF65-F5344CB8AC3E}">
        <p14:creationId xmlns:p14="http://schemas.microsoft.com/office/powerpoint/2010/main" val="3095140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รูปบนสไลด์ 1"/>
          <p:cNvSpPr>
            <a:spLocks noGrp="1" noRot="1" noChangeAspect="1"/>
          </p:cNvSpPr>
          <p:nvPr>
            <p:ph type="sldImg"/>
          </p:nvPr>
        </p:nvSpPr>
        <p:spPr/>
        <p:txBody>
          <a:bodyPr/>
          <a:lstStyle/>
          <a:p>
            <a:endParaRPr lang="th-TH"/>
          </a:p>
        </p:txBody>
      </p:sp>
      <p:sp>
        <p:nvSpPr>
          <p:cNvPr id="3" name="ตัวแทนบันทึกย่อ 2"/>
          <p:cNvSpPr>
            <a:spLocks noGrp="1"/>
          </p:cNvSpPr>
          <p:nvPr>
            <p:ph type="body" idx="1"/>
          </p:nvPr>
        </p:nvSpPr>
        <p:spPr/>
        <p:txBody>
          <a:bodyPr/>
          <a:lstStyle/>
          <a:p>
            <a:r>
              <a:rPr lang="th-TH" dirty="0"/>
              <a:t>แม้จะมีความคลาดเคลื่อนเพียงระดับไมครอน ก็อาจทำให้พินจัดเรียงผิดตำแหน่ง ซึ่งนำไปสู่การสึก</a:t>
            </a:r>
            <a:r>
              <a:rPr lang="th-TH" dirty="0" err="1"/>
              <a:t>หรอ</a:t>
            </a:r>
            <a:r>
              <a:rPr lang="th-TH" dirty="0"/>
              <a:t>ของชิ้นส่วนกลไกและทำให้ผลผลิตลดลง (</a:t>
            </a:r>
            <a:r>
              <a:rPr lang="th-TH" dirty="0" err="1"/>
              <a:t>Yield</a:t>
            </a:r>
            <a:r>
              <a:rPr lang="th-TH" dirty="0"/>
              <a:t> </a:t>
            </a:r>
            <a:r>
              <a:rPr lang="th-TH" dirty="0" err="1"/>
              <a:t>Drops</a:t>
            </a:r>
            <a:r>
              <a:rPr lang="th-TH" dirty="0"/>
              <a:t>)</a:t>
            </a:r>
          </a:p>
          <a:p>
            <a:r>
              <a:rPr lang="th-TH" dirty="0"/>
              <a:t>ดังนั้น </a:t>
            </a:r>
            <a:r>
              <a:rPr lang="th-TH" b="1" dirty="0"/>
              <a:t>การตรวจสอบขนาดและมิติอย่างต่อเนื่อง (</a:t>
            </a:r>
            <a:r>
              <a:rPr lang="th-TH" b="1" dirty="0" err="1"/>
              <a:t>Dimensional</a:t>
            </a:r>
            <a:r>
              <a:rPr lang="th-TH" b="1" dirty="0"/>
              <a:t> </a:t>
            </a:r>
            <a:r>
              <a:rPr lang="th-TH" b="1" dirty="0" err="1"/>
              <a:t>Inspection</a:t>
            </a:r>
            <a:r>
              <a:rPr lang="th-TH" b="1" dirty="0"/>
              <a:t> - IPM)</a:t>
            </a:r>
            <a:r>
              <a:rPr lang="th-TH" dirty="0"/>
              <a:t> จึงเป็นสิ่งจำเป็นอย่างยิ่ง เพื่อเป็นการป้องกันปัญหาคอขวดในกระบวนการผลิตเชิงรุก รักษาระดับผลผลิตให้สูงอย่างต่อเนื่อง และลดเวลาที่เครื่องจักรต้องหยุดทำงาน (</a:t>
            </a:r>
            <a:r>
              <a:rPr lang="th-TH" dirty="0" err="1"/>
              <a:t>Downtime</a:t>
            </a:r>
            <a:r>
              <a:rPr lang="th-TH" dirty="0"/>
              <a:t>) ให้เหลือน้อยที่สุด</a:t>
            </a:r>
          </a:p>
          <a:p>
            <a:endParaRPr lang="th-TH" dirty="0"/>
          </a:p>
        </p:txBody>
      </p:sp>
      <p:sp>
        <p:nvSpPr>
          <p:cNvPr id="4" name="ตัวแทนหมายเลขสไลด์ 3"/>
          <p:cNvSpPr>
            <a:spLocks noGrp="1"/>
          </p:cNvSpPr>
          <p:nvPr>
            <p:ph type="sldNum" sz="quarter" idx="5"/>
          </p:nvPr>
        </p:nvSpPr>
        <p:spPr/>
        <p:txBody>
          <a:bodyPr/>
          <a:lstStyle/>
          <a:p>
            <a:fld id="{A3766003-7DEE-4D8A-9983-D0FF42899C89}" type="slidenum">
              <a:rPr lang="th-TH" smtClean="0"/>
              <a:t>5</a:t>
            </a:fld>
            <a:endParaRPr lang="th-TH"/>
          </a:p>
        </p:txBody>
      </p:sp>
    </p:spTree>
    <p:extLst>
      <p:ext uri="{BB962C8B-B14F-4D97-AF65-F5344CB8AC3E}">
        <p14:creationId xmlns:p14="http://schemas.microsoft.com/office/powerpoint/2010/main" val="1461152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8E745-76D5-1818-9199-4062D886075A}"/>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16704C94-FD57-4A5B-1B96-B15E398A94A9}"/>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8C37F50B-7EFB-5ECF-C2F0-626200EE6A16}"/>
              </a:ext>
            </a:extLst>
          </p:cNvPr>
          <p:cNvSpPr>
            <a:spLocks noGrp="1"/>
          </p:cNvSpPr>
          <p:nvPr>
            <p:ph type="body" idx="1"/>
          </p:nvPr>
        </p:nvSpPr>
        <p:spPr/>
        <p:txBody>
          <a:bodyPr/>
          <a:lstStyle/>
          <a:p>
            <a:r>
              <a:rPr lang="th-TH" dirty="0"/>
              <a:t>ในฐานะผู้นำด้านอุตสาหกรรมเซมิคอนดัก</a:t>
            </a:r>
            <a:r>
              <a:rPr lang="th-TH" dirty="0" err="1"/>
              <a:t>เต</a:t>
            </a:r>
            <a:r>
              <a:rPr lang="th-TH" dirty="0"/>
              <a:t>อร์ </a:t>
            </a:r>
            <a:r>
              <a:rPr lang="th-TH" dirty="0" err="1"/>
              <a:t>Analog</a:t>
            </a:r>
            <a:r>
              <a:rPr lang="th-TH" dirty="0"/>
              <a:t> Devices (ADI) จำเป็นต้องอาศัยอุปกรณ์จับยึดสำหรับทดสอบ IC (IC </a:t>
            </a:r>
            <a:r>
              <a:rPr lang="th-TH" dirty="0" err="1"/>
              <a:t>Testing</a:t>
            </a:r>
            <a:r>
              <a:rPr lang="th-TH" dirty="0"/>
              <a:t> </a:t>
            </a:r>
            <a:r>
              <a:rPr lang="th-TH" dirty="0" err="1"/>
              <a:t>Jigs</a:t>
            </a:r>
            <a:r>
              <a:rPr lang="th-TH" dirty="0"/>
              <a:t>) ที่มีค่าพิกัดความเผื่อ (</a:t>
            </a:r>
            <a:r>
              <a:rPr lang="th-TH" dirty="0" err="1"/>
              <a:t>Tolerances</a:t>
            </a:r>
            <a:r>
              <a:rPr lang="th-TH" dirty="0"/>
              <a:t>) ที่เข้มงวดและแม่นยำสูงมาก โดยเฉพาะอย่างยิ่ง </a:t>
            </a:r>
            <a:r>
              <a:rPr lang="th-TH" b="1" dirty="0"/>
              <a:t>แผ่นจัดตำแหน่ง (</a:t>
            </a:r>
            <a:r>
              <a:rPr lang="th-TH" b="1" dirty="0" err="1"/>
              <a:t>Alignment</a:t>
            </a:r>
            <a:r>
              <a:rPr lang="th-TH" b="1" dirty="0"/>
              <a:t> </a:t>
            </a:r>
            <a:r>
              <a:rPr lang="th-TH" b="1" dirty="0" err="1"/>
              <a:t>Plates</a:t>
            </a:r>
            <a:r>
              <a:rPr lang="th-TH" b="1" dirty="0"/>
              <a:t> - ALPL)</a:t>
            </a:r>
            <a:r>
              <a:rPr lang="th-TH" dirty="0"/>
              <a:t> และ </a:t>
            </a:r>
            <a:r>
              <a:rPr lang="th-TH" b="1" dirty="0" err="1"/>
              <a:t>Lead</a:t>
            </a:r>
            <a:r>
              <a:rPr lang="th-TH" b="1" dirty="0"/>
              <a:t> </a:t>
            </a:r>
            <a:r>
              <a:rPr lang="th-TH" b="1" dirty="0" err="1"/>
              <a:t>Breakers</a:t>
            </a:r>
            <a:endParaRPr lang="th-TH" dirty="0"/>
          </a:p>
          <a:p>
            <a:r>
              <a:rPr lang="th-TH" dirty="0"/>
              <a:t>ส่วนประกอบเหล่านี้มีความสำคัญอย่างยิ่งในการจัดตำแหน่ง </a:t>
            </a:r>
            <a:r>
              <a:rPr lang="th-TH" b="1" dirty="0" err="1"/>
              <a:t>Contact</a:t>
            </a:r>
            <a:r>
              <a:rPr lang="th-TH" b="1" dirty="0"/>
              <a:t> </a:t>
            </a:r>
            <a:r>
              <a:rPr lang="th-TH" b="1" dirty="0" err="1"/>
              <a:t>Pins</a:t>
            </a:r>
            <a:r>
              <a:rPr lang="th-TH" dirty="0"/>
              <a:t> ระหว่างเครื่อง </a:t>
            </a:r>
            <a:r>
              <a:rPr lang="th-TH" b="1" dirty="0" err="1"/>
              <a:t>Handler</a:t>
            </a:r>
            <a:r>
              <a:rPr lang="th-TH" dirty="0"/>
              <a:t> และเครื่อง </a:t>
            </a:r>
            <a:r>
              <a:rPr lang="th-TH" b="1" dirty="0" err="1"/>
              <a:t>Tester</a:t>
            </a:r>
            <a:r>
              <a:rPr lang="th-TH" dirty="0"/>
              <a:t> ให้มีความแม่นยำ</a:t>
            </a:r>
          </a:p>
          <a:p>
            <a:endParaRPr lang="th-TH" dirty="0"/>
          </a:p>
        </p:txBody>
      </p:sp>
      <p:sp>
        <p:nvSpPr>
          <p:cNvPr id="4" name="ตัวแทนหมายเลขสไลด์ 3">
            <a:extLst>
              <a:ext uri="{FF2B5EF4-FFF2-40B4-BE49-F238E27FC236}">
                <a16:creationId xmlns:a16="http://schemas.microsoft.com/office/drawing/2014/main" id="{489F23C6-57BB-09F4-E840-B2B825F43172}"/>
              </a:ext>
            </a:extLst>
          </p:cNvPr>
          <p:cNvSpPr>
            <a:spLocks noGrp="1"/>
          </p:cNvSpPr>
          <p:nvPr>
            <p:ph type="sldNum" sz="quarter" idx="5"/>
          </p:nvPr>
        </p:nvSpPr>
        <p:spPr/>
        <p:txBody>
          <a:bodyPr/>
          <a:lstStyle/>
          <a:p>
            <a:fld id="{A3766003-7DEE-4D8A-9983-D0FF42899C89}" type="slidenum">
              <a:rPr lang="th-TH" smtClean="0"/>
              <a:t>6</a:t>
            </a:fld>
            <a:endParaRPr lang="th-TH"/>
          </a:p>
        </p:txBody>
      </p:sp>
    </p:spTree>
    <p:extLst>
      <p:ext uri="{BB962C8B-B14F-4D97-AF65-F5344CB8AC3E}">
        <p14:creationId xmlns:p14="http://schemas.microsoft.com/office/powerpoint/2010/main" val="1395842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8464E-5BAC-CBA0-9374-C28AE5A9CFFE}"/>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16D25639-2C02-1E21-9925-333F4DB988C3}"/>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2406BBD1-EC2B-676B-847D-03BA58807C8D}"/>
              </a:ext>
            </a:extLst>
          </p:cNvPr>
          <p:cNvSpPr>
            <a:spLocks noGrp="1"/>
          </p:cNvSpPr>
          <p:nvPr>
            <p:ph type="body" idx="1"/>
          </p:nvPr>
        </p:nvSpPr>
        <p:spPr/>
        <p:txBody>
          <a:bodyPr/>
          <a:lstStyle/>
          <a:p>
            <a:r>
              <a:rPr lang="th-TH" dirty="0"/>
              <a:t>ในฐานะผู้นำด้านอุตสาหกรรมเซมิคอนดัก</a:t>
            </a:r>
            <a:r>
              <a:rPr lang="th-TH" dirty="0" err="1"/>
              <a:t>เต</a:t>
            </a:r>
            <a:r>
              <a:rPr lang="th-TH" dirty="0"/>
              <a:t>อร์ </a:t>
            </a:r>
            <a:r>
              <a:rPr lang="th-TH" dirty="0" err="1"/>
              <a:t>Analog</a:t>
            </a:r>
            <a:r>
              <a:rPr lang="th-TH" dirty="0"/>
              <a:t> Devices (ADI) จำเป็นต้องอาศัยอุปกรณ์จับยึดสำหรับทดสอบ IC (IC </a:t>
            </a:r>
            <a:r>
              <a:rPr lang="th-TH" dirty="0" err="1"/>
              <a:t>Testing</a:t>
            </a:r>
            <a:r>
              <a:rPr lang="th-TH" dirty="0"/>
              <a:t> </a:t>
            </a:r>
            <a:r>
              <a:rPr lang="th-TH" dirty="0" err="1"/>
              <a:t>Jigs</a:t>
            </a:r>
            <a:r>
              <a:rPr lang="th-TH" dirty="0"/>
              <a:t>) ที่มีค่าพิกัดความเผื่อ (</a:t>
            </a:r>
            <a:r>
              <a:rPr lang="th-TH" dirty="0" err="1"/>
              <a:t>Tolerances</a:t>
            </a:r>
            <a:r>
              <a:rPr lang="th-TH" dirty="0"/>
              <a:t>) ที่เข้มงวดและแม่นยำสูงมาก โดยเฉพาะอย่างยิ่ง </a:t>
            </a:r>
            <a:r>
              <a:rPr lang="th-TH" b="1" dirty="0"/>
              <a:t>แผ่นจัดตำแหน่ง (</a:t>
            </a:r>
            <a:r>
              <a:rPr lang="th-TH" b="1" dirty="0" err="1"/>
              <a:t>Alignment</a:t>
            </a:r>
            <a:r>
              <a:rPr lang="th-TH" b="1" dirty="0"/>
              <a:t> </a:t>
            </a:r>
            <a:r>
              <a:rPr lang="th-TH" b="1" dirty="0" err="1"/>
              <a:t>Plates</a:t>
            </a:r>
            <a:r>
              <a:rPr lang="th-TH" b="1" dirty="0"/>
              <a:t> - ALPL)</a:t>
            </a:r>
            <a:r>
              <a:rPr lang="th-TH" dirty="0"/>
              <a:t> และ </a:t>
            </a:r>
            <a:r>
              <a:rPr lang="th-TH" b="1" dirty="0" err="1"/>
              <a:t>Lead</a:t>
            </a:r>
            <a:r>
              <a:rPr lang="th-TH" b="1" dirty="0"/>
              <a:t> </a:t>
            </a:r>
            <a:r>
              <a:rPr lang="th-TH" b="1" dirty="0" err="1"/>
              <a:t>Breakers</a:t>
            </a:r>
            <a:endParaRPr lang="th-TH" dirty="0"/>
          </a:p>
          <a:p>
            <a:r>
              <a:rPr lang="th-TH" dirty="0"/>
              <a:t>ส่วนประกอบเหล่านี้มีความสำคัญอย่างยิ่งในการจัดตำแหน่ง </a:t>
            </a:r>
            <a:r>
              <a:rPr lang="th-TH" b="1" dirty="0" err="1"/>
              <a:t>Contact</a:t>
            </a:r>
            <a:r>
              <a:rPr lang="th-TH" b="1" dirty="0"/>
              <a:t> </a:t>
            </a:r>
            <a:r>
              <a:rPr lang="th-TH" b="1" dirty="0" err="1"/>
              <a:t>Pins</a:t>
            </a:r>
            <a:r>
              <a:rPr lang="th-TH" dirty="0"/>
              <a:t> ระหว่างเครื่อง </a:t>
            </a:r>
            <a:r>
              <a:rPr lang="th-TH" b="1" dirty="0" err="1"/>
              <a:t>Handler</a:t>
            </a:r>
            <a:r>
              <a:rPr lang="th-TH" dirty="0"/>
              <a:t> และเครื่อง </a:t>
            </a:r>
            <a:r>
              <a:rPr lang="th-TH" b="1" dirty="0" err="1"/>
              <a:t>Tester</a:t>
            </a:r>
            <a:r>
              <a:rPr lang="th-TH" dirty="0"/>
              <a:t> ให้มีความแม่นยำ</a:t>
            </a:r>
          </a:p>
          <a:p>
            <a:endParaRPr lang="th-TH" dirty="0"/>
          </a:p>
        </p:txBody>
      </p:sp>
      <p:sp>
        <p:nvSpPr>
          <p:cNvPr id="4" name="ตัวแทนหมายเลขสไลด์ 3">
            <a:extLst>
              <a:ext uri="{FF2B5EF4-FFF2-40B4-BE49-F238E27FC236}">
                <a16:creationId xmlns:a16="http://schemas.microsoft.com/office/drawing/2014/main" id="{B37D064C-27C5-0E45-6B22-AE603D608015}"/>
              </a:ext>
            </a:extLst>
          </p:cNvPr>
          <p:cNvSpPr>
            <a:spLocks noGrp="1"/>
          </p:cNvSpPr>
          <p:nvPr>
            <p:ph type="sldNum" sz="quarter" idx="5"/>
          </p:nvPr>
        </p:nvSpPr>
        <p:spPr/>
        <p:txBody>
          <a:bodyPr/>
          <a:lstStyle/>
          <a:p>
            <a:fld id="{A3766003-7DEE-4D8A-9983-D0FF42899C89}" type="slidenum">
              <a:rPr lang="th-TH" smtClean="0"/>
              <a:t>7</a:t>
            </a:fld>
            <a:endParaRPr lang="th-TH"/>
          </a:p>
        </p:txBody>
      </p:sp>
    </p:spTree>
    <p:extLst>
      <p:ext uri="{BB962C8B-B14F-4D97-AF65-F5344CB8AC3E}">
        <p14:creationId xmlns:p14="http://schemas.microsoft.com/office/powerpoint/2010/main" val="2318250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Recreated from the image supplied by the user. Values and wording follow that image; the logo and five icons are cropped from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1B07D-EA7F-B12B-5DB5-6462C04A7D9E}"/>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81E7DA1B-B39D-F1E7-D187-00615428DBFA}"/>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C4B1C7B9-B0AE-6FF3-1BE6-ACFD2B24B0CF}"/>
              </a:ext>
            </a:extLst>
          </p:cNvPr>
          <p:cNvSpPr>
            <a:spLocks noGrp="1"/>
          </p:cNvSpPr>
          <p:nvPr>
            <p:ph type="body" idx="1"/>
          </p:nvPr>
        </p:nvSpPr>
        <p:spPr/>
        <p:txBody>
          <a:bodyPr/>
          <a:lstStyle/>
          <a:p>
            <a:endParaRPr lang="th-TH" dirty="0"/>
          </a:p>
        </p:txBody>
      </p:sp>
      <p:sp>
        <p:nvSpPr>
          <p:cNvPr id="4" name="ตัวแทนหมายเลขสไลด์ 3">
            <a:extLst>
              <a:ext uri="{FF2B5EF4-FFF2-40B4-BE49-F238E27FC236}">
                <a16:creationId xmlns:a16="http://schemas.microsoft.com/office/drawing/2014/main" id="{3F169BC1-50AA-81F8-3D52-EE60B513AA18}"/>
              </a:ext>
            </a:extLst>
          </p:cNvPr>
          <p:cNvSpPr>
            <a:spLocks noGrp="1"/>
          </p:cNvSpPr>
          <p:nvPr>
            <p:ph type="sldNum" sz="quarter" idx="5"/>
          </p:nvPr>
        </p:nvSpPr>
        <p:spPr/>
        <p:txBody>
          <a:bodyPr/>
          <a:lstStyle/>
          <a:p>
            <a:fld id="{0956C82D-CE43-4FC9-A2C6-5F48D1595F11}" type="slidenum">
              <a:rPr lang="th-TH" smtClean="0"/>
              <a:t>9</a:t>
            </a:fld>
            <a:endParaRPr lang="th-TH"/>
          </a:p>
        </p:txBody>
      </p:sp>
    </p:spTree>
    <p:extLst>
      <p:ext uri="{BB962C8B-B14F-4D97-AF65-F5344CB8AC3E}">
        <p14:creationId xmlns:p14="http://schemas.microsoft.com/office/powerpoint/2010/main" val="3284049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D9B7D-FAFC-407E-F422-CF61595FEAA5}"/>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0FF7CA77-7E5E-E34B-1C92-3FC257636A3D}"/>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09D1B472-8FA0-031D-8E6F-8F70A7231952}"/>
              </a:ext>
            </a:extLst>
          </p:cNvPr>
          <p:cNvSpPr>
            <a:spLocks noGrp="1"/>
          </p:cNvSpPr>
          <p:nvPr>
            <p:ph type="body" idx="1"/>
          </p:nvPr>
        </p:nvSpPr>
        <p:spPr/>
        <p:txBody>
          <a:bodyPr/>
          <a:lstStyle/>
          <a:p>
            <a:endParaRPr lang="th-TH" dirty="0"/>
          </a:p>
        </p:txBody>
      </p:sp>
      <p:sp>
        <p:nvSpPr>
          <p:cNvPr id="4" name="ตัวแทนหมายเลขสไลด์ 3">
            <a:extLst>
              <a:ext uri="{FF2B5EF4-FFF2-40B4-BE49-F238E27FC236}">
                <a16:creationId xmlns:a16="http://schemas.microsoft.com/office/drawing/2014/main" id="{25066E25-DBE9-489C-594E-1255DFA1FC66}"/>
              </a:ext>
            </a:extLst>
          </p:cNvPr>
          <p:cNvSpPr>
            <a:spLocks noGrp="1"/>
          </p:cNvSpPr>
          <p:nvPr>
            <p:ph type="sldNum" sz="quarter" idx="5"/>
          </p:nvPr>
        </p:nvSpPr>
        <p:spPr/>
        <p:txBody>
          <a:bodyPr/>
          <a:lstStyle/>
          <a:p>
            <a:fld id="{0956C82D-CE43-4FC9-A2C6-5F48D1595F11}" type="slidenum">
              <a:rPr lang="th-TH" smtClean="0"/>
              <a:t>10</a:t>
            </a:fld>
            <a:endParaRPr lang="th-TH"/>
          </a:p>
        </p:txBody>
      </p:sp>
    </p:spTree>
    <p:extLst>
      <p:ext uri="{BB962C8B-B14F-4D97-AF65-F5344CB8AC3E}">
        <p14:creationId xmlns:p14="http://schemas.microsoft.com/office/powerpoint/2010/main" val="3175763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9068D-028E-C00D-5980-E5C09DDFEE1A}"/>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CCBF6081-93E9-5F1A-1F70-E04F0DE2F396}"/>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59BA2740-21FB-6DD7-37A4-C2EC9C75954C}"/>
              </a:ext>
            </a:extLst>
          </p:cNvPr>
          <p:cNvSpPr>
            <a:spLocks noGrp="1"/>
          </p:cNvSpPr>
          <p:nvPr>
            <p:ph type="body" idx="1"/>
          </p:nvPr>
        </p:nvSpPr>
        <p:spPr/>
        <p:txBody>
          <a:bodyPr/>
          <a:lstStyle/>
          <a:p>
            <a:endParaRPr lang="th-TH"/>
          </a:p>
        </p:txBody>
      </p:sp>
      <p:sp>
        <p:nvSpPr>
          <p:cNvPr id="4" name="ตัวแทนหมายเลขสไลด์ 3">
            <a:extLst>
              <a:ext uri="{FF2B5EF4-FFF2-40B4-BE49-F238E27FC236}">
                <a16:creationId xmlns:a16="http://schemas.microsoft.com/office/drawing/2014/main" id="{CE50064A-0171-ED9D-0C1F-B3CA4EE8EE81}"/>
              </a:ext>
            </a:extLst>
          </p:cNvPr>
          <p:cNvSpPr>
            <a:spLocks noGrp="1"/>
          </p:cNvSpPr>
          <p:nvPr>
            <p:ph type="sldNum" sz="quarter" idx="5"/>
          </p:nvPr>
        </p:nvSpPr>
        <p:spPr/>
        <p:txBody>
          <a:bodyPr/>
          <a:lstStyle/>
          <a:p>
            <a:fld id="{A3766003-7DEE-4D8A-9983-D0FF42899C89}" type="slidenum">
              <a:rPr lang="th-TH" smtClean="0"/>
              <a:t>11</a:t>
            </a:fld>
            <a:endParaRPr lang="th-TH"/>
          </a:p>
        </p:txBody>
      </p:sp>
    </p:spTree>
    <p:extLst>
      <p:ext uri="{BB962C8B-B14F-4D97-AF65-F5344CB8AC3E}">
        <p14:creationId xmlns:p14="http://schemas.microsoft.com/office/powerpoint/2010/main" val="4257847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EF103-82AE-EE38-D509-EF0FA00250B0}"/>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D4539CC1-263F-2B45-6CF3-0B424293E630}"/>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D8141421-D601-8543-2B48-4ECDB881AF82}"/>
              </a:ext>
            </a:extLst>
          </p:cNvPr>
          <p:cNvSpPr>
            <a:spLocks noGrp="1"/>
          </p:cNvSpPr>
          <p:nvPr>
            <p:ph type="body" idx="1"/>
          </p:nvPr>
        </p:nvSpPr>
        <p:spPr/>
        <p:txBody>
          <a:bodyPr/>
          <a:lstStyle/>
          <a:p>
            <a:pPr rtl="0"/>
            <a:r>
              <a:rPr lang="th-TH" sz="1800" b="0" i="0" kern="1200" dirty="0">
                <a:solidFill>
                  <a:schemeClr val="tx1"/>
                </a:solidFill>
                <a:effectLst/>
                <a:latin typeface="+mn-lt"/>
                <a:ea typeface="+mn-ea"/>
                <a:cs typeface="+mn-cs"/>
              </a:rPr>
              <a:t>ความไม่เสถียรในการจัดตำแหน่งชิ้นงาน</a:t>
            </a:r>
          </a:p>
          <a:p>
            <a:pPr rtl="0"/>
            <a:br>
              <a:rPr lang="th-TH" dirty="0"/>
            </a:br>
            <a:r>
              <a:rPr lang="th-TH" sz="1800" b="0" i="0" kern="1200" dirty="0">
                <a:solidFill>
                  <a:schemeClr val="tx1"/>
                </a:solidFill>
                <a:effectLst/>
                <a:latin typeface="+mn-lt"/>
                <a:ea typeface="+mn-ea"/>
                <a:cs typeface="+mn-cs"/>
              </a:rPr>
              <a:t>กระบวนการป้อนชิ้นงานด้วยมือในปัจจุบันมีปัจจัยทางกายภาพที่ส่งผลกระทบเชิงลบต่อความสม่ำเสมอในการวัด</a:t>
            </a:r>
          </a:p>
          <a:p>
            <a:pPr rtl="0"/>
            <a:endParaRPr lang="th-TH" sz="1800" b="0" i="0" kern="1200" dirty="0">
              <a:solidFill>
                <a:schemeClr val="tx1"/>
              </a:solidFill>
              <a:effectLst/>
              <a:latin typeface="+mn-lt"/>
              <a:ea typeface="+mn-ea"/>
              <a:cs typeface="+mn-cs"/>
            </a:endParaRPr>
          </a:p>
          <a:p>
            <a:pPr rtl="0"/>
            <a:r>
              <a:rPr lang="th-TH" sz="1800" b="0" i="0" kern="1200" dirty="0">
                <a:solidFill>
                  <a:schemeClr val="tx1"/>
                </a:solidFill>
                <a:effectLst/>
                <a:latin typeface="+mn-lt"/>
                <a:ea typeface="+mn-ea"/>
                <a:cs typeface="+mn-cs"/>
              </a:rPr>
              <a:t>ขาดกลไกยึดจับชิ้นงาน (</a:t>
            </a:r>
            <a:r>
              <a:rPr lang="th-TH" sz="1800" b="0" i="0" kern="1200" dirty="0" err="1">
                <a:solidFill>
                  <a:schemeClr val="tx1"/>
                </a:solidFill>
                <a:effectLst/>
                <a:latin typeface="+mn-lt"/>
                <a:ea typeface="+mn-ea"/>
                <a:cs typeface="+mn-cs"/>
              </a:rPr>
              <a:t>Fixturing</a:t>
            </a:r>
            <a:r>
              <a:rPr lang="th-TH" sz="1800" b="0" i="0" kern="1200" dirty="0">
                <a:solidFill>
                  <a:schemeClr val="tx1"/>
                </a:solidFill>
                <a:effectLst/>
                <a:latin typeface="+mn-lt"/>
                <a:ea typeface="+mn-ea"/>
                <a:cs typeface="+mn-cs"/>
              </a:rPr>
              <a:t> </a:t>
            </a:r>
            <a:r>
              <a:rPr lang="th-TH" sz="1800" b="0" i="0" kern="1200" dirty="0" err="1">
                <a:solidFill>
                  <a:schemeClr val="tx1"/>
                </a:solidFill>
                <a:effectLst/>
                <a:latin typeface="+mn-lt"/>
                <a:ea typeface="+mn-ea"/>
                <a:cs typeface="+mn-cs"/>
              </a:rPr>
              <a:t>Mechanism</a:t>
            </a:r>
            <a:r>
              <a:rPr lang="th-TH" sz="1800" b="0" i="0" kern="1200" dirty="0">
                <a:solidFill>
                  <a:schemeClr val="tx1"/>
                </a:solidFill>
                <a:effectLst/>
                <a:latin typeface="+mn-lt"/>
                <a:ea typeface="+mn-ea"/>
                <a:cs typeface="+mn-cs"/>
              </a:rPr>
              <a:t>): ในปัจจุบัน ชิ้นงานจะถูกวางลงบนพื้นผิวกระจกโดยตรงโดยไม่มีอุปกรณ์จับยึด (</a:t>
            </a:r>
            <a:r>
              <a:rPr lang="th-TH" sz="1800" b="0" i="0" kern="1200" dirty="0" err="1">
                <a:solidFill>
                  <a:schemeClr val="tx1"/>
                </a:solidFill>
                <a:effectLst/>
                <a:latin typeface="+mn-lt"/>
                <a:ea typeface="+mn-ea"/>
                <a:cs typeface="+mn-cs"/>
              </a:rPr>
              <a:t>Jig</a:t>
            </a:r>
            <a:r>
              <a:rPr lang="th-TH" sz="1800" b="0" i="0" kern="1200" dirty="0">
                <a:solidFill>
                  <a:schemeClr val="tx1"/>
                </a:solidFill>
                <a:effectLst/>
                <a:latin typeface="+mn-lt"/>
                <a:ea typeface="+mn-ea"/>
                <a:cs typeface="+mn-cs"/>
              </a:rPr>
              <a:t>) เพื่อกำหนดตำแหน่ง ส่งผลให้มุมและตำแหน่งในการวางขึ้นอยู่กับทักษะและการจัดการของผู้ปฏิบัติงานในแต่ละรอบการทำงานโดยสิ้นเชิง</a:t>
            </a:r>
          </a:p>
          <a:p>
            <a:endParaRPr lang="th-TH" dirty="0"/>
          </a:p>
        </p:txBody>
      </p:sp>
      <p:sp>
        <p:nvSpPr>
          <p:cNvPr id="4" name="ตัวแทนหมายเลขสไลด์ 3">
            <a:extLst>
              <a:ext uri="{FF2B5EF4-FFF2-40B4-BE49-F238E27FC236}">
                <a16:creationId xmlns:a16="http://schemas.microsoft.com/office/drawing/2014/main" id="{D022420D-D8B8-A6A2-0A34-B407C7964298}"/>
              </a:ext>
            </a:extLst>
          </p:cNvPr>
          <p:cNvSpPr>
            <a:spLocks noGrp="1"/>
          </p:cNvSpPr>
          <p:nvPr>
            <p:ph type="sldNum" sz="quarter" idx="5"/>
          </p:nvPr>
        </p:nvSpPr>
        <p:spPr/>
        <p:txBody>
          <a:bodyPr/>
          <a:lstStyle/>
          <a:p>
            <a:fld id="{0956C82D-CE43-4FC9-A2C6-5F48D1595F11}" type="slidenum">
              <a:rPr lang="th-TH" smtClean="0"/>
              <a:t>12</a:t>
            </a:fld>
            <a:endParaRPr lang="th-TH"/>
          </a:p>
        </p:txBody>
      </p:sp>
    </p:spTree>
    <p:extLst>
      <p:ext uri="{BB962C8B-B14F-4D97-AF65-F5344CB8AC3E}">
        <p14:creationId xmlns:p14="http://schemas.microsoft.com/office/powerpoint/2010/main" val="34360973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รูปบนสไลด์ 1"/>
          <p:cNvSpPr>
            <a:spLocks noGrp="1" noRot="1" noChangeAspect="1"/>
          </p:cNvSpPr>
          <p:nvPr>
            <p:ph type="sldImg"/>
          </p:nvPr>
        </p:nvSpPr>
        <p:spPr/>
        <p:txBody>
          <a:bodyPr/>
          <a:lstStyle/>
          <a:p>
            <a:endParaRPr lang="th-TH"/>
          </a:p>
        </p:txBody>
      </p:sp>
      <p:sp>
        <p:nvSpPr>
          <p:cNvPr id="3" name="ตัวแทนบันทึกย่อ 2"/>
          <p:cNvSpPr>
            <a:spLocks noGrp="1"/>
          </p:cNvSpPr>
          <p:nvPr>
            <p:ph type="body" idx="1"/>
          </p:nvPr>
        </p:nvSpPr>
        <p:spPr/>
        <p:txBody>
          <a:bodyPr/>
          <a:lstStyle/>
          <a:p>
            <a:pPr rtl="0"/>
            <a:r>
              <a:rPr lang="th-TH" sz="1800" b="0" i="0" kern="1200" dirty="0">
                <a:solidFill>
                  <a:schemeClr val="tx1"/>
                </a:solidFill>
                <a:effectLst/>
                <a:latin typeface="+mn-lt"/>
                <a:ea typeface="+mn-ea"/>
                <a:cs typeface="+mn-cs"/>
              </a:rPr>
              <a:t>ความเสี่ยงในการคัดแยกชิ้นส่วนชำรุดด้วยมือ</a:t>
            </a:r>
          </a:p>
          <a:p>
            <a:pPr rtl="0"/>
            <a:endParaRPr lang="th-TH" sz="1800" b="0" i="0" kern="1200" dirty="0">
              <a:solidFill>
                <a:schemeClr val="tx1"/>
              </a:solidFill>
              <a:effectLst/>
              <a:latin typeface="+mn-lt"/>
              <a:ea typeface="+mn-ea"/>
              <a:cs typeface="+mn-cs"/>
            </a:endParaRPr>
          </a:p>
          <a:p>
            <a:pPr rtl="0"/>
            <a:r>
              <a:rPr lang="th-TH" sz="1800" b="0" i="0" kern="1200" dirty="0">
                <a:solidFill>
                  <a:schemeClr val="tx1"/>
                </a:solidFill>
                <a:effectLst/>
                <a:latin typeface="+mn-lt"/>
                <a:ea typeface="+mn-ea"/>
                <a:cs typeface="+mn-cs"/>
              </a:rPr>
              <a:t>การคัดแยกชิ้นส่วนด้วยมือหลังการวัดขนาดก่อให้เกิดความเสี่ยงอย่างมากที่ผู้ปฏิบัติงานจะสับสนและสลับชิ้นส่วนที่ดีและชิ้นส่วนที่ไม่ได้มาตรฐาน</a:t>
            </a:r>
          </a:p>
          <a:p>
            <a:pPr rtl="0"/>
            <a:endParaRPr lang="th-TH" sz="18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th-TH" sz="1800" b="0" i="0" kern="1200" dirty="0">
                <a:solidFill>
                  <a:schemeClr val="tx1"/>
                </a:solidFill>
                <a:effectLst/>
                <a:latin typeface="+mn-lt"/>
                <a:ea typeface="+mn-ea"/>
                <a:cs typeface="+mn-cs"/>
              </a:rPr>
              <a:t>ไม่มีระบบบังคับควบคุมทางกายภาพ: กระบวนการในปัจจุบันขึ้นอยู่กับการใช้สายตาตัดสินและการจัดการด้วยมือของผู้ปฏิบัติงานเพียงอย่างเดียว โดยไม่มีกลไกล็อกป้องกัน (</a:t>
            </a:r>
            <a:r>
              <a:rPr lang="th-TH" sz="1800" b="0" i="0" kern="1200" dirty="0" err="1">
                <a:solidFill>
                  <a:schemeClr val="tx1"/>
                </a:solidFill>
                <a:effectLst/>
                <a:latin typeface="+mn-lt"/>
                <a:ea typeface="+mn-ea"/>
                <a:cs typeface="+mn-cs"/>
              </a:rPr>
              <a:t>mechanical</a:t>
            </a:r>
            <a:r>
              <a:rPr lang="th-TH" sz="1800" b="0" i="0" kern="1200" dirty="0">
                <a:solidFill>
                  <a:schemeClr val="tx1"/>
                </a:solidFill>
                <a:effectLst/>
                <a:latin typeface="+mn-lt"/>
                <a:ea typeface="+mn-ea"/>
                <a:cs typeface="+mn-cs"/>
              </a:rPr>
              <a:t> </a:t>
            </a:r>
            <a:r>
              <a:rPr lang="th-TH" sz="1800" b="0" i="0" kern="1200" dirty="0" err="1">
                <a:solidFill>
                  <a:schemeClr val="tx1"/>
                </a:solidFill>
                <a:effectLst/>
                <a:latin typeface="+mn-lt"/>
                <a:ea typeface="+mn-ea"/>
                <a:cs typeface="+mn-cs"/>
              </a:rPr>
              <a:t>interlock</a:t>
            </a:r>
            <a:r>
              <a:rPr lang="th-TH" sz="1800" b="0" i="0" kern="1200" dirty="0">
                <a:solidFill>
                  <a:schemeClr val="tx1"/>
                </a:solidFill>
                <a:effectLst/>
                <a:latin typeface="+mn-lt"/>
                <a:ea typeface="+mn-ea"/>
                <a:cs typeface="+mn-cs"/>
              </a:rPr>
              <a:t>) หรือสิ่งกีดขวางทางกายภาพที่จะช่วยป้องกันไม่ให้ชิ้นงานที่ผ่านเกณฑ์ (</a:t>
            </a:r>
            <a:r>
              <a:rPr lang="th-TH" sz="1800" b="0" i="0" kern="1200" dirty="0" err="1">
                <a:solidFill>
                  <a:schemeClr val="tx1"/>
                </a:solidFill>
                <a:effectLst/>
                <a:latin typeface="+mn-lt"/>
                <a:ea typeface="+mn-ea"/>
                <a:cs typeface="+mn-cs"/>
              </a:rPr>
              <a:t>Good</a:t>
            </a:r>
            <a:r>
              <a:rPr lang="th-TH" sz="1800" b="0" i="0" kern="1200" dirty="0">
                <a:solidFill>
                  <a:schemeClr val="tx1"/>
                </a:solidFill>
                <a:effectLst/>
                <a:latin typeface="+mn-lt"/>
                <a:ea typeface="+mn-ea"/>
                <a:cs typeface="+mn-cs"/>
              </a:rPr>
              <a:t>) และชิ้นงานที่ไม่ได้มาตรฐาน (NG) ปะปนกัน</a:t>
            </a:r>
          </a:p>
          <a:p>
            <a:pPr rtl="0"/>
            <a:endParaRPr lang="th-TH" sz="1800" b="0" i="0" kern="1200" dirty="0">
              <a:solidFill>
                <a:schemeClr val="tx1"/>
              </a:solidFill>
              <a:effectLst/>
              <a:latin typeface="+mn-lt"/>
              <a:ea typeface="+mn-ea"/>
              <a:cs typeface="+mn-cs"/>
            </a:endParaRPr>
          </a:p>
        </p:txBody>
      </p:sp>
      <p:sp>
        <p:nvSpPr>
          <p:cNvPr id="4" name="ตัวแทนหมายเลขสไลด์ 3"/>
          <p:cNvSpPr>
            <a:spLocks noGrp="1"/>
          </p:cNvSpPr>
          <p:nvPr>
            <p:ph type="sldNum" sz="quarter" idx="5"/>
          </p:nvPr>
        </p:nvSpPr>
        <p:spPr/>
        <p:txBody>
          <a:bodyPr/>
          <a:lstStyle/>
          <a:p>
            <a:fld id="{0956C82D-CE43-4FC9-A2C6-5F48D1595F11}" type="slidenum">
              <a:rPr lang="th-TH" smtClean="0"/>
              <a:t>13</a:t>
            </a:fld>
            <a:endParaRPr lang="th-TH"/>
          </a:p>
        </p:txBody>
      </p:sp>
    </p:spTree>
    <p:extLst>
      <p:ext uri="{BB962C8B-B14F-4D97-AF65-F5344CB8AC3E}">
        <p14:creationId xmlns:p14="http://schemas.microsoft.com/office/powerpoint/2010/main" val="2576058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รูปบนสไลด์ 1"/>
          <p:cNvSpPr>
            <a:spLocks noGrp="1" noRot="1" noChangeAspect="1"/>
          </p:cNvSpPr>
          <p:nvPr>
            <p:ph type="sldImg"/>
          </p:nvPr>
        </p:nvSpPr>
        <p:spPr/>
        <p:txBody>
          <a:bodyPr/>
          <a:lstStyle/>
          <a:p>
            <a:endParaRPr lang="th-TH"/>
          </a:p>
        </p:txBody>
      </p:sp>
      <p:sp>
        <p:nvSpPr>
          <p:cNvPr id="3" name="ตัวแทนบันทึกย่อ 2"/>
          <p:cNvSpPr>
            <a:spLocks noGrp="1"/>
          </p:cNvSpPr>
          <p:nvPr>
            <p:ph type="body" idx="1"/>
          </p:nvPr>
        </p:nvSpPr>
        <p:spPr/>
        <p:txBody>
          <a:bodyPr/>
          <a:lstStyle/>
          <a:p>
            <a:endParaRPr lang="th-TH" dirty="0"/>
          </a:p>
        </p:txBody>
      </p:sp>
      <p:sp>
        <p:nvSpPr>
          <p:cNvPr id="4" name="ตัวแทนหมายเลขสไลด์ 3"/>
          <p:cNvSpPr>
            <a:spLocks noGrp="1"/>
          </p:cNvSpPr>
          <p:nvPr>
            <p:ph type="sldNum" sz="quarter" idx="5"/>
          </p:nvPr>
        </p:nvSpPr>
        <p:spPr/>
        <p:txBody>
          <a:bodyPr/>
          <a:lstStyle/>
          <a:p>
            <a:fld id="{A3766003-7DEE-4D8A-9983-D0FF42899C89}" type="slidenum">
              <a:rPr lang="th-TH" smtClean="0"/>
              <a:t>14</a:t>
            </a:fld>
            <a:endParaRPr lang="th-TH"/>
          </a:p>
        </p:txBody>
      </p:sp>
    </p:spTree>
    <p:extLst>
      <p:ext uri="{BB962C8B-B14F-4D97-AF65-F5344CB8AC3E}">
        <p14:creationId xmlns:p14="http://schemas.microsoft.com/office/powerpoint/2010/main" val="27547315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C98D9-CE45-BCAC-A2C4-8C2DADC2BF8A}"/>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315E925E-347E-0651-E0FF-1CC1ACEED530}"/>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C6D2030D-20E5-265F-6F78-7037D39EAF54}"/>
              </a:ext>
            </a:extLst>
          </p:cNvPr>
          <p:cNvSpPr>
            <a:spLocks noGrp="1"/>
          </p:cNvSpPr>
          <p:nvPr>
            <p:ph type="body" idx="1"/>
          </p:nvPr>
        </p:nvSpPr>
        <p:spPr/>
        <p:txBody>
          <a:bodyPr/>
          <a:lstStyle/>
          <a:p>
            <a:endParaRPr lang="th-TH" dirty="0"/>
          </a:p>
        </p:txBody>
      </p:sp>
      <p:sp>
        <p:nvSpPr>
          <p:cNvPr id="4" name="ตัวแทนหมายเลขสไลด์ 3">
            <a:extLst>
              <a:ext uri="{FF2B5EF4-FFF2-40B4-BE49-F238E27FC236}">
                <a16:creationId xmlns:a16="http://schemas.microsoft.com/office/drawing/2014/main" id="{ED7B4516-BDB4-0C8E-2C9E-D5355224D994}"/>
              </a:ext>
            </a:extLst>
          </p:cNvPr>
          <p:cNvSpPr>
            <a:spLocks noGrp="1"/>
          </p:cNvSpPr>
          <p:nvPr>
            <p:ph type="sldNum" sz="quarter" idx="5"/>
          </p:nvPr>
        </p:nvSpPr>
        <p:spPr/>
        <p:txBody>
          <a:bodyPr/>
          <a:lstStyle/>
          <a:p>
            <a:fld id="{A3766003-7DEE-4D8A-9983-D0FF42899C89}" type="slidenum">
              <a:rPr lang="th-TH" smtClean="0"/>
              <a:t>15</a:t>
            </a:fld>
            <a:endParaRPr lang="th-TH"/>
          </a:p>
        </p:txBody>
      </p:sp>
    </p:spTree>
    <p:extLst>
      <p:ext uri="{BB962C8B-B14F-4D97-AF65-F5344CB8AC3E}">
        <p14:creationId xmlns:p14="http://schemas.microsoft.com/office/powerpoint/2010/main" val="20003832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EC8F7-C9F5-214C-CBCB-46C3E6CBDBD9}"/>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820E4C89-8D4C-7496-A542-2D2DAFF84E48}"/>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B281A7E0-6FD7-336F-D2BE-60A96E703F65}"/>
              </a:ext>
            </a:extLst>
          </p:cNvPr>
          <p:cNvSpPr>
            <a:spLocks noGrp="1"/>
          </p:cNvSpPr>
          <p:nvPr>
            <p:ph type="body" idx="1"/>
          </p:nvPr>
        </p:nvSpPr>
        <p:spPr/>
        <p:txBody>
          <a:bodyPr/>
          <a:lstStyle/>
          <a:p>
            <a:r>
              <a:rPr lang="th-TH" dirty="0"/>
              <a:t>ในฐานะผู้นำด้านอุตสาหกรรมเซมิคอนดัก</a:t>
            </a:r>
            <a:r>
              <a:rPr lang="th-TH" dirty="0" err="1"/>
              <a:t>เต</a:t>
            </a:r>
            <a:r>
              <a:rPr lang="th-TH" dirty="0"/>
              <a:t>อร์ </a:t>
            </a:r>
            <a:r>
              <a:rPr lang="th-TH" dirty="0" err="1"/>
              <a:t>Analog</a:t>
            </a:r>
            <a:r>
              <a:rPr lang="th-TH" dirty="0"/>
              <a:t> Devices (ADI) จำเป็นต้องอาศัยอุปกรณ์จับยึดสำหรับทดสอบ IC (IC </a:t>
            </a:r>
            <a:r>
              <a:rPr lang="th-TH" dirty="0" err="1"/>
              <a:t>Testing</a:t>
            </a:r>
            <a:r>
              <a:rPr lang="th-TH" dirty="0"/>
              <a:t> </a:t>
            </a:r>
            <a:r>
              <a:rPr lang="th-TH" dirty="0" err="1"/>
              <a:t>Jigs</a:t>
            </a:r>
            <a:r>
              <a:rPr lang="th-TH" dirty="0"/>
              <a:t>) ที่มีค่าพิกัดความเผื่อ (</a:t>
            </a:r>
            <a:r>
              <a:rPr lang="th-TH" dirty="0" err="1"/>
              <a:t>Tolerances</a:t>
            </a:r>
            <a:r>
              <a:rPr lang="th-TH" dirty="0"/>
              <a:t>) ที่เข้มงวดและแม่นยำสูงมาก โดยเฉพาะอย่างยิ่ง </a:t>
            </a:r>
            <a:r>
              <a:rPr lang="th-TH" b="1" dirty="0"/>
              <a:t>แผ่นจัดตำแหน่ง (</a:t>
            </a:r>
            <a:r>
              <a:rPr lang="th-TH" b="1" dirty="0" err="1"/>
              <a:t>Alignment</a:t>
            </a:r>
            <a:r>
              <a:rPr lang="th-TH" b="1" dirty="0"/>
              <a:t> </a:t>
            </a:r>
            <a:r>
              <a:rPr lang="th-TH" b="1" dirty="0" err="1"/>
              <a:t>Plates</a:t>
            </a:r>
            <a:r>
              <a:rPr lang="th-TH" b="1" dirty="0"/>
              <a:t> - ALPL)</a:t>
            </a:r>
            <a:r>
              <a:rPr lang="th-TH" dirty="0"/>
              <a:t> และ </a:t>
            </a:r>
            <a:r>
              <a:rPr lang="th-TH" b="1" dirty="0" err="1"/>
              <a:t>Lead</a:t>
            </a:r>
            <a:r>
              <a:rPr lang="th-TH" b="1" dirty="0"/>
              <a:t> </a:t>
            </a:r>
            <a:r>
              <a:rPr lang="th-TH" b="1" dirty="0" err="1"/>
              <a:t>Breakers</a:t>
            </a:r>
            <a:endParaRPr lang="th-TH" dirty="0"/>
          </a:p>
          <a:p>
            <a:r>
              <a:rPr lang="th-TH" dirty="0"/>
              <a:t>ส่วนประกอบเหล่านี้มีความสำคัญอย่างยิ่งในการจัดตำแหน่ง </a:t>
            </a:r>
            <a:r>
              <a:rPr lang="th-TH" b="1" dirty="0" err="1"/>
              <a:t>Contact</a:t>
            </a:r>
            <a:r>
              <a:rPr lang="th-TH" b="1" dirty="0"/>
              <a:t> </a:t>
            </a:r>
            <a:r>
              <a:rPr lang="th-TH" b="1" dirty="0" err="1"/>
              <a:t>Pins</a:t>
            </a:r>
            <a:r>
              <a:rPr lang="th-TH" dirty="0"/>
              <a:t> ระหว่างเครื่อง </a:t>
            </a:r>
            <a:r>
              <a:rPr lang="th-TH" b="1" dirty="0" err="1"/>
              <a:t>Handler</a:t>
            </a:r>
            <a:r>
              <a:rPr lang="th-TH" dirty="0"/>
              <a:t> และเครื่อง </a:t>
            </a:r>
            <a:r>
              <a:rPr lang="th-TH" b="1" dirty="0" err="1"/>
              <a:t>Tester</a:t>
            </a:r>
            <a:r>
              <a:rPr lang="th-TH" dirty="0"/>
              <a:t> ให้มีความแม่นยำ</a:t>
            </a:r>
          </a:p>
          <a:p>
            <a:endParaRPr lang="th-TH" dirty="0"/>
          </a:p>
        </p:txBody>
      </p:sp>
      <p:sp>
        <p:nvSpPr>
          <p:cNvPr id="4" name="ตัวแทนหมายเลขสไลด์ 3">
            <a:extLst>
              <a:ext uri="{FF2B5EF4-FFF2-40B4-BE49-F238E27FC236}">
                <a16:creationId xmlns:a16="http://schemas.microsoft.com/office/drawing/2014/main" id="{7014DBB9-4884-F3D4-0616-CD3561BE79DA}"/>
              </a:ext>
            </a:extLst>
          </p:cNvPr>
          <p:cNvSpPr>
            <a:spLocks noGrp="1"/>
          </p:cNvSpPr>
          <p:nvPr>
            <p:ph type="sldNum" sz="quarter" idx="5"/>
          </p:nvPr>
        </p:nvSpPr>
        <p:spPr/>
        <p:txBody>
          <a:bodyPr/>
          <a:lstStyle/>
          <a:p>
            <a:fld id="{A3766003-7DEE-4D8A-9983-D0FF42899C89}" type="slidenum">
              <a:rPr lang="th-TH" smtClean="0"/>
              <a:t>16</a:t>
            </a:fld>
            <a:endParaRPr lang="th-TH"/>
          </a:p>
        </p:txBody>
      </p:sp>
    </p:spTree>
    <p:extLst>
      <p:ext uri="{BB962C8B-B14F-4D97-AF65-F5344CB8AC3E}">
        <p14:creationId xmlns:p14="http://schemas.microsoft.com/office/powerpoint/2010/main" val="3220294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EC552-D4A3-C7FF-6776-D2066B09C312}"/>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37376763-3AD4-7641-3233-98EB7397F4D5}"/>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FC4C1F4E-8273-FC08-6EF1-AFBD0420D218}"/>
              </a:ext>
            </a:extLst>
          </p:cNvPr>
          <p:cNvSpPr>
            <a:spLocks noGrp="1"/>
          </p:cNvSpPr>
          <p:nvPr>
            <p:ph type="body" idx="1"/>
          </p:nvPr>
        </p:nvSpPr>
        <p:spPr/>
        <p:txBody>
          <a:bodyPr/>
          <a:lstStyle/>
          <a:p>
            <a:r>
              <a:rPr lang="th-TH" b="1" dirty="0"/>
              <a:t>โครงการนี้มุ่งเน้นไปที่ </a:t>
            </a:r>
            <a:r>
              <a:rPr lang="en-US" b="1" dirty="0"/>
              <a:t>ALPL (</a:t>
            </a:r>
            <a:r>
              <a:rPr lang="th-TH" b="1" dirty="0"/>
              <a:t>รุ่น </a:t>
            </a:r>
            <a:r>
              <a:rPr lang="en-US" b="1" dirty="0"/>
              <a:t>HT Shape) </a:t>
            </a:r>
            <a:r>
              <a:rPr lang="th-TH" b="1" dirty="0"/>
              <a:t>ซึ่งใช้งานบนแพลตฟอร์ม </a:t>
            </a:r>
            <a:r>
              <a:rPr lang="en-US" b="1" dirty="0"/>
              <a:t>HT9046 </a:t>
            </a:r>
            <a:r>
              <a:rPr lang="th-TH" b="1" dirty="0"/>
              <a:t>และ </a:t>
            </a:r>
            <a:r>
              <a:rPr lang="en-US" b="1" dirty="0"/>
              <a:t>HT9046MX </a:t>
            </a:r>
            <a:r>
              <a:rPr lang="th-TH" b="1" dirty="0"/>
              <a:t>โดยได้รับการคัดเลือกด้วยเหตุผลดังต่อไปนี้:</a:t>
            </a:r>
          </a:p>
          <a:p>
            <a:endParaRPr lang="th-TH" b="1" dirty="0"/>
          </a:p>
          <a:p>
            <a:r>
              <a:rPr lang="th-TH" b="1" dirty="0"/>
              <a:t>มีความถี่ในการวัดสูงสุด: </a:t>
            </a:r>
            <a:r>
              <a:rPr lang="en-US" b="1" dirty="0"/>
              <a:t>HT9046 </a:t>
            </a:r>
            <a:r>
              <a:rPr lang="th-TH" b="1" dirty="0"/>
              <a:t>ต้องการการวัด </a:t>
            </a:r>
            <a:r>
              <a:rPr lang="en-US" b="1" dirty="0"/>
              <a:t>IPM </a:t>
            </a:r>
            <a:r>
              <a:rPr lang="th-TH" b="1" dirty="0"/>
              <a:t>ถึง 36 ครั้งต่อสัปดาห์ ซึ่งมากกว่าแพลตฟอร์มอื่นๆ ทั้งหมดรวมกัน จึงถือเป็นภารกิจที่มีความสำคัญสูงสุด</a:t>
            </a:r>
          </a:p>
          <a:p>
            <a:r>
              <a:rPr lang="th-TH" b="1" dirty="0"/>
              <a:t>มีจำนวนอุปกรณ์มากที่สุด: </a:t>
            </a:r>
            <a:r>
              <a:rPr lang="en-US" b="1" dirty="0"/>
              <a:t>ALPL </a:t>
            </a:r>
            <a:r>
              <a:rPr lang="th-TH" b="1" dirty="0"/>
              <a:t>รุ่น </a:t>
            </a:r>
            <a:r>
              <a:rPr lang="en-US" b="1" dirty="0"/>
              <a:t>HT Shape </a:t>
            </a:r>
            <a:r>
              <a:rPr lang="th-TH" b="1" dirty="0"/>
              <a:t>มีจำนวนรวมทั้งสิ้น 1,756 หน่วย คิดเป็นเกือบครึ่งหนึ่ง (ประมาณ 58%) ของจำนวน </a:t>
            </a:r>
            <a:r>
              <a:rPr lang="en-US" b="1" dirty="0"/>
              <a:t>ALPL </a:t>
            </a:r>
            <a:r>
              <a:rPr lang="th-TH" b="1" dirty="0"/>
              <a:t>ทั้งหมด 3,023 หน่วยจากทุกแพลตฟอร์ม</a:t>
            </a:r>
          </a:p>
          <a:p>
            <a:r>
              <a:rPr lang="th-TH" b="1" dirty="0"/>
              <a:t>สร้างผลกระทบในวงกว้างที่สุด: รุ่น </a:t>
            </a:r>
            <a:r>
              <a:rPr lang="en-US" b="1" dirty="0"/>
              <a:t>HT Shape </a:t>
            </a:r>
            <a:r>
              <a:rPr lang="th-TH" b="1" dirty="0"/>
              <a:t>ถูกใช้งานร่วมกันทั้งในแพลตฟอร์ม </a:t>
            </a:r>
            <a:r>
              <a:rPr lang="en-US" b="1" dirty="0"/>
              <a:t>HT9046 </a:t>
            </a:r>
            <a:r>
              <a:rPr lang="th-TH" b="1" dirty="0"/>
              <a:t>และ </a:t>
            </a:r>
            <a:r>
              <a:rPr lang="en-US" b="1" dirty="0"/>
              <a:t>HT9046MX </a:t>
            </a:r>
            <a:r>
              <a:rPr lang="th-TH" b="1" dirty="0"/>
              <a:t>ดังนั้นแนวทางแก้ไขนี้จึงก่อให้เกิดประโยชน์ต่อแพลตฟอร์มการผลิตทั้งสองแห่งไปพร้อมกัน</a:t>
            </a:r>
            <a:endParaRPr lang="th-TH" dirty="0"/>
          </a:p>
        </p:txBody>
      </p:sp>
      <p:sp>
        <p:nvSpPr>
          <p:cNvPr id="4" name="ตัวแทนหมายเลขสไลด์ 3">
            <a:extLst>
              <a:ext uri="{FF2B5EF4-FFF2-40B4-BE49-F238E27FC236}">
                <a16:creationId xmlns:a16="http://schemas.microsoft.com/office/drawing/2014/main" id="{1094EA3D-095A-775D-1E5C-25D70CA18249}"/>
              </a:ext>
            </a:extLst>
          </p:cNvPr>
          <p:cNvSpPr>
            <a:spLocks noGrp="1"/>
          </p:cNvSpPr>
          <p:nvPr>
            <p:ph type="sldNum" sz="quarter" idx="5"/>
          </p:nvPr>
        </p:nvSpPr>
        <p:spPr/>
        <p:txBody>
          <a:bodyPr/>
          <a:lstStyle/>
          <a:p>
            <a:fld id="{A3766003-7DEE-4D8A-9983-D0FF42899C89}" type="slidenum">
              <a:rPr lang="th-TH" smtClean="0"/>
              <a:t>17</a:t>
            </a:fld>
            <a:endParaRPr lang="th-TH"/>
          </a:p>
        </p:txBody>
      </p:sp>
    </p:spTree>
    <p:extLst>
      <p:ext uri="{BB962C8B-B14F-4D97-AF65-F5344CB8AC3E}">
        <p14:creationId xmlns:p14="http://schemas.microsoft.com/office/powerpoint/2010/main" val="20007267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A37B2-0AF2-8299-B09A-B95D555C781B}"/>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41204AFB-537E-E8BB-8DB7-9A6409B6EC34}"/>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92B75B82-E162-D87C-D8F8-819B3BE0477E}"/>
              </a:ext>
            </a:extLst>
          </p:cNvPr>
          <p:cNvSpPr>
            <a:spLocks noGrp="1"/>
          </p:cNvSpPr>
          <p:nvPr>
            <p:ph type="body" idx="1"/>
          </p:nvPr>
        </p:nvSpPr>
        <p:spPr/>
        <p:txBody>
          <a:bodyPr/>
          <a:lstStyle/>
          <a:p>
            <a:r>
              <a:rPr lang="th-TH" dirty="0"/>
              <a:t>ในฐานะผู้นำด้านอุตสาหกรรมเซมิคอนดัก</a:t>
            </a:r>
            <a:r>
              <a:rPr lang="th-TH" dirty="0" err="1"/>
              <a:t>เต</a:t>
            </a:r>
            <a:r>
              <a:rPr lang="th-TH" dirty="0"/>
              <a:t>อร์ </a:t>
            </a:r>
            <a:r>
              <a:rPr lang="th-TH" dirty="0" err="1"/>
              <a:t>Analog</a:t>
            </a:r>
            <a:r>
              <a:rPr lang="th-TH" dirty="0"/>
              <a:t> Devices (ADI) จำเป็นต้องอาศัยอุปกรณ์จับยึดสำหรับทดสอบ IC (IC </a:t>
            </a:r>
            <a:r>
              <a:rPr lang="th-TH" dirty="0" err="1"/>
              <a:t>Testing</a:t>
            </a:r>
            <a:r>
              <a:rPr lang="th-TH" dirty="0"/>
              <a:t> </a:t>
            </a:r>
            <a:r>
              <a:rPr lang="th-TH" dirty="0" err="1"/>
              <a:t>Jigs</a:t>
            </a:r>
            <a:r>
              <a:rPr lang="th-TH" dirty="0"/>
              <a:t>) ที่มีค่าพิกัดความเผื่อ (</a:t>
            </a:r>
            <a:r>
              <a:rPr lang="th-TH" dirty="0" err="1"/>
              <a:t>Tolerances</a:t>
            </a:r>
            <a:r>
              <a:rPr lang="th-TH" dirty="0"/>
              <a:t>) ที่เข้มงวดและแม่นยำสูงมาก โดยเฉพาะอย่างยิ่ง </a:t>
            </a:r>
            <a:r>
              <a:rPr lang="th-TH" b="1" dirty="0"/>
              <a:t>แผ่นจัดตำแหน่ง (</a:t>
            </a:r>
            <a:r>
              <a:rPr lang="th-TH" b="1" dirty="0" err="1"/>
              <a:t>Alignment</a:t>
            </a:r>
            <a:r>
              <a:rPr lang="th-TH" b="1" dirty="0"/>
              <a:t> </a:t>
            </a:r>
            <a:r>
              <a:rPr lang="th-TH" b="1" dirty="0" err="1"/>
              <a:t>Plates</a:t>
            </a:r>
            <a:r>
              <a:rPr lang="th-TH" b="1" dirty="0"/>
              <a:t> - ALPL)</a:t>
            </a:r>
            <a:r>
              <a:rPr lang="th-TH" dirty="0"/>
              <a:t> และ </a:t>
            </a:r>
            <a:r>
              <a:rPr lang="th-TH" b="1" dirty="0" err="1"/>
              <a:t>Lead</a:t>
            </a:r>
            <a:r>
              <a:rPr lang="th-TH" b="1" dirty="0"/>
              <a:t> </a:t>
            </a:r>
            <a:r>
              <a:rPr lang="th-TH" b="1" dirty="0" err="1"/>
              <a:t>Breakers</a:t>
            </a:r>
            <a:endParaRPr lang="th-TH" dirty="0"/>
          </a:p>
          <a:p>
            <a:r>
              <a:rPr lang="th-TH" dirty="0"/>
              <a:t>ส่วนประกอบเหล่านี้มีความสำคัญอย่างยิ่งในการจัดตำแหน่ง </a:t>
            </a:r>
            <a:r>
              <a:rPr lang="th-TH" b="1" dirty="0" err="1"/>
              <a:t>Contact</a:t>
            </a:r>
            <a:r>
              <a:rPr lang="th-TH" b="1" dirty="0"/>
              <a:t> </a:t>
            </a:r>
            <a:r>
              <a:rPr lang="th-TH" b="1" dirty="0" err="1"/>
              <a:t>Pins</a:t>
            </a:r>
            <a:r>
              <a:rPr lang="th-TH" dirty="0"/>
              <a:t> ระหว่างเครื่อง </a:t>
            </a:r>
            <a:r>
              <a:rPr lang="th-TH" b="1" dirty="0" err="1"/>
              <a:t>Handler</a:t>
            </a:r>
            <a:r>
              <a:rPr lang="th-TH" dirty="0"/>
              <a:t> และเครื่อง </a:t>
            </a:r>
            <a:r>
              <a:rPr lang="th-TH" b="1" dirty="0" err="1"/>
              <a:t>Tester</a:t>
            </a:r>
            <a:r>
              <a:rPr lang="th-TH" dirty="0"/>
              <a:t> ให้มีความแม่นยำ</a:t>
            </a:r>
          </a:p>
          <a:p>
            <a:endParaRPr lang="th-TH" dirty="0"/>
          </a:p>
        </p:txBody>
      </p:sp>
      <p:sp>
        <p:nvSpPr>
          <p:cNvPr id="4" name="ตัวแทนหมายเลขสไลด์ 3">
            <a:extLst>
              <a:ext uri="{FF2B5EF4-FFF2-40B4-BE49-F238E27FC236}">
                <a16:creationId xmlns:a16="http://schemas.microsoft.com/office/drawing/2014/main" id="{9300FDFB-2704-AAD6-6353-044301D17D12}"/>
              </a:ext>
            </a:extLst>
          </p:cNvPr>
          <p:cNvSpPr>
            <a:spLocks noGrp="1"/>
          </p:cNvSpPr>
          <p:nvPr>
            <p:ph type="sldNum" sz="quarter" idx="5"/>
          </p:nvPr>
        </p:nvSpPr>
        <p:spPr/>
        <p:txBody>
          <a:bodyPr/>
          <a:lstStyle/>
          <a:p>
            <a:fld id="{A3766003-7DEE-4D8A-9983-D0FF42899C89}" type="slidenum">
              <a:rPr lang="th-TH" smtClean="0"/>
              <a:t>18</a:t>
            </a:fld>
            <a:endParaRPr lang="th-TH"/>
          </a:p>
        </p:txBody>
      </p:sp>
    </p:spTree>
    <p:extLst>
      <p:ext uri="{BB962C8B-B14F-4D97-AF65-F5344CB8AC3E}">
        <p14:creationId xmlns:p14="http://schemas.microsoft.com/office/powerpoint/2010/main" val="22435831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C3E45-6BF9-721B-E341-A1CE01ADA442}"/>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8A8EE4C8-FC58-9C1E-9C00-F7A6D7283D8E}"/>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9E864F96-14D8-68C3-BC81-E3756FA2CD8C}"/>
              </a:ext>
            </a:extLst>
          </p:cNvPr>
          <p:cNvSpPr>
            <a:spLocks noGrp="1"/>
          </p:cNvSpPr>
          <p:nvPr>
            <p:ph type="body" idx="1"/>
          </p:nvPr>
        </p:nvSpPr>
        <p:spPr/>
        <p:txBody>
          <a:bodyPr/>
          <a:lstStyle/>
          <a:p>
            <a:r>
              <a:rPr lang="th-TH" b="1" dirty="0"/>
              <a:t>ออกแบบและสร้างระบบจับยึดและคัดแยกชิ้นงานกึ่งอัตโนมัติเพื่อติดตั้งร่วมกับเครื่องวัด </a:t>
            </a:r>
            <a:r>
              <a:rPr lang="en-US" b="1" dirty="0"/>
              <a:t>Keyence TM-X5065 </a:t>
            </a:r>
            <a:r>
              <a:rPr lang="th-TH" b="1" dirty="0"/>
              <a:t>ที่มีอยู่เดิม โดยเข้ามาแทนที่ขั้นตอนการจับยึดชิ้นงานด้วยมือบนพื้นผิวแก้วโดยตรง (ไม่ใช้จิ๊ก) และการคัดแยกชิ้นงานที่มีตำหนิด้วยสายตา ซึ่งจะช่วยให้กระบวนการ </a:t>
            </a:r>
            <a:r>
              <a:rPr lang="en-US" b="1" dirty="0"/>
              <a:t>ALPL IPM </a:t>
            </a:r>
            <a:r>
              <a:rPr lang="th-TH" b="1" dirty="0"/>
              <a:t>มีความแม่นยำสูงขึ้น ให้ผลลัพธ์ที่สม่ำเสมอ และลดการพึ่งพาการตัดสินใจของมนุษย์</a:t>
            </a:r>
          </a:p>
          <a:p>
            <a:endParaRPr lang="th-TH" b="1" dirty="0"/>
          </a:p>
          <a:p>
            <a:r>
              <a:rPr lang="en-US" dirty="0"/>
              <a:t>Cycle Time: </a:t>
            </a:r>
            <a:r>
              <a:rPr lang="th-TH" dirty="0"/>
              <a:t>ลดลงอย่างน้อย 20% เมื่อเทียบกับค่าพื้นฐานเดิมที่ 2 นาที 55 วินาที (สำหรับชิ้นงาน 8 ชิ้น)</a:t>
            </a:r>
          </a:p>
          <a:p>
            <a:r>
              <a:rPr lang="en-US" dirty="0"/>
              <a:t>Sorting Error: </a:t>
            </a:r>
            <a:r>
              <a:rPr lang="th-TH" dirty="0"/>
              <a:t>ไม่พบชิ้นงานเสีย (</a:t>
            </a:r>
            <a:r>
              <a:rPr lang="en-US" dirty="0"/>
              <a:t>NG) </a:t>
            </a:r>
            <a:r>
              <a:rPr lang="th-TH" dirty="0"/>
              <a:t>ในโซนชิ้นงานผ่านเกณฑ์ (</a:t>
            </a:r>
            <a:r>
              <a:rPr lang="en-US" dirty="0"/>
              <a:t>Accept Area) </a:t>
            </a:r>
            <a:r>
              <a:rPr lang="th-TH" dirty="0"/>
              <a:t>หรือชิ้นงานดีในโซนชิ้นงานไม่ผ่านเกณฑ์ (</a:t>
            </a:r>
            <a:r>
              <a:rPr lang="en-US" dirty="0"/>
              <a:t>Reject Area)</a:t>
            </a:r>
          </a:p>
          <a:p>
            <a:r>
              <a:rPr lang="en-US" dirty="0"/>
              <a:t>Repeatability: </a:t>
            </a:r>
            <a:r>
              <a:rPr lang="th-TH" dirty="0"/>
              <a:t>ความแปรปรวนที่เกิดจากผู้ตรวจสอบ (</a:t>
            </a:r>
            <a:r>
              <a:rPr lang="en-US" dirty="0"/>
              <a:t>Appraiser Variation </a:t>
            </a:r>
            <a:r>
              <a:rPr lang="th-TH" dirty="0"/>
              <a:t>ตามผลการวิเคราะห์ </a:t>
            </a:r>
            <a:r>
              <a:rPr lang="en-US" dirty="0"/>
              <a:t>MSA) </a:t>
            </a:r>
            <a:r>
              <a:rPr lang="th-TH" dirty="0"/>
              <a:t>ลดลงเมื่อเทียบกับระบบเดิม</a:t>
            </a:r>
          </a:p>
          <a:p>
            <a:r>
              <a:rPr lang="en-US" dirty="0"/>
              <a:t>Deliverable: </a:t>
            </a:r>
            <a:r>
              <a:rPr lang="th-TH" dirty="0"/>
              <a:t>โมดูลฮาร์ดแวร์ที่ใช้งานได้จริง ติดตั้งบนเครื่องจักรพร้อมระบบควบคุมและระบบป้อนกลับ (</a:t>
            </a:r>
            <a:r>
              <a:rPr lang="en-US" dirty="0"/>
              <a:t>Control &amp; Feedback)</a:t>
            </a:r>
          </a:p>
          <a:p>
            <a:r>
              <a:rPr lang="en-US" dirty="0"/>
              <a:t>No Damage: </a:t>
            </a:r>
            <a:r>
              <a:rPr lang="th-TH" dirty="0"/>
              <a:t>ไม่เกิดความเสียหายต่อชิ้นงานจากกระบวนการจัดตำแหน่ง (</a:t>
            </a:r>
            <a:r>
              <a:rPr lang="en-US" dirty="0"/>
              <a:t>align) </a:t>
            </a:r>
            <a:r>
              <a:rPr lang="th-TH" dirty="0"/>
              <a:t>การเคลื่อนย้าย/ส่งผ่าน (</a:t>
            </a:r>
            <a:r>
              <a:rPr lang="en-US" dirty="0"/>
              <a:t>transition) </a:t>
            </a:r>
            <a:r>
              <a:rPr lang="th-TH" dirty="0"/>
              <a:t>หรือการคัดแยก (</a:t>
            </a:r>
            <a:r>
              <a:rPr lang="en-US" dirty="0"/>
              <a:t>sort)</a:t>
            </a:r>
            <a:endParaRPr lang="th-TH" dirty="0"/>
          </a:p>
        </p:txBody>
      </p:sp>
      <p:sp>
        <p:nvSpPr>
          <p:cNvPr id="4" name="ตัวแทนหมายเลขสไลด์ 3">
            <a:extLst>
              <a:ext uri="{FF2B5EF4-FFF2-40B4-BE49-F238E27FC236}">
                <a16:creationId xmlns:a16="http://schemas.microsoft.com/office/drawing/2014/main" id="{FAE43E06-120A-D9B8-0FB9-64ECC14F16EE}"/>
              </a:ext>
            </a:extLst>
          </p:cNvPr>
          <p:cNvSpPr>
            <a:spLocks noGrp="1"/>
          </p:cNvSpPr>
          <p:nvPr>
            <p:ph type="sldNum" sz="quarter" idx="5"/>
          </p:nvPr>
        </p:nvSpPr>
        <p:spPr/>
        <p:txBody>
          <a:bodyPr/>
          <a:lstStyle/>
          <a:p>
            <a:fld id="{A3766003-7DEE-4D8A-9983-D0FF42899C89}" type="slidenum">
              <a:rPr lang="th-TH" smtClean="0"/>
              <a:t>19</a:t>
            </a:fld>
            <a:endParaRPr lang="th-TH"/>
          </a:p>
        </p:txBody>
      </p:sp>
    </p:spTree>
    <p:extLst>
      <p:ext uri="{BB962C8B-B14F-4D97-AF65-F5344CB8AC3E}">
        <p14:creationId xmlns:p14="http://schemas.microsoft.com/office/powerpoint/2010/main" val="30419126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53531-39CD-667D-15CC-12CAA48A71C6}"/>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7C18E294-E074-456D-A6DF-E34B615A390B}"/>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C689B12C-FC1F-CAAF-9891-DD0178BE48D2}"/>
              </a:ext>
            </a:extLst>
          </p:cNvPr>
          <p:cNvSpPr>
            <a:spLocks noGrp="1"/>
          </p:cNvSpPr>
          <p:nvPr>
            <p:ph type="body" idx="1"/>
          </p:nvPr>
        </p:nvSpPr>
        <p:spPr/>
        <p:txBody>
          <a:bodyPr/>
          <a:lstStyle/>
          <a:p>
            <a:endParaRPr lang="th-TH" dirty="0"/>
          </a:p>
        </p:txBody>
      </p:sp>
      <p:sp>
        <p:nvSpPr>
          <p:cNvPr id="4" name="ตัวแทนหมายเลขสไลด์ 3">
            <a:extLst>
              <a:ext uri="{FF2B5EF4-FFF2-40B4-BE49-F238E27FC236}">
                <a16:creationId xmlns:a16="http://schemas.microsoft.com/office/drawing/2014/main" id="{62B71911-84BA-87F9-D45E-706BD1F730BC}"/>
              </a:ext>
            </a:extLst>
          </p:cNvPr>
          <p:cNvSpPr>
            <a:spLocks noGrp="1"/>
          </p:cNvSpPr>
          <p:nvPr>
            <p:ph type="sldNum" sz="quarter" idx="5"/>
          </p:nvPr>
        </p:nvSpPr>
        <p:spPr/>
        <p:txBody>
          <a:bodyPr/>
          <a:lstStyle/>
          <a:p>
            <a:fld id="{E9E765B1-F2DB-4EF2-930A-9B7780E0B6EE}" type="slidenum">
              <a:rPr lang="th-TH" smtClean="0"/>
              <a:t>20</a:t>
            </a:fld>
            <a:endParaRPr lang="th-TH"/>
          </a:p>
        </p:txBody>
      </p:sp>
    </p:spTree>
    <p:extLst>
      <p:ext uri="{BB962C8B-B14F-4D97-AF65-F5344CB8AC3E}">
        <p14:creationId xmlns:p14="http://schemas.microsoft.com/office/powerpoint/2010/main" val="11628340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92B7E-118F-419A-D75C-71FAF491A545}"/>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CBE3A313-7C31-F7E7-D5DD-FE6F00AF4184}"/>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FD13BD88-1D1E-2522-0DCC-EA58996CD52D}"/>
              </a:ext>
            </a:extLst>
          </p:cNvPr>
          <p:cNvSpPr>
            <a:spLocks noGrp="1"/>
          </p:cNvSpPr>
          <p:nvPr>
            <p:ph type="body" idx="1"/>
          </p:nvPr>
        </p:nvSpPr>
        <p:spPr/>
        <p:txBody>
          <a:bodyPr/>
          <a:lstStyle/>
          <a:p>
            <a:r>
              <a:rPr lang="th-TH" dirty="0"/>
              <a:t>ในฐานะผู้นำด้านอุตสาหกรรมเซมิคอนดัก</a:t>
            </a:r>
            <a:r>
              <a:rPr lang="th-TH" dirty="0" err="1"/>
              <a:t>เต</a:t>
            </a:r>
            <a:r>
              <a:rPr lang="th-TH" dirty="0"/>
              <a:t>อร์ </a:t>
            </a:r>
            <a:r>
              <a:rPr lang="th-TH" dirty="0" err="1"/>
              <a:t>Analog</a:t>
            </a:r>
            <a:r>
              <a:rPr lang="th-TH" dirty="0"/>
              <a:t> Devices (ADI) จำเป็นต้องอาศัยอุปกรณ์จับยึดสำหรับทดสอบ IC (IC </a:t>
            </a:r>
            <a:r>
              <a:rPr lang="th-TH" dirty="0" err="1"/>
              <a:t>Testing</a:t>
            </a:r>
            <a:r>
              <a:rPr lang="th-TH" dirty="0"/>
              <a:t> </a:t>
            </a:r>
            <a:r>
              <a:rPr lang="th-TH" dirty="0" err="1"/>
              <a:t>Jigs</a:t>
            </a:r>
            <a:r>
              <a:rPr lang="th-TH" dirty="0"/>
              <a:t>) ที่มีค่าพิกัดความเผื่อ (</a:t>
            </a:r>
            <a:r>
              <a:rPr lang="th-TH" dirty="0" err="1"/>
              <a:t>Tolerances</a:t>
            </a:r>
            <a:r>
              <a:rPr lang="th-TH" dirty="0"/>
              <a:t>) ที่เข้มงวดและแม่นยำสูงมาก โดยเฉพาะอย่างยิ่ง </a:t>
            </a:r>
            <a:r>
              <a:rPr lang="th-TH" b="1" dirty="0"/>
              <a:t>แผ่นจัดตำแหน่ง (</a:t>
            </a:r>
            <a:r>
              <a:rPr lang="th-TH" b="1" dirty="0" err="1"/>
              <a:t>Alignment</a:t>
            </a:r>
            <a:r>
              <a:rPr lang="th-TH" b="1" dirty="0"/>
              <a:t> </a:t>
            </a:r>
            <a:r>
              <a:rPr lang="th-TH" b="1" dirty="0" err="1"/>
              <a:t>Plates</a:t>
            </a:r>
            <a:r>
              <a:rPr lang="th-TH" b="1" dirty="0"/>
              <a:t> - ALPL)</a:t>
            </a:r>
            <a:r>
              <a:rPr lang="th-TH" dirty="0"/>
              <a:t> และ </a:t>
            </a:r>
            <a:r>
              <a:rPr lang="th-TH" b="1" dirty="0" err="1"/>
              <a:t>Lead</a:t>
            </a:r>
            <a:r>
              <a:rPr lang="th-TH" b="1" dirty="0"/>
              <a:t> </a:t>
            </a:r>
            <a:r>
              <a:rPr lang="th-TH" b="1" dirty="0" err="1"/>
              <a:t>Breakers</a:t>
            </a:r>
            <a:endParaRPr lang="th-TH" dirty="0"/>
          </a:p>
          <a:p>
            <a:r>
              <a:rPr lang="th-TH" dirty="0"/>
              <a:t>ส่วนประกอบเหล่านี้มีความสำคัญอย่างยิ่งในการจัดตำแหน่ง </a:t>
            </a:r>
            <a:r>
              <a:rPr lang="th-TH" b="1" dirty="0" err="1"/>
              <a:t>Contact</a:t>
            </a:r>
            <a:r>
              <a:rPr lang="th-TH" b="1" dirty="0"/>
              <a:t> </a:t>
            </a:r>
            <a:r>
              <a:rPr lang="th-TH" b="1" dirty="0" err="1"/>
              <a:t>Pins</a:t>
            </a:r>
            <a:r>
              <a:rPr lang="th-TH" dirty="0"/>
              <a:t> ระหว่างเครื่อง </a:t>
            </a:r>
            <a:r>
              <a:rPr lang="th-TH" b="1" dirty="0" err="1"/>
              <a:t>Handler</a:t>
            </a:r>
            <a:r>
              <a:rPr lang="th-TH" dirty="0"/>
              <a:t> และเครื่อง </a:t>
            </a:r>
            <a:r>
              <a:rPr lang="th-TH" b="1" dirty="0" err="1"/>
              <a:t>Tester</a:t>
            </a:r>
            <a:r>
              <a:rPr lang="th-TH" dirty="0"/>
              <a:t> ให้มีความแม่นยำ</a:t>
            </a:r>
          </a:p>
          <a:p>
            <a:endParaRPr lang="th-TH" dirty="0"/>
          </a:p>
        </p:txBody>
      </p:sp>
      <p:sp>
        <p:nvSpPr>
          <p:cNvPr id="4" name="ตัวแทนหมายเลขสไลด์ 3">
            <a:extLst>
              <a:ext uri="{FF2B5EF4-FFF2-40B4-BE49-F238E27FC236}">
                <a16:creationId xmlns:a16="http://schemas.microsoft.com/office/drawing/2014/main" id="{9F04F5BB-616C-58B2-1AF1-9D23BC9536EE}"/>
              </a:ext>
            </a:extLst>
          </p:cNvPr>
          <p:cNvSpPr>
            <a:spLocks noGrp="1"/>
          </p:cNvSpPr>
          <p:nvPr>
            <p:ph type="sldNum" sz="quarter" idx="5"/>
          </p:nvPr>
        </p:nvSpPr>
        <p:spPr/>
        <p:txBody>
          <a:bodyPr/>
          <a:lstStyle/>
          <a:p>
            <a:fld id="{A3766003-7DEE-4D8A-9983-D0FF42899C89}" type="slidenum">
              <a:rPr lang="th-TH" smtClean="0"/>
              <a:t>21</a:t>
            </a:fld>
            <a:endParaRPr lang="th-TH"/>
          </a:p>
        </p:txBody>
      </p:sp>
    </p:spTree>
    <p:extLst>
      <p:ext uri="{BB962C8B-B14F-4D97-AF65-F5344CB8AC3E}">
        <p14:creationId xmlns:p14="http://schemas.microsoft.com/office/powerpoint/2010/main" val="25073048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รูปบนสไลด์ 1"/>
          <p:cNvSpPr>
            <a:spLocks noGrp="1" noRot="1" noChangeAspect="1"/>
          </p:cNvSpPr>
          <p:nvPr>
            <p:ph type="sldImg"/>
          </p:nvPr>
        </p:nvSpPr>
        <p:spPr/>
        <p:txBody>
          <a:bodyPr/>
          <a:lstStyle/>
          <a:p>
            <a:endParaRPr lang="th-TH"/>
          </a:p>
        </p:txBody>
      </p:sp>
      <p:sp>
        <p:nvSpPr>
          <p:cNvPr id="3" name="ตัวแทนบันทึกย่อ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h-TH" sz="1800" b="0" i="0" kern="1200" dirty="0">
                <a:solidFill>
                  <a:schemeClr val="tx1"/>
                </a:solidFill>
                <a:effectLst/>
                <a:latin typeface="+mn-lt"/>
                <a:ea typeface="+mn-ea"/>
                <a:cs typeface="+mn-cs"/>
              </a:rPr>
              <a:t>ALPL ช่วยจัดตำแหน่ง IC </a:t>
            </a:r>
            <a:r>
              <a:rPr lang="th-TH" sz="1800" b="0" i="0" kern="1200" dirty="0" err="1">
                <a:solidFill>
                  <a:schemeClr val="tx1"/>
                </a:solidFill>
                <a:effectLst/>
                <a:latin typeface="+mn-lt"/>
                <a:ea typeface="+mn-ea"/>
                <a:cs typeface="+mn-cs"/>
              </a:rPr>
              <a:t>package</a:t>
            </a:r>
            <a:r>
              <a:rPr lang="th-TH" sz="1800" b="0" i="0" kern="1200" dirty="0">
                <a:solidFill>
                  <a:schemeClr val="tx1"/>
                </a:solidFill>
                <a:effectLst/>
                <a:latin typeface="+mn-lt"/>
                <a:ea typeface="+mn-ea"/>
                <a:cs typeface="+mn-cs"/>
              </a:rPr>
              <a:t> ให้ตรงกับพินสัมผัสได้อย่างสมบูรณ์แบบในระหว่างรอบการทดสอบ</a:t>
            </a:r>
          </a:p>
          <a:p>
            <a:endParaRPr lang="th-TH" dirty="0"/>
          </a:p>
        </p:txBody>
      </p:sp>
      <p:sp>
        <p:nvSpPr>
          <p:cNvPr id="4" name="ตัวแทนหมายเลขสไลด์ 3"/>
          <p:cNvSpPr>
            <a:spLocks noGrp="1"/>
          </p:cNvSpPr>
          <p:nvPr>
            <p:ph type="sldNum" sz="quarter" idx="5"/>
          </p:nvPr>
        </p:nvSpPr>
        <p:spPr/>
        <p:txBody>
          <a:bodyPr/>
          <a:lstStyle/>
          <a:p>
            <a:fld id="{A3766003-7DEE-4D8A-9983-D0FF42899C89}" type="slidenum">
              <a:rPr lang="th-TH" smtClean="0"/>
              <a:t>22</a:t>
            </a:fld>
            <a:endParaRPr lang="th-TH"/>
          </a:p>
        </p:txBody>
      </p:sp>
    </p:spTree>
    <p:extLst>
      <p:ext uri="{BB962C8B-B14F-4D97-AF65-F5344CB8AC3E}">
        <p14:creationId xmlns:p14="http://schemas.microsoft.com/office/powerpoint/2010/main" val="475373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01A7C-DFFA-50B1-58B2-7EB9DFE17E8C}"/>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F6143C42-5C34-85D9-5D84-20E594441F54}"/>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2CB0D426-3086-1618-07FF-A0CB72981537}"/>
              </a:ext>
            </a:extLst>
          </p:cNvPr>
          <p:cNvSpPr>
            <a:spLocks noGrp="1"/>
          </p:cNvSpPr>
          <p:nvPr>
            <p:ph type="body" idx="1"/>
          </p:nvPr>
        </p:nvSpPr>
        <p:spPr/>
        <p:txBody>
          <a:bodyPr/>
          <a:lstStyle/>
          <a:p>
            <a:endParaRPr lang="th-TH"/>
          </a:p>
        </p:txBody>
      </p:sp>
      <p:sp>
        <p:nvSpPr>
          <p:cNvPr id="4" name="ตัวแทนหมายเลขสไลด์ 3">
            <a:extLst>
              <a:ext uri="{FF2B5EF4-FFF2-40B4-BE49-F238E27FC236}">
                <a16:creationId xmlns:a16="http://schemas.microsoft.com/office/drawing/2014/main" id="{5C10A1BC-AC03-DE55-92A3-1F0D91AE0B25}"/>
              </a:ext>
            </a:extLst>
          </p:cNvPr>
          <p:cNvSpPr>
            <a:spLocks noGrp="1"/>
          </p:cNvSpPr>
          <p:nvPr>
            <p:ph type="sldNum" sz="quarter" idx="5"/>
          </p:nvPr>
        </p:nvSpPr>
        <p:spPr/>
        <p:txBody>
          <a:bodyPr/>
          <a:lstStyle/>
          <a:p>
            <a:fld id="{A3766003-7DEE-4D8A-9983-D0FF42899C89}" type="slidenum">
              <a:rPr lang="th-TH" smtClean="0"/>
              <a:t>23</a:t>
            </a:fld>
            <a:endParaRPr lang="th-TH"/>
          </a:p>
        </p:txBody>
      </p:sp>
    </p:spTree>
    <p:extLst>
      <p:ext uri="{BB962C8B-B14F-4D97-AF65-F5344CB8AC3E}">
        <p14:creationId xmlns:p14="http://schemas.microsoft.com/office/powerpoint/2010/main" val="36862390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รูปบนสไลด์ 1"/>
          <p:cNvSpPr>
            <a:spLocks noGrp="1" noRot="1" noChangeAspect="1"/>
          </p:cNvSpPr>
          <p:nvPr>
            <p:ph type="sldImg"/>
          </p:nvPr>
        </p:nvSpPr>
        <p:spPr/>
        <p:txBody>
          <a:bodyPr/>
          <a:lstStyle/>
          <a:p>
            <a:endParaRPr lang="th-TH"/>
          </a:p>
        </p:txBody>
      </p:sp>
      <p:sp>
        <p:nvSpPr>
          <p:cNvPr id="3" name="ตัวแทนบันทึกย่อ 2"/>
          <p:cNvSpPr>
            <a:spLocks noGrp="1"/>
          </p:cNvSpPr>
          <p:nvPr>
            <p:ph type="body" idx="1"/>
          </p:nvPr>
        </p:nvSpPr>
        <p:spPr/>
        <p:txBody>
          <a:bodyPr/>
          <a:lstStyle/>
          <a:p>
            <a:endParaRPr lang="th-TH"/>
          </a:p>
        </p:txBody>
      </p:sp>
      <p:sp>
        <p:nvSpPr>
          <p:cNvPr id="4" name="ตัวแทนหมายเลขสไลด์ 3"/>
          <p:cNvSpPr>
            <a:spLocks noGrp="1"/>
          </p:cNvSpPr>
          <p:nvPr>
            <p:ph type="sldNum" sz="quarter" idx="5"/>
          </p:nvPr>
        </p:nvSpPr>
        <p:spPr/>
        <p:txBody>
          <a:bodyPr/>
          <a:lstStyle/>
          <a:p>
            <a:fld id="{A3766003-7DEE-4D8A-9983-D0FF42899C89}" type="slidenum">
              <a:rPr lang="th-TH" smtClean="0"/>
              <a:t>24</a:t>
            </a:fld>
            <a:endParaRPr lang="th-TH"/>
          </a:p>
        </p:txBody>
      </p:sp>
    </p:spTree>
    <p:extLst>
      <p:ext uri="{BB962C8B-B14F-4D97-AF65-F5344CB8AC3E}">
        <p14:creationId xmlns:p14="http://schemas.microsoft.com/office/powerpoint/2010/main" val="9033467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3C763-0B01-8A75-DADC-8A1CC18A10AE}"/>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A26C2AC9-C162-A7A3-96F0-14BE1944127C}"/>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A62FAA31-A98F-9B9B-39CF-8D44B48CA022}"/>
              </a:ext>
            </a:extLst>
          </p:cNvPr>
          <p:cNvSpPr>
            <a:spLocks noGrp="1"/>
          </p:cNvSpPr>
          <p:nvPr>
            <p:ph type="body" idx="1"/>
          </p:nvPr>
        </p:nvSpPr>
        <p:spPr/>
        <p:txBody>
          <a:bodyPr/>
          <a:lstStyle/>
          <a:p>
            <a:endParaRPr lang="th-TH"/>
          </a:p>
        </p:txBody>
      </p:sp>
      <p:sp>
        <p:nvSpPr>
          <p:cNvPr id="4" name="ตัวแทนหมายเลขสไลด์ 3">
            <a:extLst>
              <a:ext uri="{FF2B5EF4-FFF2-40B4-BE49-F238E27FC236}">
                <a16:creationId xmlns:a16="http://schemas.microsoft.com/office/drawing/2014/main" id="{56267A45-B2CD-B2D3-BE0A-22552B5B28EA}"/>
              </a:ext>
            </a:extLst>
          </p:cNvPr>
          <p:cNvSpPr>
            <a:spLocks noGrp="1"/>
          </p:cNvSpPr>
          <p:nvPr>
            <p:ph type="sldNum" sz="quarter" idx="5"/>
          </p:nvPr>
        </p:nvSpPr>
        <p:spPr/>
        <p:txBody>
          <a:bodyPr/>
          <a:lstStyle/>
          <a:p>
            <a:fld id="{A3766003-7DEE-4D8A-9983-D0FF42899C89}" type="slidenum">
              <a:rPr lang="th-TH" smtClean="0"/>
              <a:t>25</a:t>
            </a:fld>
            <a:endParaRPr lang="th-TH"/>
          </a:p>
        </p:txBody>
      </p:sp>
    </p:spTree>
    <p:extLst>
      <p:ext uri="{BB962C8B-B14F-4D97-AF65-F5344CB8AC3E}">
        <p14:creationId xmlns:p14="http://schemas.microsoft.com/office/powerpoint/2010/main" val="1172238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580B2-21E8-7232-9772-0457DA6D9331}"/>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C9A4025C-473F-A79C-7D34-0AC11F51A29C}"/>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FCFBB5E4-2B96-0119-6BBE-0E03B3F913A0}"/>
              </a:ext>
            </a:extLst>
          </p:cNvPr>
          <p:cNvSpPr>
            <a:spLocks noGrp="1"/>
          </p:cNvSpPr>
          <p:nvPr>
            <p:ph type="body" idx="1"/>
          </p:nvPr>
        </p:nvSpPr>
        <p:spPr/>
        <p:txBody>
          <a:bodyPr/>
          <a:lstStyle/>
          <a:p>
            <a:r>
              <a:rPr lang="th-TH" dirty="0"/>
              <a:t>ในฐานะผู้นำด้านอุตสาหกรรมเซมิคอนดัก</a:t>
            </a:r>
            <a:r>
              <a:rPr lang="th-TH" dirty="0" err="1"/>
              <a:t>เต</a:t>
            </a:r>
            <a:r>
              <a:rPr lang="th-TH" dirty="0"/>
              <a:t>อร์ </a:t>
            </a:r>
            <a:r>
              <a:rPr lang="th-TH" dirty="0" err="1"/>
              <a:t>Analog</a:t>
            </a:r>
            <a:r>
              <a:rPr lang="th-TH" dirty="0"/>
              <a:t> Devices (ADI) จำเป็นต้องอาศัยอุปกรณ์จับยึดสำหรับทดสอบ IC (IC </a:t>
            </a:r>
            <a:r>
              <a:rPr lang="th-TH" dirty="0" err="1"/>
              <a:t>Testing</a:t>
            </a:r>
            <a:r>
              <a:rPr lang="th-TH" dirty="0"/>
              <a:t> </a:t>
            </a:r>
            <a:r>
              <a:rPr lang="th-TH" dirty="0" err="1"/>
              <a:t>Jigs</a:t>
            </a:r>
            <a:r>
              <a:rPr lang="th-TH" dirty="0"/>
              <a:t>) ที่มีค่าพิกัดความเผื่อ (</a:t>
            </a:r>
            <a:r>
              <a:rPr lang="th-TH" dirty="0" err="1"/>
              <a:t>Tolerances</a:t>
            </a:r>
            <a:r>
              <a:rPr lang="th-TH" dirty="0"/>
              <a:t>) ที่เข้มงวดและแม่นยำสูงมาก โดยเฉพาะอย่างยิ่ง </a:t>
            </a:r>
            <a:r>
              <a:rPr lang="th-TH" b="1" dirty="0"/>
              <a:t>แผ่นจัดตำแหน่ง (</a:t>
            </a:r>
            <a:r>
              <a:rPr lang="th-TH" b="1" dirty="0" err="1"/>
              <a:t>Alignment</a:t>
            </a:r>
            <a:r>
              <a:rPr lang="th-TH" b="1" dirty="0"/>
              <a:t> </a:t>
            </a:r>
            <a:r>
              <a:rPr lang="th-TH" b="1" dirty="0" err="1"/>
              <a:t>Plates</a:t>
            </a:r>
            <a:r>
              <a:rPr lang="th-TH" b="1" dirty="0"/>
              <a:t> - ALPL)</a:t>
            </a:r>
            <a:r>
              <a:rPr lang="th-TH" dirty="0"/>
              <a:t> และ </a:t>
            </a:r>
            <a:r>
              <a:rPr lang="th-TH" b="1" dirty="0" err="1"/>
              <a:t>Lead</a:t>
            </a:r>
            <a:r>
              <a:rPr lang="th-TH" b="1" dirty="0"/>
              <a:t> </a:t>
            </a:r>
            <a:r>
              <a:rPr lang="th-TH" b="1" dirty="0" err="1"/>
              <a:t>Breakers</a:t>
            </a:r>
            <a:endParaRPr lang="th-TH" dirty="0"/>
          </a:p>
          <a:p>
            <a:r>
              <a:rPr lang="th-TH" dirty="0"/>
              <a:t>ส่วนประกอบเหล่านี้มีความสำคัญอย่างยิ่งในการจัดตำแหน่ง </a:t>
            </a:r>
            <a:r>
              <a:rPr lang="th-TH" b="1" dirty="0" err="1"/>
              <a:t>Contact</a:t>
            </a:r>
            <a:r>
              <a:rPr lang="th-TH" b="1" dirty="0"/>
              <a:t> </a:t>
            </a:r>
            <a:r>
              <a:rPr lang="th-TH" b="1" dirty="0" err="1"/>
              <a:t>Pins</a:t>
            </a:r>
            <a:r>
              <a:rPr lang="th-TH" dirty="0"/>
              <a:t> ระหว่างเครื่อง </a:t>
            </a:r>
            <a:r>
              <a:rPr lang="th-TH" b="1" dirty="0" err="1"/>
              <a:t>Handler</a:t>
            </a:r>
            <a:r>
              <a:rPr lang="th-TH" dirty="0"/>
              <a:t> และเครื่อง </a:t>
            </a:r>
            <a:r>
              <a:rPr lang="th-TH" b="1" dirty="0" err="1"/>
              <a:t>Tester</a:t>
            </a:r>
            <a:r>
              <a:rPr lang="th-TH" dirty="0"/>
              <a:t> ให้มีความแม่นยำ</a:t>
            </a:r>
          </a:p>
          <a:p>
            <a:endParaRPr lang="th-TH" dirty="0"/>
          </a:p>
        </p:txBody>
      </p:sp>
      <p:sp>
        <p:nvSpPr>
          <p:cNvPr id="4" name="ตัวแทนหมายเลขสไลด์ 3">
            <a:extLst>
              <a:ext uri="{FF2B5EF4-FFF2-40B4-BE49-F238E27FC236}">
                <a16:creationId xmlns:a16="http://schemas.microsoft.com/office/drawing/2014/main" id="{2C60EF23-EF51-61A3-A99D-ACE00164752B}"/>
              </a:ext>
            </a:extLst>
          </p:cNvPr>
          <p:cNvSpPr>
            <a:spLocks noGrp="1"/>
          </p:cNvSpPr>
          <p:nvPr>
            <p:ph type="sldNum" sz="quarter" idx="5"/>
          </p:nvPr>
        </p:nvSpPr>
        <p:spPr/>
        <p:txBody>
          <a:bodyPr/>
          <a:lstStyle/>
          <a:p>
            <a:fld id="{A3766003-7DEE-4D8A-9983-D0FF42899C89}" type="slidenum">
              <a:rPr lang="th-TH" smtClean="0"/>
              <a:t>26</a:t>
            </a:fld>
            <a:endParaRPr lang="th-TH"/>
          </a:p>
        </p:txBody>
      </p:sp>
    </p:spTree>
    <p:extLst>
      <p:ext uri="{BB962C8B-B14F-4D97-AF65-F5344CB8AC3E}">
        <p14:creationId xmlns:p14="http://schemas.microsoft.com/office/powerpoint/2010/main" val="2924413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รูปบนสไลด์ 1"/>
          <p:cNvSpPr>
            <a:spLocks noGrp="1" noRot="1" noChangeAspect="1"/>
          </p:cNvSpPr>
          <p:nvPr>
            <p:ph type="sldImg"/>
          </p:nvPr>
        </p:nvSpPr>
        <p:spPr/>
        <p:txBody>
          <a:bodyPr/>
          <a:lstStyle/>
          <a:p>
            <a:endParaRPr lang="th-TH"/>
          </a:p>
        </p:txBody>
      </p:sp>
      <p:sp>
        <p:nvSpPr>
          <p:cNvPr id="3" name="ตัวแทนบันทึกย่อ 2"/>
          <p:cNvSpPr>
            <a:spLocks noGrp="1"/>
          </p:cNvSpPr>
          <p:nvPr>
            <p:ph type="body" idx="1"/>
          </p:nvPr>
        </p:nvSpPr>
        <p:spPr/>
        <p:txBody>
          <a:bodyPr/>
          <a:lstStyle/>
          <a:p>
            <a:r>
              <a:rPr lang="th-TH" dirty="0"/>
              <a:t>กระบวนการบำรุงรักษาในระหว่างการผลิต (</a:t>
            </a:r>
            <a:r>
              <a:rPr lang="en-US" dirty="0"/>
              <a:t>IPM) </a:t>
            </a:r>
            <a:r>
              <a:rPr lang="th-TH" dirty="0"/>
              <a:t>สำหรับ </a:t>
            </a:r>
            <a:r>
              <a:rPr lang="en-US" dirty="0"/>
              <a:t>ALPL </a:t>
            </a:r>
            <a:r>
              <a:rPr lang="th-TH" dirty="0"/>
              <a:t>และ </a:t>
            </a:r>
            <a:r>
              <a:rPr lang="en-US" dirty="0"/>
              <a:t>Lead Breaker </a:t>
            </a:r>
            <a:r>
              <a:rPr lang="th-TH" dirty="0"/>
              <a:t>ซึ่งปัจจุบันดำเนินการในห้อง </a:t>
            </a:r>
            <a:r>
              <a:rPr lang="en-US" dirty="0"/>
              <a:t>PM Kit </a:t>
            </a:r>
            <a:r>
              <a:rPr lang="th-TH" dirty="0"/>
              <a:t>นั้น ใช้กล้อง </a:t>
            </a:r>
            <a:r>
              <a:rPr lang="en-US" dirty="0"/>
              <a:t>Keyence </a:t>
            </a:r>
            <a:r>
              <a:rPr lang="th-TH" dirty="0"/>
              <a:t>รุ่น </a:t>
            </a:r>
            <a:r>
              <a:rPr lang="en-US" dirty="0"/>
              <a:t>TM-X5065 </a:t>
            </a:r>
            <a:r>
              <a:rPr lang="th-TH" dirty="0"/>
              <a:t>เป็นเครื่องมือหลัก</a:t>
            </a:r>
          </a:p>
        </p:txBody>
      </p:sp>
      <p:sp>
        <p:nvSpPr>
          <p:cNvPr id="4" name="ตัวแทนหมายเลขสไลด์ 3"/>
          <p:cNvSpPr>
            <a:spLocks noGrp="1"/>
          </p:cNvSpPr>
          <p:nvPr>
            <p:ph type="sldNum" sz="quarter" idx="5"/>
          </p:nvPr>
        </p:nvSpPr>
        <p:spPr/>
        <p:txBody>
          <a:bodyPr/>
          <a:lstStyle/>
          <a:p>
            <a:fld id="{A3766003-7DEE-4D8A-9983-D0FF42899C89}" type="slidenum">
              <a:rPr lang="th-TH" smtClean="0"/>
              <a:t>27</a:t>
            </a:fld>
            <a:endParaRPr lang="th-TH"/>
          </a:p>
        </p:txBody>
      </p:sp>
    </p:spTree>
    <p:extLst>
      <p:ext uri="{BB962C8B-B14F-4D97-AF65-F5344CB8AC3E}">
        <p14:creationId xmlns:p14="http://schemas.microsoft.com/office/powerpoint/2010/main" val="5735335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11C78-C961-542F-A177-1FB6E340E375}"/>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962274BF-CB25-8D96-CEB1-6FA4469EFCC5}"/>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81A63A9D-4557-F0CC-CE19-89E7B21F88C8}"/>
              </a:ext>
            </a:extLst>
          </p:cNvPr>
          <p:cNvSpPr>
            <a:spLocks noGrp="1"/>
          </p:cNvSpPr>
          <p:nvPr>
            <p:ph type="body" idx="1"/>
          </p:nvPr>
        </p:nvSpPr>
        <p:spPr/>
        <p:txBody>
          <a:bodyPr/>
          <a:lstStyle/>
          <a:p>
            <a:pPr>
              <a:buFont typeface="+mj-lt"/>
              <a:buAutoNum type="arabicPeriod"/>
            </a:pPr>
            <a:r>
              <a:rPr lang="th-TH" dirty="0">
                <a:latin typeface="Helvetica" panose="020B0604020202020204" pitchFamily="34" charset="0"/>
              </a:rPr>
              <a:t>ถอด </a:t>
            </a:r>
            <a:r>
              <a:rPr lang="en-US" dirty="0">
                <a:latin typeface="Helvetica" panose="020B0604020202020204" pitchFamily="34" charset="0"/>
                <a:cs typeface="Helvetica" panose="020B0604020202020204" pitchFamily="34" charset="0"/>
              </a:rPr>
              <a:t>ALPL </a:t>
            </a:r>
            <a:r>
              <a:rPr lang="th-TH" dirty="0">
                <a:latin typeface="Helvetica" panose="020B0604020202020204" pitchFamily="34" charset="0"/>
              </a:rPr>
              <a:t>จากชุด </a:t>
            </a:r>
            <a:r>
              <a:rPr lang="en-US" dirty="0">
                <a:latin typeface="Helvetica" panose="020B0604020202020204" pitchFamily="34" charset="0"/>
                <a:cs typeface="Helvetica" panose="020B0604020202020204" pitchFamily="34" charset="0"/>
              </a:rPr>
              <a:t>Kit </a:t>
            </a:r>
            <a:r>
              <a:rPr lang="th-TH" dirty="0">
                <a:latin typeface="Helvetica" panose="020B0604020202020204" pitchFamily="34" charset="0"/>
              </a:rPr>
              <a:t>ที่มาจากเครื่องจักร</a:t>
            </a:r>
          </a:p>
          <a:p>
            <a:pPr>
              <a:buFont typeface="+mj-lt"/>
              <a:buAutoNum type="arabicPeriod"/>
            </a:pPr>
            <a:r>
              <a:rPr lang="th-TH" dirty="0">
                <a:latin typeface="Helvetica" panose="020B0604020202020204" pitchFamily="34" charset="0"/>
              </a:rPr>
              <a:t>ชิ้นงาน วางบนกระจก เพื่อเตรียมวัด</a:t>
            </a:r>
          </a:p>
          <a:p>
            <a:pPr>
              <a:buFont typeface="+mj-lt"/>
              <a:buAutoNum type="arabicPeriod"/>
            </a:pPr>
            <a:r>
              <a:rPr lang="th-TH" dirty="0">
                <a:latin typeface="Helvetica" panose="020B0604020202020204" pitchFamily="34" charset="0"/>
              </a:rPr>
              <a:t>จัดตำแหน่งชิ้นงาน</a:t>
            </a:r>
          </a:p>
          <a:p>
            <a:pPr>
              <a:buFont typeface="+mj-lt"/>
              <a:buAutoNum type="arabicPeriod"/>
            </a:pPr>
            <a:r>
              <a:rPr lang="th-TH" dirty="0">
                <a:latin typeface="Helvetica" panose="020B0604020202020204" pitchFamily="34" charset="0"/>
              </a:rPr>
              <a:t>เลือกโปรแกรม ที่ตรงกับชิ้นงาน</a:t>
            </a:r>
          </a:p>
          <a:p>
            <a:pPr>
              <a:buFont typeface="+mj-lt"/>
              <a:buAutoNum type="arabicPeriod"/>
            </a:pPr>
            <a:r>
              <a:rPr lang="th-TH" dirty="0">
                <a:latin typeface="Helvetica" panose="020B0604020202020204" pitchFamily="34" charset="0"/>
              </a:rPr>
              <a:t>บันทึกข้อมูล และแยกประเภท </a:t>
            </a:r>
            <a:r>
              <a:rPr lang="en-US" dirty="0">
                <a:latin typeface="Helvetica" panose="020B0604020202020204" pitchFamily="34" charset="0"/>
                <a:cs typeface="Helvetica" panose="020B0604020202020204" pitchFamily="34" charset="0"/>
              </a:rPr>
              <a:t>Good/Fail</a:t>
            </a:r>
          </a:p>
          <a:p>
            <a:endParaRPr lang="th-TH" dirty="0"/>
          </a:p>
        </p:txBody>
      </p:sp>
      <p:sp>
        <p:nvSpPr>
          <p:cNvPr id="4" name="ตัวแทนหมายเลขสไลด์ 3">
            <a:extLst>
              <a:ext uri="{FF2B5EF4-FFF2-40B4-BE49-F238E27FC236}">
                <a16:creationId xmlns:a16="http://schemas.microsoft.com/office/drawing/2014/main" id="{0A8657F9-6656-9A9E-63B7-A76E5D30590C}"/>
              </a:ext>
            </a:extLst>
          </p:cNvPr>
          <p:cNvSpPr>
            <a:spLocks noGrp="1"/>
          </p:cNvSpPr>
          <p:nvPr>
            <p:ph type="sldNum" sz="quarter" idx="5"/>
          </p:nvPr>
        </p:nvSpPr>
        <p:spPr/>
        <p:txBody>
          <a:bodyPr/>
          <a:lstStyle/>
          <a:p>
            <a:fld id="{A3766003-7DEE-4D8A-9983-D0FF42899C89}" type="slidenum">
              <a:rPr lang="th-TH" smtClean="0"/>
              <a:t>28</a:t>
            </a:fld>
            <a:endParaRPr lang="th-TH"/>
          </a:p>
        </p:txBody>
      </p:sp>
    </p:spTree>
    <p:extLst>
      <p:ext uri="{BB962C8B-B14F-4D97-AF65-F5344CB8AC3E}">
        <p14:creationId xmlns:p14="http://schemas.microsoft.com/office/powerpoint/2010/main" val="143268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รูปบนสไลด์ 1"/>
          <p:cNvSpPr>
            <a:spLocks noGrp="1" noRot="1" noChangeAspect="1"/>
          </p:cNvSpPr>
          <p:nvPr>
            <p:ph type="sldImg"/>
          </p:nvPr>
        </p:nvSpPr>
        <p:spPr/>
        <p:txBody>
          <a:bodyPr/>
          <a:lstStyle/>
          <a:p>
            <a:endParaRPr lang="th-TH"/>
          </a:p>
        </p:txBody>
      </p:sp>
      <p:sp>
        <p:nvSpPr>
          <p:cNvPr id="3" name="ตัวแทนบันทึกย่อ 2"/>
          <p:cNvSpPr>
            <a:spLocks noGrp="1"/>
          </p:cNvSpPr>
          <p:nvPr>
            <p:ph type="body" idx="1"/>
          </p:nvPr>
        </p:nvSpPr>
        <p:spPr/>
        <p:txBody>
          <a:bodyPr/>
          <a:lstStyle/>
          <a:p>
            <a:pPr rtl="0"/>
            <a:r>
              <a:rPr lang="th-TH" sz="1900" dirty="0"/>
              <a:t>การดำเนินการ: ตรวจสอบขนาดของชิ้นส่วน ALPL ใหม่เทียบกับแบบแปลนทันทีที่ได้รับมอบ</a:t>
            </a:r>
          </a:p>
          <a:p>
            <a:pPr rtl="0"/>
            <a:r>
              <a:rPr lang="th-TH" sz="1900" dirty="0"/>
              <a:t>การอนุมัติ: ส่งรายงานให้วิศวกรฝ่ายอุปกรณ์ (</a:t>
            </a:r>
            <a:r>
              <a:rPr lang="th-TH" sz="1900" dirty="0" err="1"/>
              <a:t>Equipment</a:t>
            </a:r>
            <a:r>
              <a:rPr lang="th-TH" sz="1900" dirty="0"/>
              <a:t> </a:t>
            </a:r>
            <a:r>
              <a:rPr lang="th-TH" sz="1900" dirty="0" err="1"/>
              <a:t>Engineer</a:t>
            </a:r>
            <a:r>
              <a:rPr lang="th-TH" sz="1900" dirty="0"/>
              <a:t>) พิจารณาก่อนเริ่มกระบวนการผลิต</a:t>
            </a:r>
          </a:p>
          <a:p>
            <a:endParaRPr lang="en-US" dirty="0"/>
          </a:p>
          <a:p>
            <a:r>
              <a:rPr lang="th-TH" dirty="0"/>
              <a:t>การดำเนินการ: กำหนดการตรวจสอบชุดทดสอบตามรอบเวลาปกติ เพื่อติดตามสภาพการสึก</a:t>
            </a:r>
            <a:r>
              <a:rPr lang="th-TH" dirty="0" err="1"/>
              <a:t>หรอ</a:t>
            </a:r>
            <a:r>
              <a:rPr lang="th-TH" dirty="0"/>
              <a:t>และรับรองความแม่นยำ</a:t>
            </a:r>
          </a:p>
          <a:p>
            <a:r>
              <a:rPr lang="th-TH" dirty="0"/>
              <a:t>การบันทึกข้อมูล: ผลการตรวจสอบจะถูกบันทึกลงในประวัติการใช้งานของชุดทดสอบแต่ละชุดด้วยตนเอง</a:t>
            </a:r>
          </a:p>
        </p:txBody>
      </p:sp>
      <p:sp>
        <p:nvSpPr>
          <p:cNvPr id="4" name="ตัวแทนหมายเลขสไลด์ 3"/>
          <p:cNvSpPr>
            <a:spLocks noGrp="1"/>
          </p:cNvSpPr>
          <p:nvPr>
            <p:ph type="sldNum" sz="quarter" idx="5"/>
          </p:nvPr>
        </p:nvSpPr>
        <p:spPr/>
        <p:txBody>
          <a:bodyPr/>
          <a:lstStyle/>
          <a:p>
            <a:fld id="{A3766003-7DEE-4D8A-9983-D0FF42899C89}" type="slidenum">
              <a:rPr lang="th-TH" smtClean="0"/>
              <a:t>29</a:t>
            </a:fld>
            <a:endParaRPr lang="th-TH"/>
          </a:p>
        </p:txBody>
      </p:sp>
    </p:spTree>
    <p:extLst>
      <p:ext uri="{BB962C8B-B14F-4D97-AF65-F5344CB8AC3E}">
        <p14:creationId xmlns:p14="http://schemas.microsoft.com/office/powerpoint/2010/main" val="1242496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รูปบนสไลด์ 1"/>
          <p:cNvSpPr>
            <a:spLocks noGrp="1" noRot="1" noChangeAspect="1"/>
          </p:cNvSpPr>
          <p:nvPr>
            <p:ph type="sldImg"/>
          </p:nvPr>
        </p:nvSpPr>
        <p:spPr/>
        <p:txBody>
          <a:bodyPr/>
          <a:lstStyle/>
          <a:p>
            <a:endParaRPr lang="th-TH"/>
          </a:p>
        </p:txBody>
      </p:sp>
      <p:sp>
        <p:nvSpPr>
          <p:cNvPr id="3" name="ตัวแทนบันทึกย่อ 2"/>
          <p:cNvSpPr>
            <a:spLocks noGrp="1"/>
          </p:cNvSpPr>
          <p:nvPr>
            <p:ph type="body" idx="1"/>
          </p:nvPr>
        </p:nvSpPr>
        <p:spPr/>
        <p:txBody>
          <a:bodyPr/>
          <a:lstStyle/>
          <a:p>
            <a:r>
              <a:rPr lang="th-TH" b="1" dirty="0"/>
              <a:t>1. TM-X คืออะไร?</a:t>
            </a:r>
            <a:endParaRPr lang="th-TH" dirty="0"/>
          </a:p>
          <a:p>
            <a:r>
              <a:rPr lang="th-TH" b="1" dirty="0"/>
              <a:t>2D </a:t>
            </a:r>
            <a:r>
              <a:rPr lang="th-TH" b="1" dirty="0" err="1"/>
              <a:t>Optical</a:t>
            </a:r>
            <a:r>
              <a:rPr lang="th-TH" b="1" dirty="0"/>
              <a:t> </a:t>
            </a:r>
            <a:r>
              <a:rPr lang="th-TH" b="1" dirty="0" err="1"/>
              <a:t>Micrometer</a:t>
            </a:r>
            <a:r>
              <a:rPr lang="th-TH" b="1" dirty="0"/>
              <a:t>:</a:t>
            </a:r>
            <a:r>
              <a:rPr lang="th-TH" dirty="0"/>
              <a:t> ระบบกล้องวัดขนาด 2 มิติความเร็วสูงและแม่นยำระดับไมครอน </a:t>
            </a:r>
          </a:p>
          <a:p>
            <a:r>
              <a:rPr lang="th-TH" b="1" dirty="0"/>
              <a:t>หลักการทำงาน:</a:t>
            </a:r>
            <a:r>
              <a:rPr lang="th-TH" dirty="0"/>
              <a:t> วัดจาก </a:t>
            </a:r>
            <a:r>
              <a:rPr lang="th-TH" b="1" dirty="0"/>
              <a:t>"เงาตกกระทบ" (</a:t>
            </a:r>
            <a:r>
              <a:rPr lang="th-TH" b="1" dirty="0" err="1"/>
              <a:t>Silhouette</a:t>
            </a:r>
            <a:r>
              <a:rPr lang="th-TH" b="1" dirty="0"/>
              <a:t>)</a:t>
            </a:r>
            <a:r>
              <a:rPr lang="th-TH" dirty="0"/>
              <a:t> ของชิ้นงาน ผ่านเลนส์เท</a:t>
            </a:r>
            <a:r>
              <a:rPr lang="th-TH" dirty="0" err="1"/>
              <a:t>เล</a:t>
            </a:r>
            <a:r>
              <a:rPr lang="th-TH" dirty="0"/>
              <a:t>เซนตริก (</a:t>
            </a:r>
            <a:r>
              <a:rPr lang="th-TH" dirty="0" err="1"/>
              <a:t>Telecentric</a:t>
            </a:r>
            <a:r>
              <a:rPr lang="th-TH" dirty="0"/>
              <a:t> </a:t>
            </a:r>
            <a:r>
              <a:rPr lang="th-TH" dirty="0" err="1"/>
              <a:t>Lens</a:t>
            </a:r>
            <a:r>
              <a:rPr lang="th-TH" dirty="0"/>
              <a:t>) ทำให้ภาพไม่บิดเบี้ยวแม้ระยะการวางจะเปลี่ยนไป </a:t>
            </a:r>
          </a:p>
          <a:p>
            <a:r>
              <a:rPr lang="th-TH" b="1" dirty="0"/>
              <a:t>2. การทำงาน (สิ่งที่ต้อง </a:t>
            </a:r>
            <a:r>
              <a:rPr lang="th-TH" b="1" dirty="0" err="1"/>
              <a:t>Register</a:t>
            </a:r>
            <a:r>
              <a:rPr lang="th-TH" b="1" dirty="0"/>
              <a:t> ก่อนเริ่มวัด)</a:t>
            </a:r>
            <a:endParaRPr lang="th-TH" dirty="0"/>
          </a:p>
          <a:p>
            <a:r>
              <a:rPr lang="th-TH" b="1" dirty="0" err="1"/>
              <a:t>Pattern</a:t>
            </a:r>
            <a:r>
              <a:rPr lang="th-TH" b="1" dirty="0"/>
              <a:t> (รูปแบบ):</a:t>
            </a:r>
            <a:r>
              <a:rPr lang="th-TH" dirty="0"/>
              <a:t> ต้องวางชิ้นงาน </a:t>
            </a:r>
            <a:r>
              <a:rPr lang="th-TH" dirty="0" err="1"/>
              <a:t>Master</a:t>
            </a:r>
            <a:r>
              <a:rPr lang="th-TH" dirty="0"/>
              <a:t> เป็นต้นแบบให้กล้องจดจำรูปทรง</a:t>
            </a:r>
          </a:p>
          <a:p>
            <a:r>
              <a:rPr lang="th-TH" b="1" dirty="0" err="1"/>
              <a:t>Search</a:t>
            </a:r>
            <a:r>
              <a:rPr lang="th-TH" b="1" dirty="0"/>
              <a:t> </a:t>
            </a:r>
            <a:r>
              <a:rPr lang="th-TH" b="1" dirty="0" err="1"/>
              <a:t>Area</a:t>
            </a:r>
            <a:r>
              <a:rPr lang="th-TH" b="1" dirty="0"/>
              <a:t> (พื้นที่ค้นหา):</a:t>
            </a:r>
            <a:r>
              <a:rPr lang="th-TH" dirty="0"/>
              <a:t> กำหนดขอบเขตให้กล้องวิ่งหาชิ้นงานอัตโนมัติ (ชดเชยการวางเอียง/คลาดเคลื่อน)</a:t>
            </a:r>
          </a:p>
          <a:p>
            <a:r>
              <a:rPr lang="th-TH" b="1" dirty="0" err="1"/>
              <a:t>Tools</a:t>
            </a:r>
            <a:r>
              <a:rPr lang="th-TH" b="1" dirty="0"/>
              <a:t> &amp; </a:t>
            </a:r>
            <a:r>
              <a:rPr lang="th-TH" b="1" dirty="0" err="1"/>
              <a:t>Tolerance</a:t>
            </a:r>
            <a:r>
              <a:rPr lang="th-TH" b="1" dirty="0"/>
              <a:t> (เครื่องมือและสเปก):</a:t>
            </a:r>
            <a:r>
              <a:rPr lang="th-TH" dirty="0"/>
              <a:t> กำหนดจุดที่ต้องการวัด (เช่น ระยะห่าง, เส้นผ่านศูนย์กลาง) พร้อมตั้งค่าขีดจำกัด (</a:t>
            </a:r>
            <a:r>
              <a:rPr lang="th-TH" dirty="0" err="1"/>
              <a:t>Upper</a:t>
            </a:r>
            <a:r>
              <a:rPr lang="th-TH" dirty="0"/>
              <a:t>/</a:t>
            </a:r>
            <a:r>
              <a:rPr lang="th-TH" dirty="0" err="1"/>
              <a:t>Lower</a:t>
            </a:r>
            <a:r>
              <a:rPr lang="th-TH" dirty="0"/>
              <a:t>) เพื่อให้ระบบตัดสินผลเป็น OK/NG ได้ทันที</a:t>
            </a:r>
          </a:p>
          <a:p>
            <a:r>
              <a:rPr lang="th-TH" b="1" dirty="0"/>
              <a:t>3. พอร์ตสื่อสารภายนอก (</a:t>
            </a:r>
            <a:r>
              <a:rPr lang="th-TH" b="1" dirty="0" err="1"/>
              <a:t>Communication</a:t>
            </a:r>
            <a:r>
              <a:rPr lang="th-TH" b="1" dirty="0"/>
              <a:t> </a:t>
            </a:r>
            <a:r>
              <a:rPr lang="th-TH" b="1" dirty="0" err="1"/>
              <a:t>Ports</a:t>
            </a:r>
            <a:r>
              <a:rPr lang="th-TH" b="1" dirty="0"/>
              <a:t>)</a:t>
            </a:r>
            <a:endParaRPr lang="th-TH" dirty="0"/>
          </a:p>
          <a:p>
            <a:r>
              <a:rPr lang="th-TH" b="1" dirty="0" err="1"/>
              <a:t>Ethernet</a:t>
            </a:r>
            <a:r>
              <a:rPr lang="th-TH" b="1" dirty="0"/>
              <a:t> / LAN (พอร์ตหลัก):</a:t>
            </a:r>
            <a:r>
              <a:rPr lang="th-TH" dirty="0"/>
              <a:t> ใช้เชื่อมต่อวงเน็ต</a:t>
            </a:r>
            <a:r>
              <a:rPr lang="th-TH" dirty="0" err="1"/>
              <a:t>เวิร์ก</a:t>
            </a:r>
            <a:r>
              <a:rPr lang="th-TH" dirty="0"/>
              <a:t> (PC/PLC) สำหรับดึงข้อมูล </a:t>
            </a:r>
            <a:r>
              <a:rPr lang="th-TH" dirty="0" err="1"/>
              <a:t>Raw</a:t>
            </a:r>
            <a:r>
              <a:rPr lang="th-TH" dirty="0"/>
              <a:t> Data, ไฟล์ภาพ และส่งคำสั่งควบคุมกล้องผ่าน TCP/IP (ความเร็วสูง)</a:t>
            </a:r>
          </a:p>
          <a:p>
            <a:r>
              <a:rPr lang="th-TH" b="1" dirty="0"/>
              <a:t>RS-232C (</a:t>
            </a:r>
            <a:r>
              <a:rPr lang="th-TH" b="1" dirty="0" err="1"/>
              <a:t>Serial</a:t>
            </a:r>
            <a:r>
              <a:rPr lang="th-TH" b="1" dirty="0"/>
              <a:t> </a:t>
            </a:r>
            <a:r>
              <a:rPr lang="th-TH" b="1" dirty="0" err="1"/>
              <a:t>Port</a:t>
            </a:r>
            <a:r>
              <a:rPr lang="th-TH" b="1" dirty="0"/>
              <a:t>):</a:t>
            </a:r>
            <a:r>
              <a:rPr lang="th-TH" dirty="0"/>
              <a:t> พอร์ตอนุกรมสำหรับรับส่งคำสั่งควบคุม (</a:t>
            </a:r>
            <a:r>
              <a:rPr lang="th-TH" dirty="0" err="1"/>
              <a:t>Control</a:t>
            </a:r>
            <a:r>
              <a:rPr lang="th-TH" dirty="0"/>
              <a:t> </a:t>
            </a:r>
            <a:r>
              <a:rPr lang="th-TH" dirty="0" err="1"/>
              <a:t>Commands</a:t>
            </a:r>
            <a:r>
              <a:rPr lang="th-TH" dirty="0"/>
              <a:t>) และดึงค่าผลการวัดตัวเลขแบบสั้น ๆ</a:t>
            </a:r>
          </a:p>
          <a:p>
            <a:r>
              <a:rPr lang="th-TH" i="1" dirty="0"/>
              <a:t>พอร์ตสนับสนุน:</a:t>
            </a:r>
            <a:r>
              <a:rPr lang="th-TH" dirty="0"/>
              <a:t> USB, I/O (รับส่งสัญญาณฮาร์ดแวร์), SD </a:t>
            </a:r>
            <a:r>
              <a:rPr lang="th-TH" dirty="0" err="1"/>
              <a:t>Card</a:t>
            </a:r>
            <a:endParaRPr lang="th-TH" dirty="0"/>
          </a:p>
          <a:p>
            <a:endParaRPr lang="th-TH" dirty="0"/>
          </a:p>
        </p:txBody>
      </p:sp>
      <p:sp>
        <p:nvSpPr>
          <p:cNvPr id="4" name="ตัวแทนหมายเลขสไลด์ 3"/>
          <p:cNvSpPr>
            <a:spLocks noGrp="1"/>
          </p:cNvSpPr>
          <p:nvPr>
            <p:ph type="sldNum" sz="quarter" idx="5"/>
          </p:nvPr>
        </p:nvSpPr>
        <p:spPr/>
        <p:txBody>
          <a:bodyPr/>
          <a:lstStyle/>
          <a:p>
            <a:fld id="{A3766003-7DEE-4D8A-9983-D0FF42899C89}" type="slidenum">
              <a:rPr lang="th-TH" smtClean="0"/>
              <a:t>30</a:t>
            </a:fld>
            <a:endParaRPr lang="th-TH"/>
          </a:p>
        </p:txBody>
      </p:sp>
    </p:spTree>
    <p:extLst>
      <p:ext uri="{BB962C8B-B14F-4D97-AF65-F5344CB8AC3E}">
        <p14:creationId xmlns:p14="http://schemas.microsoft.com/office/powerpoint/2010/main" val="26186196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28399-399C-F754-19A1-7A1C22592D29}"/>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A814AFDD-31A2-A6F5-DAB8-2441862FAED8}"/>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D6297B3A-4458-C804-9DAD-9B39F1DF5886}"/>
              </a:ext>
            </a:extLst>
          </p:cNvPr>
          <p:cNvSpPr>
            <a:spLocks noGrp="1"/>
          </p:cNvSpPr>
          <p:nvPr>
            <p:ph type="body" idx="1"/>
          </p:nvPr>
        </p:nvSpPr>
        <p:spPr/>
        <p:txBody>
          <a:bodyPr/>
          <a:lstStyle/>
          <a:p>
            <a:r>
              <a:rPr lang="th-TH" b="1" dirty="0"/>
              <a:t>1. TM-X คืออะไร?</a:t>
            </a:r>
            <a:endParaRPr lang="th-TH" dirty="0"/>
          </a:p>
          <a:p>
            <a:r>
              <a:rPr lang="th-TH" b="1" dirty="0"/>
              <a:t>2D </a:t>
            </a:r>
            <a:r>
              <a:rPr lang="th-TH" b="1" dirty="0" err="1"/>
              <a:t>Optical</a:t>
            </a:r>
            <a:r>
              <a:rPr lang="th-TH" b="1" dirty="0"/>
              <a:t> </a:t>
            </a:r>
            <a:r>
              <a:rPr lang="th-TH" b="1" dirty="0" err="1"/>
              <a:t>Micrometer</a:t>
            </a:r>
            <a:r>
              <a:rPr lang="th-TH" b="1" dirty="0"/>
              <a:t>:</a:t>
            </a:r>
            <a:r>
              <a:rPr lang="th-TH" dirty="0"/>
              <a:t> ระบบกล้องวัดขนาด 2 มิติความเร็วสูงและแม่นยำระดับไมครอน </a:t>
            </a:r>
          </a:p>
          <a:p>
            <a:r>
              <a:rPr lang="th-TH" b="1" dirty="0"/>
              <a:t>หลักการทำงาน:</a:t>
            </a:r>
            <a:r>
              <a:rPr lang="th-TH" dirty="0"/>
              <a:t> วัดจาก </a:t>
            </a:r>
            <a:r>
              <a:rPr lang="th-TH" b="1" dirty="0"/>
              <a:t>"เงาตกกระทบ" (</a:t>
            </a:r>
            <a:r>
              <a:rPr lang="th-TH" b="1" dirty="0" err="1"/>
              <a:t>Silhouette</a:t>
            </a:r>
            <a:r>
              <a:rPr lang="th-TH" b="1" dirty="0"/>
              <a:t>)</a:t>
            </a:r>
            <a:r>
              <a:rPr lang="th-TH" dirty="0"/>
              <a:t> ของชิ้นงาน ผ่านเลนส์เท</a:t>
            </a:r>
            <a:r>
              <a:rPr lang="th-TH" dirty="0" err="1"/>
              <a:t>เล</a:t>
            </a:r>
            <a:r>
              <a:rPr lang="th-TH" dirty="0"/>
              <a:t>เซนตริก (</a:t>
            </a:r>
            <a:r>
              <a:rPr lang="th-TH" dirty="0" err="1"/>
              <a:t>Telecentric</a:t>
            </a:r>
            <a:r>
              <a:rPr lang="th-TH" dirty="0"/>
              <a:t> </a:t>
            </a:r>
            <a:r>
              <a:rPr lang="th-TH" dirty="0" err="1"/>
              <a:t>Lens</a:t>
            </a:r>
            <a:r>
              <a:rPr lang="th-TH" dirty="0"/>
              <a:t>) ทำให้ภาพไม่บิดเบี้ยวแม้ระยะการวางจะเปลี่ยนไป </a:t>
            </a:r>
          </a:p>
          <a:p>
            <a:r>
              <a:rPr lang="th-TH" b="1" dirty="0"/>
              <a:t>2. การทำงาน (สิ่งที่ต้อง </a:t>
            </a:r>
            <a:r>
              <a:rPr lang="th-TH" b="1" dirty="0" err="1"/>
              <a:t>Register</a:t>
            </a:r>
            <a:r>
              <a:rPr lang="th-TH" b="1" dirty="0"/>
              <a:t> ก่อนเริ่มวัด)</a:t>
            </a:r>
            <a:endParaRPr lang="th-TH" dirty="0"/>
          </a:p>
          <a:p>
            <a:r>
              <a:rPr lang="th-TH" b="1" dirty="0" err="1"/>
              <a:t>Pattern</a:t>
            </a:r>
            <a:r>
              <a:rPr lang="th-TH" b="1" dirty="0"/>
              <a:t> (รูปแบบ):</a:t>
            </a:r>
            <a:r>
              <a:rPr lang="th-TH" dirty="0"/>
              <a:t> ต้องวางชิ้นงาน </a:t>
            </a:r>
            <a:r>
              <a:rPr lang="th-TH" dirty="0" err="1"/>
              <a:t>Master</a:t>
            </a:r>
            <a:r>
              <a:rPr lang="th-TH" dirty="0"/>
              <a:t> เป็นต้นแบบให้กล้องจดจำรูปทรง</a:t>
            </a:r>
          </a:p>
          <a:p>
            <a:r>
              <a:rPr lang="th-TH" b="1" dirty="0" err="1"/>
              <a:t>Search</a:t>
            </a:r>
            <a:r>
              <a:rPr lang="th-TH" b="1" dirty="0"/>
              <a:t> </a:t>
            </a:r>
            <a:r>
              <a:rPr lang="th-TH" b="1" dirty="0" err="1"/>
              <a:t>Area</a:t>
            </a:r>
            <a:r>
              <a:rPr lang="th-TH" b="1" dirty="0"/>
              <a:t> (พื้นที่ค้นหา):</a:t>
            </a:r>
            <a:r>
              <a:rPr lang="th-TH" dirty="0"/>
              <a:t> กำหนดขอบเขตให้กล้องวิ่งหาชิ้นงานอัตโนมัติ (ชดเชยการวางเอียง/คลาดเคลื่อน)</a:t>
            </a:r>
          </a:p>
          <a:p>
            <a:r>
              <a:rPr lang="th-TH" b="1" dirty="0" err="1"/>
              <a:t>Tools</a:t>
            </a:r>
            <a:r>
              <a:rPr lang="th-TH" b="1" dirty="0"/>
              <a:t> &amp; </a:t>
            </a:r>
            <a:r>
              <a:rPr lang="th-TH" b="1" dirty="0" err="1"/>
              <a:t>Tolerance</a:t>
            </a:r>
            <a:r>
              <a:rPr lang="th-TH" b="1" dirty="0"/>
              <a:t> (เครื่องมือและสเปก):</a:t>
            </a:r>
            <a:r>
              <a:rPr lang="th-TH" dirty="0"/>
              <a:t> กำหนดจุดที่ต้องการวัด (เช่น ระยะห่าง, เส้นผ่านศูนย์กลาง) พร้อมตั้งค่าขีดจำกัด (</a:t>
            </a:r>
            <a:r>
              <a:rPr lang="th-TH" dirty="0" err="1"/>
              <a:t>Upper</a:t>
            </a:r>
            <a:r>
              <a:rPr lang="th-TH" dirty="0"/>
              <a:t>/</a:t>
            </a:r>
            <a:r>
              <a:rPr lang="th-TH" dirty="0" err="1"/>
              <a:t>Lower</a:t>
            </a:r>
            <a:r>
              <a:rPr lang="th-TH" dirty="0"/>
              <a:t>) เพื่อให้ระบบตัดสินผลเป็น OK/NG ได้ทันที</a:t>
            </a:r>
          </a:p>
          <a:p>
            <a:r>
              <a:rPr lang="th-TH" b="1" dirty="0"/>
              <a:t>3. พอร์ตสื่อสารภายนอก (</a:t>
            </a:r>
            <a:r>
              <a:rPr lang="th-TH" b="1" dirty="0" err="1"/>
              <a:t>Communication</a:t>
            </a:r>
            <a:r>
              <a:rPr lang="th-TH" b="1" dirty="0"/>
              <a:t> </a:t>
            </a:r>
            <a:r>
              <a:rPr lang="th-TH" b="1" dirty="0" err="1"/>
              <a:t>Ports</a:t>
            </a:r>
            <a:r>
              <a:rPr lang="th-TH" b="1" dirty="0"/>
              <a:t>)</a:t>
            </a:r>
            <a:endParaRPr lang="th-TH" dirty="0"/>
          </a:p>
          <a:p>
            <a:r>
              <a:rPr lang="th-TH" b="1" dirty="0" err="1"/>
              <a:t>Ethernet</a:t>
            </a:r>
            <a:r>
              <a:rPr lang="th-TH" b="1" dirty="0"/>
              <a:t> / LAN (พอร์ตหลัก):</a:t>
            </a:r>
            <a:r>
              <a:rPr lang="th-TH" dirty="0"/>
              <a:t> ใช้เชื่อมต่อวงเน็ต</a:t>
            </a:r>
            <a:r>
              <a:rPr lang="th-TH" dirty="0" err="1"/>
              <a:t>เวิร์ก</a:t>
            </a:r>
            <a:r>
              <a:rPr lang="th-TH" dirty="0"/>
              <a:t> (PC/PLC) สำหรับดึงข้อมูล </a:t>
            </a:r>
            <a:r>
              <a:rPr lang="th-TH" dirty="0" err="1"/>
              <a:t>Raw</a:t>
            </a:r>
            <a:r>
              <a:rPr lang="th-TH" dirty="0"/>
              <a:t> Data, ไฟล์ภาพ และส่งคำสั่งควบคุมกล้องผ่าน TCP/IP (ความเร็วสูง)</a:t>
            </a:r>
          </a:p>
          <a:p>
            <a:r>
              <a:rPr lang="th-TH" b="1" dirty="0"/>
              <a:t>RS-232C (</a:t>
            </a:r>
            <a:r>
              <a:rPr lang="th-TH" b="1" dirty="0" err="1"/>
              <a:t>Serial</a:t>
            </a:r>
            <a:r>
              <a:rPr lang="th-TH" b="1" dirty="0"/>
              <a:t> </a:t>
            </a:r>
            <a:r>
              <a:rPr lang="th-TH" b="1" dirty="0" err="1"/>
              <a:t>Port</a:t>
            </a:r>
            <a:r>
              <a:rPr lang="th-TH" b="1" dirty="0"/>
              <a:t>):</a:t>
            </a:r>
            <a:r>
              <a:rPr lang="th-TH" dirty="0"/>
              <a:t> พอร์ตอนุกรมสำหรับรับส่งคำสั่งควบคุม (</a:t>
            </a:r>
            <a:r>
              <a:rPr lang="th-TH" dirty="0" err="1"/>
              <a:t>Control</a:t>
            </a:r>
            <a:r>
              <a:rPr lang="th-TH" dirty="0"/>
              <a:t> </a:t>
            </a:r>
            <a:r>
              <a:rPr lang="th-TH" dirty="0" err="1"/>
              <a:t>Commands</a:t>
            </a:r>
            <a:r>
              <a:rPr lang="th-TH" dirty="0"/>
              <a:t>) และดึงค่าผลการวัดตัวเลขแบบสั้น ๆ</a:t>
            </a:r>
          </a:p>
          <a:p>
            <a:r>
              <a:rPr lang="th-TH" i="1" dirty="0"/>
              <a:t>พอร์ตสนับสนุน:</a:t>
            </a:r>
            <a:r>
              <a:rPr lang="th-TH" dirty="0"/>
              <a:t> USB, I/O (รับส่งสัญญาณฮาร์ดแวร์), SD </a:t>
            </a:r>
            <a:r>
              <a:rPr lang="th-TH" dirty="0" err="1"/>
              <a:t>Card</a:t>
            </a:r>
            <a:endParaRPr lang="th-TH" dirty="0"/>
          </a:p>
          <a:p>
            <a:endParaRPr lang="th-TH" dirty="0"/>
          </a:p>
        </p:txBody>
      </p:sp>
      <p:sp>
        <p:nvSpPr>
          <p:cNvPr id="4" name="ตัวแทนหมายเลขสไลด์ 3">
            <a:extLst>
              <a:ext uri="{FF2B5EF4-FFF2-40B4-BE49-F238E27FC236}">
                <a16:creationId xmlns:a16="http://schemas.microsoft.com/office/drawing/2014/main" id="{A62C8252-1DD2-B313-1484-3D51304C5BD5}"/>
              </a:ext>
            </a:extLst>
          </p:cNvPr>
          <p:cNvSpPr>
            <a:spLocks noGrp="1"/>
          </p:cNvSpPr>
          <p:nvPr>
            <p:ph type="sldNum" sz="quarter" idx="5"/>
          </p:nvPr>
        </p:nvSpPr>
        <p:spPr/>
        <p:txBody>
          <a:bodyPr/>
          <a:lstStyle/>
          <a:p>
            <a:fld id="{A3766003-7DEE-4D8A-9983-D0FF42899C89}" type="slidenum">
              <a:rPr lang="th-TH" smtClean="0"/>
              <a:t>31</a:t>
            </a:fld>
            <a:endParaRPr lang="th-TH"/>
          </a:p>
        </p:txBody>
      </p:sp>
    </p:spTree>
    <p:extLst>
      <p:ext uri="{BB962C8B-B14F-4D97-AF65-F5344CB8AC3E}">
        <p14:creationId xmlns:p14="http://schemas.microsoft.com/office/powerpoint/2010/main" val="7257582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C2791-48F4-9464-7037-B3B15AC43C45}"/>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924D8663-C296-E95F-93C9-4D056CDE8391}"/>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D82ADB3A-E63C-C1FF-83F5-D0EA1EDAF8D9}"/>
              </a:ext>
            </a:extLst>
          </p:cNvPr>
          <p:cNvSpPr>
            <a:spLocks noGrp="1"/>
          </p:cNvSpPr>
          <p:nvPr>
            <p:ph type="body" idx="1"/>
          </p:nvPr>
        </p:nvSpPr>
        <p:spPr/>
        <p:txBody>
          <a:bodyPr/>
          <a:lstStyle/>
          <a:p>
            <a:r>
              <a:rPr lang="th-TH" b="1" dirty="0"/>
              <a:t>1. TM-X คืออะไร?</a:t>
            </a:r>
            <a:endParaRPr lang="th-TH" dirty="0"/>
          </a:p>
          <a:p>
            <a:r>
              <a:rPr lang="th-TH" b="1" dirty="0"/>
              <a:t>2D </a:t>
            </a:r>
            <a:r>
              <a:rPr lang="th-TH" b="1" dirty="0" err="1"/>
              <a:t>Optical</a:t>
            </a:r>
            <a:r>
              <a:rPr lang="th-TH" b="1" dirty="0"/>
              <a:t> </a:t>
            </a:r>
            <a:r>
              <a:rPr lang="th-TH" b="1" dirty="0" err="1"/>
              <a:t>Micrometer</a:t>
            </a:r>
            <a:r>
              <a:rPr lang="th-TH" b="1" dirty="0"/>
              <a:t>:</a:t>
            </a:r>
            <a:r>
              <a:rPr lang="th-TH" dirty="0"/>
              <a:t> ระบบกล้องวัดขนาด 2 มิติความเร็วสูงและแม่นยำระดับไมครอน </a:t>
            </a:r>
          </a:p>
          <a:p>
            <a:r>
              <a:rPr lang="th-TH" b="1" dirty="0"/>
              <a:t>หลักการทำงาน:</a:t>
            </a:r>
            <a:r>
              <a:rPr lang="th-TH" dirty="0"/>
              <a:t> วัดจาก </a:t>
            </a:r>
            <a:r>
              <a:rPr lang="th-TH" b="1" dirty="0"/>
              <a:t>"เงาตกกระทบ" (</a:t>
            </a:r>
            <a:r>
              <a:rPr lang="th-TH" b="1" dirty="0" err="1"/>
              <a:t>Silhouette</a:t>
            </a:r>
            <a:r>
              <a:rPr lang="th-TH" b="1" dirty="0"/>
              <a:t>)</a:t>
            </a:r>
            <a:r>
              <a:rPr lang="th-TH" dirty="0"/>
              <a:t> ของชิ้นงาน ผ่านเลนส์เท</a:t>
            </a:r>
            <a:r>
              <a:rPr lang="th-TH" dirty="0" err="1"/>
              <a:t>เล</a:t>
            </a:r>
            <a:r>
              <a:rPr lang="th-TH" dirty="0"/>
              <a:t>เซนตริก (</a:t>
            </a:r>
            <a:r>
              <a:rPr lang="th-TH" dirty="0" err="1"/>
              <a:t>Telecentric</a:t>
            </a:r>
            <a:r>
              <a:rPr lang="th-TH" dirty="0"/>
              <a:t> </a:t>
            </a:r>
            <a:r>
              <a:rPr lang="th-TH" dirty="0" err="1"/>
              <a:t>Lens</a:t>
            </a:r>
            <a:r>
              <a:rPr lang="th-TH" dirty="0"/>
              <a:t>) ทำให้ภาพไม่บิดเบี้ยวแม้ระยะการวางจะเปลี่ยนไป </a:t>
            </a:r>
          </a:p>
          <a:p>
            <a:r>
              <a:rPr lang="th-TH" b="1" dirty="0"/>
              <a:t>2. การทำงาน (สิ่งที่ต้อง </a:t>
            </a:r>
            <a:r>
              <a:rPr lang="th-TH" b="1" dirty="0" err="1"/>
              <a:t>Register</a:t>
            </a:r>
            <a:r>
              <a:rPr lang="th-TH" b="1" dirty="0"/>
              <a:t> ก่อนเริ่มวัด)</a:t>
            </a:r>
            <a:endParaRPr lang="th-TH" dirty="0"/>
          </a:p>
          <a:p>
            <a:r>
              <a:rPr lang="th-TH" b="1" dirty="0" err="1"/>
              <a:t>Pattern</a:t>
            </a:r>
            <a:r>
              <a:rPr lang="th-TH" b="1" dirty="0"/>
              <a:t> (รูปแบบ):</a:t>
            </a:r>
            <a:r>
              <a:rPr lang="th-TH" dirty="0"/>
              <a:t> ต้องวางชิ้นงาน </a:t>
            </a:r>
            <a:r>
              <a:rPr lang="th-TH" dirty="0" err="1"/>
              <a:t>Master</a:t>
            </a:r>
            <a:r>
              <a:rPr lang="th-TH" dirty="0"/>
              <a:t> เป็นต้นแบบให้กล้องจดจำรูปทรง</a:t>
            </a:r>
          </a:p>
          <a:p>
            <a:r>
              <a:rPr lang="th-TH" b="1" dirty="0" err="1"/>
              <a:t>Search</a:t>
            </a:r>
            <a:r>
              <a:rPr lang="th-TH" b="1" dirty="0"/>
              <a:t> </a:t>
            </a:r>
            <a:r>
              <a:rPr lang="th-TH" b="1" dirty="0" err="1"/>
              <a:t>Area</a:t>
            </a:r>
            <a:r>
              <a:rPr lang="th-TH" b="1" dirty="0"/>
              <a:t> (พื้นที่ค้นหา):</a:t>
            </a:r>
            <a:r>
              <a:rPr lang="th-TH" dirty="0"/>
              <a:t> กำหนดขอบเขตให้กล้องวิ่งหาชิ้นงานอัตโนมัติ (ชดเชยการวางเอียง/คลาดเคลื่อน)</a:t>
            </a:r>
          </a:p>
          <a:p>
            <a:r>
              <a:rPr lang="th-TH" b="1" dirty="0" err="1"/>
              <a:t>Tools</a:t>
            </a:r>
            <a:r>
              <a:rPr lang="th-TH" b="1" dirty="0"/>
              <a:t> &amp; </a:t>
            </a:r>
            <a:r>
              <a:rPr lang="th-TH" b="1" dirty="0" err="1"/>
              <a:t>Tolerance</a:t>
            </a:r>
            <a:r>
              <a:rPr lang="th-TH" b="1" dirty="0"/>
              <a:t> (เครื่องมือและสเปก):</a:t>
            </a:r>
            <a:r>
              <a:rPr lang="th-TH" dirty="0"/>
              <a:t> กำหนดจุดที่ต้องการวัด (เช่น ระยะห่าง, เส้นผ่านศูนย์กลาง) พร้อมตั้งค่าขีดจำกัด (</a:t>
            </a:r>
            <a:r>
              <a:rPr lang="th-TH" dirty="0" err="1"/>
              <a:t>Upper</a:t>
            </a:r>
            <a:r>
              <a:rPr lang="th-TH" dirty="0"/>
              <a:t>/</a:t>
            </a:r>
            <a:r>
              <a:rPr lang="th-TH" dirty="0" err="1"/>
              <a:t>Lower</a:t>
            </a:r>
            <a:r>
              <a:rPr lang="th-TH" dirty="0"/>
              <a:t>) เพื่อให้ระบบตัดสินผลเป็น OK/NG ได้ทันที</a:t>
            </a:r>
          </a:p>
          <a:p>
            <a:r>
              <a:rPr lang="th-TH" b="1" dirty="0"/>
              <a:t>3. พอร์ตสื่อสารภายนอก (</a:t>
            </a:r>
            <a:r>
              <a:rPr lang="th-TH" b="1" dirty="0" err="1"/>
              <a:t>Communication</a:t>
            </a:r>
            <a:r>
              <a:rPr lang="th-TH" b="1" dirty="0"/>
              <a:t> </a:t>
            </a:r>
            <a:r>
              <a:rPr lang="th-TH" b="1" dirty="0" err="1"/>
              <a:t>Ports</a:t>
            </a:r>
            <a:r>
              <a:rPr lang="th-TH" b="1" dirty="0"/>
              <a:t>)</a:t>
            </a:r>
            <a:endParaRPr lang="th-TH" dirty="0"/>
          </a:p>
          <a:p>
            <a:r>
              <a:rPr lang="th-TH" b="1" dirty="0" err="1"/>
              <a:t>Ethernet</a:t>
            </a:r>
            <a:r>
              <a:rPr lang="th-TH" b="1" dirty="0"/>
              <a:t> / LAN (พอร์ตหลัก):</a:t>
            </a:r>
            <a:r>
              <a:rPr lang="th-TH" dirty="0"/>
              <a:t> ใช้เชื่อมต่อวงเน็ต</a:t>
            </a:r>
            <a:r>
              <a:rPr lang="th-TH" dirty="0" err="1"/>
              <a:t>เวิร์ก</a:t>
            </a:r>
            <a:r>
              <a:rPr lang="th-TH" dirty="0"/>
              <a:t> (PC/PLC) สำหรับดึงข้อมูล </a:t>
            </a:r>
            <a:r>
              <a:rPr lang="th-TH" dirty="0" err="1"/>
              <a:t>Raw</a:t>
            </a:r>
            <a:r>
              <a:rPr lang="th-TH" dirty="0"/>
              <a:t> Data, ไฟล์ภาพ และส่งคำสั่งควบคุมกล้องผ่าน TCP/IP (ความเร็วสูง)</a:t>
            </a:r>
          </a:p>
          <a:p>
            <a:r>
              <a:rPr lang="th-TH" b="1" dirty="0"/>
              <a:t>RS-232C (</a:t>
            </a:r>
            <a:r>
              <a:rPr lang="th-TH" b="1" dirty="0" err="1"/>
              <a:t>Serial</a:t>
            </a:r>
            <a:r>
              <a:rPr lang="th-TH" b="1" dirty="0"/>
              <a:t> </a:t>
            </a:r>
            <a:r>
              <a:rPr lang="th-TH" b="1" dirty="0" err="1"/>
              <a:t>Port</a:t>
            </a:r>
            <a:r>
              <a:rPr lang="th-TH" b="1" dirty="0"/>
              <a:t>):</a:t>
            </a:r>
            <a:r>
              <a:rPr lang="th-TH" dirty="0"/>
              <a:t> พอร์ตอนุกรมสำหรับรับส่งคำสั่งควบคุม (</a:t>
            </a:r>
            <a:r>
              <a:rPr lang="th-TH" dirty="0" err="1"/>
              <a:t>Control</a:t>
            </a:r>
            <a:r>
              <a:rPr lang="th-TH" dirty="0"/>
              <a:t> </a:t>
            </a:r>
            <a:r>
              <a:rPr lang="th-TH" dirty="0" err="1"/>
              <a:t>Commands</a:t>
            </a:r>
            <a:r>
              <a:rPr lang="th-TH" dirty="0"/>
              <a:t>) และดึงค่าผลการวัดตัวเลขแบบสั้น ๆ</a:t>
            </a:r>
          </a:p>
          <a:p>
            <a:r>
              <a:rPr lang="th-TH" i="1" dirty="0"/>
              <a:t>พอร์ตสนับสนุน:</a:t>
            </a:r>
            <a:r>
              <a:rPr lang="th-TH" dirty="0"/>
              <a:t> USB, I/O (รับส่งสัญญาณฮาร์ดแวร์), SD </a:t>
            </a:r>
            <a:r>
              <a:rPr lang="th-TH" dirty="0" err="1"/>
              <a:t>Card</a:t>
            </a:r>
            <a:endParaRPr lang="th-TH" dirty="0"/>
          </a:p>
          <a:p>
            <a:endParaRPr lang="th-TH" dirty="0"/>
          </a:p>
        </p:txBody>
      </p:sp>
      <p:sp>
        <p:nvSpPr>
          <p:cNvPr id="4" name="ตัวแทนหมายเลขสไลด์ 3">
            <a:extLst>
              <a:ext uri="{FF2B5EF4-FFF2-40B4-BE49-F238E27FC236}">
                <a16:creationId xmlns:a16="http://schemas.microsoft.com/office/drawing/2014/main" id="{771DB8BB-5AE2-A8D5-9F73-90E6F36A8DB8}"/>
              </a:ext>
            </a:extLst>
          </p:cNvPr>
          <p:cNvSpPr>
            <a:spLocks noGrp="1"/>
          </p:cNvSpPr>
          <p:nvPr>
            <p:ph type="sldNum" sz="quarter" idx="5"/>
          </p:nvPr>
        </p:nvSpPr>
        <p:spPr/>
        <p:txBody>
          <a:bodyPr/>
          <a:lstStyle/>
          <a:p>
            <a:fld id="{A3766003-7DEE-4D8A-9983-D0FF42899C89}" type="slidenum">
              <a:rPr lang="th-TH" smtClean="0"/>
              <a:t>32</a:t>
            </a:fld>
            <a:endParaRPr lang="th-TH"/>
          </a:p>
        </p:txBody>
      </p:sp>
    </p:spTree>
    <p:extLst>
      <p:ext uri="{BB962C8B-B14F-4D97-AF65-F5344CB8AC3E}">
        <p14:creationId xmlns:p14="http://schemas.microsoft.com/office/powerpoint/2010/main" val="12692150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3EA0D-648C-13B6-4EB8-95D668BEB4AB}"/>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EF173982-7AB8-E553-811F-1E552D192149}"/>
              </a:ext>
            </a:extLst>
          </p:cNvPr>
          <p:cNvSpPr>
            <a:spLocks noGrp="1" noRot="1" noChangeAspect="1"/>
          </p:cNvSpPr>
          <p:nvPr>
            <p:ph type="sldImg"/>
          </p:nvPr>
        </p:nvSpPr>
        <p:spPr/>
      </p:sp>
      <p:sp>
        <p:nvSpPr>
          <p:cNvPr id="3" name="ตัวแทนบันทึกย่อ 2">
            <a:extLst>
              <a:ext uri="{FF2B5EF4-FFF2-40B4-BE49-F238E27FC236}">
                <a16:creationId xmlns:a16="http://schemas.microsoft.com/office/drawing/2014/main" id="{243CB52E-D0C6-DFC9-3239-26A15E91DBAA}"/>
              </a:ext>
            </a:extLst>
          </p:cNvPr>
          <p:cNvSpPr>
            <a:spLocks noGrp="1"/>
          </p:cNvSpPr>
          <p:nvPr>
            <p:ph type="body" idx="1"/>
          </p:nvPr>
        </p:nvSpPr>
        <p:spPr/>
        <p:txBody>
          <a:bodyPr/>
          <a:lstStyle/>
          <a:p>
            <a:endParaRPr lang="th-TH"/>
          </a:p>
        </p:txBody>
      </p:sp>
      <p:sp>
        <p:nvSpPr>
          <p:cNvPr id="4" name="ตัวแทนหมายเลขสไลด์ 3">
            <a:extLst>
              <a:ext uri="{FF2B5EF4-FFF2-40B4-BE49-F238E27FC236}">
                <a16:creationId xmlns:a16="http://schemas.microsoft.com/office/drawing/2014/main" id="{0EDE2F46-995A-3898-ABB0-C9A7910E6ADF}"/>
              </a:ext>
            </a:extLst>
          </p:cNvPr>
          <p:cNvSpPr>
            <a:spLocks noGrp="1"/>
          </p:cNvSpPr>
          <p:nvPr>
            <p:ph type="sldNum" sz="quarter" idx="5"/>
          </p:nvPr>
        </p:nvSpPr>
        <p:spPr/>
        <p:txBody>
          <a:bodyPr/>
          <a:lstStyle/>
          <a:p>
            <a:fld id="{A3766003-7DEE-4D8A-9983-D0FF42899C89}" type="slidenum">
              <a:rPr lang="th-TH" smtClean="0"/>
              <a:t>33</a:t>
            </a:fld>
            <a:endParaRPr lang="th-TH"/>
          </a:p>
        </p:txBody>
      </p:sp>
    </p:spTree>
    <p:extLst>
      <p:ext uri="{BB962C8B-B14F-4D97-AF65-F5344CB8AC3E}">
        <p14:creationId xmlns:p14="http://schemas.microsoft.com/office/powerpoint/2010/main" val="10366406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45510-3572-12C2-307B-964F1E1FC1C7}"/>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2B424D76-92E3-3A3A-65AC-3242F7947F11}"/>
              </a:ext>
            </a:extLst>
          </p:cNvPr>
          <p:cNvSpPr>
            <a:spLocks noGrp="1" noRot="1" noChangeAspect="1"/>
          </p:cNvSpPr>
          <p:nvPr>
            <p:ph type="sldImg"/>
          </p:nvPr>
        </p:nvSpPr>
        <p:spPr/>
      </p:sp>
      <p:sp>
        <p:nvSpPr>
          <p:cNvPr id="3" name="ตัวแทนบันทึกย่อ 2">
            <a:extLst>
              <a:ext uri="{FF2B5EF4-FFF2-40B4-BE49-F238E27FC236}">
                <a16:creationId xmlns:a16="http://schemas.microsoft.com/office/drawing/2014/main" id="{E8F6F66E-CC1F-7A3A-ACBE-14CFDC209282}"/>
              </a:ext>
            </a:extLst>
          </p:cNvPr>
          <p:cNvSpPr>
            <a:spLocks noGrp="1"/>
          </p:cNvSpPr>
          <p:nvPr>
            <p:ph type="body" idx="1"/>
          </p:nvPr>
        </p:nvSpPr>
        <p:spPr/>
        <p:txBody>
          <a:bodyPr/>
          <a:lstStyle/>
          <a:p>
            <a:endParaRPr lang="th-TH"/>
          </a:p>
        </p:txBody>
      </p:sp>
      <p:sp>
        <p:nvSpPr>
          <p:cNvPr id="4" name="ตัวแทนหมายเลขสไลด์ 3">
            <a:extLst>
              <a:ext uri="{FF2B5EF4-FFF2-40B4-BE49-F238E27FC236}">
                <a16:creationId xmlns:a16="http://schemas.microsoft.com/office/drawing/2014/main" id="{26E05E2C-5449-C00F-19EA-EF6D9FF74B72}"/>
              </a:ext>
            </a:extLst>
          </p:cNvPr>
          <p:cNvSpPr>
            <a:spLocks noGrp="1"/>
          </p:cNvSpPr>
          <p:nvPr>
            <p:ph type="sldNum" sz="quarter" idx="5"/>
          </p:nvPr>
        </p:nvSpPr>
        <p:spPr/>
        <p:txBody>
          <a:bodyPr/>
          <a:lstStyle/>
          <a:p>
            <a:fld id="{A3766003-7DEE-4D8A-9983-D0FF42899C89}" type="slidenum">
              <a:rPr lang="th-TH" smtClean="0"/>
              <a:t>34</a:t>
            </a:fld>
            <a:endParaRPr lang="th-TH"/>
          </a:p>
        </p:txBody>
      </p:sp>
    </p:spTree>
    <p:extLst>
      <p:ext uri="{BB962C8B-B14F-4D97-AF65-F5344CB8AC3E}">
        <p14:creationId xmlns:p14="http://schemas.microsoft.com/office/powerpoint/2010/main" val="16936070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B2694-C782-1A9A-F9F9-B529C8ECBA73}"/>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BA98E85E-A8F9-D728-DA3F-03525B7AC253}"/>
              </a:ext>
            </a:extLst>
          </p:cNvPr>
          <p:cNvSpPr>
            <a:spLocks noGrp="1" noRot="1" noChangeAspect="1"/>
          </p:cNvSpPr>
          <p:nvPr>
            <p:ph type="sldImg"/>
          </p:nvPr>
        </p:nvSpPr>
        <p:spPr/>
      </p:sp>
      <p:sp>
        <p:nvSpPr>
          <p:cNvPr id="3" name="ตัวแทนบันทึกย่อ 2">
            <a:extLst>
              <a:ext uri="{FF2B5EF4-FFF2-40B4-BE49-F238E27FC236}">
                <a16:creationId xmlns:a16="http://schemas.microsoft.com/office/drawing/2014/main" id="{F8867923-26BB-27AA-292F-395D22F9C373}"/>
              </a:ext>
            </a:extLst>
          </p:cNvPr>
          <p:cNvSpPr>
            <a:spLocks noGrp="1"/>
          </p:cNvSpPr>
          <p:nvPr>
            <p:ph type="body" idx="1"/>
          </p:nvPr>
        </p:nvSpPr>
        <p:spPr/>
        <p:txBody>
          <a:bodyPr/>
          <a:lstStyle/>
          <a:p>
            <a:endParaRPr lang="th-TH"/>
          </a:p>
        </p:txBody>
      </p:sp>
      <p:sp>
        <p:nvSpPr>
          <p:cNvPr id="4" name="ตัวแทนหมายเลขสไลด์ 3">
            <a:extLst>
              <a:ext uri="{FF2B5EF4-FFF2-40B4-BE49-F238E27FC236}">
                <a16:creationId xmlns:a16="http://schemas.microsoft.com/office/drawing/2014/main" id="{B6D1B393-59DC-02D6-C655-4CCFA643AA2A}"/>
              </a:ext>
            </a:extLst>
          </p:cNvPr>
          <p:cNvSpPr>
            <a:spLocks noGrp="1"/>
          </p:cNvSpPr>
          <p:nvPr>
            <p:ph type="sldNum" sz="quarter" idx="5"/>
          </p:nvPr>
        </p:nvSpPr>
        <p:spPr/>
        <p:txBody>
          <a:bodyPr/>
          <a:lstStyle/>
          <a:p>
            <a:fld id="{A3766003-7DEE-4D8A-9983-D0FF42899C89}" type="slidenum">
              <a:rPr lang="th-TH" smtClean="0"/>
              <a:t>35</a:t>
            </a:fld>
            <a:endParaRPr lang="th-TH"/>
          </a:p>
        </p:txBody>
      </p:sp>
    </p:spTree>
    <p:extLst>
      <p:ext uri="{BB962C8B-B14F-4D97-AF65-F5344CB8AC3E}">
        <p14:creationId xmlns:p14="http://schemas.microsoft.com/office/powerpoint/2010/main" val="3974747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BA59F-4689-4BEB-CEEA-44191A3F165C}"/>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21A405A3-D37F-6E89-B38B-5824F7C25F8E}"/>
              </a:ext>
            </a:extLst>
          </p:cNvPr>
          <p:cNvSpPr>
            <a:spLocks noGrp="1" noRot="1" noChangeAspect="1"/>
          </p:cNvSpPr>
          <p:nvPr>
            <p:ph type="sldImg"/>
          </p:nvPr>
        </p:nvSpPr>
        <p:spPr/>
      </p:sp>
      <p:sp>
        <p:nvSpPr>
          <p:cNvPr id="3" name="ตัวแทนบันทึกย่อ 2">
            <a:extLst>
              <a:ext uri="{FF2B5EF4-FFF2-40B4-BE49-F238E27FC236}">
                <a16:creationId xmlns:a16="http://schemas.microsoft.com/office/drawing/2014/main" id="{9347C2EF-7D66-11C7-FECA-CFF7B1A679F2}"/>
              </a:ext>
            </a:extLst>
          </p:cNvPr>
          <p:cNvSpPr>
            <a:spLocks noGrp="1"/>
          </p:cNvSpPr>
          <p:nvPr>
            <p:ph type="body" idx="1"/>
          </p:nvPr>
        </p:nvSpPr>
        <p:spPr/>
        <p:txBody>
          <a:bodyPr/>
          <a:lstStyle/>
          <a:p>
            <a:endParaRPr lang="th-TH"/>
          </a:p>
        </p:txBody>
      </p:sp>
      <p:sp>
        <p:nvSpPr>
          <p:cNvPr id="4" name="ตัวแทนหมายเลขสไลด์ 3">
            <a:extLst>
              <a:ext uri="{FF2B5EF4-FFF2-40B4-BE49-F238E27FC236}">
                <a16:creationId xmlns:a16="http://schemas.microsoft.com/office/drawing/2014/main" id="{5115AB9A-5F95-9CC5-8758-2435B7428E8F}"/>
              </a:ext>
            </a:extLst>
          </p:cNvPr>
          <p:cNvSpPr>
            <a:spLocks noGrp="1"/>
          </p:cNvSpPr>
          <p:nvPr>
            <p:ph type="sldNum" sz="quarter" idx="5"/>
          </p:nvPr>
        </p:nvSpPr>
        <p:spPr/>
        <p:txBody>
          <a:bodyPr/>
          <a:lstStyle/>
          <a:p>
            <a:fld id="{A3766003-7DEE-4D8A-9983-D0FF42899C89}" type="slidenum">
              <a:rPr lang="th-TH" smtClean="0"/>
              <a:t>36</a:t>
            </a:fld>
            <a:endParaRPr lang="th-TH"/>
          </a:p>
        </p:txBody>
      </p:sp>
    </p:spTree>
    <p:extLst>
      <p:ext uri="{BB962C8B-B14F-4D97-AF65-F5344CB8AC3E}">
        <p14:creationId xmlns:p14="http://schemas.microsoft.com/office/powerpoint/2010/main" val="2072944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1EF7D-A5CD-B8FE-AF76-3D1633AC09C8}"/>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28EC8250-1E16-8A88-F87F-EEA7BAEFC2EA}"/>
              </a:ext>
            </a:extLst>
          </p:cNvPr>
          <p:cNvSpPr>
            <a:spLocks noGrp="1" noRot="1" noChangeAspect="1"/>
          </p:cNvSpPr>
          <p:nvPr>
            <p:ph type="sldImg"/>
          </p:nvPr>
        </p:nvSpPr>
        <p:spPr/>
      </p:sp>
      <p:sp>
        <p:nvSpPr>
          <p:cNvPr id="3" name="ตัวแทนบันทึกย่อ 2">
            <a:extLst>
              <a:ext uri="{FF2B5EF4-FFF2-40B4-BE49-F238E27FC236}">
                <a16:creationId xmlns:a16="http://schemas.microsoft.com/office/drawing/2014/main" id="{48070A39-2306-21E2-5EBB-D4E061D6DBDA}"/>
              </a:ext>
            </a:extLst>
          </p:cNvPr>
          <p:cNvSpPr>
            <a:spLocks noGrp="1"/>
          </p:cNvSpPr>
          <p:nvPr>
            <p:ph type="body" idx="1"/>
          </p:nvPr>
        </p:nvSpPr>
        <p:spPr/>
        <p:txBody>
          <a:bodyPr/>
          <a:lstStyle/>
          <a:p>
            <a:endParaRPr lang="th-TH"/>
          </a:p>
        </p:txBody>
      </p:sp>
      <p:sp>
        <p:nvSpPr>
          <p:cNvPr id="4" name="ตัวแทนหมายเลขสไลด์ 3">
            <a:extLst>
              <a:ext uri="{FF2B5EF4-FFF2-40B4-BE49-F238E27FC236}">
                <a16:creationId xmlns:a16="http://schemas.microsoft.com/office/drawing/2014/main" id="{85F42F9A-A9F7-B631-A2A8-ECB6D29016B9}"/>
              </a:ext>
            </a:extLst>
          </p:cNvPr>
          <p:cNvSpPr>
            <a:spLocks noGrp="1"/>
          </p:cNvSpPr>
          <p:nvPr>
            <p:ph type="sldNum" sz="quarter" idx="5"/>
          </p:nvPr>
        </p:nvSpPr>
        <p:spPr/>
        <p:txBody>
          <a:bodyPr/>
          <a:lstStyle/>
          <a:p>
            <a:fld id="{A3766003-7DEE-4D8A-9983-D0FF42899C89}" type="slidenum">
              <a:rPr lang="th-TH" smtClean="0"/>
              <a:t>37</a:t>
            </a:fld>
            <a:endParaRPr lang="th-TH"/>
          </a:p>
        </p:txBody>
      </p:sp>
    </p:spTree>
    <p:extLst>
      <p:ext uri="{BB962C8B-B14F-4D97-AF65-F5344CB8AC3E}">
        <p14:creationId xmlns:p14="http://schemas.microsoft.com/office/powerpoint/2010/main" val="11832326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EE767-5D24-F7E4-65D0-DDBBB913693B}"/>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8D4F16C5-2035-0FD0-9D71-3D4269D6DC65}"/>
              </a:ext>
            </a:extLst>
          </p:cNvPr>
          <p:cNvSpPr>
            <a:spLocks noGrp="1" noRot="1" noChangeAspect="1"/>
          </p:cNvSpPr>
          <p:nvPr>
            <p:ph type="sldImg"/>
          </p:nvPr>
        </p:nvSpPr>
        <p:spPr/>
      </p:sp>
      <p:sp>
        <p:nvSpPr>
          <p:cNvPr id="3" name="ตัวแทนบันทึกย่อ 2">
            <a:extLst>
              <a:ext uri="{FF2B5EF4-FFF2-40B4-BE49-F238E27FC236}">
                <a16:creationId xmlns:a16="http://schemas.microsoft.com/office/drawing/2014/main" id="{72B99EDD-829A-D7F0-2526-7BFC3842FE2F}"/>
              </a:ext>
            </a:extLst>
          </p:cNvPr>
          <p:cNvSpPr>
            <a:spLocks noGrp="1"/>
          </p:cNvSpPr>
          <p:nvPr>
            <p:ph type="body" idx="1"/>
          </p:nvPr>
        </p:nvSpPr>
        <p:spPr/>
        <p:txBody>
          <a:bodyPr/>
          <a:lstStyle/>
          <a:p>
            <a:endParaRPr lang="th-TH"/>
          </a:p>
        </p:txBody>
      </p:sp>
      <p:sp>
        <p:nvSpPr>
          <p:cNvPr id="4" name="ตัวแทนหมายเลขสไลด์ 3">
            <a:extLst>
              <a:ext uri="{FF2B5EF4-FFF2-40B4-BE49-F238E27FC236}">
                <a16:creationId xmlns:a16="http://schemas.microsoft.com/office/drawing/2014/main" id="{C663EBA3-CCDE-3766-1783-6AA234887CEC}"/>
              </a:ext>
            </a:extLst>
          </p:cNvPr>
          <p:cNvSpPr>
            <a:spLocks noGrp="1"/>
          </p:cNvSpPr>
          <p:nvPr>
            <p:ph type="sldNum" sz="quarter" idx="5"/>
          </p:nvPr>
        </p:nvSpPr>
        <p:spPr/>
        <p:txBody>
          <a:bodyPr/>
          <a:lstStyle/>
          <a:p>
            <a:fld id="{A3766003-7DEE-4D8A-9983-D0FF42899C89}" type="slidenum">
              <a:rPr lang="th-TH" smtClean="0"/>
              <a:t>38</a:t>
            </a:fld>
            <a:endParaRPr lang="th-TH"/>
          </a:p>
        </p:txBody>
      </p:sp>
    </p:spTree>
    <p:extLst>
      <p:ext uri="{BB962C8B-B14F-4D97-AF65-F5344CB8AC3E}">
        <p14:creationId xmlns:p14="http://schemas.microsoft.com/office/powerpoint/2010/main" val="15201147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B9071-CCBD-1534-1887-2E83A10C87AE}"/>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3E44247A-C0E0-F57F-97A5-16E2AA3E41E6}"/>
              </a:ext>
            </a:extLst>
          </p:cNvPr>
          <p:cNvSpPr>
            <a:spLocks noGrp="1" noRot="1" noChangeAspect="1"/>
          </p:cNvSpPr>
          <p:nvPr>
            <p:ph type="sldImg"/>
          </p:nvPr>
        </p:nvSpPr>
        <p:spPr/>
      </p:sp>
      <p:sp>
        <p:nvSpPr>
          <p:cNvPr id="3" name="ตัวแทนบันทึกย่อ 2">
            <a:extLst>
              <a:ext uri="{FF2B5EF4-FFF2-40B4-BE49-F238E27FC236}">
                <a16:creationId xmlns:a16="http://schemas.microsoft.com/office/drawing/2014/main" id="{711F1C62-2269-02C5-61DF-808C2D5705FD}"/>
              </a:ext>
            </a:extLst>
          </p:cNvPr>
          <p:cNvSpPr>
            <a:spLocks noGrp="1"/>
          </p:cNvSpPr>
          <p:nvPr>
            <p:ph type="body" idx="1"/>
          </p:nvPr>
        </p:nvSpPr>
        <p:spPr/>
        <p:txBody>
          <a:bodyPr/>
          <a:lstStyle/>
          <a:p>
            <a:endParaRPr lang="th-TH"/>
          </a:p>
        </p:txBody>
      </p:sp>
      <p:sp>
        <p:nvSpPr>
          <p:cNvPr id="4" name="ตัวแทนหมายเลขสไลด์ 3">
            <a:extLst>
              <a:ext uri="{FF2B5EF4-FFF2-40B4-BE49-F238E27FC236}">
                <a16:creationId xmlns:a16="http://schemas.microsoft.com/office/drawing/2014/main" id="{16F10725-60BB-31DC-89D5-715D253BCE9A}"/>
              </a:ext>
            </a:extLst>
          </p:cNvPr>
          <p:cNvSpPr>
            <a:spLocks noGrp="1"/>
          </p:cNvSpPr>
          <p:nvPr>
            <p:ph type="sldNum" sz="quarter" idx="5"/>
          </p:nvPr>
        </p:nvSpPr>
        <p:spPr/>
        <p:txBody>
          <a:bodyPr/>
          <a:lstStyle/>
          <a:p>
            <a:fld id="{A3766003-7DEE-4D8A-9983-D0FF42899C89}" type="slidenum">
              <a:rPr lang="th-TH" smtClean="0"/>
              <a:t>39</a:t>
            </a:fld>
            <a:endParaRPr lang="th-TH"/>
          </a:p>
        </p:txBody>
      </p:sp>
    </p:spTree>
    <p:extLst>
      <p:ext uri="{BB962C8B-B14F-4D97-AF65-F5344CB8AC3E}">
        <p14:creationId xmlns:p14="http://schemas.microsoft.com/office/powerpoint/2010/main" val="17326909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3E4BD-9DD3-B7CC-50D3-77320092D033}"/>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5F23C04D-A6AB-5090-8C89-9C29939E2D4D}"/>
              </a:ext>
            </a:extLst>
          </p:cNvPr>
          <p:cNvSpPr>
            <a:spLocks noGrp="1" noRot="1" noChangeAspect="1"/>
          </p:cNvSpPr>
          <p:nvPr>
            <p:ph type="sldImg"/>
          </p:nvPr>
        </p:nvSpPr>
        <p:spPr/>
      </p:sp>
      <p:sp>
        <p:nvSpPr>
          <p:cNvPr id="3" name="ตัวแทนบันทึกย่อ 2">
            <a:extLst>
              <a:ext uri="{FF2B5EF4-FFF2-40B4-BE49-F238E27FC236}">
                <a16:creationId xmlns:a16="http://schemas.microsoft.com/office/drawing/2014/main" id="{5D2C8863-D33D-B01A-6C88-9759EDDE9361}"/>
              </a:ext>
            </a:extLst>
          </p:cNvPr>
          <p:cNvSpPr>
            <a:spLocks noGrp="1"/>
          </p:cNvSpPr>
          <p:nvPr>
            <p:ph type="body" idx="1"/>
          </p:nvPr>
        </p:nvSpPr>
        <p:spPr/>
        <p:txBody>
          <a:bodyPr/>
          <a:lstStyle/>
          <a:p>
            <a:endParaRPr lang="th-TH"/>
          </a:p>
        </p:txBody>
      </p:sp>
      <p:sp>
        <p:nvSpPr>
          <p:cNvPr id="4" name="ตัวแทนหมายเลขสไลด์ 3">
            <a:extLst>
              <a:ext uri="{FF2B5EF4-FFF2-40B4-BE49-F238E27FC236}">
                <a16:creationId xmlns:a16="http://schemas.microsoft.com/office/drawing/2014/main" id="{B72F68DA-27B3-B225-0607-33A08A382424}"/>
              </a:ext>
            </a:extLst>
          </p:cNvPr>
          <p:cNvSpPr>
            <a:spLocks noGrp="1"/>
          </p:cNvSpPr>
          <p:nvPr>
            <p:ph type="sldNum" sz="quarter" idx="5"/>
          </p:nvPr>
        </p:nvSpPr>
        <p:spPr/>
        <p:txBody>
          <a:bodyPr/>
          <a:lstStyle/>
          <a:p>
            <a:fld id="{A3766003-7DEE-4D8A-9983-D0FF42899C89}" type="slidenum">
              <a:rPr lang="th-TH" smtClean="0"/>
              <a:t>40</a:t>
            </a:fld>
            <a:endParaRPr lang="th-TH"/>
          </a:p>
        </p:txBody>
      </p:sp>
    </p:spTree>
    <p:extLst>
      <p:ext uri="{BB962C8B-B14F-4D97-AF65-F5344CB8AC3E}">
        <p14:creationId xmlns:p14="http://schemas.microsoft.com/office/powerpoint/2010/main" val="6977102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240D5-3EAC-1134-60E0-D74B8BE1A913}"/>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931C2E62-1FF4-EE2B-7092-00033EFA041E}"/>
              </a:ext>
            </a:extLst>
          </p:cNvPr>
          <p:cNvSpPr>
            <a:spLocks noGrp="1" noRot="1" noChangeAspect="1"/>
          </p:cNvSpPr>
          <p:nvPr>
            <p:ph type="sldImg"/>
          </p:nvPr>
        </p:nvSpPr>
        <p:spPr/>
      </p:sp>
      <p:sp>
        <p:nvSpPr>
          <p:cNvPr id="3" name="ตัวแทนบันทึกย่อ 2">
            <a:extLst>
              <a:ext uri="{FF2B5EF4-FFF2-40B4-BE49-F238E27FC236}">
                <a16:creationId xmlns:a16="http://schemas.microsoft.com/office/drawing/2014/main" id="{E8C30766-B5B0-9E12-1BD9-E5C9DFE41657}"/>
              </a:ext>
            </a:extLst>
          </p:cNvPr>
          <p:cNvSpPr>
            <a:spLocks noGrp="1"/>
          </p:cNvSpPr>
          <p:nvPr>
            <p:ph type="body" idx="1"/>
          </p:nvPr>
        </p:nvSpPr>
        <p:spPr/>
        <p:txBody>
          <a:bodyPr/>
          <a:lstStyle/>
          <a:p>
            <a:endParaRPr lang="th-TH"/>
          </a:p>
        </p:txBody>
      </p:sp>
      <p:sp>
        <p:nvSpPr>
          <p:cNvPr id="4" name="ตัวแทนหมายเลขสไลด์ 3">
            <a:extLst>
              <a:ext uri="{FF2B5EF4-FFF2-40B4-BE49-F238E27FC236}">
                <a16:creationId xmlns:a16="http://schemas.microsoft.com/office/drawing/2014/main" id="{46F132BD-1BE6-DE38-B2F2-91F5044C055B}"/>
              </a:ext>
            </a:extLst>
          </p:cNvPr>
          <p:cNvSpPr>
            <a:spLocks noGrp="1"/>
          </p:cNvSpPr>
          <p:nvPr>
            <p:ph type="sldNum" sz="quarter" idx="5"/>
          </p:nvPr>
        </p:nvSpPr>
        <p:spPr/>
        <p:txBody>
          <a:bodyPr/>
          <a:lstStyle/>
          <a:p>
            <a:fld id="{A3766003-7DEE-4D8A-9983-D0FF42899C89}" type="slidenum">
              <a:rPr lang="th-TH" smtClean="0"/>
              <a:t>41</a:t>
            </a:fld>
            <a:endParaRPr lang="th-TH"/>
          </a:p>
        </p:txBody>
      </p:sp>
    </p:spTree>
    <p:extLst>
      <p:ext uri="{BB962C8B-B14F-4D97-AF65-F5344CB8AC3E}">
        <p14:creationId xmlns:p14="http://schemas.microsoft.com/office/powerpoint/2010/main" val="21567804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1DB4F-FD61-5190-770B-F90B1F2AEC11}"/>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1F025572-ABCC-506E-F315-68FDFE1E402C}"/>
              </a:ext>
            </a:extLst>
          </p:cNvPr>
          <p:cNvSpPr>
            <a:spLocks noGrp="1" noRot="1" noChangeAspect="1"/>
          </p:cNvSpPr>
          <p:nvPr>
            <p:ph type="sldImg"/>
          </p:nvPr>
        </p:nvSpPr>
        <p:spPr/>
      </p:sp>
      <p:sp>
        <p:nvSpPr>
          <p:cNvPr id="3" name="ตัวแทนบันทึกย่อ 2">
            <a:extLst>
              <a:ext uri="{FF2B5EF4-FFF2-40B4-BE49-F238E27FC236}">
                <a16:creationId xmlns:a16="http://schemas.microsoft.com/office/drawing/2014/main" id="{E81767C9-CDC1-B090-E413-93E62E9FC059}"/>
              </a:ext>
            </a:extLst>
          </p:cNvPr>
          <p:cNvSpPr>
            <a:spLocks noGrp="1"/>
          </p:cNvSpPr>
          <p:nvPr>
            <p:ph type="body" idx="1"/>
          </p:nvPr>
        </p:nvSpPr>
        <p:spPr/>
        <p:txBody>
          <a:bodyPr/>
          <a:lstStyle/>
          <a:p>
            <a:endParaRPr lang="th-TH"/>
          </a:p>
        </p:txBody>
      </p:sp>
      <p:sp>
        <p:nvSpPr>
          <p:cNvPr id="4" name="ตัวแทนหมายเลขสไลด์ 3">
            <a:extLst>
              <a:ext uri="{FF2B5EF4-FFF2-40B4-BE49-F238E27FC236}">
                <a16:creationId xmlns:a16="http://schemas.microsoft.com/office/drawing/2014/main" id="{63DB2EAA-7D2B-83C6-C685-C85CF4EEB85C}"/>
              </a:ext>
            </a:extLst>
          </p:cNvPr>
          <p:cNvSpPr>
            <a:spLocks noGrp="1"/>
          </p:cNvSpPr>
          <p:nvPr>
            <p:ph type="sldNum" sz="quarter" idx="5"/>
          </p:nvPr>
        </p:nvSpPr>
        <p:spPr/>
        <p:txBody>
          <a:bodyPr/>
          <a:lstStyle/>
          <a:p>
            <a:fld id="{A3766003-7DEE-4D8A-9983-D0FF42899C89}" type="slidenum">
              <a:rPr lang="th-TH" smtClean="0"/>
              <a:t>42</a:t>
            </a:fld>
            <a:endParaRPr lang="th-TH"/>
          </a:p>
        </p:txBody>
      </p:sp>
    </p:spTree>
    <p:extLst>
      <p:ext uri="{BB962C8B-B14F-4D97-AF65-F5344CB8AC3E}">
        <p14:creationId xmlns:p14="http://schemas.microsoft.com/office/powerpoint/2010/main" val="2396655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41D41-1ADA-013F-C50C-E010FBCF567C}"/>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A403B4FB-1942-6731-B109-C823AD9A9C50}"/>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E3BD7B5D-8861-71A5-51FD-515F5B263950}"/>
              </a:ext>
            </a:extLst>
          </p:cNvPr>
          <p:cNvSpPr>
            <a:spLocks noGrp="1"/>
          </p:cNvSpPr>
          <p:nvPr>
            <p:ph type="body" idx="1"/>
          </p:nvPr>
        </p:nvSpPr>
        <p:spPr/>
        <p:txBody>
          <a:bodyPr/>
          <a:lstStyle/>
          <a:p>
            <a:endParaRPr lang="th-TH" dirty="0"/>
          </a:p>
        </p:txBody>
      </p:sp>
      <p:sp>
        <p:nvSpPr>
          <p:cNvPr id="4" name="ตัวแทนหมายเลขสไลด์ 3">
            <a:extLst>
              <a:ext uri="{FF2B5EF4-FFF2-40B4-BE49-F238E27FC236}">
                <a16:creationId xmlns:a16="http://schemas.microsoft.com/office/drawing/2014/main" id="{F228E34F-8DCE-4EE2-2188-D9F7071F949F}"/>
              </a:ext>
            </a:extLst>
          </p:cNvPr>
          <p:cNvSpPr>
            <a:spLocks noGrp="1"/>
          </p:cNvSpPr>
          <p:nvPr>
            <p:ph type="sldNum" sz="quarter" idx="5"/>
          </p:nvPr>
        </p:nvSpPr>
        <p:spPr/>
        <p:txBody>
          <a:bodyPr/>
          <a:lstStyle/>
          <a:p>
            <a:fld id="{0956C82D-CE43-4FC9-A2C6-5F48D1595F11}" type="slidenum">
              <a:rPr lang="th-TH" smtClean="0"/>
              <a:t>43</a:t>
            </a:fld>
            <a:endParaRPr lang="th-TH"/>
          </a:p>
        </p:txBody>
      </p:sp>
    </p:spTree>
    <p:extLst>
      <p:ext uri="{BB962C8B-B14F-4D97-AF65-F5344CB8AC3E}">
        <p14:creationId xmlns:p14="http://schemas.microsoft.com/office/powerpoint/2010/main" val="42766734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72C68-BCF0-8B87-CBEA-3DC4D864E21F}"/>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56507782-E1DD-B0AE-CDF1-73B567270A7C}"/>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61DDCEA9-8B68-E7B8-EE37-3C1BD3976E45}"/>
              </a:ext>
            </a:extLst>
          </p:cNvPr>
          <p:cNvSpPr>
            <a:spLocks noGrp="1"/>
          </p:cNvSpPr>
          <p:nvPr>
            <p:ph type="body" idx="1"/>
          </p:nvPr>
        </p:nvSpPr>
        <p:spPr/>
        <p:txBody>
          <a:bodyPr/>
          <a:lstStyle/>
          <a:p>
            <a:endParaRPr lang="th-TH" dirty="0"/>
          </a:p>
        </p:txBody>
      </p:sp>
      <p:sp>
        <p:nvSpPr>
          <p:cNvPr id="4" name="ตัวแทนหมายเลขสไลด์ 3">
            <a:extLst>
              <a:ext uri="{FF2B5EF4-FFF2-40B4-BE49-F238E27FC236}">
                <a16:creationId xmlns:a16="http://schemas.microsoft.com/office/drawing/2014/main" id="{C9248713-4E7F-92FC-F4E8-0801C7875AD2}"/>
              </a:ext>
            </a:extLst>
          </p:cNvPr>
          <p:cNvSpPr>
            <a:spLocks noGrp="1"/>
          </p:cNvSpPr>
          <p:nvPr>
            <p:ph type="sldNum" sz="quarter" idx="5"/>
          </p:nvPr>
        </p:nvSpPr>
        <p:spPr/>
        <p:txBody>
          <a:bodyPr/>
          <a:lstStyle/>
          <a:p>
            <a:fld id="{0956C82D-CE43-4FC9-A2C6-5F48D1595F11}" type="slidenum">
              <a:rPr lang="th-TH" smtClean="0"/>
              <a:t>44</a:t>
            </a:fld>
            <a:endParaRPr lang="th-TH"/>
          </a:p>
        </p:txBody>
      </p:sp>
    </p:spTree>
    <p:extLst>
      <p:ext uri="{BB962C8B-B14F-4D97-AF65-F5344CB8AC3E}">
        <p14:creationId xmlns:p14="http://schemas.microsoft.com/office/powerpoint/2010/main" val="281710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867F3-BB2E-39E3-48EB-AF5DFB6F3F0D}"/>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9D6BA189-7995-E4DB-9352-3A8B18B2DE68}"/>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E4F96409-FA0A-FDE2-EA88-61CC88F9AF06}"/>
              </a:ext>
            </a:extLst>
          </p:cNvPr>
          <p:cNvSpPr>
            <a:spLocks noGrp="1"/>
          </p:cNvSpPr>
          <p:nvPr>
            <p:ph type="body" idx="1"/>
          </p:nvPr>
        </p:nvSpPr>
        <p:spPr/>
        <p:txBody>
          <a:bodyPr/>
          <a:lstStyle/>
          <a:p>
            <a:endParaRPr lang="th-TH" dirty="0"/>
          </a:p>
        </p:txBody>
      </p:sp>
      <p:sp>
        <p:nvSpPr>
          <p:cNvPr id="4" name="ตัวแทนหมายเลขสไลด์ 3">
            <a:extLst>
              <a:ext uri="{FF2B5EF4-FFF2-40B4-BE49-F238E27FC236}">
                <a16:creationId xmlns:a16="http://schemas.microsoft.com/office/drawing/2014/main" id="{FB220C29-C6C9-BADD-1104-DBF5999DE44E}"/>
              </a:ext>
            </a:extLst>
          </p:cNvPr>
          <p:cNvSpPr>
            <a:spLocks noGrp="1"/>
          </p:cNvSpPr>
          <p:nvPr>
            <p:ph type="sldNum" sz="quarter" idx="5"/>
          </p:nvPr>
        </p:nvSpPr>
        <p:spPr/>
        <p:txBody>
          <a:bodyPr/>
          <a:lstStyle/>
          <a:p>
            <a:fld id="{0956C82D-CE43-4FC9-A2C6-5F48D1595F11}" type="slidenum">
              <a:rPr lang="th-TH" smtClean="0"/>
              <a:t>45</a:t>
            </a:fld>
            <a:endParaRPr lang="th-TH"/>
          </a:p>
        </p:txBody>
      </p:sp>
    </p:spTree>
    <p:extLst>
      <p:ext uri="{BB962C8B-B14F-4D97-AF65-F5344CB8AC3E}">
        <p14:creationId xmlns:p14="http://schemas.microsoft.com/office/powerpoint/2010/main" val="172753218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90D00-A81F-BA9C-FF91-39ABFC97DE18}"/>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2353023F-F925-A26D-3ED2-CF51961867B0}"/>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F17F788A-4249-868C-E0F9-D86108BDE636}"/>
              </a:ext>
            </a:extLst>
          </p:cNvPr>
          <p:cNvSpPr>
            <a:spLocks noGrp="1"/>
          </p:cNvSpPr>
          <p:nvPr>
            <p:ph type="body" idx="1"/>
          </p:nvPr>
        </p:nvSpPr>
        <p:spPr/>
        <p:txBody>
          <a:bodyPr/>
          <a:lstStyle/>
          <a:p>
            <a:endParaRPr lang="th-TH" dirty="0"/>
          </a:p>
        </p:txBody>
      </p:sp>
      <p:sp>
        <p:nvSpPr>
          <p:cNvPr id="4" name="ตัวแทนหมายเลขสไลด์ 3">
            <a:extLst>
              <a:ext uri="{FF2B5EF4-FFF2-40B4-BE49-F238E27FC236}">
                <a16:creationId xmlns:a16="http://schemas.microsoft.com/office/drawing/2014/main" id="{344F06DC-4749-4100-5B38-B9B2D1938768}"/>
              </a:ext>
            </a:extLst>
          </p:cNvPr>
          <p:cNvSpPr>
            <a:spLocks noGrp="1"/>
          </p:cNvSpPr>
          <p:nvPr>
            <p:ph type="sldNum" sz="quarter" idx="5"/>
          </p:nvPr>
        </p:nvSpPr>
        <p:spPr/>
        <p:txBody>
          <a:bodyPr/>
          <a:lstStyle/>
          <a:p>
            <a:fld id="{0956C82D-CE43-4FC9-A2C6-5F48D1595F11}" type="slidenum">
              <a:rPr lang="th-TH" smtClean="0"/>
              <a:t>46</a:t>
            </a:fld>
            <a:endParaRPr lang="th-TH"/>
          </a:p>
        </p:txBody>
      </p:sp>
    </p:spTree>
    <p:extLst>
      <p:ext uri="{BB962C8B-B14F-4D97-AF65-F5344CB8AC3E}">
        <p14:creationId xmlns:p14="http://schemas.microsoft.com/office/powerpoint/2010/main" val="4065824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F1E1A-6F17-3F75-CC68-37AAEB9FED8C}"/>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5E9FAE25-219E-6619-3CC1-0025DEF1CD96}"/>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BC9DC798-58E2-EA79-035C-5E69B57ED792}"/>
              </a:ext>
            </a:extLst>
          </p:cNvPr>
          <p:cNvSpPr>
            <a:spLocks noGrp="1"/>
          </p:cNvSpPr>
          <p:nvPr>
            <p:ph type="body" idx="1"/>
          </p:nvPr>
        </p:nvSpPr>
        <p:spPr/>
        <p:txBody>
          <a:bodyPr/>
          <a:lstStyle/>
          <a:p>
            <a:endParaRPr lang="th-TH" dirty="0"/>
          </a:p>
        </p:txBody>
      </p:sp>
      <p:sp>
        <p:nvSpPr>
          <p:cNvPr id="4" name="ตัวแทนหมายเลขสไลด์ 3">
            <a:extLst>
              <a:ext uri="{FF2B5EF4-FFF2-40B4-BE49-F238E27FC236}">
                <a16:creationId xmlns:a16="http://schemas.microsoft.com/office/drawing/2014/main" id="{BA1D7A05-5E03-97D2-EA27-99200A70ADF1}"/>
              </a:ext>
            </a:extLst>
          </p:cNvPr>
          <p:cNvSpPr>
            <a:spLocks noGrp="1"/>
          </p:cNvSpPr>
          <p:nvPr>
            <p:ph type="sldNum" sz="quarter" idx="5"/>
          </p:nvPr>
        </p:nvSpPr>
        <p:spPr/>
        <p:txBody>
          <a:bodyPr/>
          <a:lstStyle/>
          <a:p>
            <a:fld id="{0956C82D-CE43-4FC9-A2C6-5F48D1595F11}" type="slidenum">
              <a:rPr lang="th-TH" smtClean="0"/>
              <a:t>47</a:t>
            </a:fld>
            <a:endParaRPr lang="th-TH"/>
          </a:p>
        </p:txBody>
      </p:sp>
    </p:spTree>
    <p:extLst>
      <p:ext uri="{BB962C8B-B14F-4D97-AF65-F5344CB8AC3E}">
        <p14:creationId xmlns:p14="http://schemas.microsoft.com/office/powerpoint/2010/main" val="10081150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F0ED7-2E6C-3B51-74B8-1732997BE626}"/>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06A69ADC-FA83-CAA0-3701-F093DFAF736B}"/>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31A9F5C4-D4E4-6EFC-B9CD-E16CE4D60816}"/>
              </a:ext>
            </a:extLst>
          </p:cNvPr>
          <p:cNvSpPr>
            <a:spLocks noGrp="1"/>
          </p:cNvSpPr>
          <p:nvPr>
            <p:ph type="body" idx="1"/>
          </p:nvPr>
        </p:nvSpPr>
        <p:spPr/>
        <p:txBody>
          <a:bodyPr/>
          <a:lstStyle/>
          <a:p>
            <a:endParaRPr lang="th-TH" dirty="0"/>
          </a:p>
        </p:txBody>
      </p:sp>
      <p:sp>
        <p:nvSpPr>
          <p:cNvPr id="4" name="ตัวแทนหมายเลขสไลด์ 3">
            <a:extLst>
              <a:ext uri="{FF2B5EF4-FFF2-40B4-BE49-F238E27FC236}">
                <a16:creationId xmlns:a16="http://schemas.microsoft.com/office/drawing/2014/main" id="{355B39A5-96DE-12C7-DD42-C500D3DCF8DC}"/>
              </a:ext>
            </a:extLst>
          </p:cNvPr>
          <p:cNvSpPr>
            <a:spLocks noGrp="1"/>
          </p:cNvSpPr>
          <p:nvPr>
            <p:ph type="sldNum" sz="quarter" idx="5"/>
          </p:nvPr>
        </p:nvSpPr>
        <p:spPr/>
        <p:txBody>
          <a:bodyPr/>
          <a:lstStyle/>
          <a:p>
            <a:fld id="{0956C82D-CE43-4FC9-A2C6-5F48D1595F11}" type="slidenum">
              <a:rPr lang="th-TH" smtClean="0"/>
              <a:t>48</a:t>
            </a:fld>
            <a:endParaRPr lang="th-TH"/>
          </a:p>
        </p:txBody>
      </p:sp>
    </p:spTree>
    <p:extLst>
      <p:ext uri="{BB962C8B-B14F-4D97-AF65-F5344CB8AC3E}">
        <p14:creationId xmlns:p14="http://schemas.microsoft.com/office/powerpoint/2010/main" val="20519683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90F73-0224-3546-38C1-473A0D2ABF59}"/>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268964D3-FB3B-C226-A55C-89EC12AFA8C9}"/>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6CDCE666-AC16-B0C3-FF64-3C34DFABD59B}"/>
              </a:ext>
            </a:extLst>
          </p:cNvPr>
          <p:cNvSpPr>
            <a:spLocks noGrp="1"/>
          </p:cNvSpPr>
          <p:nvPr>
            <p:ph type="body" idx="1"/>
          </p:nvPr>
        </p:nvSpPr>
        <p:spPr/>
        <p:txBody>
          <a:bodyPr/>
          <a:lstStyle/>
          <a:p>
            <a:endParaRPr lang="th-TH" dirty="0"/>
          </a:p>
        </p:txBody>
      </p:sp>
      <p:sp>
        <p:nvSpPr>
          <p:cNvPr id="4" name="ตัวแทนหมายเลขสไลด์ 3">
            <a:extLst>
              <a:ext uri="{FF2B5EF4-FFF2-40B4-BE49-F238E27FC236}">
                <a16:creationId xmlns:a16="http://schemas.microsoft.com/office/drawing/2014/main" id="{F1ABA2BA-ADA2-EA71-0D8F-5A5C7146BC6D}"/>
              </a:ext>
            </a:extLst>
          </p:cNvPr>
          <p:cNvSpPr>
            <a:spLocks noGrp="1"/>
          </p:cNvSpPr>
          <p:nvPr>
            <p:ph type="sldNum" sz="quarter" idx="5"/>
          </p:nvPr>
        </p:nvSpPr>
        <p:spPr/>
        <p:txBody>
          <a:bodyPr/>
          <a:lstStyle/>
          <a:p>
            <a:fld id="{0956C82D-CE43-4FC9-A2C6-5F48D1595F11}" type="slidenum">
              <a:rPr lang="th-TH" smtClean="0"/>
              <a:t>49</a:t>
            </a:fld>
            <a:endParaRPr lang="th-TH"/>
          </a:p>
        </p:txBody>
      </p:sp>
    </p:spTree>
    <p:extLst>
      <p:ext uri="{BB962C8B-B14F-4D97-AF65-F5344CB8AC3E}">
        <p14:creationId xmlns:p14="http://schemas.microsoft.com/office/powerpoint/2010/main" val="386030320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7B397-D01A-8A80-FEA3-C00568AA2966}"/>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C9D65346-5196-5FEE-5776-52571A1084D2}"/>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CC922494-95A6-A715-8FE6-470DD82717F3}"/>
              </a:ext>
            </a:extLst>
          </p:cNvPr>
          <p:cNvSpPr>
            <a:spLocks noGrp="1"/>
          </p:cNvSpPr>
          <p:nvPr>
            <p:ph type="body" idx="1"/>
          </p:nvPr>
        </p:nvSpPr>
        <p:spPr/>
        <p:txBody>
          <a:bodyPr/>
          <a:lstStyle/>
          <a:p>
            <a:endParaRPr lang="th-TH" dirty="0"/>
          </a:p>
        </p:txBody>
      </p:sp>
      <p:sp>
        <p:nvSpPr>
          <p:cNvPr id="4" name="ตัวแทนหมายเลขสไลด์ 3">
            <a:extLst>
              <a:ext uri="{FF2B5EF4-FFF2-40B4-BE49-F238E27FC236}">
                <a16:creationId xmlns:a16="http://schemas.microsoft.com/office/drawing/2014/main" id="{0ED50846-3035-8704-7641-BFFD0745C7D9}"/>
              </a:ext>
            </a:extLst>
          </p:cNvPr>
          <p:cNvSpPr>
            <a:spLocks noGrp="1"/>
          </p:cNvSpPr>
          <p:nvPr>
            <p:ph type="sldNum" sz="quarter" idx="5"/>
          </p:nvPr>
        </p:nvSpPr>
        <p:spPr/>
        <p:txBody>
          <a:bodyPr/>
          <a:lstStyle/>
          <a:p>
            <a:fld id="{0956C82D-CE43-4FC9-A2C6-5F48D1595F11}" type="slidenum">
              <a:rPr lang="th-TH" smtClean="0"/>
              <a:t>50</a:t>
            </a:fld>
            <a:endParaRPr lang="th-TH"/>
          </a:p>
        </p:txBody>
      </p:sp>
    </p:spTree>
    <p:extLst>
      <p:ext uri="{BB962C8B-B14F-4D97-AF65-F5344CB8AC3E}">
        <p14:creationId xmlns:p14="http://schemas.microsoft.com/office/powerpoint/2010/main" val="39644839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7A4F2-B378-5E16-758B-95D2939FF413}"/>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808F9D84-4554-F2D0-B38A-8CD7094DD17D}"/>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7CCE155F-FB3C-0467-E47E-F619E9410E9F}"/>
              </a:ext>
            </a:extLst>
          </p:cNvPr>
          <p:cNvSpPr>
            <a:spLocks noGrp="1"/>
          </p:cNvSpPr>
          <p:nvPr>
            <p:ph type="body" idx="1"/>
          </p:nvPr>
        </p:nvSpPr>
        <p:spPr/>
        <p:txBody>
          <a:bodyPr/>
          <a:lstStyle/>
          <a:p>
            <a:endParaRPr lang="th-TH" dirty="0"/>
          </a:p>
        </p:txBody>
      </p:sp>
      <p:sp>
        <p:nvSpPr>
          <p:cNvPr id="4" name="ตัวแทนหมายเลขสไลด์ 3">
            <a:extLst>
              <a:ext uri="{FF2B5EF4-FFF2-40B4-BE49-F238E27FC236}">
                <a16:creationId xmlns:a16="http://schemas.microsoft.com/office/drawing/2014/main" id="{4B2BBAF6-2CA0-F246-59F0-748319B0D452}"/>
              </a:ext>
            </a:extLst>
          </p:cNvPr>
          <p:cNvSpPr>
            <a:spLocks noGrp="1"/>
          </p:cNvSpPr>
          <p:nvPr>
            <p:ph type="sldNum" sz="quarter" idx="5"/>
          </p:nvPr>
        </p:nvSpPr>
        <p:spPr/>
        <p:txBody>
          <a:bodyPr/>
          <a:lstStyle/>
          <a:p>
            <a:fld id="{0956C82D-CE43-4FC9-A2C6-5F48D1595F11}" type="slidenum">
              <a:rPr lang="th-TH" smtClean="0"/>
              <a:t>51</a:t>
            </a:fld>
            <a:endParaRPr lang="th-TH"/>
          </a:p>
        </p:txBody>
      </p:sp>
    </p:spTree>
    <p:extLst>
      <p:ext uri="{BB962C8B-B14F-4D97-AF65-F5344CB8AC3E}">
        <p14:creationId xmlns:p14="http://schemas.microsoft.com/office/powerpoint/2010/main" val="222557111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29F90-08D8-9D34-9F0B-C6CCD3AB43B3}"/>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C68537AD-6E45-C491-47FA-D83EF6A9D063}"/>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CC78517B-5B22-902F-5A5D-1E0ECA7EBC3B}"/>
              </a:ext>
            </a:extLst>
          </p:cNvPr>
          <p:cNvSpPr>
            <a:spLocks noGrp="1"/>
          </p:cNvSpPr>
          <p:nvPr>
            <p:ph type="body" idx="1"/>
          </p:nvPr>
        </p:nvSpPr>
        <p:spPr/>
        <p:txBody>
          <a:bodyPr/>
          <a:lstStyle/>
          <a:p>
            <a:endParaRPr lang="th-TH" dirty="0"/>
          </a:p>
        </p:txBody>
      </p:sp>
      <p:sp>
        <p:nvSpPr>
          <p:cNvPr id="4" name="ตัวแทนหมายเลขสไลด์ 3">
            <a:extLst>
              <a:ext uri="{FF2B5EF4-FFF2-40B4-BE49-F238E27FC236}">
                <a16:creationId xmlns:a16="http://schemas.microsoft.com/office/drawing/2014/main" id="{8B42F707-3C65-5B05-6818-39C0807FDC79}"/>
              </a:ext>
            </a:extLst>
          </p:cNvPr>
          <p:cNvSpPr>
            <a:spLocks noGrp="1"/>
          </p:cNvSpPr>
          <p:nvPr>
            <p:ph type="sldNum" sz="quarter" idx="5"/>
          </p:nvPr>
        </p:nvSpPr>
        <p:spPr/>
        <p:txBody>
          <a:bodyPr/>
          <a:lstStyle/>
          <a:p>
            <a:fld id="{0956C82D-CE43-4FC9-A2C6-5F48D1595F11}" type="slidenum">
              <a:rPr lang="th-TH" smtClean="0"/>
              <a:t>52</a:t>
            </a:fld>
            <a:endParaRPr lang="th-TH"/>
          </a:p>
        </p:txBody>
      </p:sp>
    </p:spTree>
    <p:extLst>
      <p:ext uri="{BB962C8B-B14F-4D97-AF65-F5344CB8AC3E}">
        <p14:creationId xmlns:p14="http://schemas.microsoft.com/office/powerpoint/2010/main" val="358203727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89E2C-2AC6-9549-3438-F8FF763B446F}"/>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511EF709-917A-8F6A-F836-179D695AA070}"/>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13DBCB52-9C16-850E-91DC-B48EC756664E}"/>
              </a:ext>
            </a:extLst>
          </p:cNvPr>
          <p:cNvSpPr>
            <a:spLocks noGrp="1"/>
          </p:cNvSpPr>
          <p:nvPr>
            <p:ph type="body" idx="1"/>
          </p:nvPr>
        </p:nvSpPr>
        <p:spPr/>
        <p:txBody>
          <a:bodyPr/>
          <a:lstStyle/>
          <a:p>
            <a:endParaRPr lang="th-TH" dirty="0"/>
          </a:p>
        </p:txBody>
      </p:sp>
      <p:sp>
        <p:nvSpPr>
          <p:cNvPr id="4" name="ตัวแทนหมายเลขสไลด์ 3">
            <a:extLst>
              <a:ext uri="{FF2B5EF4-FFF2-40B4-BE49-F238E27FC236}">
                <a16:creationId xmlns:a16="http://schemas.microsoft.com/office/drawing/2014/main" id="{D248C4A8-0611-2134-A41B-6B9EA329A223}"/>
              </a:ext>
            </a:extLst>
          </p:cNvPr>
          <p:cNvSpPr>
            <a:spLocks noGrp="1"/>
          </p:cNvSpPr>
          <p:nvPr>
            <p:ph type="sldNum" sz="quarter" idx="5"/>
          </p:nvPr>
        </p:nvSpPr>
        <p:spPr/>
        <p:txBody>
          <a:bodyPr/>
          <a:lstStyle/>
          <a:p>
            <a:fld id="{0956C82D-CE43-4FC9-A2C6-5F48D1595F11}" type="slidenum">
              <a:rPr lang="th-TH" smtClean="0"/>
              <a:t>53</a:t>
            </a:fld>
            <a:endParaRPr lang="th-TH"/>
          </a:p>
        </p:txBody>
      </p:sp>
    </p:spTree>
    <p:extLst>
      <p:ext uri="{BB962C8B-B14F-4D97-AF65-F5344CB8AC3E}">
        <p14:creationId xmlns:p14="http://schemas.microsoft.com/office/powerpoint/2010/main" val="12627107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56C01-B494-956B-B9B2-3FBDCABE5C43}"/>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635B06A8-46BE-E724-1512-9DA38CF0C869}"/>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BD657C82-8851-93EF-D7C0-63664CA9E4C3}"/>
              </a:ext>
            </a:extLst>
          </p:cNvPr>
          <p:cNvSpPr>
            <a:spLocks noGrp="1"/>
          </p:cNvSpPr>
          <p:nvPr>
            <p:ph type="body" idx="1"/>
          </p:nvPr>
        </p:nvSpPr>
        <p:spPr/>
        <p:txBody>
          <a:bodyPr/>
          <a:lstStyle/>
          <a:p>
            <a:endParaRPr lang="th-TH" dirty="0"/>
          </a:p>
        </p:txBody>
      </p:sp>
      <p:sp>
        <p:nvSpPr>
          <p:cNvPr id="4" name="ตัวแทนหมายเลขสไลด์ 3">
            <a:extLst>
              <a:ext uri="{FF2B5EF4-FFF2-40B4-BE49-F238E27FC236}">
                <a16:creationId xmlns:a16="http://schemas.microsoft.com/office/drawing/2014/main" id="{81F6608E-CA79-324F-CEC4-85785C9A9EF5}"/>
              </a:ext>
            </a:extLst>
          </p:cNvPr>
          <p:cNvSpPr>
            <a:spLocks noGrp="1"/>
          </p:cNvSpPr>
          <p:nvPr>
            <p:ph type="sldNum" sz="quarter" idx="5"/>
          </p:nvPr>
        </p:nvSpPr>
        <p:spPr/>
        <p:txBody>
          <a:bodyPr/>
          <a:lstStyle/>
          <a:p>
            <a:fld id="{0956C82D-CE43-4FC9-A2C6-5F48D1595F11}" type="slidenum">
              <a:rPr lang="th-TH" smtClean="0"/>
              <a:t>54</a:t>
            </a:fld>
            <a:endParaRPr lang="th-TH"/>
          </a:p>
        </p:txBody>
      </p:sp>
    </p:spTree>
    <p:extLst>
      <p:ext uri="{BB962C8B-B14F-4D97-AF65-F5344CB8AC3E}">
        <p14:creationId xmlns:p14="http://schemas.microsoft.com/office/powerpoint/2010/main" val="235896078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รูปบนสไลด์ 1"/>
          <p:cNvSpPr>
            <a:spLocks noGrp="1" noRot="1" noChangeAspect="1"/>
          </p:cNvSpPr>
          <p:nvPr>
            <p:ph type="sldImg"/>
          </p:nvPr>
        </p:nvSpPr>
        <p:spPr/>
      </p:sp>
      <p:sp>
        <p:nvSpPr>
          <p:cNvPr id="3" name="ตัวแทนบันทึกย่อ 2"/>
          <p:cNvSpPr>
            <a:spLocks noGrp="1"/>
          </p:cNvSpPr>
          <p:nvPr>
            <p:ph type="body" idx="1"/>
          </p:nvPr>
        </p:nvSpPr>
        <p:spPr/>
        <p:txBody>
          <a:bodyPr/>
          <a:lstStyle/>
          <a:p>
            <a:endParaRPr lang="th-TH" dirty="0"/>
          </a:p>
        </p:txBody>
      </p:sp>
      <p:sp>
        <p:nvSpPr>
          <p:cNvPr id="4" name="ตัวแทนหมายเลขสไลด์ 3"/>
          <p:cNvSpPr>
            <a:spLocks noGrp="1"/>
          </p:cNvSpPr>
          <p:nvPr>
            <p:ph type="sldNum" sz="quarter" idx="5"/>
          </p:nvPr>
        </p:nvSpPr>
        <p:spPr/>
        <p:txBody>
          <a:bodyPr/>
          <a:lstStyle/>
          <a:p>
            <a:fld id="{0956C82D-CE43-4FC9-A2C6-5F48D1595F11}" type="slidenum">
              <a:rPr lang="th-TH" smtClean="0"/>
              <a:t>55</a:t>
            </a:fld>
            <a:endParaRPr lang="th-TH"/>
          </a:p>
        </p:txBody>
      </p:sp>
    </p:spTree>
    <p:extLst>
      <p:ext uri="{BB962C8B-B14F-4D97-AF65-F5344CB8AC3E}">
        <p14:creationId xmlns:p14="http://schemas.microsoft.com/office/powerpoint/2010/main" val="330733284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AE6F8-B98C-FB94-086B-56C01F02914D}"/>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48FCFF78-1160-6773-E558-796161D8CDF0}"/>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7C37CE8B-215D-9B61-EFB6-21FCA0BF4F76}"/>
              </a:ext>
            </a:extLst>
          </p:cNvPr>
          <p:cNvSpPr>
            <a:spLocks noGrp="1"/>
          </p:cNvSpPr>
          <p:nvPr>
            <p:ph type="body" idx="1"/>
          </p:nvPr>
        </p:nvSpPr>
        <p:spPr/>
        <p:txBody>
          <a:bodyPr/>
          <a:lstStyle/>
          <a:p>
            <a:r>
              <a:rPr lang="th-TH" b="1" dirty="0"/>
              <a:t>แบบ 2: </a:t>
            </a:r>
            <a:r>
              <a:rPr lang="th-TH" b="1" dirty="0" err="1"/>
              <a:t>Pi</a:t>
            </a:r>
            <a:r>
              <a:rPr lang="th-TH" b="1" dirty="0"/>
              <a:t> (</a:t>
            </a:r>
            <a:r>
              <a:rPr lang="th-TH" b="1" dirty="0" err="1"/>
              <a:t>Edge</a:t>
            </a:r>
            <a:r>
              <a:rPr lang="th-TH" b="1" dirty="0"/>
              <a:t> </a:t>
            </a:r>
            <a:r>
              <a:rPr lang="th-TH" b="1" dirty="0" err="1"/>
              <a:t>Controller</a:t>
            </a:r>
            <a:r>
              <a:rPr lang="th-TH" b="1" dirty="0"/>
              <a:t>) + PC ผ่าน IT (Server, ต่อเน็ตบริษัท)</a:t>
            </a:r>
          </a:p>
          <a:p>
            <a:r>
              <a:rPr lang="th-TH" b="1" dirty="0"/>
              <a:t>Devices:</a:t>
            </a:r>
            <a:r>
              <a:rPr lang="th-TH" dirty="0"/>
              <a:t> </a:t>
            </a:r>
            <a:br>
              <a:rPr lang="th-TH" dirty="0"/>
            </a:br>
            <a:r>
              <a:rPr lang="th-TH" dirty="0"/>
              <a:t>1. </a:t>
            </a:r>
            <a:r>
              <a:rPr lang="th-TH" dirty="0" err="1"/>
              <a:t>Raspberry</a:t>
            </a:r>
            <a:r>
              <a:rPr lang="th-TH" dirty="0"/>
              <a:t> </a:t>
            </a:r>
            <a:r>
              <a:rPr lang="th-TH" dirty="0" err="1"/>
              <a:t>Pi</a:t>
            </a:r>
            <a:br>
              <a:rPr lang="th-TH" dirty="0"/>
            </a:br>
            <a:r>
              <a:rPr lang="th-TH" dirty="0"/>
              <a:t>2. </a:t>
            </a:r>
            <a:r>
              <a:rPr lang="th-TH" dirty="0" err="1"/>
              <a:t>Switch</a:t>
            </a:r>
            <a:r>
              <a:rPr lang="th-TH" dirty="0"/>
              <a:t>, </a:t>
            </a:r>
            <a:br>
              <a:rPr lang="th-TH" dirty="0"/>
            </a:br>
            <a:r>
              <a:rPr lang="th-TH" dirty="0"/>
              <a:t>3. PC </a:t>
            </a:r>
            <a:br>
              <a:rPr lang="th-TH" dirty="0"/>
            </a:br>
            <a:r>
              <a:rPr lang="th-TH" dirty="0"/>
              <a:t>4. สาย </a:t>
            </a:r>
            <a:r>
              <a:rPr lang="en-US" dirty="0"/>
              <a:t>Ethernet</a:t>
            </a:r>
            <a:br>
              <a:rPr lang="th-TH" b="1" dirty="0"/>
            </a:br>
            <a:br>
              <a:rPr lang="th-TH" b="1" dirty="0"/>
            </a:br>
            <a:r>
              <a:rPr lang="th-TH" b="1" dirty="0" err="1"/>
              <a:t>Pros</a:t>
            </a:r>
            <a:endParaRPr lang="th-TH" dirty="0"/>
          </a:p>
          <a:p>
            <a:r>
              <a:rPr lang="th-TH" dirty="0"/>
              <a:t>1. </a:t>
            </a:r>
            <a:r>
              <a:rPr lang="th-TH" dirty="0" err="1"/>
              <a:t>Gateway</a:t>
            </a:r>
            <a:r>
              <a:rPr lang="th-TH" dirty="0"/>
              <a:t> รันบน PC เองตลอดเวลา เสถียรที่สุดในทุกแบบ ไม่ต้องพึ่ง </a:t>
            </a:r>
            <a:r>
              <a:rPr lang="th-TH" dirty="0" err="1"/>
              <a:t>Laptop</a:t>
            </a:r>
            <a:r>
              <a:rPr lang="th-TH" dirty="0"/>
              <a:t> ที่ต้องเชื่อมตลอด</a:t>
            </a:r>
          </a:p>
          <a:p>
            <a:r>
              <a:rPr lang="th-TH" dirty="0"/>
              <a:t>2. </a:t>
            </a:r>
            <a:r>
              <a:rPr lang="th-TH" dirty="0" err="1"/>
              <a:t>Laptop</a:t>
            </a:r>
            <a:r>
              <a:rPr lang="th-TH" dirty="0"/>
              <a:t> </a:t>
            </a:r>
            <a:r>
              <a:rPr lang="th-TH" dirty="0" err="1"/>
              <a:t>Operator</a:t>
            </a:r>
            <a:r>
              <a:rPr lang="th-TH" dirty="0"/>
              <a:t> เข้า </a:t>
            </a:r>
            <a:r>
              <a:rPr lang="th-TH" dirty="0" err="1"/>
              <a:t>WebApp</a:t>
            </a:r>
            <a:r>
              <a:rPr lang="th-TH" dirty="0"/>
              <a:t> ผ่าน </a:t>
            </a:r>
            <a:r>
              <a:rPr lang="th-TH" dirty="0" err="1"/>
              <a:t>browser</a:t>
            </a:r>
            <a:r>
              <a:rPr lang="th-TH" dirty="0"/>
              <a:t> ผ่าน Office </a:t>
            </a:r>
            <a:r>
              <a:rPr lang="th-TH" dirty="0" err="1"/>
              <a:t>network</a:t>
            </a:r>
            <a:r>
              <a:rPr lang="th-TH" dirty="0"/>
              <a:t> ได้เลย ไม่ต้องเสียบสาย LAN เข้า </a:t>
            </a:r>
            <a:r>
              <a:rPr lang="th-TH" dirty="0" err="1"/>
              <a:t>Switch</a:t>
            </a:r>
            <a:endParaRPr lang="th-TH" dirty="0"/>
          </a:p>
          <a:p>
            <a:r>
              <a:rPr lang="th-TH" dirty="0"/>
              <a:t>3. </a:t>
            </a:r>
            <a:r>
              <a:rPr lang="th-TH" dirty="0" err="1"/>
              <a:t>Laptop</a:t>
            </a:r>
            <a:r>
              <a:rPr lang="th-TH" dirty="0"/>
              <a:t> </a:t>
            </a:r>
            <a:r>
              <a:rPr lang="th-TH" dirty="0" err="1"/>
              <a:t>Viewer</a:t>
            </a:r>
            <a:r>
              <a:rPr lang="th-TH" dirty="0"/>
              <a:t> เปิด Power BI </a:t>
            </a:r>
            <a:r>
              <a:rPr lang="th-TH" dirty="0" err="1"/>
              <a:t>Dashboard</a:t>
            </a:r>
            <a:r>
              <a:rPr lang="th-TH" dirty="0"/>
              <a:t> ผ่าน </a:t>
            </a:r>
            <a:r>
              <a:rPr lang="th-TH" dirty="0" err="1"/>
              <a:t>internet</a:t>
            </a:r>
            <a:r>
              <a:rPr lang="th-TH" dirty="0"/>
              <a:t> ทั่วไปได้จากที่ไหนก็ได้ ไม่ต้องไปขอจากทาง </a:t>
            </a:r>
            <a:r>
              <a:rPr lang="en-US" dirty="0"/>
              <a:t>Operator</a:t>
            </a:r>
            <a:br>
              <a:rPr lang="en-US" dirty="0"/>
            </a:br>
            <a:r>
              <a:rPr lang="en-US" dirty="0"/>
              <a:t>4. </a:t>
            </a:r>
            <a:r>
              <a:rPr lang="th-TH" dirty="0" err="1"/>
              <a:t>Pi</a:t>
            </a:r>
            <a:r>
              <a:rPr lang="th-TH" dirty="0"/>
              <a:t> เบาภาระที่สุดในทุกแบบ ทำหน้าที่ </a:t>
            </a:r>
            <a:r>
              <a:rPr lang="th-TH" dirty="0" err="1"/>
              <a:t>Edge</a:t>
            </a:r>
            <a:r>
              <a:rPr lang="th-TH" dirty="0"/>
              <a:t> </a:t>
            </a:r>
            <a:r>
              <a:rPr lang="th-TH" dirty="0" err="1"/>
              <a:t>Controller</a:t>
            </a:r>
            <a:r>
              <a:rPr lang="th-TH" dirty="0"/>
              <a:t> อย่างเดียว เสี่ยง SD </a:t>
            </a:r>
            <a:r>
              <a:rPr lang="th-TH" dirty="0" err="1"/>
              <a:t>card</a:t>
            </a:r>
            <a:r>
              <a:rPr lang="th-TH" dirty="0"/>
              <a:t>/</a:t>
            </a:r>
            <a:r>
              <a:rPr lang="th-TH" dirty="0" err="1"/>
              <a:t>performance</a:t>
            </a:r>
            <a:r>
              <a:rPr lang="th-TH" dirty="0"/>
              <a:t> น้อยสุด</a:t>
            </a:r>
          </a:p>
          <a:p>
            <a:r>
              <a:rPr lang="th-TH" dirty="0"/>
              <a:t>5. PC สเปกสูงกว่า </a:t>
            </a:r>
            <a:r>
              <a:rPr lang="th-TH" dirty="0" err="1"/>
              <a:t>Mini</a:t>
            </a:r>
            <a:r>
              <a:rPr lang="th-TH" dirty="0"/>
              <a:t> PC/</a:t>
            </a:r>
            <a:r>
              <a:rPr lang="th-TH" dirty="0" err="1"/>
              <a:t>Pi</a:t>
            </a:r>
            <a:r>
              <a:rPr lang="th-TH" dirty="0"/>
              <a:t> รองรับ DB โต และผู้ใช้เยอะขึ้นในอนาคตได้ดีกว่า</a:t>
            </a:r>
          </a:p>
          <a:p>
            <a:r>
              <a:rPr lang="th-TH" dirty="0"/>
              <a:t>6. มีโอกาสเข้าระบบ </a:t>
            </a:r>
            <a:r>
              <a:rPr lang="th-TH" dirty="0" err="1"/>
              <a:t>backup</a:t>
            </a:r>
            <a:r>
              <a:rPr lang="th-TH" dirty="0"/>
              <a:t>/</a:t>
            </a:r>
            <a:r>
              <a:rPr lang="th-TH" dirty="0" err="1"/>
              <a:t>security</a:t>
            </a:r>
            <a:r>
              <a:rPr lang="th-TH" dirty="0"/>
              <a:t> </a:t>
            </a:r>
            <a:r>
              <a:rPr lang="th-TH" dirty="0" err="1"/>
              <a:t>policy</a:t>
            </a:r>
            <a:r>
              <a:rPr lang="th-TH" dirty="0"/>
              <a:t> ของบริษัทได้ เพราะเป็นอุปกรณ์ที่ผ่าน IT </a:t>
            </a:r>
            <a:br>
              <a:rPr lang="th-TH" dirty="0"/>
            </a:br>
            <a:r>
              <a:rPr lang="th-TH" dirty="0"/>
              <a:t>7. </a:t>
            </a:r>
            <a:r>
              <a:rPr lang="en-US" dirty="0"/>
              <a:t>Refresh Dashboard </a:t>
            </a:r>
            <a:r>
              <a:rPr lang="th-TH" dirty="0"/>
              <a:t>ตาม </a:t>
            </a:r>
            <a:r>
              <a:rPr lang="en-US" dirty="0"/>
              <a:t>Schedule </a:t>
            </a:r>
            <a:r>
              <a:rPr lang="th-TH" dirty="0"/>
              <a:t>ได้ไม่ต้อง </a:t>
            </a:r>
            <a:r>
              <a:rPr lang="en-US" dirty="0"/>
              <a:t>Manual</a:t>
            </a:r>
            <a:br>
              <a:rPr lang="th-TH" dirty="0"/>
            </a:br>
            <a:r>
              <a:rPr lang="th-TH" b="1" dirty="0" err="1"/>
              <a:t>Cons</a:t>
            </a:r>
            <a:endParaRPr lang="th-TH" dirty="0"/>
          </a:p>
          <a:p>
            <a:r>
              <a:rPr lang="th-TH" dirty="0"/>
              <a:t>1. ต้นทุนสูงสุดในทุกแบบ ต้องซื้อ PC ที่มีสเปกรองรับ Server + </a:t>
            </a:r>
            <a:r>
              <a:rPr lang="th-TH" dirty="0" err="1"/>
              <a:t>Gateway</a:t>
            </a:r>
            <a:endParaRPr lang="th-TH" dirty="0"/>
          </a:p>
          <a:p>
            <a:r>
              <a:rPr lang="th-TH" dirty="0"/>
              <a:t>2. ขั้นตอนจัดซื้อผ่าน IT </a:t>
            </a:r>
            <a:br>
              <a:rPr lang="th-TH" dirty="0"/>
            </a:br>
            <a:r>
              <a:rPr lang="th-TH" dirty="0"/>
              <a:t>3. ต้องเปิด </a:t>
            </a:r>
            <a:r>
              <a:rPr lang="th-TH" dirty="0" err="1"/>
              <a:t>internet</a:t>
            </a:r>
            <a:r>
              <a:rPr lang="th-TH" dirty="0"/>
              <a:t> เข้า PC ตลอดเวลา </a:t>
            </a:r>
            <a:br>
              <a:rPr lang="th-TH" dirty="0"/>
            </a:br>
            <a:r>
              <a:rPr lang="th-TH" dirty="0"/>
              <a:t>4. </a:t>
            </a:r>
            <a:r>
              <a:rPr lang="th-TH" dirty="0" err="1"/>
              <a:t>Single</a:t>
            </a:r>
            <a:r>
              <a:rPr lang="th-TH" dirty="0"/>
              <a:t> </a:t>
            </a:r>
            <a:r>
              <a:rPr lang="th-TH" dirty="0" err="1"/>
              <a:t>point</a:t>
            </a:r>
            <a:r>
              <a:rPr lang="th-TH" dirty="0"/>
              <a:t> of </a:t>
            </a:r>
            <a:r>
              <a:rPr lang="th-TH" dirty="0" err="1"/>
              <a:t>failure</a:t>
            </a:r>
            <a:r>
              <a:rPr lang="th-TH" dirty="0"/>
              <a:t> — ถ้า PC ล่ม DB, </a:t>
            </a:r>
            <a:r>
              <a:rPr lang="th-TH" dirty="0" err="1"/>
              <a:t>WebApp</a:t>
            </a:r>
            <a:r>
              <a:rPr lang="th-TH" dirty="0"/>
              <a:t>, Power BI </a:t>
            </a:r>
            <a:r>
              <a:rPr lang="th-TH" dirty="0" err="1"/>
              <a:t>Gateway</a:t>
            </a:r>
            <a:r>
              <a:rPr lang="th-TH" dirty="0"/>
              <a:t> หยุดพร้อมกันหมด (มีแค่ </a:t>
            </a:r>
            <a:r>
              <a:rPr lang="th-TH" dirty="0" err="1"/>
              <a:t>Edge</a:t>
            </a:r>
            <a:r>
              <a:rPr lang="th-TH" dirty="0"/>
              <a:t> </a:t>
            </a:r>
            <a:r>
              <a:rPr lang="th-TH" dirty="0" err="1"/>
              <a:t>Controller</a:t>
            </a:r>
            <a:r>
              <a:rPr lang="th-TH" dirty="0"/>
              <a:t> บน </a:t>
            </a:r>
            <a:r>
              <a:rPr lang="th-TH" dirty="0" err="1"/>
              <a:t>Pi</a:t>
            </a:r>
            <a:r>
              <a:rPr lang="th-TH" dirty="0"/>
              <a:t> ที่ยังทำงานแยกอิสระได้)</a:t>
            </a:r>
          </a:p>
          <a:p>
            <a:r>
              <a:rPr lang="th-TH" dirty="0"/>
              <a:t>5. เพิ่มอุปกรณ์ IT ต้องดูแลเพิ่ม</a:t>
            </a:r>
          </a:p>
          <a:p>
            <a:endParaRPr lang="th-TH" dirty="0"/>
          </a:p>
        </p:txBody>
      </p:sp>
      <p:sp>
        <p:nvSpPr>
          <p:cNvPr id="4" name="ตัวแทนหมายเลขสไลด์ 3">
            <a:extLst>
              <a:ext uri="{FF2B5EF4-FFF2-40B4-BE49-F238E27FC236}">
                <a16:creationId xmlns:a16="http://schemas.microsoft.com/office/drawing/2014/main" id="{CA674437-50D9-0D66-18EE-99528FFC60E6}"/>
              </a:ext>
            </a:extLst>
          </p:cNvPr>
          <p:cNvSpPr>
            <a:spLocks noGrp="1"/>
          </p:cNvSpPr>
          <p:nvPr>
            <p:ph type="sldNum" sz="quarter" idx="5"/>
          </p:nvPr>
        </p:nvSpPr>
        <p:spPr/>
        <p:txBody>
          <a:bodyPr/>
          <a:lstStyle/>
          <a:p>
            <a:fld id="{A3766003-7DEE-4D8A-9983-D0FF42899C89}" type="slidenum">
              <a:rPr lang="th-TH" smtClean="0"/>
              <a:t>57</a:t>
            </a:fld>
            <a:endParaRPr lang="th-TH"/>
          </a:p>
        </p:txBody>
      </p:sp>
    </p:spTree>
    <p:extLst>
      <p:ext uri="{BB962C8B-B14F-4D97-AF65-F5344CB8AC3E}">
        <p14:creationId xmlns:p14="http://schemas.microsoft.com/office/powerpoint/2010/main" val="268878092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F2CA7-E6D7-D378-8807-50EFE8C1F605}"/>
            </a:ext>
          </a:extLst>
        </p:cNvPr>
        <p:cNvGrpSpPr/>
        <p:nvPr/>
      </p:nvGrpSpPr>
      <p:grpSpPr>
        <a:xfrm>
          <a:off x="0" y="0"/>
          <a:ext cx="0" cy="0"/>
          <a:chOff x="0" y="0"/>
          <a:chExt cx="0" cy="0"/>
        </a:xfrm>
      </p:grpSpPr>
      <p:sp>
        <p:nvSpPr>
          <p:cNvPr id="2" name="ตัวแทนรูปบนสไลด์ 1">
            <a:extLst>
              <a:ext uri="{FF2B5EF4-FFF2-40B4-BE49-F238E27FC236}">
                <a16:creationId xmlns:a16="http://schemas.microsoft.com/office/drawing/2014/main" id="{5ADE748C-4B08-24C2-C789-E884F0AAD826}"/>
              </a:ext>
            </a:extLst>
          </p:cNvPr>
          <p:cNvSpPr>
            <a:spLocks noGrp="1" noRot="1" noChangeAspect="1"/>
          </p:cNvSpPr>
          <p:nvPr>
            <p:ph type="sldImg"/>
          </p:nvPr>
        </p:nvSpPr>
        <p:spPr/>
        <p:txBody>
          <a:bodyPr/>
          <a:lstStyle/>
          <a:p>
            <a:endParaRPr lang="th-TH"/>
          </a:p>
        </p:txBody>
      </p:sp>
      <p:sp>
        <p:nvSpPr>
          <p:cNvPr id="3" name="ตัวแทนบันทึกย่อ 2">
            <a:extLst>
              <a:ext uri="{FF2B5EF4-FFF2-40B4-BE49-F238E27FC236}">
                <a16:creationId xmlns:a16="http://schemas.microsoft.com/office/drawing/2014/main" id="{3AE378A8-E21B-62DA-E34D-E1F987671FDF}"/>
              </a:ext>
            </a:extLst>
          </p:cNvPr>
          <p:cNvSpPr>
            <a:spLocks noGrp="1"/>
          </p:cNvSpPr>
          <p:nvPr>
            <p:ph type="body" idx="1"/>
          </p:nvPr>
        </p:nvSpPr>
        <p:spPr/>
        <p:txBody>
          <a:bodyPr/>
          <a:lstStyle/>
          <a:p>
            <a:r>
              <a:rPr lang="th-TH" b="1" dirty="0"/>
              <a:t>ค่าความคลาดเคลื่อนที่เข้มงวดของ </a:t>
            </a:r>
            <a:r>
              <a:rPr lang="en-US" b="1" dirty="0"/>
              <a:t>ALPL </a:t>
            </a:r>
            <a:r>
              <a:rPr lang="th-TH" b="1" dirty="0"/>
              <a:t>มีความสำคัญอย่างยิ่งต่อการทดสอบ </a:t>
            </a:r>
            <a:r>
              <a:rPr lang="en-US" b="1" dirty="0"/>
              <a:t>IC </a:t>
            </a:r>
            <a:r>
              <a:rPr lang="th-TH" b="1" dirty="0"/>
              <a:t>ที่เชื่อถือได้ที่ </a:t>
            </a:r>
            <a:r>
              <a:rPr lang="en-US" b="1" dirty="0"/>
              <a:t>ADI </a:t>
            </a:r>
            <a:r>
              <a:rPr lang="th-TH" b="1" dirty="0"/>
              <a:t>แต่กระบวนการโหลดและคัดแยกด้วยมือในปัจจุบันทำให้การจัดเรียงไม่สม่ำเสมอและเสี่ยงต่อการปะปนชิ้นส่วนที่ดีและชิ้นส่วนที่ไม่ได้มาตรฐาน โครงการนี้จึงแก้ปัญหาดังกล่าวโดยการออกแบบและสร้างระบบจับยึดและคัดแยกแบบกึ่งอัตโนมัติสำหรับแพลตฟอร์ม </a:t>
            </a:r>
            <a:r>
              <a:rPr lang="en-US" b="1" dirty="0"/>
              <a:t>HT9046</a:t>
            </a:r>
          </a:p>
          <a:p>
            <a:endParaRPr lang="en-US" b="1" dirty="0"/>
          </a:p>
          <a:p>
            <a:r>
              <a:rPr lang="th-TH" b="1" dirty="0"/>
              <a:t>กระบวนการด้วยมืออาศัยกระจกเปล่าๆ โดยไม่มีอุปกรณ์จับยึด มุม/ตำแหน่งการวางขึ้นอยู่กับทักษะของผู้ปฏิบัติงานโดยสิ้นเชิง</a:t>
            </a:r>
          </a:p>
          <a:p>
            <a:r>
              <a:rPr lang="th-TH" b="1" dirty="0"/>
              <a:t>ไม่มีสิ่งกีดขวางทางกายภาพระหว่างชิ้นส่วนที่ดีและชิ้นส่วนที่ไม่ได้มาตรฐานในระหว่างการคัดแยก เสี่ยงต่อการลดลงของผลผลิตหากชิ้นส่วนที่ไม่ได้มาตรฐานหลุดเข้าไปในสายการผลิต</a:t>
            </a:r>
          </a:p>
          <a:p>
            <a:r>
              <a:rPr lang="th-TH" b="1" dirty="0"/>
              <a:t>เน้นที่ </a:t>
            </a:r>
            <a:r>
              <a:rPr lang="en-US" b="1" dirty="0"/>
              <a:t>ALPL HT Shape (HT9046/HT9046MX) </a:t>
            </a:r>
            <a:r>
              <a:rPr lang="th-TH" b="1" dirty="0"/>
              <a:t>ซึ่งเป็นแพลตฟอร์มที่มีความถี่และปริมาณสูงสุด</a:t>
            </a:r>
          </a:p>
          <a:p>
            <a:endParaRPr lang="th-TH" b="1" dirty="0"/>
          </a:p>
          <a:p>
            <a:r>
              <a:rPr lang="th-TH" b="1" dirty="0"/>
              <a:t>ออกแบบ 4 โมดูล: อุปกรณ์จับยึดสำหรับการจัดเรียง, การเปลี่ยนผ่าน, ตัวคัดแยก และการควบคุมและการป้อนกลับ</a:t>
            </a:r>
          </a:p>
          <a:p>
            <a:r>
              <a:rPr lang="th-TH" b="1" dirty="0"/>
              <a:t>สร้างสถาปัตยกรรมฮาร์ดแวร์และไดอะแกรมการเดินสายไฟที่ผสานรวม </a:t>
            </a:r>
            <a:r>
              <a:rPr lang="en-US" b="1" dirty="0"/>
              <a:t>Arduino Mega, Raspberry Pi </a:t>
            </a:r>
            <a:r>
              <a:rPr lang="th-TH" b="1" dirty="0"/>
              <a:t>และกล้อง </a:t>
            </a:r>
            <a:r>
              <a:rPr lang="en-US" b="1" dirty="0"/>
              <a:t>TM-X5065</a:t>
            </a:r>
          </a:p>
          <a:p>
            <a:endParaRPr lang="th-TH" b="1" dirty="0"/>
          </a:p>
          <a:p>
            <a:r>
              <a:rPr lang="th-TH" b="1" dirty="0"/>
              <a:t>ขณะนี้กำลังสร้างและติดตั้งต้นแบบทางกายภาพ</a:t>
            </a:r>
            <a:endParaRPr lang="th-TH" dirty="0"/>
          </a:p>
        </p:txBody>
      </p:sp>
      <p:sp>
        <p:nvSpPr>
          <p:cNvPr id="4" name="ตัวแทนหมายเลขสไลด์ 3">
            <a:extLst>
              <a:ext uri="{FF2B5EF4-FFF2-40B4-BE49-F238E27FC236}">
                <a16:creationId xmlns:a16="http://schemas.microsoft.com/office/drawing/2014/main" id="{8E906140-7425-C550-4D22-FED9DD21B8AD}"/>
              </a:ext>
            </a:extLst>
          </p:cNvPr>
          <p:cNvSpPr>
            <a:spLocks noGrp="1"/>
          </p:cNvSpPr>
          <p:nvPr>
            <p:ph type="sldNum" sz="quarter" idx="5"/>
          </p:nvPr>
        </p:nvSpPr>
        <p:spPr/>
        <p:txBody>
          <a:bodyPr/>
          <a:lstStyle/>
          <a:p>
            <a:fld id="{0956C82D-CE43-4FC9-A2C6-5F48D1595F11}" type="slidenum">
              <a:rPr lang="th-TH" smtClean="0"/>
              <a:t>58</a:t>
            </a:fld>
            <a:endParaRPr lang="th-TH"/>
          </a:p>
        </p:txBody>
      </p:sp>
    </p:spTree>
    <p:extLst>
      <p:ext uri="{BB962C8B-B14F-4D97-AF65-F5344CB8AC3E}">
        <p14:creationId xmlns:p14="http://schemas.microsoft.com/office/powerpoint/2010/main" val="3088395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สไลด์ชื่อเรื่อ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2E890F65-AC58-B8E7-AEE5-529D3A7FFA08}"/>
              </a:ext>
            </a:extLst>
          </p:cNvPr>
          <p:cNvSpPr>
            <a:spLocks noGrp="1"/>
          </p:cNvSpPr>
          <p:nvPr>
            <p:ph type="ctrTitle"/>
          </p:nvPr>
        </p:nvSpPr>
        <p:spPr>
          <a:xfrm>
            <a:off x="1524000" y="1122363"/>
            <a:ext cx="9144000" cy="2387600"/>
          </a:xfrm>
        </p:spPr>
        <p:txBody>
          <a:bodyPr anchor="b"/>
          <a:lstStyle>
            <a:lvl1pPr algn="ctr">
              <a:defRPr sz="6000"/>
            </a:lvl1pPr>
          </a:lstStyle>
          <a:p>
            <a:r>
              <a:rPr lang="th-TH"/>
              <a:t>คลิกเพื่อแก้ไขสไตล์ชื่อเรื่องต้นแบบ</a:t>
            </a:r>
          </a:p>
        </p:txBody>
      </p:sp>
      <p:sp>
        <p:nvSpPr>
          <p:cNvPr id="3" name="ชื่อเรื่องรอง 2">
            <a:extLst>
              <a:ext uri="{FF2B5EF4-FFF2-40B4-BE49-F238E27FC236}">
                <a16:creationId xmlns:a16="http://schemas.microsoft.com/office/drawing/2014/main" id="{9E364D87-0BD0-9860-AFE2-6E3CBE424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h-TH"/>
              <a:t>คลิกเพื่อแก้ไขสไตล์ชื่อเรื่องรองต้นแบบ</a:t>
            </a:r>
          </a:p>
        </p:txBody>
      </p:sp>
      <p:sp>
        <p:nvSpPr>
          <p:cNvPr id="4" name="ตัวแทนวันที่ 3">
            <a:extLst>
              <a:ext uri="{FF2B5EF4-FFF2-40B4-BE49-F238E27FC236}">
                <a16:creationId xmlns:a16="http://schemas.microsoft.com/office/drawing/2014/main" id="{2FC81652-7179-3954-4CFC-328F5FF9F445}"/>
              </a:ext>
            </a:extLst>
          </p:cNvPr>
          <p:cNvSpPr>
            <a:spLocks noGrp="1"/>
          </p:cNvSpPr>
          <p:nvPr>
            <p:ph type="dt" sz="half" idx="10"/>
          </p:nvPr>
        </p:nvSpPr>
        <p:spPr/>
        <p:txBody>
          <a:bodyPr/>
          <a:lstStyle/>
          <a:p>
            <a:fld id="{50F6C948-85A6-4EB0-A967-1A0962B7BA39}" type="datetimeFigureOut">
              <a:rPr lang="th-TH" smtClean="0"/>
              <a:t>29/09/69</a:t>
            </a:fld>
            <a:endParaRPr lang="th-TH"/>
          </a:p>
        </p:txBody>
      </p:sp>
      <p:sp>
        <p:nvSpPr>
          <p:cNvPr id="5" name="ตัวแทนท้ายกระดาษ 4">
            <a:extLst>
              <a:ext uri="{FF2B5EF4-FFF2-40B4-BE49-F238E27FC236}">
                <a16:creationId xmlns:a16="http://schemas.microsoft.com/office/drawing/2014/main" id="{1156ADA7-BC81-0379-A316-A708E8B8520D}"/>
              </a:ext>
            </a:extLst>
          </p:cNvPr>
          <p:cNvSpPr>
            <a:spLocks noGrp="1"/>
          </p:cNvSpPr>
          <p:nvPr>
            <p:ph type="ftr" sz="quarter" idx="11"/>
          </p:nvPr>
        </p:nvSpPr>
        <p:spPr/>
        <p:txBody>
          <a:bodyPr/>
          <a:lstStyle/>
          <a:p>
            <a:endParaRPr lang="th-TH"/>
          </a:p>
        </p:txBody>
      </p:sp>
      <p:sp>
        <p:nvSpPr>
          <p:cNvPr id="6" name="ตัวแทนหมายเลขสไลด์ 5">
            <a:extLst>
              <a:ext uri="{FF2B5EF4-FFF2-40B4-BE49-F238E27FC236}">
                <a16:creationId xmlns:a16="http://schemas.microsoft.com/office/drawing/2014/main" id="{E35B1180-DF8C-7461-648D-FDF359D8155B}"/>
              </a:ext>
            </a:extLst>
          </p:cNvPr>
          <p:cNvSpPr>
            <a:spLocks noGrp="1"/>
          </p:cNvSpPr>
          <p:nvPr>
            <p:ph type="sldNum" sz="quarter" idx="12"/>
          </p:nvPr>
        </p:nvSpPr>
        <p:spPr/>
        <p:txBody>
          <a:bodyPr/>
          <a:lstStyle/>
          <a:p>
            <a:fld id="{66F6431F-5465-459B-AC14-A1F1B6EE0AAB}" type="slidenum">
              <a:rPr lang="th-TH" smtClean="0"/>
              <a:t>‹#›</a:t>
            </a:fld>
            <a:endParaRPr lang="th-TH"/>
          </a:p>
        </p:txBody>
      </p:sp>
    </p:spTree>
    <p:extLst>
      <p:ext uri="{BB962C8B-B14F-4D97-AF65-F5344CB8AC3E}">
        <p14:creationId xmlns:p14="http://schemas.microsoft.com/office/powerpoint/2010/main" val="990913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ชื่อเรื่องและเนื้อหา">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4D2DFEFC-BD44-A81A-995D-392F1AD2A53C}"/>
              </a:ext>
            </a:extLst>
          </p:cNvPr>
          <p:cNvSpPr>
            <a:spLocks noGrp="1"/>
          </p:cNvSpPr>
          <p:nvPr>
            <p:ph type="title"/>
          </p:nvPr>
        </p:nvSpPr>
        <p:spPr/>
        <p:txBody>
          <a:body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759D8AC4-5B75-1BEB-CB0B-A72B367CCEAE}"/>
              </a:ext>
            </a:extLst>
          </p:cNvPr>
          <p:cNvSpPr>
            <a:spLocks noGrp="1"/>
          </p:cNvSpPr>
          <p:nvPr>
            <p:ph idx="1"/>
          </p:nvPr>
        </p:nvSpPr>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วันที่ 3">
            <a:extLst>
              <a:ext uri="{FF2B5EF4-FFF2-40B4-BE49-F238E27FC236}">
                <a16:creationId xmlns:a16="http://schemas.microsoft.com/office/drawing/2014/main" id="{8539E6A7-A73C-974F-3865-C08159CA8421}"/>
              </a:ext>
            </a:extLst>
          </p:cNvPr>
          <p:cNvSpPr>
            <a:spLocks noGrp="1"/>
          </p:cNvSpPr>
          <p:nvPr>
            <p:ph type="dt" sz="half" idx="10"/>
          </p:nvPr>
        </p:nvSpPr>
        <p:spPr/>
        <p:txBody>
          <a:bodyPr/>
          <a:lstStyle/>
          <a:p>
            <a:fld id="{50F6C948-85A6-4EB0-A967-1A0962B7BA39}" type="datetimeFigureOut">
              <a:rPr lang="th-TH" smtClean="0"/>
              <a:t>29/09/69</a:t>
            </a:fld>
            <a:endParaRPr lang="th-TH"/>
          </a:p>
        </p:txBody>
      </p:sp>
      <p:sp>
        <p:nvSpPr>
          <p:cNvPr id="5" name="ตัวแทนท้ายกระดาษ 4">
            <a:extLst>
              <a:ext uri="{FF2B5EF4-FFF2-40B4-BE49-F238E27FC236}">
                <a16:creationId xmlns:a16="http://schemas.microsoft.com/office/drawing/2014/main" id="{08CB5DFB-8325-0A46-26D4-51FBF5D3C9AA}"/>
              </a:ext>
            </a:extLst>
          </p:cNvPr>
          <p:cNvSpPr>
            <a:spLocks noGrp="1"/>
          </p:cNvSpPr>
          <p:nvPr>
            <p:ph type="ftr" sz="quarter" idx="11"/>
          </p:nvPr>
        </p:nvSpPr>
        <p:spPr/>
        <p:txBody>
          <a:bodyPr/>
          <a:lstStyle/>
          <a:p>
            <a:endParaRPr lang="th-TH"/>
          </a:p>
        </p:txBody>
      </p:sp>
      <p:sp>
        <p:nvSpPr>
          <p:cNvPr id="6" name="ตัวแทนหมายเลขสไลด์ 5">
            <a:extLst>
              <a:ext uri="{FF2B5EF4-FFF2-40B4-BE49-F238E27FC236}">
                <a16:creationId xmlns:a16="http://schemas.microsoft.com/office/drawing/2014/main" id="{0C0E303E-2E0B-F71C-1837-08CFC8F04CF6}"/>
              </a:ext>
            </a:extLst>
          </p:cNvPr>
          <p:cNvSpPr>
            <a:spLocks noGrp="1"/>
          </p:cNvSpPr>
          <p:nvPr>
            <p:ph type="sldNum" sz="quarter" idx="12"/>
          </p:nvPr>
        </p:nvSpPr>
        <p:spPr/>
        <p:txBody>
          <a:bodyPr/>
          <a:lstStyle/>
          <a:p>
            <a:fld id="{66F6431F-5465-459B-AC14-A1F1B6EE0AAB}" type="slidenum">
              <a:rPr lang="th-TH" smtClean="0"/>
              <a:t>‹#›</a:t>
            </a:fld>
            <a:endParaRPr lang="th-TH"/>
          </a:p>
        </p:txBody>
      </p:sp>
    </p:spTree>
    <p:extLst>
      <p:ext uri="{BB962C8B-B14F-4D97-AF65-F5344CB8AC3E}">
        <p14:creationId xmlns:p14="http://schemas.microsoft.com/office/powerpoint/2010/main" val="3445051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ส่วนหัวของส่วน">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2885046C-E14B-3270-5EE8-CE5747587B98}"/>
              </a:ext>
            </a:extLst>
          </p:cNvPr>
          <p:cNvSpPr>
            <a:spLocks noGrp="1"/>
          </p:cNvSpPr>
          <p:nvPr>
            <p:ph type="title"/>
          </p:nvPr>
        </p:nvSpPr>
        <p:spPr>
          <a:xfrm>
            <a:off x="831850" y="1709738"/>
            <a:ext cx="10515600" cy="2852737"/>
          </a:xfrm>
        </p:spPr>
        <p:txBody>
          <a:bodyPr anchor="b"/>
          <a:lstStyle>
            <a:lvl1pPr>
              <a:defRPr sz="6000"/>
            </a:lvl1pPr>
          </a:lstStyle>
          <a:p>
            <a:r>
              <a:rPr lang="th-TH"/>
              <a:t>คลิกเพื่อแก้ไขสไตล์ชื่อเรื่องต้นแบบ</a:t>
            </a:r>
          </a:p>
        </p:txBody>
      </p:sp>
      <p:sp>
        <p:nvSpPr>
          <p:cNvPr id="3" name="ตัวแทนข้อความ 2">
            <a:extLst>
              <a:ext uri="{FF2B5EF4-FFF2-40B4-BE49-F238E27FC236}">
                <a16:creationId xmlns:a16="http://schemas.microsoft.com/office/drawing/2014/main" id="{BFDD59C0-69C6-83C0-098A-962603462A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h-TH"/>
              <a:t>คลิกเพื่อแก้ไขสไตล์ของข้อความต้นแบบ</a:t>
            </a:r>
          </a:p>
        </p:txBody>
      </p:sp>
      <p:sp>
        <p:nvSpPr>
          <p:cNvPr id="4" name="ตัวแทนวันที่ 3">
            <a:extLst>
              <a:ext uri="{FF2B5EF4-FFF2-40B4-BE49-F238E27FC236}">
                <a16:creationId xmlns:a16="http://schemas.microsoft.com/office/drawing/2014/main" id="{12AC13A3-7354-F966-6E10-C6E504F02070}"/>
              </a:ext>
            </a:extLst>
          </p:cNvPr>
          <p:cNvSpPr>
            <a:spLocks noGrp="1"/>
          </p:cNvSpPr>
          <p:nvPr>
            <p:ph type="dt" sz="half" idx="10"/>
          </p:nvPr>
        </p:nvSpPr>
        <p:spPr/>
        <p:txBody>
          <a:bodyPr/>
          <a:lstStyle/>
          <a:p>
            <a:fld id="{50F6C948-85A6-4EB0-A967-1A0962B7BA39}" type="datetimeFigureOut">
              <a:rPr lang="th-TH" smtClean="0"/>
              <a:t>29/09/69</a:t>
            </a:fld>
            <a:endParaRPr lang="th-TH"/>
          </a:p>
        </p:txBody>
      </p:sp>
      <p:sp>
        <p:nvSpPr>
          <p:cNvPr id="5" name="ตัวแทนท้ายกระดาษ 4">
            <a:extLst>
              <a:ext uri="{FF2B5EF4-FFF2-40B4-BE49-F238E27FC236}">
                <a16:creationId xmlns:a16="http://schemas.microsoft.com/office/drawing/2014/main" id="{78D257E2-8D2C-2F0F-7AD3-5B63C1B44581}"/>
              </a:ext>
            </a:extLst>
          </p:cNvPr>
          <p:cNvSpPr>
            <a:spLocks noGrp="1"/>
          </p:cNvSpPr>
          <p:nvPr>
            <p:ph type="ftr" sz="quarter" idx="11"/>
          </p:nvPr>
        </p:nvSpPr>
        <p:spPr/>
        <p:txBody>
          <a:bodyPr/>
          <a:lstStyle/>
          <a:p>
            <a:endParaRPr lang="th-TH"/>
          </a:p>
        </p:txBody>
      </p:sp>
      <p:sp>
        <p:nvSpPr>
          <p:cNvPr id="6" name="ตัวแทนหมายเลขสไลด์ 5">
            <a:extLst>
              <a:ext uri="{FF2B5EF4-FFF2-40B4-BE49-F238E27FC236}">
                <a16:creationId xmlns:a16="http://schemas.microsoft.com/office/drawing/2014/main" id="{D82D4E61-9EC9-405E-7C5B-3BE0F6F81BC3}"/>
              </a:ext>
            </a:extLst>
          </p:cNvPr>
          <p:cNvSpPr>
            <a:spLocks noGrp="1"/>
          </p:cNvSpPr>
          <p:nvPr>
            <p:ph type="sldNum" sz="quarter" idx="12"/>
          </p:nvPr>
        </p:nvSpPr>
        <p:spPr/>
        <p:txBody>
          <a:bodyPr/>
          <a:lstStyle/>
          <a:p>
            <a:fld id="{66F6431F-5465-459B-AC14-A1F1B6EE0AAB}" type="slidenum">
              <a:rPr lang="th-TH" smtClean="0"/>
              <a:t>‹#›</a:t>
            </a:fld>
            <a:endParaRPr lang="th-TH"/>
          </a:p>
        </p:txBody>
      </p:sp>
    </p:spTree>
    <p:extLst>
      <p:ext uri="{BB962C8B-B14F-4D97-AF65-F5344CB8AC3E}">
        <p14:creationId xmlns:p14="http://schemas.microsoft.com/office/powerpoint/2010/main" val="1549551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เนื้อหา 2 ส่วน">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4E179C3A-86CA-A63F-7F37-19CD80AA4918}"/>
              </a:ext>
            </a:extLst>
          </p:cNvPr>
          <p:cNvSpPr>
            <a:spLocks noGrp="1"/>
          </p:cNvSpPr>
          <p:nvPr>
            <p:ph type="title"/>
          </p:nvPr>
        </p:nvSpPr>
        <p:spPr/>
        <p:txBody>
          <a:body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144E7BAA-D5D7-C1A3-30D4-4DDC27F2B3B7}"/>
              </a:ext>
            </a:extLst>
          </p:cNvPr>
          <p:cNvSpPr>
            <a:spLocks noGrp="1"/>
          </p:cNvSpPr>
          <p:nvPr>
            <p:ph sz="half" idx="1"/>
          </p:nvPr>
        </p:nvSpPr>
        <p:spPr>
          <a:xfrm>
            <a:off x="838200" y="1825625"/>
            <a:ext cx="5181600" cy="4351338"/>
          </a:xfr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เนื้อหา 3">
            <a:extLst>
              <a:ext uri="{FF2B5EF4-FFF2-40B4-BE49-F238E27FC236}">
                <a16:creationId xmlns:a16="http://schemas.microsoft.com/office/drawing/2014/main" id="{9E494B8C-2A60-AC69-0C85-0E75AAC1A17C}"/>
              </a:ext>
            </a:extLst>
          </p:cNvPr>
          <p:cNvSpPr>
            <a:spLocks noGrp="1"/>
          </p:cNvSpPr>
          <p:nvPr>
            <p:ph sz="half" idx="2"/>
          </p:nvPr>
        </p:nvSpPr>
        <p:spPr>
          <a:xfrm>
            <a:off x="6172200" y="1825625"/>
            <a:ext cx="5181600" cy="4351338"/>
          </a:xfr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ตัวแทนวันที่ 4">
            <a:extLst>
              <a:ext uri="{FF2B5EF4-FFF2-40B4-BE49-F238E27FC236}">
                <a16:creationId xmlns:a16="http://schemas.microsoft.com/office/drawing/2014/main" id="{A1ECED2D-8866-6193-85EC-67BC140358C3}"/>
              </a:ext>
            </a:extLst>
          </p:cNvPr>
          <p:cNvSpPr>
            <a:spLocks noGrp="1"/>
          </p:cNvSpPr>
          <p:nvPr>
            <p:ph type="dt" sz="half" idx="10"/>
          </p:nvPr>
        </p:nvSpPr>
        <p:spPr/>
        <p:txBody>
          <a:bodyPr/>
          <a:lstStyle/>
          <a:p>
            <a:fld id="{50F6C948-85A6-4EB0-A967-1A0962B7BA39}" type="datetimeFigureOut">
              <a:rPr lang="th-TH" smtClean="0"/>
              <a:t>29/09/69</a:t>
            </a:fld>
            <a:endParaRPr lang="th-TH"/>
          </a:p>
        </p:txBody>
      </p:sp>
      <p:sp>
        <p:nvSpPr>
          <p:cNvPr id="6" name="ตัวแทนท้ายกระดาษ 5">
            <a:extLst>
              <a:ext uri="{FF2B5EF4-FFF2-40B4-BE49-F238E27FC236}">
                <a16:creationId xmlns:a16="http://schemas.microsoft.com/office/drawing/2014/main" id="{9D422718-5707-905E-67D9-65CF6EBEF768}"/>
              </a:ext>
            </a:extLst>
          </p:cNvPr>
          <p:cNvSpPr>
            <a:spLocks noGrp="1"/>
          </p:cNvSpPr>
          <p:nvPr>
            <p:ph type="ftr" sz="quarter" idx="11"/>
          </p:nvPr>
        </p:nvSpPr>
        <p:spPr/>
        <p:txBody>
          <a:bodyPr/>
          <a:lstStyle/>
          <a:p>
            <a:endParaRPr lang="th-TH"/>
          </a:p>
        </p:txBody>
      </p:sp>
      <p:sp>
        <p:nvSpPr>
          <p:cNvPr id="7" name="ตัวแทนหมายเลขสไลด์ 6">
            <a:extLst>
              <a:ext uri="{FF2B5EF4-FFF2-40B4-BE49-F238E27FC236}">
                <a16:creationId xmlns:a16="http://schemas.microsoft.com/office/drawing/2014/main" id="{BA089549-536A-95E8-59DA-DE1F9C260B1B}"/>
              </a:ext>
            </a:extLst>
          </p:cNvPr>
          <p:cNvSpPr>
            <a:spLocks noGrp="1"/>
          </p:cNvSpPr>
          <p:nvPr>
            <p:ph type="sldNum" sz="quarter" idx="12"/>
          </p:nvPr>
        </p:nvSpPr>
        <p:spPr/>
        <p:txBody>
          <a:bodyPr/>
          <a:lstStyle/>
          <a:p>
            <a:fld id="{66F6431F-5465-459B-AC14-A1F1B6EE0AAB}" type="slidenum">
              <a:rPr lang="th-TH" smtClean="0"/>
              <a:t>‹#›</a:t>
            </a:fld>
            <a:endParaRPr lang="th-TH"/>
          </a:p>
        </p:txBody>
      </p:sp>
    </p:spTree>
    <p:extLst>
      <p:ext uri="{BB962C8B-B14F-4D97-AF65-F5344CB8AC3E}">
        <p14:creationId xmlns:p14="http://schemas.microsoft.com/office/powerpoint/2010/main" val="3880324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การเปรียบเทียบ">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88A180FC-D990-6FB8-5B76-935661B5E1AA}"/>
              </a:ext>
            </a:extLst>
          </p:cNvPr>
          <p:cNvSpPr>
            <a:spLocks noGrp="1"/>
          </p:cNvSpPr>
          <p:nvPr>
            <p:ph type="title"/>
          </p:nvPr>
        </p:nvSpPr>
        <p:spPr>
          <a:xfrm>
            <a:off x="839788" y="365125"/>
            <a:ext cx="10515600" cy="1325563"/>
          </a:xfrm>
        </p:spPr>
        <p:txBody>
          <a:bodyPr/>
          <a:lstStyle/>
          <a:p>
            <a:r>
              <a:rPr lang="th-TH"/>
              <a:t>คลิกเพื่อแก้ไขสไตล์ชื่อเรื่องต้นแบบ</a:t>
            </a:r>
          </a:p>
        </p:txBody>
      </p:sp>
      <p:sp>
        <p:nvSpPr>
          <p:cNvPr id="3" name="ตัวแทนข้อความ 2">
            <a:extLst>
              <a:ext uri="{FF2B5EF4-FFF2-40B4-BE49-F238E27FC236}">
                <a16:creationId xmlns:a16="http://schemas.microsoft.com/office/drawing/2014/main" id="{FEEF60AA-A4A5-555B-6699-10310AF46E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คลิกเพื่อแก้ไขสไตล์ของข้อความต้นแบบ</a:t>
            </a:r>
          </a:p>
        </p:txBody>
      </p:sp>
      <p:sp>
        <p:nvSpPr>
          <p:cNvPr id="4" name="ตัวแทนเนื้อหา 3">
            <a:extLst>
              <a:ext uri="{FF2B5EF4-FFF2-40B4-BE49-F238E27FC236}">
                <a16:creationId xmlns:a16="http://schemas.microsoft.com/office/drawing/2014/main" id="{B0DBB602-7FE1-1D61-53CC-32D5FBFFC5C9}"/>
              </a:ext>
            </a:extLst>
          </p:cNvPr>
          <p:cNvSpPr>
            <a:spLocks noGrp="1"/>
          </p:cNvSpPr>
          <p:nvPr>
            <p:ph sz="half" idx="2"/>
          </p:nvPr>
        </p:nvSpPr>
        <p:spPr>
          <a:xfrm>
            <a:off x="839788" y="2505075"/>
            <a:ext cx="5157787" cy="3684588"/>
          </a:xfr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ตัวแทนข้อความ 4">
            <a:extLst>
              <a:ext uri="{FF2B5EF4-FFF2-40B4-BE49-F238E27FC236}">
                <a16:creationId xmlns:a16="http://schemas.microsoft.com/office/drawing/2014/main" id="{F850C71D-796D-2F04-6EA3-A9E4464203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คลิกเพื่อแก้ไขสไตล์ของข้อความต้นแบบ</a:t>
            </a:r>
          </a:p>
        </p:txBody>
      </p:sp>
      <p:sp>
        <p:nvSpPr>
          <p:cNvPr id="6" name="ตัวแทนเนื้อหา 5">
            <a:extLst>
              <a:ext uri="{FF2B5EF4-FFF2-40B4-BE49-F238E27FC236}">
                <a16:creationId xmlns:a16="http://schemas.microsoft.com/office/drawing/2014/main" id="{C0EEAB16-8F2E-41A7-D677-B94453C00425}"/>
              </a:ext>
            </a:extLst>
          </p:cNvPr>
          <p:cNvSpPr>
            <a:spLocks noGrp="1"/>
          </p:cNvSpPr>
          <p:nvPr>
            <p:ph sz="quarter" idx="4"/>
          </p:nvPr>
        </p:nvSpPr>
        <p:spPr>
          <a:xfrm>
            <a:off x="6172200" y="2505075"/>
            <a:ext cx="5183188" cy="3684588"/>
          </a:xfr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7" name="ตัวแทนวันที่ 6">
            <a:extLst>
              <a:ext uri="{FF2B5EF4-FFF2-40B4-BE49-F238E27FC236}">
                <a16:creationId xmlns:a16="http://schemas.microsoft.com/office/drawing/2014/main" id="{BD81E2BE-E31E-5E60-2E8B-3E55E1D0061A}"/>
              </a:ext>
            </a:extLst>
          </p:cNvPr>
          <p:cNvSpPr>
            <a:spLocks noGrp="1"/>
          </p:cNvSpPr>
          <p:nvPr>
            <p:ph type="dt" sz="half" idx="10"/>
          </p:nvPr>
        </p:nvSpPr>
        <p:spPr/>
        <p:txBody>
          <a:bodyPr/>
          <a:lstStyle/>
          <a:p>
            <a:fld id="{50F6C948-85A6-4EB0-A967-1A0962B7BA39}" type="datetimeFigureOut">
              <a:rPr lang="th-TH" smtClean="0"/>
              <a:t>29/09/69</a:t>
            </a:fld>
            <a:endParaRPr lang="th-TH"/>
          </a:p>
        </p:txBody>
      </p:sp>
      <p:sp>
        <p:nvSpPr>
          <p:cNvPr id="8" name="ตัวแทนท้ายกระดาษ 7">
            <a:extLst>
              <a:ext uri="{FF2B5EF4-FFF2-40B4-BE49-F238E27FC236}">
                <a16:creationId xmlns:a16="http://schemas.microsoft.com/office/drawing/2014/main" id="{A4BBEDD9-0CBB-6481-1CE6-CFB878442FBE}"/>
              </a:ext>
            </a:extLst>
          </p:cNvPr>
          <p:cNvSpPr>
            <a:spLocks noGrp="1"/>
          </p:cNvSpPr>
          <p:nvPr>
            <p:ph type="ftr" sz="quarter" idx="11"/>
          </p:nvPr>
        </p:nvSpPr>
        <p:spPr/>
        <p:txBody>
          <a:bodyPr/>
          <a:lstStyle/>
          <a:p>
            <a:endParaRPr lang="th-TH"/>
          </a:p>
        </p:txBody>
      </p:sp>
      <p:sp>
        <p:nvSpPr>
          <p:cNvPr id="9" name="ตัวแทนหมายเลขสไลด์ 8">
            <a:extLst>
              <a:ext uri="{FF2B5EF4-FFF2-40B4-BE49-F238E27FC236}">
                <a16:creationId xmlns:a16="http://schemas.microsoft.com/office/drawing/2014/main" id="{D7B6ADC9-1AD9-6A7D-021D-50688534D5D7}"/>
              </a:ext>
            </a:extLst>
          </p:cNvPr>
          <p:cNvSpPr>
            <a:spLocks noGrp="1"/>
          </p:cNvSpPr>
          <p:nvPr>
            <p:ph type="sldNum" sz="quarter" idx="12"/>
          </p:nvPr>
        </p:nvSpPr>
        <p:spPr/>
        <p:txBody>
          <a:bodyPr/>
          <a:lstStyle/>
          <a:p>
            <a:fld id="{66F6431F-5465-459B-AC14-A1F1B6EE0AAB}" type="slidenum">
              <a:rPr lang="th-TH" smtClean="0"/>
              <a:t>‹#›</a:t>
            </a:fld>
            <a:endParaRPr lang="th-TH"/>
          </a:p>
        </p:txBody>
      </p:sp>
    </p:spTree>
    <p:extLst>
      <p:ext uri="{BB962C8B-B14F-4D97-AF65-F5344CB8AC3E}">
        <p14:creationId xmlns:p14="http://schemas.microsoft.com/office/powerpoint/2010/main" val="3898651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เฉพาะชื่อเรื่อ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66F5273D-E268-F5E4-1571-2AAB46C43A01}"/>
              </a:ext>
            </a:extLst>
          </p:cNvPr>
          <p:cNvSpPr>
            <a:spLocks noGrp="1"/>
          </p:cNvSpPr>
          <p:nvPr>
            <p:ph type="title"/>
          </p:nvPr>
        </p:nvSpPr>
        <p:spPr/>
        <p:txBody>
          <a:bodyPr/>
          <a:lstStyle/>
          <a:p>
            <a:r>
              <a:rPr lang="th-TH"/>
              <a:t>คลิกเพื่อแก้ไขสไตล์ชื่อเรื่องต้นแบบ</a:t>
            </a:r>
          </a:p>
        </p:txBody>
      </p:sp>
      <p:sp>
        <p:nvSpPr>
          <p:cNvPr id="3" name="ตัวแทนวันที่ 2">
            <a:extLst>
              <a:ext uri="{FF2B5EF4-FFF2-40B4-BE49-F238E27FC236}">
                <a16:creationId xmlns:a16="http://schemas.microsoft.com/office/drawing/2014/main" id="{EF6F2A54-976D-DD87-300D-23FBB3BB92E3}"/>
              </a:ext>
            </a:extLst>
          </p:cNvPr>
          <p:cNvSpPr>
            <a:spLocks noGrp="1"/>
          </p:cNvSpPr>
          <p:nvPr>
            <p:ph type="dt" sz="half" idx="10"/>
          </p:nvPr>
        </p:nvSpPr>
        <p:spPr/>
        <p:txBody>
          <a:bodyPr/>
          <a:lstStyle/>
          <a:p>
            <a:fld id="{50F6C948-85A6-4EB0-A967-1A0962B7BA39}" type="datetimeFigureOut">
              <a:rPr lang="th-TH" smtClean="0"/>
              <a:t>29/09/69</a:t>
            </a:fld>
            <a:endParaRPr lang="th-TH"/>
          </a:p>
        </p:txBody>
      </p:sp>
      <p:sp>
        <p:nvSpPr>
          <p:cNvPr id="4" name="ตัวแทนท้ายกระดาษ 3">
            <a:extLst>
              <a:ext uri="{FF2B5EF4-FFF2-40B4-BE49-F238E27FC236}">
                <a16:creationId xmlns:a16="http://schemas.microsoft.com/office/drawing/2014/main" id="{FD914A05-1D22-09CF-5F07-56004A6AC40F}"/>
              </a:ext>
            </a:extLst>
          </p:cNvPr>
          <p:cNvSpPr>
            <a:spLocks noGrp="1"/>
          </p:cNvSpPr>
          <p:nvPr>
            <p:ph type="ftr" sz="quarter" idx="11"/>
          </p:nvPr>
        </p:nvSpPr>
        <p:spPr/>
        <p:txBody>
          <a:bodyPr/>
          <a:lstStyle/>
          <a:p>
            <a:endParaRPr lang="th-TH"/>
          </a:p>
        </p:txBody>
      </p:sp>
      <p:sp>
        <p:nvSpPr>
          <p:cNvPr id="5" name="ตัวแทนหมายเลขสไลด์ 4">
            <a:extLst>
              <a:ext uri="{FF2B5EF4-FFF2-40B4-BE49-F238E27FC236}">
                <a16:creationId xmlns:a16="http://schemas.microsoft.com/office/drawing/2014/main" id="{FEB2FC5C-4BCE-99CC-B6F9-12549EC7BD07}"/>
              </a:ext>
            </a:extLst>
          </p:cNvPr>
          <p:cNvSpPr>
            <a:spLocks noGrp="1"/>
          </p:cNvSpPr>
          <p:nvPr>
            <p:ph type="sldNum" sz="quarter" idx="12"/>
          </p:nvPr>
        </p:nvSpPr>
        <p:spPr/>
        <p:txBody>
          <a:bodyPr/>
          <a:lstStyle/>
          <a:p>
            <a:fld id="{66F6431F-5465-459B-AC14-A1F1B6EE0AAB}" type="slidenum">
              <a:rPr lang="th-TH" smtClean="0"/>
              <a:t>‹#›</a:t>
            </a:fld>
            <a:endParaRPr lang="th-TH"/>
          </a:p>
        </p:txBody>
      </p:sp>
    </p:spTree>
    <p:extLst>
      <p:ext uri="{BB962C8B-B14F-4D97-AF65-F5344CB8AC3E}">
        <p14:creationId xmlns:p14="http://schemas.microsoft.com/office/powerpoint/2010/main" val="3496670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ว่างเปล่า">
    <p:spTree>
      <p:nvGrpSpPr>
        <p:cNvPr id="1" name=""/>
        <p:cNvGrpSpPr/>
        <p:nvPr/>
      </p:nvGrpSpPr>
      <p:grpSpPr>
        <a:xfrm>
          <a:off x="0" y="0"/>
          <a:ext cx="0" cy="0"/>
          <a:chOff x="0" y="0"/>
          <a:chExt cx="0" cy="0"/>
        </a:xfrm>
      </p:grpSpPr>
      <p:sp>
        <p:nvSpPr>
          <p:cNvPr id="2" name="ตัวแทนวันที่ 1">
            <a:extLst>
              <a:ext uri="{FF2B5EF4-FFF2-40B4-BE49-F238E27FC236}">
                <a16:creationId xmlns:a16="http://schemas.microsoft.com/office/drawing/2014/main" id="{5323ACAE-B84F-134C-03BC-6AFA2A5AB4E4}"/>
              </a:ext>
            </a:extLst>
          </p:cNvPr>
          <p:cNvSpPr>
            <a:spLocks noGrp="1"/>
          </p:cNvSpPr>
          <p:nvPr>
            <p:ph type="dt" sz="half" idx="10"/>
          </p:nvPr>
        </p:nvSpPr>
        <p:spPr/>
        <p:txBody>
          <a:bodyPr/>
          <a:lstStyle/>
          <a:p>
            <a:fld id="{50F6C948-85A6-4EB0-A967-1A0962B7BA39}" type="datetimeFigureOut">
              <a:rPr lang="th-TH" smtClean="0"/>
              <a:t>29/09/69</a:t>
            </a:fld>
            <a:endParaRPr lang="th-TH"/>
          </a:p>
        </p:txBody>
      </p:sp>
      <p:sp>
        <p:nvSpPr>
          <p:cNvPr id="3" name="ตัวแทนท้ายกระดาษ 2">
            <a:extLst>
              <a:ext uri="{FF2B5EF4-FFF2-40B4-BE49-F238E27FC236}">
                <a16:creationId xmlns:a16="http://schemas.microsoft.com/office/drawing/2014/main" id="{233E9825-4C24-0A82-8F25-0DC6D0320397}"/>
              </a:ext>
            </a:extLst>
          </p:cNvPr>
          <p:cNvSpPr>
            <a:spLocks noGrp="1"/>
          </p:cNvSpPr>
          <p:nvPr>
            <p:ph type="ftr" sz="quarter" idx="11"/>
          </p:nvPr>
        </p:nvSpPr>
        <p:spPr/>
        <p:txBody>
          <a:bodyPr/>
          <a:lstStyle/>
          <a:p>
            <a:endParaRPr lang="th-TH"/>
          </a:p>
        </p:txBody>
      </p:sp>
      <p:sp>
        <p:nvSpPr>
          <p:cNvPr id="4" name="ตัวแทนหมายเลขสไลด์ 3">
            <a:extLst>
              <a:ext uri="{FF2B5EF4-FFF2-40B4-BE49-F238E27FC236}">
                <a16:creationId xmlns:a16="http://schemas.microsoft.com/office/drawing/2014/main" id="{46C57E42-4EE7-9CAC-DA52-BC9BB06932B0}"/>
              </a:ext>
            </a:extLst>
          </p:cNvPr>
          <p:cNvSpPr>
            <a:spLocks noGrp="1"/>
          </p:cNvSpPr>
          <p:nvPr>
            <p:ph type="sldNum" sz="quarter" idx="12"/>
          </p:nvPr>
        </p:nvSpPr>
        <p:spPr/>
        <p:txBody>
          <a:bodyPr/>
          <a:lstStyle/>
          <a:p>
            <a:fld id="{66F6431F-5465-459B-AC14-A1F1B6EE0AAB}" type="slidenum">
              <a:rPr lang="th-TH" smtClean="0"/>
              <a:t>‹#›</a:t>
            </a:fld>
            <a:endParaRPr lang="th-TH"/>
          </a:p>
        </p:txBody>
      </p:sp>
    </p:spTree>
    <p:extLst>
      <p:ext uri="{BB962C8B-B14F-4D97-AF65-F5344CB8AC3E}">
        <p14:creationId xmlns:p14="http://schemas.microsoft.com/office/powerpoint/2010/main" val="3653738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เนื้อหาพร้อมคำอธิบายภาพ">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56783EDB-E95B-C53B-9B7A-BDB0A549AA38}"/>
              </a:ext>
            </a:extLst>
          </p:cNvPr>
          <p:cNvSpPr>
            <a:spLocks noGrp="1"/>
          </p:cNvSpPr>
          <p:nvPr>
            <p:ph type="title"/>
          </p:nvPr>
        </p:nvSpPr>
        <p:spPr>
          <a:xfrm>
            <a:off x="839788" y="457200"/>
            <a:ext cx="3932237" cy="1600200"/>
          </a:xfrm>
        </p:spPr>
        <p:txBody>
          <a:bodyPr anchor="b"/>
          <a:lstStyle>
            <a:lvl1pPr>
              <a:defRPr sz="3200"/>
            </a:lvl1p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B87E0EBC-9205-D471-DB76-326A09F7C0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ข้อความ 3">
            <a:extLst>
              <a:ext uri="{FF2B5EF4-FFF2-40B4-BE49-F238E27FC236}">
                <a16:creationId xmlns:a16="http://schemas.microsoft.com/office/drawing/2014/main" id="{1B721FAB-4DB7-B8CF-AE0A-FA6EFDB837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a:t>คลิกเพื่อแก้ไขสไตล์ของข้อความต้นแบบ</a:t>
            </a:r>
          </a:p>
        </p:txBody>
      </p:sp>
      <p:sp>
        <p:nvSpPr>
          <p:cNvPr id="5" name="ตัวแทนวันที่ 4">
            <a:extLst>
              <a:ext uri="{FF2B5EF4-FFF2-40B4-BE49-F238E27FC236}">
                <a16:creationId xmlns:a16="http://schemas.microsoft.com/office/drawing/2014/main" id="{90A29FE1-1F54-B821-2C12-7D237D51C5BF}"/>
              </a:ext>
            </a:extLst>
          </p:cNvPr>
          <p:cNvSpPr>
            <a:spLocks noGrp="1"/>
          </p:cNvSpPr>
          <p:nvPr>
            <p:ph type="dt" sz="half" idx="10"/>
          </p:nvPr>
        </p:nvSpPr>
        <p:spPr/>
        <p:txBody>
          <a:bodyPr/>
          <a:lstStyle/>
          <a:p>
            <a:fld id="{50F6C948-85A6-4EB0-A967-1A0962B7BA39}" type="datetimeFigureOut">
              <a:rPr lang="th-TH" smtClean="0"/>
              <a:t>29/09/69</a:t>
            </a:fld>
            <a:endParaRPr lang="th-TH"/>
          </a:p>
        </p:txBody>
      </p:sp>
      <p:sp>
        <p:nvSpPr>
          <p:cNvPr id="6" name="ตัวแทนท้ายกระดาษ 5">
            <a:extLst>
              <a:ext uri="{FF2B5EF4-FFF2-40B4-BE49-F238E27FC236}">
                <a16:creationId xmlns:a16="http://schemas.microsoft.com/office/drawing/2014/main" id="{4E42EF90-994A-B4EB-DA71-796DDFCE77D0}"/>
              </a:ext>
            </a:extLst>
          </p:cNvPr>
          <p:cNvSpPr>
            <a:spLocks noGrp="1"/>
          </p:cNvSpPr>
          <p:nvPr>
            <p:ph type="ftr" sz="quarter" idx="11"/>
          </p:nvPr>
        </p:nvSpPr>
        <p:spPr/>
        <p:txBody>
          <a:bodyPr/>
          <a:lstStyle/>
          <a:p>
            <a:endParaRPr lang="th-TH"/>
          </a:p>
        </p:txBody>
      </p:sp>
      <p:sp>
        <p:nvSpPr>
          <p:cNvPr id="7" name="ตัวแทนหมายเลขสไลด์ 6">
            <a:extLst>
              <a:ext uri="{FF2B5EF4-FFF2-40B4-BE49-F238E27FC236}">
                <a16:creationId xmlns:a16="http://schemas.microsoft.com/office/drawing/2014/main" id="{9CF2BAEC-86B8-26A6-4C64-237D40C707B0}"/>
              </a:ext>
            </a:extLst>
          </p:cNvPr>
          <p:cNvSpPr>
            <a:spLocks noGrp="1"/>
          </p:cNvSpPr>
          <p:nvPr>
            <p:ph type="sldNum" sz="quarter" idx="12"/>
          </p:nvPr>
        </p:nvSpPr>
        <p:spPr/>
        <p:txBody>
          <a:bodyPr/>
          <a:lstStyle/>
          <a:p>
            <a:fld id="{66F6431F-5465-459B-AC14-A1F1B6EE0AAB}" type="slidenum">
              <a:rPr lang="th-TH" smtClean="0"/>
              <a:t>‹#›</a:t>
            </a:fld>
            <a:endParaRPr lang="th-TH"/>
          </a:p>
        </p:txBody>
      </p:sp>
    </p:spTree>
    <p:extLst>
      <p:ext uri="{BB962C8B-B14F-4D97-AF65-F5344CB8AC3E}">
        <p14:creationId xmlns:p14="http://schemas.microsoft.com/office/powerpoint/2010/main" val="87775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รูปภาพพร้อมคำอธิบายภาพ">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9BAE1F22-4A82-E9B9-0F50-7FB9AD92568E}"/>
              </a:ext>
            </a:extLst>
          </p:cNvPr>
          <p:cNvSpPr>
            <a:spLocks noGrp="1"/>
          </p:cNvSpPr>
          <p:nvPr>
            <p:ph type="title"/>
          </p:nvPr>
        </p:nvSpPr>
        <p:spPr>
          <a:xfrm>
            <a:off x="839788" y="457200"/>
            <a:ext cx="3932237" cy="1600200"/>
          </a:xfrm>
        </p:spPr>
        <p:txBody>
          <a:bodyPr anchor="b"/>
          <a:lstStyle>
            <a:lvl1pPr>
              <a:defRPr sz="3200"/>
            </a:lvl1pPr>
          </a:lstStyle>
          <a:p>
            <a:r>
              <a:rPr lang="th-TH"/>
              <a:t>คลิกเพื่อแก้ไขสไตล์ชื่อเรื่องต้นแบบ</a:t>
            </a:r>
          </a:p>
        </p:txBody>
      </p:sp>
      <p:sp>
        <p:nvSpPr>
          <p:cNvPr id="3" name="ตัวแทนรูปภาพ 2">
            <a:extLst>
              <a:ext uri="{FF2B5EF4-FFF2-40B4-BE49-F238E27FC236}">
                <a16:creationId xmlns:a16="http://schemas.microsoft.com/office/drawing/2014/main" id="{F58DF994-C359-A99B-277A-F92B1EB4DB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ตัวแทนข้อความ 3">
            <a:extLst>
              <a:ext uri="{FF2B5EF4-FFF2-40B4-BE49-F238E27FC236}">
                <a16:creationId xmlns:a16="http://schemas.microsoft.com/office/drawing/2014/main" id="{159C1178-CDC7-94EE-0239-5B41CDAC23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a:t>คลิกเพื่อแก้ไขสไตล์ของข้อความต้นแบบ</a:t>
            </a:r>
          </a:p>
        </p:txBody>
      </p:sp>
      <p:sp>
        <p:nvSpPr>
          <p:cNvPr id="5" name="ตัวแทนวันที่ 4">
            <a:extLst>
              <a:ext uri="{FF2B5EF4-FFF2-40B4-BE49-F238E27FC236}">
                <a16:creationId xmlns:a16="http://schemas.microsoft.com/office/drawing/2014/main" id="{54BD8FB8-A8CF-F2BE-1DF4-897A3499EC42}"/>
              </a:ext>
            </a:extLst>
          </p:cNvPr>
          <p:cNvSpPr>
            <a:spLocks noGrp="1"/>
          </p:cNvSpPr>
          <p:nvPr>
            <p:ph type="dt" sz="half" idx="10"/>
          </p:nvPr>
        </p:nvSpPr>
        <p:spPr/>
        <p:txBody>
          <a:bodyPr/>
          <a:lstStyle/>
          <a:p>
            <a:fld id="{50F6C948-85A6-4EB0-A967-1A0962B7BA39}" type="datetimeFigureOut">
              <a:rPr lang="th-TH" smtClean="0"/>
              <a:t>29/09/69</a:t>
            </a:fld>
            <a:endParaRPr lang="th-TH"/>
          </a:p>
        </p:txBody>
      </p:sp>
      <p:sp>
        <p:nvSpPr>
          <p:cNvPr id="6" name="ตัวแทนท้ายกระดาษ 5">
            <a:extLst>
              <a:ext uri="{FF2B5EF4-FFF2-40B4-BE49-F238E27FC236}">
                <a16:creationId xmlns:a16="http://schemas.microsoft.com/office/drawing/2014/main" id="{2A5DF8F6-B2FF-9F6A-7CD9-4115F2B2D9B2}"/>
              </a:ext>
            </a:extLst>
          </p:cNvPr>
          <p:cNvSpPr>
            <a:spLocks noGrp="1"/>
          </p:cNvSpPr>
          <p:nvPr>
            <p:ph type="ftr" sz="quarter" idx="11"/>
          </p:nvPr>
        </p:nvSpPr>
        <p:spPr/>
        <p:txBody>
          <a:bodyPr/>
          <a:lstStyle/>
          <a:p>
            <a:endParaRPr lang="th-TH"/>
          </a:p>
        </p:txBody>
      </p:sp>
      <p:sp>
        <p:nvSpPr>
          <p:cNvPr id="7" name="ตัวแทนหมายเลขสไลด์ 6">
            <a:extLst>
              <a:ext uri="{FF2B5EF4-FFF2-40B4-BE49-F238E27FC236}">
                <a16:creationId xmlns:a16="http://schemas.microsoft.com/office/drawing/2014/main" id="{0D67AE91-AA24-3207-6F93-04D4CE807FAA}"/>
              </a:ext>
            </a:extLst>
          </p:cNvPr>
          <p:cNvSpPr>
            <a:spLocks noGrp="1"/>
          </p:cNvSpPr>
          <p:nvPr>
            <p:ph type="sldNum" sz="quarter" idx="12"/>
          </p:nvPr>
        </p:nvSpPr>
        <p:spPr/>
        <p:txBody>
          <a:bodyPr/>
          <a:lstStyle/>
          <a:p>
            <a:fld id="{66F6431F-5465-459B-AC14-A1F1B6EE0AAB}" type="slidenum">
              <a:rPr lang="th-TH" smtClean="0"/>
              <a:t>‹#›</a:t>
            </a:fld>
            <a:endParaRPr lang="th-TH"/>
          </a:p>
        </p:txBody>
      </p:sp>
    </p:spTree>
    <p:extLst>
      <p:ext uri="{BB962C8B-B14F-4D97-AF65-F5344CB8AC3E}">
        <p14:creationId xmlns:p14="http://schemas.microsoft.com/office/powerpoint/2010/main" val="119451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ชื่อเรื่องและข้อความแนวตั้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50B16447-EE3C-E9F5-AA0E-8207BE524B5B}"/>
              </a:ext>
            </a:extLst>
          </p:cNvPr>
          <p:cNvSpPr>
            <a:spLocks noGrp="1"/>
          </p:cNvSpPr>
          <p:nvPr>
            <p:ph type="title"/>
          </p:nvPr>
        </p:nvSpPr>
        <p:spPr/>
        <p:txBody>
          <a:bodyPr/>
          <a:lstStyle/>
          <a:p>
            <a:r>
              <a:rPr lang="th-TH"/>
              <a:t>คลิกเพื่อแก้ไขสไตล์ชื่อเรื่องต้นแบบ</a:t>
            </a:r>
          </a:p>
        </p:txBody>
      </p:sp>
      <p:sp>
        <p:nvSpPr>
          <p:cNvPr id="3" name="ตัวแทนข้อความแนวตั้ง 2">
            <a:extLst>
              <a:ext uri="{FF2B5EF4-FFF2-40B4-BE49-F238E27FC236}">
                <a16:creationId xmlns:a16="http://schemas.microsoft.com/office/drawing/2014/main" id="{DAFB343D-3770-3147-E5A1-4FF6B55E9D28}"/>
              </a:ext>
            </a:extLst>
          </p:cNvPr>
          <p:cNvSpPr>
            <a:spLocks noGrp="1"/>
          </p:cNvSpPr>
          <p:nvPr>
            <p:ph type="body" orient="vert" idx="1"/>
          </p:nvPr>
        </p:nvSpPr>
        <p:spPr/>
        <p:txBody>
          <a:bodyPr vert="eaVert"/>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วันที่ 3">
            <a:extLst>
              <a:ext uri="{FF2B5EF4-FFF2-40B4-BE49-F238E27FC236}">
                <a16:creationId xmlns:a16="http://schemas.microsoft.com/office/drawing/2014/main" id="{7FF746F1-3F04-908A-CF57-F235AE28E5ED}"/>
              </a:ext>
            </a:extLst>
          </p:cNvPr>
          <p:cNvSpPr>
            <a:spLocks noGrp="1"/>
          </p:cNvSpPr>
          <p:nvPr>
            <p:ph type="dt" sz="half" idx="10"/>
          </p:nvPr>
        </p:nvSpPr>
        <p:spPr/>
        <p:txBody>
          <a:bodyPr/>
          <a:lstStyle/>
          <a:p>
            <a:fld id="{50F6C948-85A6-4EB0-A967-1A0962B7BA39}" type="datetimeFigureOut">
              <a:rPr lang="th-TH" smtClean="0"/>
              <a:t>29/09/69</a:t>
            </a:fld>
            <a:endParaRPr lang="th-TH"/>
          </a:p>
        </p:txBody>
      </p:sp>
      <p:sp>
        <p:nvSpPr>
          <p:cNvPr id="5" name="ตัวแทนท้ายกระดาษ 4">
            <a:extLst>
              <a:ext uri="{FF2B5EF4-FFF2-40B4-BE49-F238E27FC236}">
                <a16:creationId xmlns:a16="http://schemas.microsoft.com/office/drawing/2014/main" id="{68B112DA-C0FD-3BAA-0D97-328A51EE7D9D}"/>
              </a:ext>
            </a:extLst>
          </p:cNvPr>
          <p:cNvSpPr>
            <a:spLocks noGrp="1"/>
          </p:cNvSpPr>
          <p:nvPr>
            <p:ph type="ftr" sz="quarter" idx="11"/>
          </p:nvPr>
        </p:nvSpPr>
        <p:spPr/>
        <p:txBody>
          <a:bodyPr/>
          <a:lstStyle/>
          <a:p>
            <a:endParaRPr lang="th-TH"/>
          </a:p>
        </p:txBody>
      </p:sp>
      <p:sp>
        <p:nvSpPr>
          <p:cNvPr id="6" name="ตัวแทนหมายเลขสไลด์ 5">
            <a:extLst>
              <a:ext uri="{FF2B5EF4-FFF2-40B4-BE49-F238E27FC236}">
                <a16:creationId xmlns:a16="http://schemas.microsoft.com/office/drawing/2014/main" id="{D033ABB1-FD20-01CC-8EDB-340823F34F78}"/>
              </a:ext>
            </a:extLst>
          </p:cNvPr>
          <p:cNvSpPr>
            <a:spLocks noGrp="1"/>
          </p:cNvSpPr>
          <p:nvPr>
            <p:ph type="sldNum" sz="quarter" idx="12"/>
          </p:nvPr>
        </p:nvSpPr>
        <p:spPr/>
        <p:txBody>
          <a:bodyPr/>
          <a:lstStyle/>
          <a:p>
            <a:fld id="{66F6431F-5465-459B-AC14-A1F1B6EE0AAB}" type="slidenum">
              <a:rPr lang="th-TH" smtClean="0"/>
              <a:t>‹#›</a:t>
            </a:fld>
            <a:endParaRPr lang="th-TH"/>
          </a:p>
        </p:txBody>
      </p:sp>
    </p:spTree>
    <p:extLst>
      <p:ext uri="{BB962C8B-B14F-4D97-AF65-F5344CB8AC3E}">
        <p14:creationId xmlns:p14="http://schemas.microsoft.com/office/powerpoint/2010/main" val="16295907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ข้อความและชื่อเรื่องแนวตั้ง">
    <p:spTree>
      <p:nvGrpSpPr>
        <p:cNvPr id="1" name=""/>
        <p:cNvGrpSpPr/>
        <p:nvPr/>
      </p:nvGrpSpPr>
      <p:grpSpPr>
        <a:xfrm>
          <a:off x="0" y="0"/>
          <a:ext cx="0" cy="0"/>
          <a:chOff x="0" y="0"/>
          <a:chExt cx="0" cy="0"/>
        </a:xfrm>
      </p:grpSpPr>
      <p:sp>
        <p:nvSpPr>
          <p:cNvPr id="2" name="ชื่อเรื่องแนวตั้ง 1">
            <a:extLst>
              <a:ext uri="{FF2B5EF4-FFF2-40B4-BE49-F238E27FC236}">
                <a16:creationId xmlns:a16="http://schemas.microsoft.com/office/drawing/2014/main" id="{948C011A-3D82-8BFD-B9B2-E671E24F0090}"/>
              </a:ext>
            </a:extLst>
          </p:cNvPr>
          <p:cNvSpPr>
            <a:spLocks noGrp="1"/>
          </p:cNvSpPr>
          <p:nvPr>
            <p:ph type="title" orient="vert"/>
          </p:nvPr>
        </p:nvSpPr>
        <p:spPr>
          <a:xfrm>
            <a:off x="8724900" y="365125"/>
            <a:ext cx="2628900" cy="5811838"/>
          </a:xfrm>
        </p:spPr>
        <p:txBody>
          <a:bodyPr vert="eaVert"/>
          <a:lstStyle/>
          <a:p>
            <a:r>
              <a:rPr lang="th-TH"/>
              <a:t>คลิกเพื่อแก้ไขสไตล์ชื่อเรื่องต้นแบบ</a:t>
            </a:r>
          </a:p>
        </p:txBody>
      </p:sp>
      <p:sp>
        <p:nvSpPr>
          <p:cNvPr id="3" name="ตัวแทนข้อความแนวตั้ง 2">
            <a:extLst>
              <a:ext uri="{FF2B5EF4-FFF2-40B4-BE49-F238E27FC236}">
                <a16:creationId xmlns:a16="http://schemas.microsoft.com/office/drawing/2014/main" id="{758B0FD0-D8D3-AD1D-9663-B40997753809}"/>
              </a:ext>
            </a:extLst>
          </p:cNvPr>
          <p:cNvSpPr>
            <a:spLocks noGrp="1"/>
          </p:cNvSpPr>
          <p:nvPr>
            <p:ph type="body" orient="vert" idx="1"/>
          </p:nvPr>
        </p:nvSpPr>
        <p:spPr>
          <a:xfrm>
            <a:off x="838200" y="365125"/>
            <a:ext cx="7734300" cy="5811838"/>
          </a:xfrm>
        </p:spPr>
        <p:txBody>
          <a:bodyPr vert="eaVert"/>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วันที่ 3">
            <a:extLst>
              <a:ext uri="{FF2B5EF4-FFF2-40B4-BE49-F238E27FC236}">
                <a16:creationId xmlns:a16="http://schemas.microsoft.com/office/drawing/2014/main" id="{3B35F331-4C76-5E3C-7268-0E814CF42C07}"/>
              </a:ext>
            </a:extLst>
          </p:cNvPr>
          <p:cNvSpPr>
            <a:spLocks noGrp="1"/>
          </p:cNvSpPr>
          <p:nvPr>
            <p:ph type="dt" sz="half" idx="10"/>
          </p:nvPr>
        </p:nvSpPr>
        <p:spPr/>
        <p:txBody>
          <a:bodyPr/>
          <a:lstStyle/>
          <a:p>
            <a:fld id="{50F6C948-85A6-4EB0-A967-1A0962B7BA39}" type="datetimeFigureOut">
              <a:rPr lang="th-TH" smtClean="0"/>
              <a:t>29/09/69</a:t>
            </a:fld>
            <a:endParaRPr lang="th-TH"/>
          </a:p>
        </p:txBody>
      </p:sp>
      <p:sp>
        <p:nvSpPr>
          <p:cNvPr id="5" name="ตัวแทนท้ายกระดาษ 4">
            <a:extLst>
              <a:ext uri="{FF2B5EF4-FFF2-40B4-BE49-F238E27FC236}">
                <a16:creationId xmlns:a16="http://schemas.microsoft.com/office/drawing/2014/main" id="{62BD1C49-C79E-98AC-9F42-CB6E9919F2EB}"/>
              </a:ext>
            </a:extLst>
          </p:cNvPr>
          <p:cNvSpPr>
            <a:spLocks noGrp="1"/>
          </p:cNvSpPr>
          <p:nvPr>
            <p:ph type="ftr" sz="quarter" idx="11"/>
          </p:nvPr>
        </p:nvSpPr>
        <p:spPr/>
        <p:txBody>
          <a:bodyPr/>
          <a:lstStyle/>
          <a:p>
            <a:endParaRPr lang="th-TH"/>
          </a:p>
        </p:txBody>
      </p:sp>
      <p:sp>
        <p:nvSpPr>
          <p:cNvPr id="6" name="ตัวแทนหมายเลขสไลด์ 5">
            <a:extLst>
              <a:ext uri="{FF2B5EF4-FFF2-40B4-BE49-F238E27FC236}">
                <a16:creationId xmlns:a16="http://schemas.microsoft.com/office/drawing/2014/main" id="{1314705F-7DFC-D619-3987-E49A78943ED6}"/>
              </a:ext>
            </a:extLst>
          </p:cNvPr>
          <p:cNvSpPr>
            <a:spLocks noGrp="1"/>
          </p:cNvSpPr>
          <p:nvPr>
            <p:ph type="sldNum" sz="quarter" idx="12"/>
          </p:nvPr>
        </p:nvSpPr>
        <p:spPr/>
        <p:txBody>
          <a:bodyPr/>
          <a:lstStyle/>
          <a:p>
            <a:fld id="{66F6431F-5465-459B-AC14-A1F1B6EE0AAB}" type="slidenum">
              <a:rPr lang="th-TH" smtClean="0"/>
              <a:t>‹#›</a:t>
            </a:fld>
            <a:endParaRPr lang="th-TH"/>
          </a:p>
        </p:txBody>
      </p:sp>
    </p:spTree>
    <p:extLst>
      <p:ext uri="{BB962C8B-B14F-4D97-AF65-F5344CB8AC3E}">
        <p14:creationId xmlns:p14="http://schemas.microsoft.com/office/powerpoint/2010/main" val="2452216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1237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ตัวแทนชื่อเรื่อง 1">
            <a:extLst>
              <a:ext uri="{FF2B5EF4-FFF2-40B4-BE49-F238E27FC236}">
                <a16:creationId xmlns:a16="http://schemas.microsoft.com/office/drawing/2014/main" id="{FFC814A1-4CF4-A4BB-9171-96D40FCA8B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h-TH"/>
              <a:t>คลิกเพื่อแก้ไขสไตล์ชื่อเรื่องต้นแบบ</a:t>
            </a:r>
          </a:p>
        </p:txBody>
      </p:sp>
      <p:sp>
        <p:nvSpPr>
          <p:cNvPr id="3" name="ตัวแทนข้อความ 2">
            <a:extLst>
              <a:ext uri="{FF2B5EF4-FFF2-40B4-BE49-F238E27FC236}">
                <a16:creationId xmlns:a16="http://schemas.microsoft.com/office/drawing/2014/main" id="{697C8964-5160-D8F4-AF95-5F66981904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วันที่ 3">
            <a:extLst>
              <a:ext uri="{FF2B5EF4-FFF2-40B4-BE49-F238E27FC236}">
                <a16:creationId xmlns:a16="http://schemas.microsoft.com/office/drawing/2014/main" id="{3FA87346-EEB0-B558-8350-DDBD135A0C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0F6C948-85A6-4EB0-A967-1A0962B7BA39}" type="datetimeFigureOut">
              <a:rPr lang="th-TH" smtClean="0"/>
              <a:t>29/09/69</a:t>
            </a:fld>
            <a:endParaRPr lang="th-TH"/>
          </a:p>
        </p:txBody>
      </p:sp>
      <p:sp>
        <p:nvSpPr>
          <p:cNvPr id="5" name="ตัวแทนท้ายกระดาษ 4">
            <a:extLst>
              <a:ext uri="{FF2B5EF4-FFF2-40B4-BE49-F238E27FC236}">
                <a16:creationId xmlns:a16="http://schemas.microsoft.com/office/drawing/2014/main" id="{171DAFC6-94F2-0AEF-F506-9EF3497C9A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h-TH"/>
          </a:p>
        </p:txBody>
      </p:sp>
      <p:sp>
        <p:nvSpPr>
          <p:cNvPr id="6" name="ตัวแทนหมายเลขสไลด์ 5">
            <a:extLst>
              <a:ext uri="{FF2B5EF4-FFF2-40B4-BE49-F238E27FC236}">
                <a16:creationId xmlns:a16="http://schemas.microsoft.com/office/drawing/2014/main" id="{EFBD6D3C-7A5F-16D0-C896-1AC683D5E8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F6431F-5465-459B-AC14-A1F1B6EE0AAB}" type="slidenum">
              <a:rPr lang="th-TH" smtClean="0"/>
              <a:t>‹#›</a:t>
            </a:fld>
            <a:endParaRPr lang="th-TH"/>
          </a:p>
        </p:txBody>
      </p:sp>
    </p:spTree>
    <p:extLst>
      <p:ext uri="{BB962C8B-B14F-4D97-AF65-F5344CB8AC3E}">
        <p14:creationId xmlns:p14="http://schemas.microsoft.com/office/powerpoint/2010/main" val="15099536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jpeg"/><Relationship Id="rId7" Type="http://schemas.openxmlformats.org/officeDocument/2006/relationships/image" Target="../media/image7.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2.png"/><Relationship Id="rId9" Type="http://schemas.openxmlformats.org/officeDocument/2006/relationships/image" Target="../media/image9.svg"/></Relationships>
</file>

<file path=ppt/slides/_rels/slide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3.jpe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4.jpe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28.svg"/><Relationship Id="rId7" Type="http://schemas.openxmlformats.org/officeDocument/2006/relationships/image" Target="../media/image31.sv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6.svg"/><Relationship Id="rId9"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34.png"/><Relationship Id="rId4" Type="http://schemas.openxmlformats.org/officeDocument/2006/relationships/image" Target="../media/image33.jpeg"/><Relationship Id="rId9" Type="http://schemas.openxmlformats.org/officeDocument/2006/relationships/image" Target="../media/image2.png"/></Relationships>
</file>

<file path=ppt/slides/_rels/slide2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jpeg"/><Relationship Id="rId7"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jpeg"/><Relationship Id="rId7"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34.png"/><Relationship Id="rId4" Type="http://schemas.openxmlformats.org/officeDocument/2006/relationships/image" Target="../media/image2.png"/><Relationship Id="rId9"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40.jp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image" Target="../media/image42.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4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1.jpeg"/><Relationship Id="rId7"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2.png"/><Relationship Id="rId9" Type="http://schemas.openxmlformats.org/officeDocument/2006/relationships/image" Target="../media/image50.png"/></Relationships>
</file>

<file path=ppt/slides/_rels/slide34.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1.jpeg"/><Relationship Id="rId7" Type="http://schemas.openxmlformats.org/officeDocument/2006/relationships/image" Target="../media/image53.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2.png"/><Relationship Id="rId9" Type="http://schemas.openxmlformats.org/officeDocument/2006/relationships/image" Target="../media/image55.png"/></Relationships>
</file>

<file path=ppt/slides/_rels/slide35.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1.jpeg"/><Relationship Id="rId7" Type="http://schemas.openxmlformats.org/officeDocument/2006/relationships/image" Target="../media/image58.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2.png"/><Relationship Id="rId9" Type="http://schemas.openxmlformats.org/officeDocument/2006/relationships/image" Target="../media/image60.png"/></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63.pn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66.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71.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2.xml"/><Relationship Id="rId1" Type="http://schemas.openxmlformats.org/officeDocument/2006/relationships/slideLayout" Target="../slideLayouts/slideLayout1.xml"/><Relationship Id="rId5" Type="http://schemas.openxmlformats.org/officeDocument/2006/relationships/image" Target="../media/image72.png"/><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D3D12-60E3-B58B-04EC-85CA27F01DF9}"/>
            </a:ext>
          </a:extLst>
        </p:cNvPr>
        <p:cNvGrpSpPr/>
        <p:nvPr/>
      </p:nvGrpSpPr>
      <p:grpSpPr>
        <a:xfrm>
          <a:off x="0" y="0"/>
          <a:ext cx="0" cy="0"/>
          <a:chOff x="0" y="0"/>
          <a:chExt cx="0" cy="0"/>
        </a:xfrm>
      </p:grpSpPr>
      <p:pic>
        <p:nvPicPr>
          <p:cNvPr id="5" name="Picture 2" descr="Analog Devices | Disruptive Technology for Clinical Trials">
            <a:extLst>
              <a:ext uri="{FF2B5EF4-FFF2-40B4-BE49-F238E27FC236}">
                <a16:creationId xmlns:a16="http://schemas.microsoft.com/office/drawing/2014/main" id="{A351DF68-2A5B-7673-546D-66A1DEA4E7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30899" y="683079"/>
            <a:ext cx="1778854" cy="506974"/>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7" name="Picture 2" descr="LOGO_ENkku_color – Faculty of Engineering , Khon Kaen University">
            <a:extLst>
              <a:ext uri="{FF2B5EF4-FFF2-40B4-BE49-F238E27FC236}">
                <a16:creationId xmlns:a16="http://schemas.microsoft.com/office/drawing/2014/main" id="{4B6CE776-8449-3ACD-EE90-6854C58A1D3D}"/>
              </a:ext>
            </a:extLst>
          </p:cNvPr>
          <p:cNvPicPr>
            <a:picLocks noChangeAspect="1"/>
          </p:cNvPicPr>
          <p:nvPr/>
        </p:nvPicPr>
        <p:blipFill rotWithShape="1">
          <a:blip r:embed="rId3">
            <a:extLst>
              <a:ext uri="{28A0092B-C50C-407E-A947-70E740481C1C}">
                <a14:useLocalDpi xmlns:a14="http://schemas.microsoft.com/office/drawing/2010/main" val="0"/>
              </a:ext>
            </a:extLst>
          </a:blip>
          <a:srcRect l="14714" r="14020"/>
          <a:stretch>
            <a:fillRect/>
          </a:stretch>
        </p:blipFill>
        <p:spPr bwMode="auto">
          <a:xfrm>
            <a:off x="2566066" y="504846"/>
            <a:ext cx="870449" cy="863440"/>
          </a:xfrm>
          <a:prstGeom prst="rect">
            <a:avLst/>
          </a:prstGeom>
          <a:noFill/>
          <a:extLst>
            <a:ext uri="{909E8E84-426E-40DD-AFC4-6F175D3DCCD1}">
              <a14:hiddenFill xmlns:a14="http://schemas.microsoft.com/office/drawing/2010/main">
                <a:solidFill>
                  <a:srgbClr val="FFFFFF"/>
                </a:solidFill>
              </a14:hiddenFill>
            </a:ext>
          </a:extLst>
        </p:spPr>
      </p:pic>
      <p:sp>
        <p:nvSpPr>
          <p:cNvPr id="13" name="กล่องข้อความ 12">
            <a:extLst>
              <a:ext uri="{FF2B5EF4-FFF2-40B4-BE49-F238E27FC236}">
                <a16:creationId xmlns:a16="http://schemas.microsoft.com/office/drawing/2014/main" id="{B0E9D3B5-E31F-D0DB-B81E-0B6767A8B423}"/>
              </a:ext>
            </a:extLst>
          </p:cNvPr>
          <p:cNvSpPr txBox="1">
            <a:spLocks/>
          </p:cNvSpPr>
          <p:nvPr/>
        </p:nvSpPr>
        <p:spPr>
          <a:xfrm>
            <a:off x="586475" y="1628110"/>
            <a:ext cx="6478213" cy="1754326"/>
          </a:xfrm>
          <a:prstGeom prst="rect">
            <a:avLst/>
          </a:prstGeom>
          <a:noFill/>
        </p:spPr>
        <p:txBody>
          <a:bodyPr wrap="square" rtlCol="0">
            <a:spAutoFit/>
          </a:bodyPr>
          <a:lstStyle/>
          <a:p>
            <a:r>
              <a:rPr lang="en-US" sz="3600" b="1" dirty="0">
                <a:solidFill>
                  <a:srgbClr val="002060"/>
                </a:solidFill>
                <a:latin typeface="Helvetica" panose="020B0604020202020204" pitchFamily="34" charset="0"/>
                <a:cs typeface="Helvetica" panose="020B0604020202020204" pitchFamily="34" charset="0"/>
              </a:rPr>
              <a:t>Auto Sorter Module for HONTECT Alignment Plate on TM-X5065</a:t>
            </a:r>
          </a:p>
        </p:txBody>
      </p:sp>
      <p:sp>
        <p:nvSpPr>
          <p:cNvPr id="15" name="กล่องข้อความ 14">
            <a:extLst>
              <a:ext uri="{FF2B5EF4-FFF2-40B4-BE49-F238E27FC236}">
                <a16:creationId xmlns:a16="http://schemas.microsoft.com/office/drawing/2014/main" id="{942F2EC9-D185-9154-D5E4-0ECD54FEE210}"/>
              </a:ext>
            </a:extLst>
          </p:cNvPr>
          <p:cNvSpPr txBox="1">
            <a:spLocks/>
          </p:cNvSpPr>
          <p:nvPr/>
        </p:nvSpPr>
        <p:spPr>
          <a:xfrm>
            <a:off x="608687" y="3871615"/>
            <a:ext cx="6478213" cy="461665"/>
          </a:xfrm>
          <a:prstGeom prst="rect">
            <a:avLst/>
          </a:prstGeom>
          <a:noFill/>
        </p:spPr>
        <p:txBody>
          <a:bodyPr wrap="square" rtlCol="0">
            <a:spAutoFit/>
          </a:bodyPr>
          <a:lstStyle/>
          <a:p>
            <a:r>
              <a:rPr lang="en-US" sz="2400" dirty="0">
                <a:solidFill>
                  <a:srgbClr val="002060"/>
                </a:solidFill>
                <a:latin typeface="Helvetica" panose="020B0604020202020204" pitchFamily="34" charset="0"/>
                <a:cs typeface="Helvetica" panose="020B0604020202020204" pitchFamily="34" charset="0"/>
              </a:rPr>
              <a:t>Computer Engineering, Khon Kaen University</a:t>
            </a:r>
            <a:endParaRPr lang="th-TH" sz="2400" dirty="0">
              <a:solidFill>
                <a:srgbClr val="002060"/>
              </a:solidFill>
              <a:latin typeface="Helvetica" panose="020B0604020202020204" pitchFamily="34" charset="0"/>
              <a:cs typeface="Mitr" panose="00000500000000000000" pitchFamily="2" charset="-34"/>
            </a:endParaRPr>
          </a:p>
        </p:txBody>
      </p:sp>
      <p:sp>
        <p:nvSpPr>
          <p:cNvPr id="17" name="กล่องข้อความ 16">
            <a:extLst>
              <a:ext uri="{FF2B5EF4-FFF2-40B4-BE49-F238E27FC236}">
                <a16:creationId xmlns:a16="http://schemas.microsoft.com/office/drawing/2014/main" id="{33DE3892-A8C2-2B1D-591B-FC49F62772CB}"/>
              </a:ext>
            </a:extLst>
          </p:cNvPr>
          <p:cNvSpPr txBox="1">
            <a:spLocks/>
          </p:cNvSpPr>
          <p:nvPr/>
        </p:nvSpPr>
        <p:spPr>
          <a:xfrm>
            <a:off x="586475" y="4836609"/>
            <a:ext cx="6166141" cy="400110"/>
          </a:xfrm>
          <a:prstGeom prst="rect">
            <a:avLst/>
          </a:prstGeom>
          <a:noFill/>
        </p:spPr>
        <p:txBody>
          <a:bodyPr wrap="square" rtlCol="0">
            <a:spAutoFit/>
          </a:bodyPr>
          <a:lstStyle/>
          <a:p>
            <a:r>
              <a:rPr lang="en-US" sz="2000" b="1" dirty="0">
                <a:solidFill>
                  <a:srgbClr val="002060"/>
                </a:solidFill>
                <a:latin typeface="Helvetica" panose="020B0604020202020204" pitchFamily="34" charset="0"/>
                <a:cs typeface="Helvetica" panose="020B0604020202020204" pitchFamily="34" charset="0"/>
              </a:rPr>
              <a:t>Period: </a:t>
            </a:r>
            <a:r>
              <a:rPr lang="en-US" sz="2000" dirty="0">
                <a:solidFill>
                  <a:srgbClr val="002060"/>
                </a:solidFill>
                <a:latin typeface="Helvetica" panose="020B0604020202020204" pitchFamily="34" charset="0"/>
                <a:cs typeface="Helvetica" panose="020B0604020202020204" pitchFamily="34" charset="0"/>
              </a:rPr>
              <a:t>20 April – 16 October 2026 (6 months)</a:t>
            </a:r>
          </a:p>
        </p:txBody>
      </p:sp>
      <p:sp>
        <p:nvSpPr>
          <p:cNvPr id="21" name="กล่องข้อความ 20">
            <a:extLst>
              <a:ext uri="{FF2B5EF4-FFF2-40B4-BE49-F238E27FC236}">
                <a16:creationId xmlns:a16="http://schemas.microsoft.com/office/drawing/2014/main" id="{B22A4E99-F179-E483-51B1-9094D8E5584A}"/>
              </a:ext>
            </a:extLst>
          </p:cNvPr>
          <p:cNvSpPr txBox="1"/>
          <p:nvPr/>
        </p:nvSpPr>
        <p:spPr>
          <a:xfrm>
            <a:off x="586475" y="5253467"/>
            <a:ext cx="1979591" cy="400110"/>
          </a:xfrm>
          <a:prstGeom prst="rect">
            <a:avLst/>
          </a:prstGeom>
          <a:noFill/>
        </p:spPr>
        <p:txBody>
          <a:bodyPr wrap="square">
            <a:spAutoFit/>
          </a:bodyPr>
          <a:lstStyle/>
          <a:p>
            <a:r>
              <a:rPr lang="en-US" sz="2000" b="1" dirty="0">
                <a:solidFill>
                  <a:srgbClr val="002060"/>
                </a:solidFill>
                <a:latin typeface="Helvetica" panose="020B0604020202020204" pitchFamily="34" charset="0"/>
                <a:cs typeface="Helvetica" panose="020B0604020202020204" pitchFamily="34" charset="0"/>
              </a:rPr>
              <a:t>Presented by:</a:t>
            </a:r>
            <a:endParaRPr lang="en-US" sz="2000" dirty="0">
              <a:solidFill>
                <a:srgbClr val="002060"/>
              </a:solidFill>
              <a:latin typeface="Helvetica" panose="020B0604020202020204" pitchFamily="34" charset="0"/>
              <a:cs typeface="Helvetica" panose="020B0604020202020204" pitchFamily="34" charset="0"/>
            </a:endParaRPr>
          </a:p>
        </p:txBody>
      </p:sp>
      <p:cxnSp>
        <p:nvCxnSpPr>
          <p:cNvPr id="27" name="ตัวเชื่อมต่อตรง 26">
            <a:extLst>
              <a:ext uri="{FF2B5EF4-FFF2-40B4-BE49-F238E27FC236}">
                <a16:creationId xmlns:a16="http://schemas.microsoft.com/office/drawing/2014/main" id="{44A96514-FFEC-372A-2ABC-B9A82B640EFB}"/>
              </a:ext>
            </a:extLst>
          </p:cNvPr>
          <p:cNvCxnSpPr>
            <a:cxnSpLocks/>
          </p:cNvCxnSpPr>
          <p:nvPr/>
        </p:nvCxnSpPr>
        <p:spPr>
          <a:xfrm>
            <a:off x="608687" y="3687716"/>
            <a:ext cx="6969979" cy="0"/>
          </a:xfrm>
          <a:prstGeom prst="line">
            <a:avLst/>
          </a:prstGeom>
          <a:ln w="38100">
            <a:solidFill>
              <a:srgbClr val="7788AA">
                <a:alpha val="20000"/>
              </a:srgbClr>
            </a:solidFill>
          </a:ln>
        </p:spPr>
        <p:style>
          <a:lnRef idx="2">
            <a:schemeClr val="accent1"/>
          </a:lnRef>
          <a:fillRef idx="0">
            <a:schemeClr val="accent1"/>
          </a:fillRef>
          <a:effectRef idx="1">
            <a:schemeClr val="accent1"/>
          </a:effectRef>
          <a:fontRef idx="minor">
            <a:schemeClr val="tx1"/>
          </a:fontRef>
        </p:style>
      </p:cxnSp>
      <p:sp>
        <p:nvSpPr>
          <p:cNvPr id="4" name="สามเหลี่ยมมุมฉาก 3">
            <a:extLst>
              <a:ext uri="{FF2B5EF4-FFF2-40B4-BE49-F238E27FC236}">
                <a16:creationId xmlns:a16="http://schemas.microsoft.com/office/drawing/2014/main" id="{CEEEDBB7-5508-701E-A93D-BD744B6F91D8}"/>
              </a:ext>
            </a:extLst>
          </p:cNvPr>
          <p:cNvSpPr/>
          <p:nvPr/>
        </p:nvSpPr>
        <p:spPr>
          <a:xfrm flipH="1">
            <a:off x="7283175" y="2414253"/>
            <a:ext cx="5394960" cy="4443747"/>
          </a:xfrm>
          <a:prstGeom prst="rtTriangl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8" name="สามเหลี่ยมมุมฉาก 7">
            <a:extLst>
              <a:ext uri="{FF2B5EF4-FFF2-40B4-BE49-F238E27FC236}">
                <a16:creationId xmlns:a16="http://schemas.microsoft.com/office/drawing/2014/main" id="{BD93EB02-C50C-562E-B9CC-C11ECCC5CA5C}"/>
              </a:ext>
            </a:extLst>
          </p:cNvPr>
          <p:cNvSpPr/>
          <p:nvPr/>
        </p:nvSpPr>
        <p:spPr>
          <a:xfrm flipH="1" flipV="1">
            <a:off x="6315569" y="-2"/>
            <a:ext cx="6362566" cy="5181582"/>
          </a:xfrm>
          <a:prstGeom prst="r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1" name="กล่องข้อความ 10">
            <a:extLst>
              <a:ext uri="{FF2B5EF4-FFF2-40B4-BE49-F238E27FC236}">
                <a16:creationId xmlns:a16="http://schemas.microsoft.com/office/drawing/2014/main" id="{54B9A829-5225-FDD1-200C-1F2A7DA0D255}"/>
              </a:ext>
            </a:extLst>
          </p:cNvPr>
          <p:cNvSpPr txBox="1"/>
          <p:nvPr/>
        </p:nvSpPr>
        <p:spPr>
          <a:xfrm>
            <a:off x="586475" y="4419751"/>
            <a:ext cx="8323942" cy="400110"/>
          </a:xfrm>
          <a:prstGeom prst="rect">
            <a:avLst/>
          </a:prstGeom>
          <a:noFill/>
        </p:spPr>
        <p:txBody>
          <a:bodyPr wrap="square">
            <a:spAutoFit/>
          </a:bodyPr>
          <a:lstStyle/>
          <a:p>
            <a:r>
              <a:rPr lang="en-US" sz="2000" b="1" dirty="0">
                <a:solidFill>
                  <a:srgbClr val="002060"/>
                </a:solidFill>
                <a:latin typeface="Helvetica" panose="020B0604020202020204" pitchFamily="34" charset="0"/>
                <a:cs typeface="Helvetica" panose="020B0604020202020204" pitchFamily="34" charset="0"/>
              </a:rPr>
              <a:t>Department: </a:t>
            </a:r>
            <a:r>
              <a:rPr lang="en-US" sz="2000" dirty="0">
                <a:solidFill>
                  <a:srgbClr val="002060"/>
                </a:solidFill>
                <a:latin typeface="Helvetica" panose="020B0604020202020204" pitchFamily="34" charset="0"/>
                <a:cs typeface="Helvetica" panose="020B0604020202020204" pitchFamily="34" charset="0"/>
              </a:rPr>
              <a:t>Equipment Engineer &amp; Maintenance</a:t>
            </a:r>
          </a:p>
        </p:txBody>
      </p:sp>
      <p:sp>
        <p:nvSpPr>
          <p:cNvPr id="14" name="กล่องข้อความ 13">
            <a:extLst>
              <a:ext uri="{FF2B5EF4-FFF2-40B4-BE49-F238E27FC236}">
                <a16:creationId xmlns:a16="http://schemas.microsoft.com/office/drawing/2014/main" id="{94A3870B-01BA-B6FA-363F-AE1260E91540}"/>
              </a:ext>
            </a:extLst>
          </p:cNvPr>
          <p:cNvSpPr txBox="1"/>
          <p:nvPr/>
        </p:nvSpPr>
        <p:spPr>
          <a:xfrm>
            <a:off x="586475" y="6083279"/>
            <a:ext cx="5242959" cy="400110"/>
          </a:xfrm>
          <a:prstGeom prst="rect">
            <a:avLst/>
          </a:prstGeom>
          <a:noFill/>
        </p:spPr>
        <p:txBody>
          <a:bodyPr wrap="square">
            <a:spAutoFit/>
          </a:bodyPr>
          <a:lstStyle/>
          <a:p>
            <a:r>
              <a:rPr lang="en-US" sz="2000" b="1" dirty="0">
                <a:solidFill>
                  <a:srgbClr val="002060"/>
                </a:solidFill>
                <a:latin typeface="Helvetica" panose="020B0604020202020204" pitchFamily="34" charset="0"/>
                <a:cs typeface="Helvetica" panose="020B0604020202020204" pitchFamily="34" charset="0"/>
              </a:rPr>
              <a:t>Project Mentor: </a:t>
            </a:r>
            <a:r>
              <a:rPr lang="en-US" sz="2000" dirty="0">
                <a:solidFill>
                  <a:srgbClr val="002060"/>
                </a:solidFill>
                <a:latin typeface="Helvetica" panose="020B0604020202020204" pitchFamily="34" charset="0"/>
                <a:cs typeface="Helvetica" panose="020B0604020202020204" pitchFamily="34" charset="0"/>
              </a:rPr>
              <a:t>Mr. </a:t>
            </a:r>
            <a:r>
              <a:rPr lang="en-US" sz="2000" dirty="0">
                <a:solidFill>
                  <a:srgbClr val="002060"/>
                </a:solidFill>
                <a:latin typeface="Helvetica" panose="020B0604020202020204" pitchFamily="34" charset="0"/>
                <a:cs typeface="Mitr" panose="00000500000000000000" pitchFamily="2" charset="-34"/>
              </a:rPr>
              <a:t>Tulakan Posungneon</a:t>
            </a:r>
            <a:endParaRPr lang="th-TH" sz="2000" dirty="0">
              <a:solidFill>
                <a:srgbClr val="002060"/>
              </a:solidFill>
              <a:latin typeface="Helvetica" panose="020B0604020202020204" pitchFamily="34" charset="0"/>
              <a:cs typeface="Mitr" panose="00000500000000000000" pitchFamily="2" charset="-34"/>
            </a:endParaRPr>
          </a:p>
        </p:txBody>
      </p:sp>
      <p:pic>
        <p:nvPicPr>
          <p:cNvPr id="16" name="รูปภาพ 15" descr="Official LOGO - Khon Kaen University">
            <a:extLst>
              <a:ext uri="{FF2B5EF4-FFF2-40B4-BE49-F238E27FC236}">
                <a16:creationId xmlns:a16="http://schemas.microsoft.com/office/drawing/2014/main" id="{0BB0B814-5D09-B5F1-AA74-069F5A4E5003}"/>
              </a:ext>
            </a:extLst>
          </p:cNvPr>
          <p:cNvPicPr>
            <a:picLocks noChangeAspect="1"/>
          </p:cNvPicPr>
          <p:nvPr/>
        </p:nvPicPr>
        <p:blipFill>
          <a:blip r:embed="rId4"/>
          <a:stretch>
            <a:fillRect/>
          </a:stretch>
        </p:blipFill>
        <p:spPr>
          <a:xfrm>
            <a:off x="3475057" y="462576"/>
            <a:ext cx="1007229" cy="937024"/>
          </a:xfrm>
          <a:prstGeom prst="rect">
            <a:avLst/>
          </a:prstGeom>
        </p:spPr>
      </p:pic>
      <p:sp>
        <p:nvSpPr>
          <p:cNvPr id="3" name="กล่องข้อความ 2">
            <a:extLst>
              <a:ext uri="{FF2B5EF4-FFF2-40B4-BE49-F238E27FC236}">
                <a16:creationId xmlns:a16="http://schemas.microsoft.com/office/drawing/2014/main" id="{37E0F6D4-E67B-AA7F-AACF-B3006AD66D14}"/>
              </a:ext>
            </a:extLst>
          </p:cNvPr>
          <p:cNvSpPr txBox="1"/>
          <p:nvPr/>
        </p:nvSpPr>
        <p:spPr>
          <a:xfrm>
            <a:off x="2424030" y="5293105"/>
            <a:ext cx="6336890" cy="707886"/>
          </a:xfrm>
          <a:prstGeom prst="rect">
            <a:avLst/>
          </a:prstGeom>
          <a:noFill/>
        </p:spPr>
        <p:txBody>
          <a:bodyPr wrap="square">
            <a:spAutoFit/>
          </a:bodyPr>
          <a:lstStyle/>
          <a:p>
            <a:r>
              <a:rPr lang="en-US" sz="2000" dirty="0">
                <a:solidFill>
                  <a:srgbClr val="002060"/>
                </a:solidFill>
                <a:latin typeface="Helvetica" panose="020B0604020202020204" pitchFamily="34" charset="0"/>
                <a:cs typeface="Helvetica" panose="020B0604020202020204" pitchFamily="34" charset="0"/>
              </a:rPr>
              <a:t>Mr.</a:t>
            </a:r>
            <a:r>
              <a:rPr lang="en-US" sz="2000" b="1" dirty="0">
                <a:solidFill>
                  <a:srgbClr val="002060"/>
                </a:solidFill>
                <a:latin typeface="Helvetica" panose="020B0604020202020204" pitchFamily="34" charset="0"/>
                <a:cs typeface="Helvetica" panose="020B0604020202020204" pitchFamily="34" charset="0"/>
              </a:rPr>
              <a:t> </a:t>
            </a:r>
            <a:r>
              <a:rPr lang="en-US" sz="2000" dirty="0">
                <a:solidFill>
                  <a:srgbClr val="002060"/>
                </a:solidFill>
                <a:latin typeface="Helvetica" panose="020B0604020202020204" pitchFamily="34" charset="0"/>
                <a:cs typeface="Helvetica" panose="020B0604020202020204" pitchFamily="34" charset="0"/>
              </a:rPr>
              <a:t>Phubadine Mehom</a:t>
            </a:r>
          </a:p>
          <a:p>
            <a:r>
              <a:rPr lang="en-US" sz="2000" dirty="0">
                <a:solidFill>
                  <a:srgbClr val="002060"/>
                </a:solidFill>
                <a:latin typeface="Helvetica" panose="020B0604020202020204" pitchFamily="34" charset="0"/>
                <a:cs typeface="Helvetica" panose="020B0604020202020204" pitchFamily="34" charset="0"/>
              </a:rPr>
              <a:t>Mr. </a:t>
            </a:r>
            <a:r>
              <a:rPr lang="en-US" sz="2000" dirty="0" err="1">
                <a:solidFill>
                  <a:srgbClr val="002060"/>
                </a:solidFill>
                <a:latin typeface="Helvetica" panose="020B0604020202020204" pitchFamily="34" charset="0"/>
                <a:cs typeface="Helvetica" panose="020B0604020202020204" pitchFamily="34" charset="0"/>
              </a:rPr>
              <a:t>Phubet</a:t>
            </a:r>
            <a:r>
              <a:rPr lang="en-US" sz="2000" dirty="0">
                <a:solidFill>
                  <a:srgbClr val="002060"/>
                </a:solidFill>
                <a:latin typeface="Helvetica" panose="020B0604020202020204" pitchFamily="34" charset="0"/>
                <a:cs typeface="Helvetica" panose="020B0604020202020204" pitchFamily="34" charset="0"/>
              </a:rPr>
              <a:t> </a:t>
            </a:r>
            <a:r>
              <a:rPr lang="en-US" sz="2000" dirty="0" err="1">
                <a:solidFill>
                  <a:srgbClr val="002060"/>
                </a:solidFill>
                <a:latin typeface="Helvetica" panose="020B0604020202020204" pitchFamily="34" charset="0"/>
                <a:cs typeface="Helvetica" panose="020B0604020202020204" pitchFamily="34" charset="0"/>
              </a:rPr>
              <a:t>Jitpilai</a:t>
            </a:r>
            <a:endParaRPr lang="th-TH" dirty="0"/>
          </a:p>
        </p:txBody>
      </p:sp>
    </p:spTree>
    <p:extLst>
      <p:ext uri="{BB962C8B-B14F-4D97-AF65-F5344CB8AC3E}">
        <p14:creationId xmlns:p14="http://schemas.microsoft.com/office/powerpoint/2010/main" val="2315408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9A141-2DC5-8FCE-A436-EE49230222A9}"/>
            </a:ext>
          </a:extLst>
        </p:cNvPr>
        <p:cNvGrpSpPr/>
        <p:nvPr/>
      </p:nvGrpSpPr>
      <p:grpSpPr>
        <a:xfrm>
          <a:off x="0" y="0"/>
          <a:ext cx="0" cy="0"/>
          <a:chOff x="0" y="0"/>
          <a:chExt cx="0" cy="0"/>
        </a:xfrm>
      </p:grpSpPr>
      <p:sp>
        <p:nvSpPr>
          <p:cNvPr id="3" name="สี่เหลี่ยมผืนผ้า: มุมมน 2">
            <a:extLst>
              <a:ext uri="{FF2B5EF4-FFF2-40B4-BE49-F238E27FC236}">
                <a16:creationId xmlns:a16="http://schemas.microsoft.com/office/drawing/2014/main" id="{4C361943-744D-51A0-A0EA-DFDAD5720722}"/>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16" name="รูปภาพ 15">
            <a:extLst>
              <a:ext uri="{FF2B5EF4-FFF2-40B4-BE49-F238E27FC236}">
                <a16:creationId xmlns:a16="http://schemas.microsoft.com/office/drawing/2014/main" id="{6D28D7D2-5149-800D-BD7F-EDF9B4DAF8EE}"/>
              </a:ext>
            </a:extLst>
          </p:cNvPr>
          <p:cNvPicPr>
            <a:picLocks noChangeAspect="1"/>
          </p:cNvPicPr>
          <p:nvPr/>
        </p:nvPicPr>
        <p:blipFill>
          <a:blip r:embed="rId2"/>
          <a:srcRect l="863" r="2055"/>
          <a:stretch>
            <a:fillRect/>
          </a:stretch>
        </p:blipFill>
        <p:spPr>
          <a:xfrm>
            <a:off x="2251537" y="430270"/>
            <a:ext cx="7768328" cy="5997460"/>
          </a:xfrm>
          <a:prstGeom prst="rect">
            <a:avLst/>
          </a:prstGeom>
        </p:spPr>
      </p:pic>
      <p:pic>
        <p:nvPicPr>
          <p:cNvPr id="28" name="Picture 2" descr="Analog Devices | Disruptive Technology for Clinical Trials">
            <a:extLst>
              <a:ext uri="{FF2B5EF4-FFF2-40B4-BE49-F238E27FC236}">
                <a16:creationId xmlns:a16="http://schemas.microsoft.com/office/drawing/2014/main" id="{04AAD2C3-1D21-F3EC-B237-B620232DDB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0" name="Picture 2" descr="LOGO_ENkku_color – Faculty of Engineering , Khon Kaen University">
            <a:extLst>
              <a:ext uri="{FF2B5EF4-FFF2-40B4-BE49-F238E27FC236}">
                <a16:creationId xmlns:a16="http://schemas.microsoft.com/office/drawing/2014/main" id="{9E55377A-6C29-6081-D341-28E827C27435}"/>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0084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68274-B559-2222-E647-C6C97C379540}"/>
            </a:ext>
          </a:extLst>
        </p:cNvPr>
        <p:cNvGrpSpPr/>
        <p:nvPr/>
      </p:nvGrpSpPr>
      <p:grpSpPr>
        <a:xfrm>
          <a:off x="0" y="0"/>
          <a:ext cx="0" cy="0"/>
          <a:chOff x="0" y="0"/>
          <a:chExt cx="0" cy="0"/>
        </a:xfrm>
      </p:grpSpPr>
      <p:sp>
        <p:nvSpPr>
          <p:cNvPr id="2082" name="สี่เหลี่ยมผืนผ้า: มุมมน 2081">
            <a:extLst>
              <a:ext uri="{FF2B5EF4-FFF2-40B4-BE49-F238E27FC236}">
                <a16:creationId xmlns:a16="http://schemas.microsoft.com/office/drawing/2014/main" id="{85CAD6FD-103E-FC44-C281-ACCECF61F44E}"/>
              </a:ext>
            </a:extLst>
          </p:cNvPr>
          <p:cNvSpPr>
            <a:spLocks/>
          </p:cNvSpPr>
          <p:nvPr/>
        </p:nvSpPr>
        <p:spPr>
          <a:xfrm>
            <a:off x="-430315" y="122796"/>
            <a:ext cx="2935390" cy="506737"/>
          </a:xfrm>
          <a:prstGeom prst="roundRect">
            <a:avLst>
              <a:gd name="adj" fmla="val 50000"/>
            </a:avLst>
          </a:prstGeom>
          <a:gradFill flip="none" rotWithShape="1">
            <a:gsLst>
              <a:gs pos="0">
                <a:srgbClr val="00528A"/>
              </a:gs>
              <a:gs pos="65745">
                <a:srgbClr val="73AFD8"/>
              </a:gs>
              <a:gs pos="38000">
                <a:srgbClr val="006FB9"/>
              </a:gs>
              <a:gs pos="69000">
                <a:srgbClr val="80B7DC"/>
              </a:gs>
              <a:gs pos="100000">
                <a:schemeClr val="accent1">
                  <a:lumMod val="40000"/>
                  <a:lumOff val="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solidFill>
                <a:srgbClr val="00528A"/>
              </a:solidFill>
            </a:endParaRPr>
          </a:p>
        </p:txBody>
      </p:sp>
      <p:sp>
        <p:nvSpPr>
          <p:cNvPr id="61" name="สี่เหลี่ยมผืนผ้า: มุมมน 60">
            <a:extLst>
              <a:ext uri="{FF2B5EF4-FFF2-40B4-BE49-F238E27FC236}">
                <a16:creationId xmlns:a16="http://schemas.microsoft.com/office/drawing/2014/main" id="{8C33A40B-7844-A43C-1E4B-E46A0A35D800}"/>
              </a:ext>
            </a:extLst>
          </p:cNvPr>
          <p:cNvSpPr>
            <a:spLocks/>
          </p:cNvSpPr>
          <p:nvPr/>
        </p:nvSpPr>
        <p:spPr>
          <a:xfrm>
            <a:off x="9218586" y="924438"/>
            <a:ext cx="2855556" cy="5643259"/>
          </a:xfrm>
          <a:prstGeom prst="roundRect">
            <a:avLst>
              <a:gd name="adj" fmla="val 7285"/>
            </a:avLst>
          </a:prstGeom>
          <a:solidFill>
            <a:srgbClr val="00528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dirty="0">
              <a:solidFill>
                <a:srgbClr val="00528A"/>
              </a:solidFill>
            </a:endParaRPr>
          </a:p>
        </p:txBody>
      </p:sp>
      <p:pic>
        <p:nvPicPr>
          <p:cNvPr id="1026" name="Picture 2" descr="Analog Devices | Disruptive Technology for Clinical Trials">
            <a:extLst>
              <a:ext uri="{FF2B5EF4-FFF2-40B4-BE49-F238E27FC236}">
                <a16:creationId xmlns:a16="http://schemas.microsoft.com/office/drawing/2014/main" id="{A72C52D1-0374-5F9B-5B75-1FC1D93DAC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236255"/>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050" name="Picture 2" descr="LOGO_ENkku_color – Faculty of Engineering , Khon Kaen University">
            <a:extLst>
              <a:ext uri="{FF2B5EF4-FFF2-40B4-BE49-F238E27FC236}">
                <a16:creationId xmlns:a16="http://schemas.microsoft.com/office/drawing/2014/main" id="{7B421324-46C1-0BB4-102C-855E97609D20}"/>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162586"/>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4" name="กล่องข้อความ 3">
            <a:extLst>
              <a:ext uri="{FF2B5EF4-FFF2-40B4-BE49-F238E27FC236}">
                <a16:creationId xmlns:a16="http://schemas.microsoft.com/office/drawing/2014/main" id="{5D851024-0578-9649-E3EA-CB34C488DE67}"/>
              </a:ext>
            </a:extLst>
          </p:cNvPr>
          <p:cNvSpPr txBox="1">
            <a:spLocks/>
          </p:cNvSpPr>
          <p:nvPr/>
        </p:nvSpPr>
        <p:spPr>
          <a:xfrm>
            <a:off x="157822" y="191498"/>
            <a:ext cx="2044867" cy="400110"/>
          </a:xfrm>
          <a:prstGeom prst="rect">
            <a:avLst/>
          </a:prstGeom>
          <a:noFill/>
        </p:spPr>
        <p:txBody>
          <a:bodyPr wrap="square" rtlCol="0">
            <a:spAutoFit/>
          </a:bodyPr>
          <a:lstStyle/>
          <a:p>
            <a:pPr algn="ctr"/>
            <a:r>
              <a:rPr lang="en-US" sz="2000" b="1" dirty="0">
                <a:solidFill>
                  <a:schemeClr val="bg1"/>
                </a:solidFill>
                <a:latin typeface="Helvetica" panose="020B0604020202020204" pitchFamily="34" charset="0"/>
                <a:cs typeface="Helvetica" panose="020B0604020202020204" pitchFamily="34" charset="0"/>
              </a:rPr>
              <a:t>Project Charter</a:t>
            </a:r>
            <a:endParaRPr lang="th-TH" sz="2000" b="1" dirty="0">
              <a:solidFill>
                <a:schemeClr val="bg1"/>
              </a:solidFill>
              <a:latin typeface="Helvetica" panose="020B0604020202020204" pitchFamily="34" charset="0"/>
              <a:cs typeface="Mitr" panose="00000500000000000000" pitchFamily="2" charset="-34"/>
            </a:endParaRPr>
          </a:p>
        </p:txBody>
      </p:sp>
      <p:sp>
        <p:nvSpPr>
          <p:cNvPr id="5" name="สี่เหลี่ยมผืนผ้า: มุมมน 4">
            <a:extLst>
              <a:ext uri="{FF2B5EF4-FFF2-40B4-BE49-F238E27FC236}">
                <a16:creationId xmlns:a16="http://schemas.microsoft.com/office/drawing/2014/main" id="{1DF512D0-6935-E9FF-4ECE-B2F28EE3E0A5}"/>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
        <p:nvSpPr>
          <p:cNvPr id="15" name="สี่เหลี่ยมผืนผ้า: มุมมน 14">
            <a:extLst>
              <a:ext uri="{FF2B5EF4-FFF2-40B4-BE49-F238E27FC236}">
                <a16:creationId xmlns:a16="http://schemas.microsoft.com/office/drawing/2014/main" id="{B38DFF1E-9E7A-DBE0-B8A7-19E8B823380D}"/>
              </a:ext>
            </a:extLst>
          </p:cNvPr>
          <p:cNvSpPr>
            <a:spLocks/>
          </p:cNvSpPr>
          <p:nvPr/>
        </p:nvSpPr>
        <p:spPr>
          <a:xfrm>
            <a:off x="176611" y="924437"/>
            <a:ext cx="2855556" cy="3143048"/>
          </a:xfrm>
          <a:prstGeom prst="roundRect">
            <a:avLst>
              <a:gd name="adj" fmla="val 7305"/>
            </a:avLst>
          </a:prstGeom>
          <a:solidFill>
            <a:srgbClr val="00528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thaiDist"/>
            <a:endParaRPr lang="th-TH" sz="2400">
              <a:solidFill>
                <a:srgbClr val="00528A"/>
              </a:solidFill>
            </a:endParaRPr>
          </a:p>
        </p:txBody>
      </p:sp>
      <p:sp>
        <p:nvSpPr>
          <p:cNvPr id="6" name="สี่เหลี่ยมผืนผ้า: มุมมน 5">
            <a:extLst>
              <a:ext uri="{FF2B5EF4-FFF2-40B4-BE49-F238E27FC236}">
                <a16:creationId xmlns:a16="http://schemas.microsoft.com/office/drawing/2014/main" id="{E84BB1AF-D6C4-73A5-AF3D-65EA3D18D271}"/>
              </a:ext>
            </a:extLst>
          </p:cNvPr>
          <p:cNvSpPr>
            <a:spLocks/>
          </p:cNvSpPr>
          <p:nvPr/>
        </p:nvSpPr>
        <p:spPr>
          <a:xfrm>
            <a:off x="815456" y="768474"/>
            <a:ext cx="1577867" cy="313471"/>
          </a:xfrm>
          <a:prstGeom prst="roundRect">
            <a:avLst>
              <a:gd name="adj" fmla="val 50000"/>
            </a:avLst>
          </a:prstGeom>
          <a:gradFill flip="none" rotWithShape="1">
            <a:gsLst>
              <a:gs pos="0">
                <a:srgbClr val="00528A"/>
              </a:gs>
              <a:gs pos="65745">
                <a:srgbClr val="73AFD8"/>
              </a:gs>
              <a:gs pos="38000">
                <a:srgbClr val="006FB9"/>
              </a:gs>
              <a:gs pos="69000">
                <a:srgbClr val="80B7DC"/>
              </a:gs>
              <a:gs pos="100000">
                <a:schemeClr val="accent1">
                  <a:lumMod val="40000"/>
                  <a:lumOff val="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solidFill>
                <a:srgbClr val="00528A"/>
              </a:solidFill>
            </a:endParaRPr>
          </a:p>
        </p:txBody>
      </p:sp>
      <p:sp>
        <p:nvSpPr>
          <p:cNvPr id="7" name="กล่องข้อความ 6">
            <a:extLst>
              <a:ext uri="{FF2B5EF4-FFF2-40B4-BE49-F238E27FC236}">
                <a16:creationId xmlns:a16="http://schemas.microsoft.com/office/drawing/2014/main" id="{E7022092-2990-0B8A-CE6D-D21EF0193411}"/>
              </a:ext>
            </a:extLst>
          </p:cNvPr>
          <p:cNvSpPr txBox="1">
            <a:spLocks/>
          </p:cNvSpPr>
          <p:nvPr/>
        </p:nvSpPr>
        <p:spPr>
          <a:xfrm>
            <a:off x="945471" y="786233"/>
            <a:ext cx="1317836" cy="276999"/>
          </a:xfrm>
          <a:prstGeom prst="rect">
            <a:avLst/>
          </a:prstGeom>
          <a:noFill/>
        </p:spPr>
        <p:txBody>
          <a:bodyPr wrap="square" rtlCol="0">
            <a:spAutoFit/>
          </a:bodyPr>
          <a:lstStyle/>
          <a:p>
            <a:pPr algn="ctr"/>
            <a:r>
              <a:rPr lang="en-US" sz="1200" b="1" dirty="0">
                <a:solidFill>
                  <a:schemeClr val="bg1"/>
                </a:solidFill>
                <a:latin typeface="Helvetica" panose="020B0604020202020204" pitchFamily="34" charset="0"/>
                <a:cs typeface="Helvetica" panose="020B0604020202020204" pitchFamily="34" charset="0"/>
              </a:rPr>
              <a:t>Background</a:t>
            </a:r>
            <a:endParaRPr lang="th-TH" sz="1200" b="1" dirty="0">
              <a:solidFill>
                <a:schemeClr val="bg1"/>
              </a:solidFill>
              <a:latin typeface="Helvetica" panose="020B0604020202020204" pitchFamily="34" charset="0"/>
              <a:cs typeface="Mitr" panose="00000500000000000000" pitchFamily="2" charset="-34"/>
            </a:endParaRPr>
          </a:p>
        </p:txBody>
      </p:sp>
      <p:sp>
        <p:nvSpPr>
          <p:cNvPr id="2" name="สี่เหลี่ยมผืนผ้า: มุมมน 1">
            <a:extLst>
              <a:ext uri="{FF2B5EF4-FFF2-40B4-BE49-F238E27FC236}">
                <a16:creationId xmlns:a16="http://schemas.microsoft.com/office/drawing/2014/main" id="{8CE931D9-E161-409C-AA93-2E1EBE5952A8}"/>
              </a:ext>
            </a:extLst>
          </p:cNvPr>
          <p:cNvSpPr>
            <a:spLocks/>
          </p:cNvSpPr>
          <p:nvPr/>
        </p:nvSpPr>
        <p:spPr>
          <a:xfrm>
            <a:off x="3213533" y="924438"/>
            <a:ext cx="2855556" cy="1987620"/>
          </a:xfrm>
          <a:prstGeom prst="roundRect">
            <a:avLst>
              <a:gd name="adj" fmla="val 9964"/>
            </a:avLst>
          </a:prstGeom>
          <a:solidFill>
            <a:srgbClr val="00528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solidFill>
                <a:srgbClr val="00528A"/>
              </a:solidFill>
            </a:endParaRPr>
          </a:p>
        </p:txBody>
      </p:sp>
      <p:sp>
        <p:nvSpPr>
          <p:cNvPr id="9" name="สี่เหลี่ยมผืนผ้า: มุมมน 8">
            <a:extLst>
              <a:ext uri="{FF2B5EF4-FFF2-40B4-BE49-F238E27FC236}">
                <a16:creationId xmlns:a16="http://schemas.microsoft.com/office/drawing/2014/main" id="{F301A2CD-4040-0C43-C25E-57B0ACEF2692}"/>
              </a:ext>
            </a:extLst>
          </p:cNvPr>
          <p:cNvSpPr>
            <a:spLocks/>
          </p:cNvSpPr>
          <p:nvPr/>
        </p:nvSpPr>
        <p:spPr>
          <a:xfrm>
            <a:off x="3852379" y="783869"/>
            <a:ext cx="1553636" cy="313471"/>
          </a:xfrm>
          <a:prstGeom prst="roundRect">
            <a:avLst>
              <a:gd name="adj" fmla="val 50000"/>
            </a:avLst>
          </a:prstGeom>
          <a:gradFill flip="none" rotWithShape="1">
            <a:gsLst>
              <a:gs pos="0">
                <a:srgbClr val="00528A"/>
              </a:gs>
              <a:gs pos="65745">
                <a:srgbClr val="73AFD8"/>
              </a:gs>
              <a:gs pos="38000">
                <a:srgbClr val="006FB9"/>
              </a:gs>
              <a:gs pos="69000">
                <a:srgbClr val="80B7DC"/>
              </a:gs>
              <a:gs pos="100000">
                <a:schemeClr val="accent1">
                  <a:lumMod val="40000"/>
                  <a:lumOff val="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solidFill>
                <a:srgbClr val="00528A"/>
              </a:solidFill>
            </a:endParaRPr>
          </a:p>
        </p:txBody>
      </p:sp>
      <p:sp>
        <p:nvSpPr>
          <p:cNvPr id="10" name="กล่องข้อความ 9">
            <a:extLst>
              <a:ext uri="{FF2B5EF4-FFF2-40B4-BE49-F238E27FC236}">
                <a16:creationId xmlns:a16="http://schemas.microsoft.com/office/drawing/2014/main" id="{3B3FF8E7-248C-2595-15BC-3D20D4ED1DA5}"/>
              </a:ext>
            </a:extLst>
          </p:cNvPr>
          <p:cNvSpPr txBox="1">
            <a:spLocks/>
          </p:cNvSpPr>
          <p:nvPr/>
        </p:nvSpPr>
        <p:spPr>
          <a:xfrm>
            <a:off x="3982393" y="802105"/>
            <a:ext cx="1297598" cy="276999"/>
          </a:xfrm>
          <a:prstGeom prst="rect">
            <a:avLst/>
          </a:prstGeom>
          <a:noFill/>
        </p:spPr>
        <p:txBody>
          <a:bodyPr wrap="square" rtlCol="0">
            <a:spAutoFit/>
          </a:bodyPr>
          <a:lstStyle/>
          <a:p>
            <a:pPr algn="ctr"/>
            <a:r>
              <a:rPr lang="en-US" sz="1200" b="1" dirty="0">
                <a:solidFill>
                  <a:schemeClr val="bg1"/>
                </a:solidFill>
                <a:latin typeface="Helvetica" panose="020B0604020202020204" pitchFamily="34" charset="0"/>
                <a:cs typeface="Helvetica" panose="020B0604020202020204" pitchFamily="34" charset="0"/>
              </a:rPr>
              <a:t>Action</a:t>
            </a:r>
            <a:endParaRPr lang="th-TH" sz="1200" b="1" dirty="0">
              <a:solidFill>
                <a:schemeClr val="bg1"/>
              </a:solidFill>
              <a:latin typeface="Helvetica" panose="020B0604020202020204" pitchFamily="34" charset="0"/>
              <a:cs typeface="Mitr" panose="00000500000000000000" pitchFamily="2" charset="-34"/>
            </a:endParaRPr>
          </a:p>
        </p:txBody>
      </p:sp>
      <p:sp>
        <p:nvSpPr>
          <p:cNvPr id="25" name="สี่เหลี่ยมผืนผ้า: มุมมน 24">
            <a:extLst>
              <a:ext uri="{FF2B5EF4-FFF2-40B4-BE49-F238E27FC236}">
                <a16:creationId xmlns:a16="http://schemas.microsoft.com/office/drawing/2014/main" id="{2A02D530-8DE6-F9D9-5F6A-00A177F2C7F5}"/>
              </a:ext>
            </a:extLst>
          </p:cNvPr>
          <p:cNvSpPr>
            <a:spLocks/>
          </p:cNvSpPr>
          <p:nvPr/>
        </p:nvSpPr>
        <p:spPr>
          <a:xfrm>
            <a:off x="230371" y="4300011"/>
            <a:ext cx="2801138" cy="2286736"/>
          </a:xfrm>
          <a:prstGeom prst="roundRect">
            <a:avLst>
              <a:gd name="adj" fmla="val 10693"/>
            </a:avLst>
          </a:prstGeom>
          <a:solidFill>
            <a:srgbClr val="00528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dirty="0">
              <a:solidFill>
                <a:srgbClr val="00528A"/>
              </a:solidFill>
            </a:endParaRPr>
          </a:p>
        </p:txBody>
      </p:sp>
      <p:sp>
        <p:nvSpPr>
          <p:cNvPr id="2081" name="สี่เหลี่ยมผืนผ้า: มุมมน 2080">
            <a:extLst>
              <a:ext uri="{FF2B5EF4-FFF2-40B4-BE49-F238E27FC236}">
                <a16:creationId xmlns:a16="http://schemas.microsoft.com/office/drawing/2014/main" id="{939EE149-6D74-61FB-258D-C0B0C35AC807}"/>
              </a:ext>
            </a:extLst>
          </p:cNvPr>
          <p:cNvSpPr>
            <a:spLocks/>
          </p:cNvSpPr>
          <p:nvPr/>
        </p:nvSpPr>
        <p:spPr>
          <a:xfrm>
            <a:off x="9545027" y="765591"/>
            <a:ext cx="2246059" cy="313471"/>
          </a:xfrm>
          <a:prstGeom prst="roundRect">
            <a:avLst>
              <a:gd name="adj" fmla="val 50000"/>
            </a:avLst>
          </a:prstGeom>
          <a:gradFill flip="none" rotWithShape="1">
            <a:gsLst>
              <a:gs pos="0">
                <a:srgbClr val="00528A"/>
              </a:gs>
              <a:gs pos="65745">
                <a:srgbClr val="73AFD8"/>
              </a:gs>
              <a:gs pos="38000">
                <a:srgbClr val="006FB9"/>
              </a:gs>
              <a:gs pos="69000">
                <a:srgbClr val="80B7DC"/>
              </a:gs>
              <a:gs pos="100000">
                <a:schemeClr val="accent1">
                  <a:lumMod val="40000"/>
                  <a:lumOff val="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solidFill>
                <a:srgbClr val="00528A"/>
              </a:solidFill>
            </a:endParaRPr>
          </a:p>
        </p:txBody>
      </p:sp>
      <p:sp>
        <p:nvSpPr>
          <p:cNvPr id="27" name="สี่เหลี่ยมผืนผ้า: มุมมน 26">
            <a:extLst>
              <a:ext uri="{FF2B5EF4-FFF2-40B4-BE49-F238E27FC236}">
                <a16:creationId xmlns:a16="http://schemas.microsoft.com/office/drawing/2014/main" id="{01700F6B-4F59-5E4C-71E4-DDE7D73EEBB8}"/>
              </a:ext>
            </a:extLst>
          </p:cNvPr>
          <p:cNvSpPr>
            <a:spLocks/>
          </p:cNvSpPr>
          <p:nvPr/>
        </p:nvSpPr>
        <p:spPr>
          <a:xfrm>
            <a:off x="579934" y="4143438"/>
            <a:ext cx="2078499" cy="313471"/>
          </a:xfrm>
          <a:prstGeom prst="roundRect">
            <a:avLst>
              <a:gd name="adj" fmla="val 50000"/>
            </a:avLst>
          </a:prstGeom>
          <a:gradFill flip="none" rotWithShape="1">
            <a:gsLst>
              <a:gs pos="0">
                <a:srgbClr val="00528A"/>
              </a:gs>
              <a:gs pos="65745">
                <a:srgbClr val="73AFD8"/>
              </a:gs>
              <a:gs pos="38000">
                <a:srgbClr val="006FB9"/>
              </a:gs>
              <a:gs pos="69000">
                <a:srgbClr val="80B7DC"/>
              </a:gs>
              <a:gs pos="100000">
                <a:schemeClr val="accent1">
                  <a:lumMod val="40000"/>
                  <a:lumOff val="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solidFill>
                <a:srgbClr val="00528A"/>
              </a:solidFill>
            </a:endParaRPr>
          </a:p>
        </p:txBody>
      </p:sp>
      <p:sp>
        <p:nvSpPr>
          <p:cNvPr id="28" name="กล่องข้อความ 27">
            <a:extLst>
              <a:ext uri="{FF2B5EF4-FFF2-40B4-BE49-F238E27FC236}">
                <a16:creationId xmlns:a16="http://schemas.microsoft.com/office/drawing/2014/main" id="{79A99C12-DB71-DDC0-7E30-35585AEA10B1}"/>
              </a:ext>
            </a:extLst>
          </p:cNvPr>
          <p:cNvSpPr txBox="1">
            <a:spLocks/>
          </p:cNvSpPr>
          <p:nvPr/>
        </p:nvSpPr>
        <p:spPr>
          <a:xfrm>
            <a:off x="751201" y="4161674"/>
            <a:ext cx="1735965" cy="276999"/>
          </a:xfrm>
          <a:prstGeom prst="rect">
            <a:avLst/>
          </a:prstGeom>
          <a:noFill/>
        </p:spPr>
        <p:txBody>
          <a:bodyPr wrap="square" rtlCol="0">
            <a:spAutoFit/>
          </a:bodyPr>
          <a:lstStyle/>
          <a:p>
            <a:pPr algn="ctr"/>
            <a:r>
              <a:rPr lang="en-US" sz="1200" b="1" dirty="0">
                <a:solidFill>
                  <a:schemeClr val="bg1"/>
                </a:solidFill>
                <a:latin typeface="Helvetica" panose="020B0604020202020204" pitchFamily="34" charset="0"/>
                <a:cs typeface="Helvetica" panose="020B0604020202020204" pitchFamily="34" charset="0"/>
              </a:rPr>
              <a:t>Problem Statement</a:t>
            </a:r>
            <a:endParaRPr lang="th-TH" sz="1200" b="1" dirty="0">
              <a:solidFill>
                <a:schemeClr val="bg1"/>
              </a:solidFill>
              <a:latin typeface="Helvetica" panose="020B0604020202020204" pitchFamily="34" charset="0"/>
              <a:cs typeface="Mitr" panose="00000500000000000000" pitchFamily="2" charset="-34"/>
            </a:endParaRPr>
          </a:p>
        </p:txBody>
      </p:sp>
      <p:sp>
        <p:nvSpPr>
          <p:cNvPr id="39" name="สี่เหลี่ยมผืนผ้า: มุมมน 38">
            <a:extLst>
              <a:ext uri="{FF2B5EF4-FFF2-40B4-BE49-F238E27FC236}">
                <a16:creationId xmlns:a16="http://schemas.microsoft.com/office/drawing/2014/main" id="{C87BDA01-5CFC-B00C-8E09-56CEBB50AA32}"/>
              </a:ext>
            </a:extLst>
          </p:cNvPr>
          <p:cNvSpPr>
            <a:spLocks/>
          </p:cNvSpPr>
          <p:nvPr/>
        </p:nvSpPr>
        <p:spPr>
          <a:xfrm>
            <a:off x="3227386" y="3170986"/>
            <a:ext cx="2801140" cy="930064"/>
          </a:xfrm>
          <a:prstGeom prst="roundRect">
            <a:avLst>
              <a:gd name="adj" fmla="val 14766"/>
            </a:avLst>
          </a:prstGeom>
          <a:solidFill>
            <a:srgbClr val="00528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solidFill>
                <a:srgbClr val="00528A"/>
              </a:solidFill>
            </a:endParaRPr>
          </a:p>
        </p:txBody>
      </p:sp>
      <p:sp>
        <p:nvSpPr>
          <p:cNvPr id="41" name="สี่เหลี่ยมผืนผ้า: มุมมน 40">
            <a:extLst>
              <a:ext uri="{FF2B5EF4-FFF2-40B4-BE49-F238E27FC236}">
                <a16:creationId xmlns:a16="http://schemas.microsoft.com/office/drawing/2014/main" id="{768ECD6E-824A-2F09-15FD-67E0123D8B84}"/>
              </a:ext>
            </a:extLst>
          </p:cNvPr>
          <p:cNvSpPr>
            <a:spLocks/>
          </p:cNvSpPr>
          <p:nvPr/>
        </p:nvSpPr>
        <p:spPr>
          <a:xfrm>
            <a:off x="3828147" y="3033405"/>
            <a:ext cx="1577867" cy="313471"/>
          </a:xfrm>
          <a:prstGeom prst="roundRect">
            <a:avLst>
              <a:gd name="adj" fmla="val 50000"/>
            </a:avLst>
          </a:prstGeom>
          <a:gradFill flip="none" rotWithShape="1">
            <a:gsLst>
              <a:gs pos="0">
                <a:srgbClr val="00528A"/>
              </a:gs>
              <a:gs pos="65745">
                <a:srgbClr val="73AFD8"/>
              </a:gs>
              <a:gs pos="38000">
                <a:srgbClr val="006FB9"/>
              </a:gs>
              <a:gs pos="69000">
                <a:srgbClr val="80B7DC"/>
              </a:gs>
              <a:gs pos="100000">
                <a:schemeClr val="accent1">
                  <a:lumMod val="40000"/>
                  <a:lumOff val="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solidFill>
                <a:srgbClr val="00528A"/>
              </a:solidFill>
            </a:endParaRPr>
          </a:p>
        </p:txBody>
      </p:sp>
      <p:sp>
        <p:nvSpPr>
          <p:cNvPr id="42" name="กล่องข้อความ 41">
            <a:extLst>
              <a:ext uri="{FF2B5EF4-FFF2-40B4-BE49-F238E27FC236}">
                <a16:creationId xmlns:a16="http://schemas.microsoft.com/office/drawing/2014/main" id="{105DBC8C-D295-B6BD-4909-E0FEEC98EE47}"/>
              </a:ext>
            </a:extLst>
          </p:cNvPr>
          <p:cNvSpPr txBox="1">
            <a:spLocks/>
          </p:cNvSpPr>
          <p:nvPr/>
        </p:nvSpPr>
        <p:spPr>
          <a:xfrm>
            <a:off x="3958162" y="3051641"/>
            <a:ext cx="1317836" cy="276999"/>
          </a:xfrm>
          <a:prstGeom prst="rect">
            <a:avLst/>
          </a:prstGeom>
          <a:noFill/>
        </p:spPr>
        <p:txBody>
          <a:bodyPr wrap="square" rtlCol="0">
            <a:spAutoFit/>
          </a:bodyPr>
          <a:lstStyle/>
          <a:p>
            <a:pPr algn="ctr"/>
            <a:r>
              <a:rPr lang="en-US" sz="1200" b="1" dirty="0">
                <a:solidFill>
                  <a:schemeClr val="bg1"/>
                </a:solidFill>
                <a:latin typeface="Helvetica" panose="020B0604020202020204" pitchFamily="34" charset="0"/>
                <a:cs typeface="Helvetica" panose="020B0604020202020204" pitchFamily="34" charset="0"/>
              </a:rPr>
              <a:t>Scope</a:t>
            </a:r>
            <a:endParaRPr lang="th-TH" sz="1200" b="1" dirty="0">
              <a:solidFill>
                <a:schemeClr val="bg1"/>
              </a:solidFill>
              <a:latin typeface="Helvetica" panose="020B0604020202020204" pitchFamily="34" charset="0"/>
              <a:cs typeface="Mitr" panose="00000500000000000000" pitchFamily="2" charset="-34"/>
            </a:endParaRPr>
          </a:p>
        </p:txBody>
      </p:sp>
      <p:sp>
        <p:nvSpPr>
          <p:cNvPr id="48" name="สี่เหลี่ยมผืนผ้า: มุมมน 47">
            <a:extLst>
              <a:ext uri="{FF2B5EF4-FFF2-40B4-BE49-F238E27FC236}">
                <a16:creationId xmlns:a16="http://schemas.microsoft.com/office/drawing/2014/main" id="{F2679095-00E8-180C-B1D1-4D53C5AA815F}"/>
              </a:ext>
            </a:extLst>
          </p:cNvPr>
          <p:cNvSpPr>
            <a:spLocks/>
          </p:cNvSpPr>
          <p:nvPr/>
        </p:nvSpPr>
        <p:spPr>
          <a:xfrm>
            <a:off x="5184910" y="361015"/>
            <a:ext cx="4682140" cy="58972"/>
          </a:xfrm>
          <a:prstGeom prst="roundRect">
            <a:avLst>
              <a:gd name="adj" fmla="val 0"/>
            </a:avLst>
          </a:prstGeom>
          <a:gradFill>
            <a:gsLst>
              <a:gs pos="0">
                <a:srgbClr val="00528A"/>
              </a:gs>
              <a:gs pos="84000">
                <a:srgbClr val="006FB9">
                  <a:tint val="44500"/>
                  <a:satMod val="160000"/>
                  <a:lumMod val="88000"/>
                </a:srgbClr>
              </a:gs>
              <a:gs pos="100000">
                <a:srgbClr val="006FB9">
                  <a:tint val="23500"/>
                  <a:satMod val="160000"/>
                </a:srgb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solidFill>
                <a:srgbClr val="00528A"/>
              </a:solidFill>
            </a:endParaRPr>
          </a:p>
        </p:txBody>
      </p:sp>
      <p:sp>
        <p:nvSpPr>
          <p:cNvPr id="49" name="สี่เหลี่ยมผืนผ้า: มุมมน 48">
            <a:extLst>
              <a:ext uri="{FF2B5EF4-FFF2-40B4-BE49-F238E27FC236}">
                <a16:creationId xmlns:a16="http://schemas.microsoft.com/office/drawing/2014/main" id="{78A744AE-F9E8-7B6B-FCD5-A36802B616AA}"/>
              </a:ext>
            </a:extLst>
          </p:cNvPr>
          <p:cNvSpPr>
            <a:spLocks/>
          </p:cNvSpPr>
          <p:nvPr/>
        </p:nvSpPr>
        <p:spPr>
          <a:xfrm>
            <a:off x="6199525" y="924439"/>
            <a:ext cx="2855556" cy="2101002"/>
          </a:xfrm>
          <a:prstGeom prst="roundRect">
            <a:avLst>
              <a:gd name="adj" fmla="val 9268"/>
            </a:avLst>
          </a:prstGeom>
          <a:solidFill>
            <a:srgbClr val="00528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solidFill>
                <a:srgbClr val="00528A"/>
              </a:solidFill>
            </a:endParaRPr>
          </a:p>
        </p:txBody>
      </p:sp>
      <p:sp>
        <p:nvSpPr>
          <p:cNvPr id="51" name="สี่เหลี่ยมผืนผ้า: มุมมน 50">
            <a:extLst>
              <a:ext uri="{FF2B5EF4-FFF2-40B4-BE49-F238E27FC236}">
                <a16:creationId xmlns:a16="http://schemas.microsoft.com/office/drawing/2014/main" id="{534B840C-1F6F-78BE-6E5A-AEE9C30E788B}"/>
              </a:ext>
            </a:extLst>
          </p:cNvPr>
          <p:cNvSpPr>
            <a:spLocks/>
          </p:cNvSpPr>
          <p:nvPr/>
        </p:nvSpPr>
        <p:spPr>
          <a:xfrm>
            <a:off x="6588054" y="767704"/>
            <a:ext cx="2078499" cy="313471"/>
          </a:xfrm>
          <a:prstGeom prst="roundRect">
            <a:avLst>
              <a:gd name="adj" fmla="val 50000"/>
            </a:avLst>
          </a:prstGeom>
          <a:gradFill flip="none" rotWithShape="1">
            <a:gsLst>
              <a:gs pos="0">
                <a:srgbClr val="00528A"/>
              </a:gs>
              <a:gs pos="65745">
                <a:srgbClr val="73AFD8"/>
              </a:gs>
              <a:gs pos="38000">
                <a:srgbClr val="006FB9"/>
              </a:gs>
              <a:gs pos="69000">
                <a:srgbClr val="80B7DC"/>
              </a:gs>
              <a:gs pos="100000">
                <a:schemeClr val="accent1">
                  <a:lumMod val="40000"/>
                  <a:lumOff val="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solidFill>
                <a:srgbClr val="00528A"/>
              </a:solidFill>
            </a:endParaRPr>
          </a:p>
        </p:txBody>
      </p:sp>
      <p:sp>
        <p:nvSpPr>
          <p:cNvPr id="52" name="กล่องข้อความ 51">
            <a:extLst>
              <a:ext uri="{FF2B5EF4-FFF2-40B4-BE49-F238E27FC236}">
                <a16:creationId xmlns:a16="http://schemas.microsoft.com/office/drawing/2014/main" id="{7EB5DB09-7DA0-6556-1307-120A38EDE628}"/>
              </a:ext>
            </a:extLst>
          </p:cNvPr>
          <p:cNvSpPr txBox="1">
            <a:spLocks/>
          </p:cNvSpPr>
          <p:nvPr/>
        </p:nvSpPr>
        <p:spPr>
          <a:xfrm>
            <a:off x="6724928" y="791358"/>
            <a:ext cx="1804749" cy="276999"/>
          </a:xfrm>
          <a:prstGeom prst="rect">
            <a:avLst/>
          </a:prstGeom>
          <a:noFill/>
        </p:spPr>
        <p:txBody>
          <a:bodyPr wrap="square" rtlCol="0">
            <a:spAutoFit/>
          </a:bodyPr>
          <a:lstStyle/>
          <a:p>
            <a:pPr algn="ctr"/>
            <a:r>
              <a:rPr lang="en-US" sz="1200" b="1" dirty="0">
                <a:solidFill>
                  <a:schemeClr val="bg1"/>
                </a:solidFill>
                <a:latin typeface="Helvetica" panose="020B0604020202020204" pitchFamily="34" charset="0"/>
                <a:cs typeface="Helvetica" panose="020B0604020202020204" pitchFamily="34" charset="0"/>
              </a:rPr>
              <a:t>Constraints and Risks</a:t>
            </a:r>
            <a:endParaRPr lang="th-TH" sz="1200" b="1" dirty="0">
              <a:solidFill>
                <a:schemeClr val="bg1"/>
              </a:solidFill>
              <a:latin typeface="Helvetica" panose="020B0604020202020204" pitchFamily="34" charset="0"/>
              <a:cs typeface="Mitr" panose="00000500000000000000" pitchFamily="2" charset="-34"/>
            </a:endParaRPr>
          </a:p>
        </p:txBody>
      </p:sp>
      <p:sp>
        <p:nvSpPr>
          <p:cNvPr id="53" name="สี่เหลี่ยมผืนผ้า: มุมมน 52">
            <a:extLst>
              <a:ext uri="{FF2B5EF4-FFF2-40B4-BE49-F238E27FC236}">
                <a16:creationId xmlns:a16="http://schemas.microsoft.com/office/drawing/2014/main" id="{B59A8F97-A5E4-6182-77FF-CFBC5A4B8A8E}"/>
              </a:ext>
            </a:extLst>
          </p:cNvPr>
          <p:cNvSpPr>
            <a:spLocks/>
          </p:cNvSpPr>
          <p:nvPr/>
        </p:nvSpPr>
        <p:spPr>
          <a:xfrm>
            <a:off x="6201995" y="3277626"/>
            <a:ext cx="2855556" cy="1475465"/>
          </a:xfrm>
          <a:prstGeom prst="roundRect">
            <a:avLst>
              <a:gd name="adj" fmla="val 10667"/>
            </a:avLst>
          </a:prstGeom>
          <a:solidFill>
            <a:srgbClr val="00528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dirty="0">
              <a:solidFill>
                <a:srgbClr val="00528A"/>
              </a:solidFill>
            </a:endParaRPr>
          </a:p>
        </p:txBody>
      </p:sp>
      <p:sp>
        <p:nvSpPr>
          <p:cNvPr id="55" name="สี่เหลี่ยมผืนผ้า: มุมมน 54">
            <a:extLst>
              <a:ext uri="{FF2B5EF4-FFF2-40B4-BE49-F238E27FC236}">
                <a16:creationId xmlns:a16="http://schemas.microsoft.com/office/drawing/2014/main" id="{5B860A84-1132-8786-5858-681E08375A02}"/>
              </a:ext>
            </a:extLst>
          </p:cNvPr>
          <p:cNvSpPr>
            <a:spLocks/>
          </p:cNvSpPr>
          <p:nvPr/>
        </p:nvSpPr>
        <p:spPr>
          <a:xfrm>
            <a:off x="6715682" y="3120890"/>
            <a:ext cx="1828183" cy="313471"/>
          </a:xfrm>
          <a:prstGeom prst="roundRect">
            <a:avLst>
              <a:gd name="adj" fmla="val 50000"/>
            </a:avLst>
          </a:prstGeom>
          <a:gradFill flip="none" rotWithShape="1">
            <a:gsLst>
              <a:gs pos="0">
                <a:srgbClr val="00528A"/>
              </a:gs>
              <a:gs pos="65745">
                <a:srgbClr val="73AFD8"/>
              </a:gs>
              <a:gs pos="38000">
                <a:srgbClr val="006FB9"/>
              </a:gs>
              <a:gs pos="69000">
                <a:srgbClr val="80B7DC"/>
              </a:gs>
              <a:gs pos="100000">
                <a:schemeClr val="accent1">
                  <a:lumMod val="40000"/>
                  <a:lumOff val="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solidFill>
                <a:srgbClr val="00528A"/>
              </a:solidFill>
            </a:endParaRPr>
          </a:p>
        </p:txBody>
      </p:sp>
      <p:sp>
        <p:nvSpPr>
          <p:cNvPr id="56" name="กล่องข้อความ 55">
            <a:extLst>
              <a:ext uri="{FF2B5EF4-FFF2-40B4-BE49-F238E27FC236}">
                <a16:creationId xmlns:a16="http://schemas.microsoft.com/office/drawing/2014/main" id="{2FE45FCD-B8D6-E129-BD46-F9A78FB2BBFC}"/>
              </a:ext>
            </a:extLst>
          </p:cNvPr>
          <p:cNvSpPr txBox="1">
            <a:spLocks/>
          </p:cNvSpPr>
          <p:nvPr/>
        </p:nvSpPr>
        <p:spPr>
          <a:xfrm>
            <a:off x="6866323" y="3139126"/>
            <a:ext cx="1526901" cy="276999"/>
          </a:xfrm>
          <a:prstGeom prst="rect">
            <a:avLst/>
          </a:prstGeom>
          <a:noFill/>
        </p:spPr>
        <p:txBody>
          <a:bodyPr wrap="square" rtlCol="0">
            <a:spAutoFit/>
          </a:bodyPr>
          <a:lstStyle/>
          <a:p>
            <a:pPr algn="ctr"/>
            <a:r>
              <a:rPr lang="en-US" sz="1200" b="1" dirty="0">
                <a:solidFill>
                  <a:schemeClr val="bg1"/>
                </a:solidFill>
                <a:latin typeface="Helvetica" panose="020B0604020202020204" pitchFamily="34" charset="0"/>
                <a:cs typeface="Helvetica" panose="020B0604020202020204" pitchFamily="34" charset="0"/>
              </a:rPr>
              <a:t>Key Stakeholders</a:t>
            </a:r>
          </a:p>
        </p:txBody>
      </p:sp>
      <p:sp>
        <p:nvSpPr>
          <p:cNvPr id="57" name="สี่เหลี่ยมผืนผ้า: มุมมน 56">
            <a:extLst>
              <a:ext uri="{FF2B5EF4-FFF2-40B4-BE49-F238E27FC236}">
                <a16:creationId xmlns:a16="http://schemas.microsoft.com/office/drawing/2014/main" id="{01913594-A5B0-1CDE-7460-75ED54B4A5CF}"/>
              </a:ext>
            </a:extLst>
          </p:cNvPr>
          <p:cNvSpPr>
            <a:spLocks/>
          </p:cNvSpPr>
          <p:nvPr/>
        </p:nvSpPr>
        <p:spPr>
          <a:xfrm>
            <a:off x="6206232" y="4945488"/>
            <a:ext cx="2855556" cy="1622209"/>
          </a:xfrm>
          <a:prstGeom prst="roundRect">
            <a:avLst>
              <a:gd name="adj" fmla="val 11071"/>
            </a:avLst>
          </a:prstGeom>
          <a:solidFill>
            <a:srgbClr val="00528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solidFill>
                <a:srgbClr val="00528A"/>
              </a:solidFill>
            </a:endParaRPr>
          </a:p>
        </p:txBody>
      </p:sp>
      <p:sp>
        <p:nvSpPr>
          <p:cNvPr id="59" name="สี่เหลี่ยมผืนผ้า: มุมมน 58">
            <a:extLst>
              <a:ext uri="{FF2B5EF4-FFF2-40B4-BE49-F238E27FC236}">
                <a16:creationId xmlns:a16="http://schemas.microsoft.com/office/drawing/2014/main" id="{9B66BA36-1CB2-E375-8F9D-8787579E8785}"/>
              </a:ext>
            </a:extLst>
          </p:cNvPr>
          <p:cNvSpPr>
            <a:spLocks/>
          </p:cNvSpPr>
          <p:nvPr/>
        </p:nvSpPr>
        <p:spPr>
          <a:xfrm>
            <a:off x="6343788" y="4848540"/>
            <a:ext cx="2580445" cy="313471"/>
          </a:xfrm>
          <a:prstGeom prst="roundRect">
            <a:avLst>
              <a:gd name="adj" fmla="val 50000"/>
            </a:avLst>
          </a:prstGeom>
          <a:gradFill flip="none" rotWithShape="1">
            <a:gsLst>
              <a:gs pos="0">
                <a:srgbClr val="00528A"/>
              </a:gs>
              <a:gs pos="65745">
                <a:srgbClr val="73AFD8"/>
              </a:gs>
              <a:gs pos="38000">
                <a:srgbClr val="006FB9"/>
              </a:gs>
              <a:gs pos="69000">
                <a:srgbClr val="80B7DC"/>
              </a:gs>
              <a:gs pos="100000">
                <a:schemeClr val="accent1">
                  <a:lumMod val="40000"/>
                  <a:lumOff val="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solidFill>
                <a:srgbClr val="00528A"/>
              </a:solidFill>
            </a:endParaRPr>
          </a:p>
        </p:txBody>
      </p:sp>
      <p:sp>
        <p:nvSpPr>
          <p:cNvPr id="60" name="กล่องข้อความ 59">
            <a:extLst>
              <a:ext uri="{FF2B5EF4-FFF2-40B4-BE49-F238E27FC236}">
                <a16:creationId xmlns:a16="http://schemas.microsoft.com/office/drawing/2014/main" id="{8FE51089-E9CC-6CBC-A1F9-2D2F05BCCF68}"/>
              </a:ext>
            </a:extLst>
          </p:cNvPr>
          <p:cNvSpPr txBox="1">
            <a:spLocks/>
          </p:cNvSpPr>
          <p:nvPr/>
        </p:nvSpPr>
        <p:spPr>
          <a:xfrm>
            <a:off x="6556415" y="4866778"/>
            <a:ext cx="2155191" cy="276999"/>
          </a:xfrm>
          <a:prstGeom prst="rect">
            <a:avLst/>
          </a:prstGeom>
          <a:noFill/>
        </p:spPr>
        <p:txBody>
          <a:bodyPr wrap="square" rtlCol="0">
            <a:spAutoFit/>
          </a:bodyPr>
          <a:lstStyle/>
          <a:p>
            <a:pPr algn="ctr"/>
            <a:r>
              <a:rPr lang="en-US" sz="1200" b="1" dirty="0">
                <a:solidFill>
                  <a:schemeClr val="bg1"/>
                </a:solidFill>
                <a:latin typeface="Helvetica" panose="020B0604020202020204" pitchFamily="34" charset="0"/>
                <a:cs typeface="Helvetica" panose="020B0604020202020204" pitchFamily="34" charset="0"/>
              </a:rPr>
              <a:t>Roles and Responsibilities</a:t>
            </a:r>
          </a:p>
        </p:txBody>
      </p:sp>
      <p:sp>
        <p:nvSpPr>
          <p:cNvPr id="1024" name="กล่องข้อความ 1023">
            <a:extLst>
              <a:ext uri="{FF2B5EF4-FFF2-40B4-BE49-F238E27FC236}">
                <a16:creationId xmlns:a16="http://schemas.microsoft.com/office/drawing/2014/main" id="{8835C1B2-BD73-52D6-49BA-3065497859BE}"/>
              </a:ext>
            </a:extLst>
          </p:cNvPr>
          <p:cNvSpPr txBox="1">
            <a:spLocks/>
          </p:cNvSpPr>
          <p:nvPr/>
        </p:nvSpPr>
        <p:spPr>
          <a:xfrm>
            <a:off x="9614770" y="783827"/>
            <a:ext cx="2106572" cy="276999"/>
          </a:xfrm>
          <a:prstGeom prst="rect">
            <a:avLst/>
          </a:prstGeom>
          <a:noFill/>
        </p:spPr>
        <p:txBody>
          <a:bodyPr wrap="square" rtlCol="0">
            <a:spAutoFit/>
          </a:bodyPr>
          <a:lstStyle/>
          <a:p>
            <a:pPr algn="ctr"/>
            <a:r>
              <a:rPr lang="en-US" sz="1200" b="1" dirty="0">
                <a:solidFill>
                  <a:schemeClr val="bg1"/>
                </a:solidFill>
                <a:latin typeface="Helvetica" panose="020B0604020202020204" pitchFamily="34" charset="0"/>
                <a:cs typeface="Helvetica" panose="020B0604020202020204" pitchFamily="34" charset="0"/>
              </a:rPr>
              <a:t>Timeline/Major Milestones</a:t>
            </a:r>
            <a:endParaRPr lang="th-TH" sz="1200" b="1" dirty="0">
              <a:solidFill>
                <a:schemeClr val="bg1"/>
              </a:solidFill>
              <a:latin typeface="Helvetica" panose="020B0604020202020204" pitchFamily="34" charset="0"/>
              <a:cs typeface="Mitr" panose="00000500000000000000" pitchFamily="2" charset="-34"/>
            </a:endParaRPr>
          </a:p>
        </p:txBody>
      </p:sp>
      <p:sp>
        <p:nvSpPr>
          <p:cNvPr id="19" name="Rectangle 3">
            <a:extLst>
              <a:ext uri="{FF2B5EF4-FFF2-40B4-BE49-F238E27FC236}">
                <a16:creationId xmlns:a16="http://schemas.microsoft.com/office/drawing/2014/main" id="{2274C9A9-F736-F539-D2FA-D1DB6716D222}"/>
              </a:ext>
            </a:extLst>
          </p:cNvPr>
          <p:cNvSpPr>
            <a:spLocks/>
          </p:cNvSpPr>
          <p:nvPr/>
        </p:nvSpPr>
        <p:spPr bwMode="auto">
          <a:xfrm>
            <a:off x="269873" y="4498541"/>
            <a:ext cx="2642251" cy="190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indent="-171450">
              <a:lnSpc>
                <a:spcPct val="80000"/>
              </a:lnSpc>
              <a:buFont typeface="Arial" panose="020B0604020202020204" pitchFamily="34" charset="0"/>
              <a:buChar char="•"/>
            </a:pPr>
            <a:r>
              <a:rPr lang="en-US" sz="1050" b="1" dirty="0">
                <a:solidFill>
                  <a:srgbClr val="002060"/>
                </a:solidFill>
                <a:latin typeface="FC Minimal" panose="020B0500040200020003" pitchFamily="34" charset="-34"/>
                <a:cs typeface="FC Minimal" panose="020B0500040200020003" pitchFamily="34" charset="-34"/>
              </a:rPr>
              <a:t>High Error Rate &amp; Data Integrity: </a:t>
            </a:r>
            <a:r>
              <a:rPr lang="en-US" sz="1050" dirty="0">
                <a:solidFill>
                  <a:srgbClr val="002060"/>
                </a:solidFill>
                <a:latin typeface="FC Minimal" panose="020B0500040200020003" pitchFamily="34" charset="-34"/>
                <a:cs typeface="FC Minimal" panose="020B0500040200020003" pitchFamily="34" charset="-34"/>
              </a:rPr>
              <a:t>Manual transcription of measurement data into unstandardized Excel sheets results in a high error rate (up to 35.39%) and makes traceability or historical trend analysis difficult. </a:t>
            </a:r>
          </a:p>
          <a:p>
            <a:pPr marL="171450" indent="-171450">
              <a:lnSpc>
                <a:spcPct val="80000"/>
              </a:lnSpc>
              <a:buFont typeface="Arial" panose="020B0604020202020204" pitchFamily="34" charset="0"/>
              <a:buChar char="•"/>
            </a:pPr>
            <a:r>
              <a:rPr lang="en-US" sz="1050" b="1" dirty="0">
                <a:solidFill>
                  <a:srgbClr val="002060"/>
                </a:solidFill>
                <a:latin typeface="FC Minimal" panose="020B0500040200020003" pitchFamily="34" charset="-34"/>
                <a:cs typeface="FC Minimal" panose="020B0500040200020003" pitchFamily="34" charset="-34"/>
              </a:rPr>
              <a:t>Process Bottleneck: </a:t>
            </a:r>
            <a:r>
              <a:rPr lang="en-US" sz="1050" dirty="0">
                <a:solidFill>
                  <a:srgbClr val="002060"/>
                </a:solidFill>
                <a:latin typeface="FC Minimal" panose="020B0500040200020003" pitchFamily="34" charset="-34"/>
                <a:cs typeface="FC Minimal" panose="020B0500040200020003" pitchFamily="34" charset="-34"/>
              </a:rPr>
              <a:t>The manual loading, aligning, and one-by-one measurement process is time-consuming and struggles to meet the high-volume production demands. </a:t>
            </a:r>
          </a:p>
          <a:p>
            <a:pPr marL="171450" indent="-171450">
              <a:lnSpc>
                <a:spcPct val="80000"/>
              </a:lnSpc>
              <a:buFont typeface="Arial" panose="020B0604020202020204" pitchFamily="34" charset="0"/>
              <a:buChar char="•"/>
            </a:pPr>
            <a:r>
              <a:rPr lang="en-US" sz="1050" b="1" dirty="0">
                <a:solidFill>
                  <a:srgbClr val="002060"/>
                </a:solidFill>
                <a:latin typeface="FC Minimal" panose="020B0500040200020003" pitchFamily="34" charset="-34"/>
                <a:cs typeface="FC Minimal" panose="020B0500040200020003" pitchFamily="34" charset="-34"/>
              </a:rPr>
              <a:t>Inconsistent Quality (Human Variance): </a:t>
            </a:r>
            <a:r>
              <a:rPr lang="en-US" sz="1050" dirty="0">
                <a:solidFill>
                  <a:srgbClr val="002060"/>
                </a:solidFill>
                <a:latin typeface="FC Minimal" panose="020B0500040200020003" pitchFamily="34" charset="-34"/>
                <a:cs typeface="FC Minimal" panose="020B0500040200020003" pitchFamily="34" charset="-34"/>
              </a:rPr>
              <a:t>The current manual alignment heavily relies on technician expertise, leading to potential part misalignments, camera focus drops, and inconsistent measurement outcomes.</a:t>
            </a:r>
          </a:p>
        </p:txBody>
      </p:sp>
      <p:sp>
        <p:nvSpPr>
          <p:cNvPr id="23" name="Rectangle 7">
            <a:extLst>
              <a:ext uri="{FF2B5EF4-FFF2-40B4-BE49-F238E27FC236}">
                <a16:creationId xmlns:a16="http://schemas.microsoft.com/office/drawing/2014/main" id="{797B54CE-C167-39CC-8BDF-2AF94804B0CD}"/>
              </a:ext>
            </a:extLst>
          </p:cNvPr>
          <p:cNvSpPr>
            <a:spLocks/>
          </p:cNvSpPr>
          <p:nvPr/>
        </p:nvSpPr>
        <p:spPr bwMode="auto">
          <a:xfrm>
            <a:off x="6296981" y="3491347"/>
            <a:ext cx="2683620" cy="1188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050" b="1" dirty="0">
                <a:solidFill>
                  <a:srgbClr val="002060"/>
                </a:solidFill>
                <a:latin typeface="FC Minimal" panose="020B0500040200020003" pitchFamily="34" charset="-34"/>
                <a:cs typeface="FC Minimal" panose="020B0500040200020003" pitchFamily="34" charset="-34"/>
              </a:rPr>
              <a:t>Project</a:t>
            </a:r>
            <a:r>
              <a:rPr lang="th-TH" sz="1050" b="1" dirty="0">
                <a:solidFill>
                  <a:srgbClr val="002060"/>
                </a:solidFill>
                <a:latin typeface="FC Minimal" panose="020B0500040200020003" pitchFamily="34" charset="-34"/>
                <a:cs typeface="FC Minimal" panose="020B0500040200020003" pitchFamily="34" charset="-34"/>
              </a:rPr>
              <a:t> </a:t>
            </a:r>
            <a:r>
              <a:rPr lang="en-US" sz="1050" b="1" dirty="0">
                <a:solidFill>
                  <a:srgbClr val="002060"/>
                </a:solidFill>
                <a:latin typeface="FC Minimal" panose="020B0500040200020003" pitchFamily="34" charset="-34"/>
                <a:cs typeface="FC Minimal" panose="020B0500040200020003" pitchFamily="34" charset="-34"/>
              </a:rPr>
              <a:t>Sponsor</a:t>
            </a:r>
            <a:r>
              <a:rPr lang="th-TH" sz="1050" b="1" dirty="0">
                <a:solidFill>
                  <a:srgbClr val="002060"/>
                </a:solidFill>
                <a:latin typeface="FC Minimal" panose="020B0500040200020003" pitchFamily="34" charset="-34"/>
                <a:cs typeface="FC Minimal" panose="020B0500040200020003" pitchFamily="34" charset="-34"/>
              </a:rPr>
              <a:t>:   </a:t>
            </a:r>
            <a:endParaRPr lang="en-US" sz="1050" dirty="0">
              <a:solidFill>
                <a:srgbClr val="002060"/>
              </a:solidFill>
              <a:latin typeface="FC Minimal" panose="020B0500040200020003" pitchFamily="34" charset="-34"/>
              <a:cs typeface="FC Minimal" panose="020B0500040200020003" pitchFamily="34" charset="-34"/>
            </a:endParaRPr>
          </a:p>
          <a:p>
            <a:pPr>
              <a:lnSpc>
                <a:spcPct val="75000"/>
              </a:lnSpc>
            </a:pPr>
            <a:endParaRPr lang="en-US" sz="1050" b="1" dirty="0">
              <a:solidFill>
                <a:srgbClr val="002060"/>
              </a:solidFill>
              <a:latin typeface="FC Minimal" panose="020B0500040200020003" pitchFamily="34" charset="-34"/>
              <a:cs typeface="FC Minimal" panose="020B0500040200020003" pitchFamily="34" charset="-34"/>
            </a:endParaRPr>
          </a:p>
          <a:p>
            <a:pPr>
              <a:lnSpc>
                <a:spcPct val="75000"/>
              </a:lnSpc>
            </a:pPr>
            <a:r>
              <a:rPr lang="en-US" sz="1050" b="1" dirty="0">
                <a:solidFill>
                  <a:srgbClr val="002060"/>
                </a:solidFill>
                <a:latin typeface="FC Minimal" panose="020B0500040200020003" pitchFamily="34" charset="-34"/>
                <a:cs typeface="FC Minimal" panose="020B0500040200020003" pitchFamily="34" charset="-34"/>
              </a:rPr>
              <a:t>Project Mentor</a:t>
            </a:r>
            <a:r>
              <a:rPr lang="th-TH" sz="1050" b="1" dirty="0">
                <a:solidFill>
                  <a:srgbClr val="002060"/>
                </a:solidFill>
                <a:latin typeface="FC Minimal" panose="020B0500040200020003" pitchFamily="34" charset="-34"/>
                <a:cs typeface="FC Minimal" panose="020B0500040200020003" pitchFamily="34" charset="-34"/>
              </a:rPr>
              <a:t>:    </a:t>
            </a:r>
            <a:endParaRPr lang="en-US" sz="1050" b="1" dirty="0">
              <a:solidFill>
                <a:srgbClr val="002060"/>
              </a:solidFill>
              <a:latin typeface="FC Minimal" panose="020B0500040200020003" pitchFamily="34" charset="-34"/>
              <a:cs typeface="FC Minimal" panose="020B0500040200020003" pitchFamily="34" charset="-34"/>
            </a:endParaRPr>
          </a:p>
          <a:p>
            <a:pPr>
              <a:lnSpc>
                <a:spcPct val="75000"/>
              </a:lnSpc>
            </a:pPr>
            <a:endParaRPr lang="en-US" sz="1050" b="1" dirty="0">
              <a:solidFill>
                <a:srgbClr val="002060"/>
              </a:solidFill>
              <a:latin typeface="FC Minimal" panose="020B0500040200020003" pitchFamily="34" charset="-34"/>
              <a:cs typeface="FC Minimal" panose="020B0500040200020003" pitchFamily="34" charset="-34"/>
            </a:endParaRPr>
          </a:p>
          <a:p>
            <a:pPr>
              <a:lnSpc>
                <a:spcPct val="75000"/>
              </a:lnSpc>
            </a:pPr>
            <a:r>
              <a:rPr lang="en-US" sz="1050" b="1" dirty="0">
                <a:solidFill>
                  <a:srgbClr val="002060"/>
                </a:solidFill>
                <a:latin typeface="FC Minimal" panose="020B0500040200020003" pitchFamily="34" charset="-34"/>
                <a:cs typeface="FC Minimal" panose="020B0500040200020003" pitchFamily="34" charset="-34"/>
              </a:rPr>
              <a:t>Interns:</a:t>
            </a:r>
            <a:endParaRPr lang="en-US" sz="1050" dirty="0">
              <a:solidFill>
                <a:srgbClr val="002060"/>
              </a:solidFill>
              <a:latin typeface="FC Minimal" panose="020B0500040200020003" pitchFamily="34" charset="-34"/>
              <a:cs typeface="FC Minimal" panose="020B0500040200020003" pitchFamily="34" charset="-34"/>
            </a:endParaRPr>
          </a:p>
          <a:p>
            <a:pPr>
              <a:lnSpc>
                <a:spcPct val="75000"/>
              </a:lnSpc>
            </a:pPr>
            <a:r>
              <a:rPr lang="en-US" sz="1050" dirty="0">
                <a:solidFill>
                  <a:srgbClr val="002060"/>
                </a:solidFill>
                <a:latin typeface="FC Minimal" panose="020B0500040200020003" pitchFamily="34" charset="-34"/>
                <a:cs typeface="FC Minimal" panose="020B0500040200020003" pitchFamily="34" charset="-34"/>
              </a:rPr>
              <a:t>                           </a:t>
            </a:r>
          </a:p>
          <a:p>
            <a:pPr>
              <a:lnSpc>
                <a:spcPct val="75000"/>
              </a:lnSpc>
            </a:pPr>
            <a:r>
              <a:rPr lang="en-US" sz="1050" b="1" dirty="0">
                <a:solidFill>
                  <a:srgbClr val="002060"/>
                </a:solidFill>
                <a:latin typeface="FC Minimal" panose="020B0500040200020003" pitchFamily="34" charset="-34"/>
                <a:cs typeface="FC Minimal" panose="020B0500040200020003" pitchFamily="34" charset="-34"/>
              </a:rPr>
              <a:t>End</a:t>
            </a:r>
            <a:r>
              <a:rPr lang="th-TH" sz="1050" b="1" dirty="0">
                <a:solidFill>
                  <a:srgbClr val="002060"/>
                </a:solidFill>
                <a:latin typeface="FC Minimal" panose="020B0500040200020003" pitchFamily="34" charset="-34"/>
                <a:cs typeface="FC Minimal" panose="020B0500040200020003" pitchFamily="34" charset="-34"/>
              </a:rPr>
              <a:t> </a:t>
            </a:r>
            <a:r>
              <a:rPr lang="en-US" sz="1050" b="1" dirty="0">
                <a:solidFill>
                  <a:srgbClr val="002060"/>
                </a:solidFill>
                <a:latin typeface="FC Minimal" panose="020B0500040200020003" pitchFamily="34" charset="-34"/>
                <a:cs typeface="FC Minimal" panose="020B0500040200020003" pitchFamily="34" charset="-34"/>
              </a:rPr>
              <a:t>Users</a:t>
            </a:r>
            <a:r>
              <a:rPr lang="th-TH" sz="1050" b="1" dirty="0">
                <a:solidFill>
                  <a:srgbClr val="002060"/>
                </a:solidFill>
                <a:latin typeface="FC Minimal" panose="020B0500040200020003" pitchFamily="34" charset="-34"/>
                <a:cs typeface="FC Minimal" panose="020B0500040200020003" pitchFamily="34" charset="-34"/>
              </a:rPr>
              <a:t>:</a:t>
            </a:r>
            <a:r>
              <a:rPr lang="en-US" sz="1050" b="1" dirty="0">
                <a:solidFill>
                  <a:srgbClr val="002060"/>
                </a:solidFill>
                <a:latin typeface="FC Minimal" panose="020B0500040200020003" pitchFamily="34" charset="-34"/>
                <a:cs typeface="FC Minimal" panose="020B0500040200020003" pitchFamily="34" charset="-34"/>
              </a:rPr>
              <a:t>             </a:t>
            </a:r>
          </a:p>
          <a:p>
            <a:pPr>
              <a:lnSpc>
                <a:spcPct val="75000"/>
              </a:lnSpc>
            </a:pPr>
            <a:endParaRPr lang="en-US" sz="1050" b="1" dirty="0">
              <a:solidFill>
                <a:srgbClr val="002060"/>
              </a:solidFill>
              <a:latin typeface="FC Minimal" panose="020B0500040200020003" pitchFamily="34" charset="-34"/>
              <a:cs typeface="FC Minimal" panose="020B0500040200020003" pitchFamily="34" charset="-34"/>
            </a:endParaRPr>
          </a:p>
          <a:p>
            <a:pPr>
              <a:lnSpc>
                <a:spcPct val="75000"/>
              </a:lnSpc>
            </a:pPr>
            <a:r>
              <a:rPr lang="en-US" sz="1050" b="1" dirty="0">
                <a:solidFill>
                  <a:srgbClr val="002060"/>
                </a:solidFill>
                <a:latin typeface="FC Minimal" panose="020B0500040200020003" pitchFamily="34" charset="-34"/>
                <a:cs typeface="FC Minimal" panose="020B0500040200020003" pitchFamily="34" charset="-34"/>
              </a:rPr>
              <a:t>Support:</a:t>
            </a:r>
          </a:p>
        </p:txBody>
      </p:sp>
      <p:sp>
        <p:nvSpPr>
          <p:cNvPr id="33" name="Rectangle 7">
            <a:extLst>
              <a:ext uri="{FF2B5EF4-FFF2-40B4-BE49-F238E27FC236}">
                <a16:creationId xmlns:a16="http://schemas.microsoft.com/office/drawing/2014/main" id="{87E06506-5387-8CBA-B3EC-D2105EA1A1DE}"/>
              </a:ext>
            </a:extLst>
          </p:cNvPr>
          <p:cNvSpPr>
            <a:spLocks/>
          </p:cNvSpPr>
          <p:nvPr/>
        </p:nvSpPr>
        <p:spPr bwMode="auto">
          <a:xfrm>
            <a:off x="6296981" y="5175457"/>
            <a:ext cx="2683620" cy="1392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0000"/>
              </a:lnSpc>
            </a:pPr>
            <a:r>
              <a:rPr lang="en-US" sz="1000" b="1" dirty="0">
                <a:solidFill>
                  <a:srgbClr val="002060"/>
                </a:solidFill>
                <a:latin typeface="FC Minimal" panose="020B0500040200020003" pitchFamily="34" charset="-34"/>
                <a:cs typeface="FC Minimal" panose="020B0500040200020003" pitchFamily="34" charset="-34"/>
              </a:rPr>
              <a:t>Project</a:t>
            </a:r>
            <a:r>
              <a:rPr lang="th-TH" sz="1000" b="1" dirty="0">
                <a:solidFill>
                  <a:srgbClr val="002060"/>
                </a:solidFill>
                <a:latin typeface="FC Minimal" panose="020B0500040200020003" pitchFamily="34" charset="-34"/>
                <a:cs typeface="FC Minimal" panose="020B0500040200020003" pitchFamily="34" charset="-34"/>
              </a:rPr>
              <a:t> </a:t>
            </a:r>
            <a:r>
              <a:rPr lang="en-US" sz="1000" b="1" dirty="0">
                <a:solidFill>
                  <a:srgbClr val="002060"/>
                </a:solidFill>
                <a:latin typeface="FC Minimal" panose="020B0500040200020003" pitchFamily="34" charset="-34"/>
                <a:cs typeface="FC Minimal" panose="020B0500040200020003" pitchFamily="34" charset="-34"/>
              </a:rPr>
              <a:t>Sponsor</a:t>
            </a:r>
            <a:r>
              <a:rPr lang="th-TH" sz="1000" b="1" dirty="0">
                <a:solidFill>
                  <a:srgbClr val="002060"/>
                </a:solidFill>
                <a:latin typeface="FC Minimal" panose="020B0500040200020003" pitchFamily="34" charset="-34"/>
                <a:cs typeface="FC Minimal" panose="020B0500040200020003" pitchFamily="34" charset="-34"/>
              </a:rPr>
              <a:t>: </a:t>
            </a:r>
            <a:endParaRPr lang="en-US" sz="1000" b="1" dirty="0">
              <a:solidFill>
                <a:srgbClr val="002060"/>
              </a:solidFill>
              <a:latin typeface="FC Minimal" panose="020B0500040200020003" pitchFamily="34" charset="-34"/>
              <a:cs typeface="FC Minimal" panose="020B0500040200020003" pitchFamily="34" charset="-34"/>
            </a:endParaRPr>
          </a:p>
          <a:p>
            <a:pPr>
              <a:lnSpc>
                <a:spcPct val="70000"/>
              </a:lnSpc>
            </a:pPr>
            <a:r>
              <a:rPr lang="en-US" sz="1000" dirty="0">
                <a:solidFill>
                  <a:srgbClr val="002060"/>
                </a:solidFill>
                <a:latin typeface="FC Minimal" panose="020B0500040200020003" pitchFamily="34" charset="-34"/>
                <a:cs typeface="FC Minimal" panose="020B0500040200020003" pitchFamily="34" charset="-34"/>
              </a:rPr>
              <a:t>          Provides Resources, Budget Approval</a:t>
            </a:r>
          </a:p>
          <a:p>
            <a:pPr>
              <a:lnSpc>
                <a:spcPct val="70000"/>
              </a:lnSpc>
            </a:pPr>
            <a:r>
              <a:rPr lang="en-US" sz="1000" b="1" dirty="0">
                <a:solidFill>
                  <a:srgbClr val="002060"/>
                </a:solidFill>
                <a:latin typeface="FC Minimal" panose="020B0500040200020003" pitchFamily="34" charset="-34"/>
                <a:cs typeface="FC Minimal" panose="020B0500040200020003" pitchFamily="34" charset="-34"/>
              </a:rPr>
              <a:t>Project Mentor</a:t>
            </a:r>
            <a:r>
              <a:rPr lang="th-TH" sz="1000" b="1" dirty="0">
                <a:solidFill>
                  <a:srgbClr val="002060"/>
                </a:solidFill>
                <a:latin typeface="FC Minimal" panose="020B0500040200020003" pitchFamily="34" charset="-34"/>
                <a:cs typeface="FC Minimal" panose="020B0500040200020003" pitchFamily="34" charset="-34"/>
              </a:rPr>
              <a:t>:</a:t>
            </a:r>
          </a:p>
          <a:p>
            <a:pPr>
              <a:lnSpc>
                <a:spcPct val="70000"/>
              </a:lnSpc>
            </a:pPr>
            <a:r>
              <a:rPr lang="en-US" sz="1000" dirty="0">
                <a:solidFill>
                  <a:srgbClr val="002060"/>
                </a:solidFill>
                <a:latin typeface="FC Minimal" panose="020B0500040200020003" pitchFamily="34" charset="-34"/>
                <a:cs typeface="FC Minimal" panose="020B0500040200020003" pitchFamily="34" charset="-34"/>
              </a:rPr>
              <a:t>          Offers Technical Guidance, Reviews Progress</a:t>
            </a:r>
            <a:endParaRPr lang="en-US" sz="1000" b="1" dirty="0">
              <a:solidFill>
                <a:srgbClr val="002060"/>
              </a:solidFill>
              <a:latin typeface="FC Minimal" panose="020B0500040200020003" pitchFamily="34" charset="-34"/>
              <a:cs typeface="FC Minimal" panose="020B0500040200020003" pitchFamily="34" charset="-34"/>
            </a:endParaRPr>
          </a:p>
          <a:p>
            <a:pPr>
              <a:lnSpc>
                <a:spcPct val="70000"/>
              </a:lnSpc>
            </a:pPr>
            <a:r>
              <a:rPr lang="en-US" sz="1000" b="1" dirty="0">
                <a:solidFill>
                  <a:srgbClr val="002060"/>
                </a:solidFill>
                <a:latin typeface="FC Minimal" panose="020B0500040200020003" pitchFamily="34" charset="-34"/>
                <a:cs typeface="FC Minimal" panose="020B0500040200020003" pitchFamily="34" charset="-34"/>
              </a:rPr>
              <a:t>Interns: </a:t>
            </a:r>
          </a:p>
          <a:p>
            <a:pPr>
              <a:lnSpc>
                <a:spcPct val="70000"/>
              </a:lnSpc>
            </a:pPr>
            <a:r>
              <a:rPr lang="en-US" sz="1000" dirty="0">
                <a:solidFill>
                  <a:srgbClr val="002060"/>
                </a:solidFill>
                <a:latin typeface="FC Minimal" panose="020B0500040200020003" pitchFamily="34" charset="-34"/>
                <a:cs typeface="FC Minimal" panose="020B0500040200020003" pitchFamily="34" charset="-34"/>
              </a:rPr>
              <a:t>          Execute Development, Including Hardware Fabrication, Software, and System Integration</a:t>
            </a:r>
            <a:endParaRPr lang="en-US" sz="1000" b="1" dirty="0">
              <a:solidFill>
                <a:srgbClr val="002060"/>
              </a:solidFill>
              <a:latin typeface="FC Minimal" panose="020B0500040200020003" pitchFamily="34" charset="-34"/>
              <a:cs typeface="FC Minimal" panose="020B0500040200020003" pitchFamily="34" charset="-34"/>
            </a:endParaRPr>
          </a:p>
          <a:p>
            <a:pPr>
              <a:lnSpc>
                <a:spcPct val="70000"/>
              </a:lnSpc>
            </a:pPr>
            <a:r>
              <a:rPr lang="en-US" sz="1000" b="1" dirty="0">
                <a:solidFill>
                  <a:srgbClr val="002060"/>
                </a:solidFill>
                <a:latin typeface="FC Minimal" panose="020B0500040200020003" pitchFamily="34" charset="-34"/>
                <a:cs typeface="FC Minimal" panose="020B0500040200020003" pitchFamily="34" charset="-34"/>
              </a:rPr>
              <a:t>End</a:t>
            </a:r>
            <a:r>
              <a:rPr lang="th-TH" sz="1000" b="1" dirty="0">
                <a:solidFill>
                  <a:srgbClr val="002060"/>
                </a:solidFill>
                <a:latin typeface="FC Minimal" panose="020B0500040200020003" pitchFamily="34" charset="-34"/>
                <a:cs typeface="FC Minimal" panose="020B0500040200020003" pitchFamily="34" charset="-34"/>
              </a:rPr>
              <a:t> </a:t>
            </a:r>
            <a:r>
              <a:rPr lang="en-US" sz="1000" b="1" dirty="0">
                <a:solidFill>
                  <a:srgbClr val="002060"/>
                </a:solidFill>
                <a:latin typeface="FC Minimal" panose="020B0500040200020003" pitchFamily="34" charset="-34"/>
                <a:cs typeface="FC Minimal" panose="020B0500040200020003" pitchFamily="34" charset="-34"/>
              </a:rPr>
              <a:t>Users</a:t>
            </a:r>
            <a:r>
              <a:rPr lang="th-TH" sz="1000" b="1" dirty="0">
                <a:solidFill>
                  <a:srgbClr val="002060"/>
                </a:solidFill>
                <a:latin typeface="FC Minimal" panose="020B0500040200020003" pitchFamily="34" charset="-34"/>
                <a:cs typeface="FC Minimal" panose="020B0500040200020003" pitchFamily="34" charset="-34"/>
              </a:rPr>
              <a:t>:</a:t>
            </a:r>
          </a:p>
          <a:p>
            <a:pPr>
              <a:lnSpc>
                <a:spcPct val="70000"/>
              </a:lnSpc>
            </a:pPr>
            <a:r>
              <a:rPr lang="en-US" sz="1000" dirty="0">
                <a:solidFill>
                  <a:srgbClr val="002060"/>
                </a:solidFill>
                <a:latin typeface="FC Minimal" panose="020B0500040200020003" pitchFamily="34" charset="-34"/>
                <a:cs typeface="FC Minimal" panose="020B0500040200020003" pitchFamily="34" charset="-34"/>
              </a:rPr>
              <a:t>          Provide Pain Point Feedback, Participate in UAT and Follow the New SOP</a:t>
            </a:r>
          </a:p>
          <a:p>
            <a:pPr>
              <a:lnSpc>
                <a:spcPct val="70000"/>
              </a:lnSpc>
            </a:pPr>
            <a:r>
              <a:rPr lang="en-US" sz="1000" b="1" dirty="0">
                <a:solidFill>
                  <a:srgbClr val="002060"/>
                </a:solidFill>
                <a:latin typeface="FC Minimal" panose="020B0500040200020003" pitchFamily="34" charset="-34"/>
                <a:cs typeface="FC Minimal" panose="020B0500040200020003" pitchFamily="34" charset="-34"/>
              </a:rPr>
              <a:t>Support:</a:t>
            </a:r>
          </a:p>
          <a:p>
            <a:pPr>
              <a:lnSpc>
                <a:spcPct val="70000"/>
              </a:lnSpc>
            </a:pPr>
            <a:r>
              <a:rPr lang="en-US" sz="1000" dirty="0">
                <a:solidFill>
                  <a:srgbClr val="002060"/>
                </a:solidFill>
                <a:latin typeface="FC Minimal" panose="020B0500040200020003" pitchFamily="34" charset="-34"/>
                <a:cs typeface="FC Minimal" panose="020B0500040200020003" pitchFamily="34" charset="-34"/>
              </a:rPr>
              <a:t>          Assists with Hardware Installation</a:t>
            </a:r>
          </a:p>
        </p:txBody>
      </p:sp>
      <p:sp>
        <p:nvSpPr>
          <p:cNvPr id="34" name="Rectangle 7">
            <a:extLst>
              <a:ext uri="{FF2B5EF4-FFF2-40B4-BE49-F238E27FC236}">
                <a16:creationId xmlns:a16="http://schemas.microsoft.com/office/drawing/2014/main" id="{9F75E805-C100-10FE-A3FE-8A448B36FAA7}"/>
              </a:ext>
            </a:extLst>
          </p:cNvPr>
          <p:cNvSpPr>
            <a:spLocks/>
          </p:cNvSpPr>
          <p:nvPr/>
        </p:nvSpPr>
        <p:spPr bwMode="auto">
          <a:xfrm>
            <a:off x="3316507" y="3280076"/>
            <a:ext cx="625734" cy="21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75000"/>
              </a:lnSpc>
            </a:pPr>
            <a:r>
              <a:rPr lang="en-US" sz="1050" b="1" dirty="0">
                <a:solidFill>
                  <a:srgbClr val="002060"/>
                </a:solidFill>
                <a:latin typeface="FC Minimal" panose="020B0500040200020003" pitchFamily="34" charset="-34"/>
                <a:cs typeface="FC Minimal" panose="020B0500040200020003" pitchFamily="34" charset="-34"/>
              </a:rPr>
              <a:t>Scope In</a:t>
            </a:r>
          </a:p>
        </p:txBody>
      </p:sp>
      <p:sp>
        <p:nvSpPr>
          <p:cNvPr id="11" name="กล่องข้อความ 10">
            <a:extLst>
              <a:ext uri="{FF2B5EF4-FFF2-40B4-BE49-F238E27FC236}">
                <a16:creationId xmlns:a16="http://schemas.microsoft.com/office/drawing/2014/main" id="{CE1C6B25-E738-3325-6D61-FF31030E72BB}"/>
              </a:ext>
            </a:extLst>
          </p:cNvPr>
          <p:cNvSpPr txBox="1">
            <a:spLocks/>
          </p:cNvSpPr>
          <p:nvPr/>
        </p:nvSpPr>
        <p:spPr>
          <a:xfrm>
            <a:off x="2355778" y="197073"/>
            <a:ext cx="2845388" cy="400110"/>
          </a:xfrm>
          <a:prstGeom prst="rect">
            <a:avLst/>
          </a:prstGeom>
          <a:noFill/>
        </p:spPr>
        <p:txBody>
          <a:bodyPr wrap="square" rtlCol="0">
            <a:spAutoFit/>
          </a:bodyPr>
          <a:lstStyle/>
          <a:p>
            <a:pPr algn="ctr"/>
            <a:r>
              <a:rPr lang="en-US" sz="2000" b="1" dirty="0">
                <a:solidFill>
                  <a:srgbClr val="00558F"/>
                </a:solidFill>
                <a:latin typeface="Helvetica" panose="020B0604020202020204" pitchFamily="34" charset="0"/>
                <a:cs typeface="Helvetica" panose="020B0604020202020204" pitchFamily="34" charset="0"/>
              </a:rPr>
              <a:t>TM-X Improvement</a:t>
            </a:r>
            <a:endParaRPr lang="th-TH" sz="2000" b="1" dirty="0">
              <a:solidFill>
                <a:srgbClr val="00558F"/>
              </a:solidFill>
              <a:latin typeface="Helvetica" panose="020B0604020202020204" pitchFamily="34" charset="0"/>
              <a:cs typeface="Mitr" panose="00000500000000000000" pitchFamily="2" charset="-34"/>
            </a:endParaRPr>
          </a:p>
        </p:txBody>
      </p:sp>
      <p:sp>
        <p:nvSpPr>
          <p:cNvPr id="30" name="Rectangle 2">
            <a:extLst>
              <a:ext uri="{FF2B5EF4-FFF2-40B4-BE49-F238E27FC236}">
                <a16:creationId xmlns:a16="http://schemas.microsoft.com/office/drawing/2014/main" id="{43472D6B-98B5-A3BD-555A-4620AB918128}"/>
              </a:ext>
            </a:extLst>
          </p:cNvPr>
          <p:cNvSpPr>
            <a:spLocks noChangeArrowheads="1"/>
          </p:cNvSpPr>
          <p:nvPr/>
        </p:nvSpPr>
        <p:spPr bwMode="auto">
          <a:xfrm>
            <a:off x="3299093" y="1096787"/>
            <a:ext cx="2684436" cy="1776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lvl="0" indent="-171450" eaLnBrk="0" fontAlgn="base" hangingPunct="0">
              <a:lnSpc>
                <a:spcPct val="80000"/>
              </a:lnSpc>
              <a:buFont typeface="Arial" panose="020B0604020202020204" pitchFamily="34" charset="0"/>
              <a:buChar char="•"/>
            </a:pPr>
            <a:r>
              <a:rPr lang="en-US" sz="1050" b="1" dirty="0">
                <a:solidFill>
                  <a:srgbClr val="002060"/>
                </a:solidFill>
                <a:latin typeface="FC Minimal" panose="020B0500040200020003" pitchFamily="34" charset="-34"/>
                <a:cs typeface="FC Minimal" panose="020B0500040200020003" pitchFamily="34" charset="-34"/>
              </a:rPr>
              <a:t>Software &amp; Communication Interface: </a:t>
            </a:r>
            <a:r>
              <a:rPr lang="en-US" sz="1050" dirty="0">
                <a:solidFill>
                  <a:srgbClr val="002060"/>
                </a:solidFill>
                <a:latin typeface="FC Minimal" panose="020B0500040200020003" pitchFamily="34" charset="-34"/>
                <a:cs typeface="FC Minimal" panose="020B0500040200020003" pitchFamily="34" charset="-34"/>
              </a:rPr>
              <a:t>Develop a Python-based agent using TCP protocol to communicate with the closed-system TM-X controller and automate the hardware control (e.g., stepper motors and Accept/Reject logic). </a:t>
            </a:r>
          </a:p>
          <a:p>
            <a:pPr marL="171450" lvl="0" indent="-171450" eaLnBrk="0" fontAlgn="base" hangingPunct="0">
              <a:lnSpc>
                <a:spcPct val="80000"/>
              </a:lnSpc>
              <a:buFont typeface="Arial" panose="020B0604020202020204" pitchFamily="34" charset="0"/>
              <a:buChar char="•"/>
            </a:pPr>
            <a:r>
              <a:rPr lang="en-US" sz="1050" b="1" dirty="0">
                <a:solidFill>
                  <a:srgbClr val="002060"/>
                </a:solidFill>
                <a:latin typeface="FC Minimal" panose="020B0500040200020003" pitchFamily="34" charset="-34"/>
                <a:cs typeface="FC Minimal" panose="020B0500040200020003" pitchFamily="34" charset="-34"/>
              </a:rPr>
              <a:t>Database &amp; UI Dashboard: </a:t>
            </a:r>
            <a:r>
              <a:rPr lang="en-US" sz="1050" dirty="0">
                <a:solidFill>
                  <a:srgbClr val="002060"/>
                </a:solidFill>
                <a:latin typeface="FC Minimal" panose="020B0500040200020003" pitchFamily="34" charset="-34"/>
                <a:cs typeface="FC Minimal" panose="020B0500040200020003" pitchFamily="34" charset="-34"/>
              </a:rPr>
              <a:t>Build a full-stack web application linked to a centralized database for real-time data tracking, visualization, and automated report generation (PDF/Excel). </a:t>
            </a:r>
          </a:p>
          <a:p>
            <a:pPr marL="171450" lvl="0" indent="-171450" eaLnBrk="0" fontAlgn="base" hangingPunct="0">
              <a:lnSpc>
                <a:spcPct val="80000"/>
              </a:lnSpc>
              <a:buFont typeface="Arial" panose="020B0604020202020204" pitchFamily="34" charset="0"/>
              <a:buChar char="•"/>
            </a:pPr>
            <a:r>
              <a:rPr lang="en-US" sz="1050" b="1" dirty="0">
                <a:solidFill>
                  <a:srgbClr val="002060"/>
                </a:solidFill>
                <a:latin typeface="FC Minimal" panose="020B0500040200020003" pitchFamily="34" charset="-34"/>
                <a:cs typeface="FC Minimal" panose="020B0500040200020003" pitchFamily="34" charset="-34"/>
              </a:rPr>
              <a:t>System Integration: </a:t>
            </a:r>
            <a:r>
              <a:rPr lang="en-US" sz="1050" dirty="0">
                <a:solidFill>
                  <a:srgbClr val="002060"/>
                </a:solidFill>
                <a:latin typeface="FC Minimal" panose="020B0500040200020003" pitchFamily="34" charset="-34"/>
                <a:cs typeface="FC Minimal" panose="020B0500040200020003" pitchFamily="34" charset="-34"/>
              </a:rPr>
              <a:t>Assemble the mechanical components, electronic controllers, and software APIs into a unified system, followed by thorough validation and testing.</a:t>
            </a:r>
          </a:p>
        </p:txBody>
      </p:sp>
      <p:sp>
        <p:nvSpPr>
          <p:cNvPr id="2053" name="กล่องข้อความ 2052">
            <a:extLst>
              <a:ext uri="{FF2B5EF4-FFF2-40B4-BE49-F238E27FC236}">
                <a16:creationId xmlns:a16="http://schemas.microsoft.com/office/drawing/2014/main" id="{FA02764D-3B2A-4E3E-208E-051915ED6E6D}"/>
              </a:ext>
            </a:extLst>
          </p:cNvPr>
          <p:cNvSpPr txBox="1"/>
          <p:nvPr/>
        </p:nvSpPr>
        <p:spPr>
          <a:xfrm>
            <a:off x="7290026" y="3496918"/>
            <a:ext cx="1970259" cy="1188659"/>
          </a:xfrm>
          <a:prstGeom prst="rect">
            <a:avLst/>
          </a:prstGeom>
          <a:noFill/>
        </p:spPr>
        <p:txBody>
          <a:bodyPr wrap="square">
            <a:spAutoFit/>
          </a:bodyPr>
          <a:lstStyle/>
          <a:p>
            <a:pPr>
              <a:lnSpc>
                <a:spcPct val="75000"/>
              </a:lnSpc>
              <a:spcAft>
                <a:spcPts val="800"/>
              </a:spcAft>
              <a:buNone/>
            </a:pPr>
            <a:r>
              <a:rPr lang="en-US" sz="1050" kern="100" dirty="0" err="1">
                <a:solidFill>
                  <a:srgbClr val="002060"/>
                </a:solidFill>
                <a:latin typeface="FC Minimal" panose="020B0500040200020003" pitchFamily="34" charset="-34"/>
                <a:ea typeface="Calibri" panose="020F0502020204030204" pitchFamily="34" charset="0"/>
                <a:cs typeface="FC Minimal" panose="020B0500040200020003" pitchFamily="34" charset="-34"/>
              </a:rPr>
              <a:t>Amornthep</a:t>
            </a:r>
            <a:r>
              <a:rPr lang="en-US" sz="1050" kern="100" dirty="0">
                <a:solidFill>
                  <a:srgbClr val="002060"/>
                </a:solidFill>
                <a:latin typeface="FC Minimal" panose="020B0500040200020003" pitchFamily="34" charset="-34"/>
                <a:ea typeface="Calibri" panose="020F0502020204030204" pitchFamily="34" charset="0"/>
                <a:cs typeface="FC Minimal" panose="020B0500040200020003" pitchFamily="34" charset="-34"/>
              </a:rPr>
              <a:t> </a:t>
            </a:r>
            <a:r>
              <a:rPr lang="en-US" sz="1050" kern="100" dirty="0" err="1">
                <a:solidFill>
                  <a:srgbClr val="002060"/>
                </a:solidFill>
                <a:latin typeface="FC Minimal" panose="020B0500040200020003" pitchFamily="34" charset="-34"/>
                <a:ea typeface="Calibri" panose="020F0502020204030204" pitchFamily="34" charset="0"/>
                <a:cs typeface="FC Minimal" panose="020B0500040200020003" pitchFamily="34" charset="-34"/>
              </a:rPr>
              <a:t>Hunwong</a:t>
            </a:r>
            <a:br>
              <a:rPr lang="en-US" sz="1050" kern="100" dirty="0">
                <a:solidFill>
                  <a:srgbClr val="002060"/>
                </a:solidFill>
                <a:latin typeface="FC Minimal" panose="020B0500040200020003" pitchFamily="34" charset="-34"/>
                <a:ea typeface="Calibri" panose="020F0502020204030204" pitchFamily="34" charset="0"/>
                <a:cs typeface="FC Minimal" panose="020B0500040200020003" pitchFamily="34" charset="-34"/>
              </a:rPr>
            </a:br>
            <a:r>
              <a:rPr lang="en-US" sz="1050" kern="100" dirty="0">
                <a:solidFill>
                  <a:srgbClr val="002060"/>
                </a:solidFill>
                <a:effectLst/>
                <a:latin typeface="FC Minimal" panose="020B0500040200020003" pitchFamily="34" charset="-34"/>
                <a:ea typeface="Calibri" panose="020F0502020204030204" pitchFamily="34" charset="0"/>
                <a:cs typeface="FC Minimal" panose="020B0500040200020003" pitchFamily="34" charset="-34"/>
              </a:rPr>
              <a:t>(Manager, </a:t>
            </a:r>
            <a:r>
              <a:rPr lang="en-US" sz="1050" kern="100" dirty="0">
                <a:solidFill>
                  <a:srgbClr val="002060"/>
                </a:solidFill>
                <a:latin typeface="FC Minimal" panose="020B0500040200020003" pitchFamily="34" charset="-34"/>
                <a:ea typeface="Calibri" panose="020F0502020204030204" pitchFamily="34" charset="0"/>
                <a:cs typeface="FC Minimal" panose="020B0500040200020003" pitchFamily="34" charset="-34"/>
              </a:rPr>
              <a:t>Equipment Engineering</a:t>
            </a:r>
            <a:r>
              <a:rPr lang="en-US" sz="1050" kern="100" dirty="0">
                <a:solidFill>
                  <a:srgbClr val="002060"/>
                </a:solidFill>
                <a:effectLst/>
                <a:latin typeface="FC Minimal" panose="020B0500040200020003" pitchFamily="34" charset="-34"/>
                <a:ea typeface="Calibri" panose="020F0502020204030204" pitchFamily="34" charset="0"/>
                <a:cs typeface="FC Minimal" panose="020B0500040200020003" pitchFamily="34" charset="-34"/>
              </a:rPr>
              <a:t>)</a:t>
            </a:r>
            <a:br>
              <a:rPr lang="en-US" sz="1050" kern="100" dirty="0">
                <a:solidFill>
                  <a:srgbClr val="002060"/>
                </a:solidFill>
                <a:latin typeface="FC Minimal" panose="020B0500040200020003" pitchFamily="34" charset="-34"/>
                <a:ea typeface="Calibri" panose="020F0502020204030204" pitchFamily="34" charset="0"/>
                <a:cs typeface="FC Minimal" panose="020B0500040200020003" pitchFamily="34" charset="-34"/>
              </a:rPr>
            </a:br>
            <a:r>
              <a:rPr lang="en-US" sz="1050" kern="100" dirty="0">
                <a:solidFill>
                  <a:srgbClr val="002060"/>
                </a:solidFill>
                <a:effectLst/>
                <a:latin typeface="FC Minimal" panose="020B0500040200020003" pitchFamily="34" charset="-34"/>
                <a:ea typeface="Calibri" panose="020F0502020204030204" pitchFamily="34" charset="0"/>
                <a:cs typeface="FC Minimal" panose="020B0500040200020003" pitchFamily="34" charset="-34"/>
              </a:rPr>
              <a:t>Tulakan Posungneon</a:t>
            </a:r>
            <a:br>
              <a:rPr lang="en-US" sz="1050" kern="100" dirty="0">
                <a:solidFill>
                  <a:srgbClr val="002060"/>
                </a:solidFill>
                <a:latin typeface="FC Minimal" panose="020B0500040200020003" pitchFamily="34" charset="-34"/>
                <a:ea typeface="Calibri" panose="020F0502020204030204" pitchFamily="34" charset="0"/>
                <a:cs typeface="FC Minimal" panose="020B0500040200020003" pitchFamily="34" charset="-34"/>
              </a:rPr>
            </a:br>
            <a:r>
              <a:rPr lang="en-US" sz="1050" kern="100" dirty="0">
                <a:solidFill>
                  <a:srgbClr val="002060"/>
                </a:solidFill>
                <a:effectLst/>
                <a:latin typeface="FC Minimal" panose="020B0500040200020003" pitchFamily="34" charset="-34"/>
                <a:ea typeface="Calibri" panose="020F0502020204030204" pitchFamily="34" charset="0"/>
                <a:cs typeface="FC Minimal" panose="020B0500040200020003" pitchFamily="34" charset="-34"/>
              </a:rPr>
              <a:t>(Engineer, Equipment Engineering)</a:t>
            </a:r>
            <a:br>
              <a:rPr lang="en-US" sz="1050" kern="100" dirty="0">
                <a:solidFill>
                  <a:srgbClr val="002060"/>
                </a:solidFill>
                <a:effectLst/>
                <a:latin typeface="FC Minimal" panose="020B0500040200020003" pitchFamily="34" charset="-34"/>
                <a:ea typeface="Calibri" panose="020F0502020204030204" pitchFamily="34" charset="0"/>
                <a:cs typeface="FC Minimal" panose="020B0500040200020003" pitchFamily="34" charset="-34"/>
              </a:rPr>
            </a:br>
            <a:r>
              <a:rPr lang="en-US" sz="1050" kern="100" dirty="0">
                <a:solidFill>
                  <a:srgbClr val="002060"/>
                </a:solidFill>
                <a:effectLst/>
                <a:latin typeface="FC Minimal" panose="020B0500040200020003" pitchFamily="34" charset="-34"/>
                <a:ea typeface="Calibri" panose="020F0502020204030204" pitchFamily="34" charset="0"/>
                <a:cs typeface="FC Minimal" panose="020B0500040200020003" pitchFamily="34" charset="-34"/>
              </a:rPr>
              <a:t>Phubet Jitpilai</a:t>
            </a:r>
            <a:br>
              <a:rPr lang="en-US" sz="1050" kern="100" dirty="0">
                <a:solidFill>
                  <a:srgbClr val="002060"/>
                </a:solidFill>
                <a:latin typeface="FC Minimal" panose="020B0500040200020003" pitchFamily="34" charset="-34"/>
                <a:ea typeface="Calibri" panose="020F0502020204030204" pitchFamily="34" charset="0"/>
                <a:cs typeface="FC Minimal" panose="020B0500040200020003" pitchFamily="34" charset="-34"/>
              </a:rPr>
            </a:br>
            <a:r>
              <a:rPr lang="en-US" sz="1050" kern="100" dirty="0">
                <a:solidFill>
                  <a:srgbClr val="002060"/>
                </a:solidFill>
                <a:effectLst/>
                <a:latin typeface="FC Minimal" panose="020B0500040200020003" pitchFamily="34" charset="-34"/>
                <a:ea typeface="Calibri" panose="020F0502020204030204" pitchFamily="34" charset="0"/>
                <a:cs typeface="FC Minimal" panose="020B0500040200020003" pitchFamily="34" charset="-34"/>
              </a:rPr>
              <a:t>Phubadine Mehom</a:t>
            </a:r>
            <a:br>
              <a:rPr lang="en-US" sz="1050" kern="100" dirty="0">
                <a:solidFill>
                  <a:srgbClr val="002060"/>
                </a:solidFill>
                <a:latin typeface="FC Minimal" panose="020B0500040200020003" pitchFamily="34" charset="-34"/>
                <a:ea typeface="Calibri" panose="020F0502020204030204" pitchFamily="34" charset="0"/>
                <a:cs typeface="FC Minimal" panose="020B0500040200020003" pitchFamily="34" charset="-34"/>
              </a:rPr>
            </a:br>
            <a:r>
              <a:rPr lang="en-US" sz="1050" kern="100" dirty="0">
                <a:solidFill>
                  <a:srgbClr val="002060"/>
                </a:solidFill>
                <a:latin typeface="FC Minimal" panose="020B0500040200020003" pitchFamily="34" charset="-34"/>
                <a:ea typeface="Calibri" panose="020F0502020204030204" pitchFamily="34" charset="0"/>
                <a:cs typeface="FC Minimal" panose="020B0500040200020003" pitchFamily="34" charset="-34"/>
              </a:rPr>
              <a:t>Equipment Maintenance</a:t>
            </a:r>
            <a:br>
              <a:rPr lang="en-US" sz="1050" kern="100" dirty="0">
                <a:solidFill>
                  <a:srgbClr val="002060"/>
                </a:solidFill>
                <a:effectLst/>
                <a:latin typeface="FC Minimal" panose="020B0500040200020003" pitchFamily="34" charset="-34"/>
                <a:ea typeface="Calibri" panose="020F0502020204030204" pitchFamily="34" charset="0"/>
                <a:cs typeface="FC Minimal" panose="020B0500040200020003" pitchFamily="34" charset="-34"/>
              </a:rPr>
            </a:br>
            <a:r>
              <a:rPr lang="en-US" sz="1050" kern="100" dirty="0">
                <a:solidFill>
                  <a:srgbClr val="002060"/>
                </a:solidFill>
                <a:effectLst/>
                <a:latin typeface="FC Minimal" panose="020B0500040200020003" pitchFamily="34" charset="-34"/>
                <a:ea typeface="Calibri" panose="020F0502020204030204" pitchFamily="34" charset="0"/>
                <a:cs typeface="FC Minimal" panose="020B0500040200020003" pitchFamily="34" charset="-34"/>
              </a:rPr>
              <a:t>and </a:t>
            </a:r>
            <a:r>
              <a:rPr lang="en-US" sz="1050" kern="100" dirty="0">
                <a:solidFill>
                  <a:srgbClr val="002060"/>
                </a:solidFill>
                <a:latin typeface="FC Minimal" panose="020B0500040200020003" pitchFamily="34" charset="-34"/>
                <a:ea typeface="Calibri" panose="020F0502020204030204" pitchFamily="34" charset="0"/>
                <a:cs typeface="FC Minimal" panose="020B0500040200020003" pitchFamily="34" charset="-34"/>
              </a:rPr>
              <a:t>Equipment</a:t>
            </a:r>
            <a:r>
              <a:rPr lang="en-US" sz="1050" kern="100" dirty="0">
                <a:solidFill>
                  <a:srgbClr val="002060"/>
                </a:solidFill>
                <a:effectLst/>
                <a:latin typeface="FC Minimal" panose="020B0500040200020003" pitchFamily="34" charset="-34"/>
                <a:ea typeface="Calibri" panose="020F0502020204030204" pitchFamily="34" charset="0"/>
                <a:cs typeface="FC Minimal" panose="020B0500040200020003" pitchFamily="34" charset="-34"/>
              </a:rPr>
              <a:t> Engineer</a:t>
            </a:r>
            <a:br>
              <a:rPr lang="en-US" sz="1050" kern="100" dirty="0">
                <a:solidFill>
                  <a:srgbClr val="002060"/>
                </a:solidFill>
                <a:effectLst/>
                <a:latin typeface="FC Minimal" panose="020B0500040200020003" pitchFamily="34" charset="-34"/>
                <a:ea typeface="Calibri" panose="020F0502020204030204" pitchFamily="34" charset="0"/>
                <a:cs typeface="FC Minimal" panose="020B0500040200020003" pitchFamily="34" charset="-34"/>
              </a:rPr>
            </a:br>
            <a:r>
              <a:rPr lang="en-US" sz="1050" kern="100" dirty="0">
                <a:solidFill>
                  <a:srgbClr val="002060"/>
                </a:solidFill>
                <a:effectLst/>
                <a:latin typeface="FC Minimal" panose="020B0500040200020003" pitchFamily="34" charset="-34"/>
                <a:ea typeface="Calibri" panose="020F0502020204030204" pitchFamily="34" charset="0"/>
                <a:cs typeface="FC Minimal" panose="020B0500040200020003" pitchFamily="34" charset="-34"/>
              </a:rPr>
              <a:t>Team PM Kit</a:t>
            </a:r>
          </a:p>
        </p:txBody>
      </p:sp>
      <p:sp>
        <p:nvSpPr>
          <p:cNvPr id="8" name="กล่องข้อความ 7">
            <a:extLst>
              <a:ext uri="{FF2B5EF4-FFF2-40B4-BE49-F238E27FC236}">
                <a16:creationId xmlns:a16="http://schemas.microsoft.com/office/drawing/2014/main" id="{A9366100-54A4-84E2-B5EA-9004D0D435C5}"/>
              </a:ext>
            </a:extLst>
          </p:cNvPr>
          <p:cNvSpPr txBox="1"/>
          <p:nvPr/>
        </p:nvSpPr>
        <p:spPr>
          <a:xfrm>
            <a:off x="6248849" y="1103475"/>
            <a:ext cx="2731753" cy="1905650"/>
          </a:xfrm>
          <a:prstGeom prst="rect">
            <a:avLst/>
          </a:prstGeom>
          <a:noFill/>
        </p:spPr>
        <p:txBody>
          <a:bodyPr wrap="square">
            <a:spAutoFit/>
          </a:bodyPr>
          <a:lstStyle/>
          <a:p>
            <a:pPr marL="171450" indent="-171450">
              <a:lnSpc>
                <a:spcPct val="80000"/>
              </a:lnSpc>
              <a:buFont typeface="Arial" panose="020B0604020202020204" pitchFamily="34" charset="0"/>
              <a:buChar char="•"/>
            </a:pPr>
            <a:r>
              <a:rPr lang="en-US" sz="1050" b="1" dirty="0">
                <a:solidFill>
                  <a:srgbClr val="002060"/>
                </a:solidFill>
                <a:latin typeface="FC Minimal" panose="020B0500040200020003" pitchFamily="34" charset="-34"/>
                <a:cs typeface="FC Minimal" panose="020B0500040200020003" pitchFamily="34" charset="-34"/>
              </a:rPr>
              <a:t>Workpiece Diversity &amp; Material Sensitivity: </a:t>
            </a:r>
            <a:r>
              <a:rPr lang="en-US" sz="1050" dirty="0">
                <a:solidFill>
                  <a:srgbClr val="002060"/>
                </a:solidFill>
                <a:latin typeface="FC Minimal" panose="020B0500040200020003" pitchFamily="34" charset="-34"/>
                <a:cs typeface="FC Minimal" panose="020B0500040200020003" pitchFamily="34" charset="-34"/>
              </a:rPr>
              <a:t>Hardware modules must precisely handle various ALPL shapes and fragile ceramics without causing mechanical jamming or part damage.</a:t>
            </a:r>
          </a:p>
          <a:p>
            <a:pPr marL="171450" indent="-171450">
              <a:lnSpc>
                <a:spcPct val="80000"/>
              </a:lnSpc>
              <a:buFont typeface="Arial" panose="020B0604020202020204" pitchFamily="34" charset="0"/>
              <a:buChar char="•"/>
            </a:pPr>
            <a:r>
              <a:rPr lang="en-US" sz="1050" b="1" dirty="0">
                <a:solidFill>
                  <a:srgbClr val="002060"/>
                </a:solidFill>
                <a:latin typeface="FC Minimal" panose="020B0500040200020003" pitchFamily="34" charset="-34"/>
                <a:cs typeface="FC Minimal" panose="020B0500040200020003" pitchFamily="34" charset="-34"/>
              </a:rPr>
              <a:t>IT &amp; Network Policy: </a:t>
            </a:r>
            <a:r>
              <a:rPr lang="en-US" sz="1050" dirty="0">
                <a:solidFill>
                  <a:srgbClr val="002060"/>
                </a:solidFill>
                <a:latin typeface="FC Minimal" panose="020B0500040200020003" pitchFamily="34" charset="-34"/>
                <a:cs typeface="FC Minimal" panose="020B0500040200020003" pitchFamily="34" charset="-34"/>
              </a:rPr>
              <a:t>System integration must strictly comply with IT security standards. Early consultation is essential to ensure connectivity. </a:t>
            </a:r>
          </a:p>
          <a:p>
            <a:pPr marL="171450" indent="-171450">
              <a:lnSpc>
                <a:spcPct val="80000"/>
              </a:lnSpc>
              <a:buFont typeface="Arial" panose="020B0604020202020204" pitchFamily="34" charset="0"/>
              <a:buChar char="•"/>
            </a:pPr>
            <a:r>
              <a:rPr lang="en-US" sz="1050" b="1" dirty="0">
                <a:solidFill>
                  <a:srgbClr val="002060"/>
                </a:solidFill>
                <a:latin typeface="FC Minimal" panose="020B0500040200020003" pitchFamily="34" charset="-34"/>
                <a:cs typeface="FC Minimal" panose="020B0500040200020003" pitchFamily="34" charset="-34"/>
              </a:rPr>
              <a:t>Closed System Architecture: </a:t>
            </a:r>
            <a:r>
              <a:rPr lang="en-US" sz="1050" dirty="0">
                <a:solidFill>
                  <a:srgbClr val="002060"/>
                </a:solidFill>
                <a:latin typeface="FC Minimal" panose="020B0500040200020003" pitchFamily="34" charset="-34"/>
                <a:cs typeface="FC Minimal" panose="020B0500040200020003" pitchFamily="34" charset="-34"/>
              </a:rPr>
              <a:t>The Keyence TM-X5065 outputs non-standard raw data, requiring custom TCP parsing which poses a risk to data extraction stability. </a:t>
            </a:r>
          </a:p>
          <a:p>
            <a:pPr marL="171450" indent="-171450">
              <a:lnSpc>
                <a:spcPct val="80000"/>
              </a:lnSpc>
              <a:buFont typeface="Arial" panose="020B0604020202020204" pitchFamily="34" charset="0"/>
              <a:buChar char="•"/>
            </a:pPr>
            <a:r>
              <a:rPr lang="en-US" sz="1050" b="1" dirty="0">
                <a:solidFill>
                  <a:srgbClr val="002060"/>
                </a:solidFill>
                <a:latin typeface="FC Minimal" panose="020B0500040200020003" pitchFamily="34" charset="-34"/>
                <a:cs typeface="FC Minimal" panose="020B0500040200020003" pitchFamily="34" charset="-34"/>
              </a:rPr>
              <a:t>Resource Sharing: </a:t>
            </a:r>
            <a:r>
              <a:rPr lang="en-US" sz="1050" dirty="0">
                <a:solidFill>
                  <a:srgbClr val="002060"/>
                </a:solidFill>
                <a:latin typeface="FC Minimal" panose="020B0500040200020003" pitchFamily="34" charset="-34"/>
                <a:cs typeface="FC Minimal" panose="020B0500040200020003" pitchFamily="34" charset="-34"/>
              </a:rPr>
              <a:t>Development must be scheduled to avoid disrupting daily operations, requiring a clear timetable that prioritizes maintenance. </a:t>
            </a:r>
          </a:p>
        </p:txBody>
      </p:sp>
      <p:sp>
        <p:nvSpPr>
          <p:cNvPr id="13" name="กล่องข้อความ 12">
            <a:extLst>
              <a:ext uri="{FF2B5EF4-FFF2-40B4-BE49-F238E27FC236}">
                <a16:creationId xmlns:a16="http://schemas.microsoft.com/office/drawing/2014/main" id="{77FA1F79-1234-A3B6-CDE3-B5385BA252E0}"/>
              </a:ext>
            </a:extLst>
          </p:cNvPr>
          <p:cNvSpPr txBox="1"/>
          <p:nvPr/>
        </p:nvSpPr>
        <p:spPr>
          <a:xfrm>
            <a:off x="252673" y="1097164"/>
            <a:ext cx="2703431" cy="2862322"/>
          </a:xfrm>
          <a:prstGeom prst="rect">
            <a:avLst/>
          </a:prstGeom>
          <a:noFill/>
        </p:spPr>
        <p:txBody>
          <a:bodyPr wrap="square">
            <a:spAutoFit/>
          </a:bodyPr>
          <a:lstStyle/>
          <a:p>
            <a:pPr>
              <a:lnSpc>
                <a:spcPct val="90000"/>
              </a:lnSpc>
            </a:pPr>
            <a:r>
              <a:rPr lang="en-US" sz="1000" dirty="0">
                <a:solidFill>
                  <a:srgbClr val="002060"/>
                </a:solidFill>
                <a:latin typeface="FC Minimal" panose="020B0500040200020003" pitchFamily="34" charset="-34"/>
                <a:cs typeface="FC Minimal" panose="020B0500040200020003" pitchFamily="34" charset="-34"/>
              </a:rPr>
              <a:t>     As a global leader in high-performance semiconductors, Analog Devices (ADI) places a strong emphasis on the precision of IC testing jigs, particularly Alignment Plates (ALPL) and Lead Breakers. These components are engineered with extremely tight tolerances to ensure testing reliability and proactively protect sensitive equipment from potential damage</a:t>
            </a:r>
          </a:p>
          <a:p>
            <a:pPr>
              <a:lnSpc>
                <a:spcPct val="90000"/>
              </a:lnSpc>
            </a:pPr>
            <a:r>
              <a:rPr lang="en-US" sz="1000" dirty="0">
                <a:solidFill>
                  <a:srgbClr val="002060"/>
                </a:solidFill>
                <a:latin typeface="FC Minimal" panose="020B0500040200020003" pitchFamily="34" charset="-34"/>
                <a:cs typeface="FC Minimal" panose="020B0500040200020003" pitchFamily="34" charset="-34"/>
              </a:rPr>
              <a:t>     A key factor in the IC testing process is the seamless integration between the Handler (part conveyance system) and the Tester (data processing system). At the core of this interface are the Contact Pins, which facilitate critical electrical signals. The performance and accurate alignment of these pins rely directly on the dimensional integrity of the ALPL and Lead Breakers. </a:t>
            </a:r>
          </a:p>
          <a:p>
            <a:pPr>
              <a:lnSpc>
                <a:spcPct val="90000"/>
              </a:lnSpc>
            </a:pPr>
            <a:r>
              <a:rPr lang="en-US" sz="1000" dirty="0">
                <a:solidFill>
                  <a:srgbClr val="002060"/>
                </a:solidFill>
                <a:latin typeface="FC Minimal" panose="020B0500040200020003" pitchFamily="34" charset="-34"/>
                <a:cs typeface="FC Minimal" panose="020B0500040200020003" pitchFamily="34" charset="-34"/>
              </a:rPr>
              <a:t>     Even micron-level deviations can cause pin misalignment, leading to mechanical wear and yield drops. Therefore, continuous dimensional inspection (IPM) is essential to proactively prevent process bottlenecks, sustain high production yields, and minimize equipment downtime. 	</a:t>
            </a:r>
            <a:endParaRPr lang="th-TH" sz="1000" dirty="0">
              <a:solidFill>
                <a:srgbClr val="002060"/>
              </a:solidFill>
              <a:latin typeface="FC Minimal" panose="020B0500040200020003" pitchFamily="34" charset="-34"/>
              <a:cs typeface="FC Minimal" panose="020B0500040200020003" pitchFamily="34" charset="-34"/>
            </a:endParaRPr>
          </a:p>
        </p:txBody>
      </p:sp>
      <p:sp>
        <p:nvSpPr>
          <p:cNvPr id="16" name="Rectangle 3">
            <a:extLst>
              <a:ext uri="{FF2B5EF4-FFF2-40B4-BE49-F238E27FC236}">
                <a16:creationId xmlns:a16="http://schemas.microsoft.com/office/drawing/2014/main" id="{BA707345-FD28-2B2C-CBE4-3EBCBE3CBBD3}"/>
              </a:ext>
            </a:extLst>
          </p:cNvPr>
          <p:cNvSpPr>
            <a:spLocks noChangeArrowheads="1"/>
          </p:cNvSpPr>
          <p:nvPr/>
        </p:nvSpPr>
        <p:spPr bwMode="auto">
          <a:xfrm>
            <a:off x="3369420" y="3443351"/>
            <a:ext cx="2609416" cy="5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nSpc>
                <a:spcPct val="80000"/>
              </a:lnSpc>
            </a:pPr>
            <a:r>
              <a:rPr lang="en-US" sz="1000" dirty="0">
                <a:solidFill>
                  <a:srgbClr val="002060"/>
                </a:solidFill>
                <a:latin typeface="FC Minimal" panose="020B0500040200020003" pitchFamily="34" charset="-34"/>
                <a:cs typeface="FC Minimal" panose="020B0500040200020003" pitchFamily="34" charset="-34"/>
              </a:rPr>
              <a:t>     Develop a comprehensive automated inspection system for the Keyence TM-X5065, specifically focusing on Alignment Plates (ALPL) for the </a:t>
            </a:r>
            <a:r>
              <a:rPr lang="en-US" sz="1000" dirty="0" err="1">
                <a:solidFill>
                  <a:srgbClr val="002060"/>
                </a:solidFill>
                <a:latin typeface="FC Minimal" panose="020B0500040200020003" pitchFamily="34" charset="-34"/>
                <a:cs typeface="FC Minimal" panose="020B0500040200020003" pitchFamily="34" charset="-34"/>
              </a:rPr>
              <a:t>Hontech</a:t>
            </a:r>
            <a:r>
              <a:rPr lang="en-US" sz="1000" dirty="0">
                <a:solidFill>
                  <a:srgbClr val="002060"/>
                </a:solidFill>
                <a:latin typeface="FC Minimal" panose="020B0500040200020003" pitchFamily="34" charset="-34"/>
                <a:cs typeface="FC Minimal" panose="020B0500040200020003" pitchFamily="34" charset="-34"/>
              </a:rPr>
              <a:t> machine platforms (HT9046 and HT1028C). </a:t>
            </a:r>
            <a:endParaRPr lang="th-TH" sz="1000" dirty="0">
              <a:solidFill>
                <a:srgbClr val="002060"/>
              </a:solidFill>
              <a:latin typeface="FC Minimal" panose="020B0500040200020003" pitchFamily="34" charset="-34"/>
              <a:cs typeface="FC Minimal" panose="020B0500040200020003" pitchFamily="34" charset="-34"/>
            </a:endParaRPr>
          </a:p>
        </p:txBody>
      </p:sp>
      <p:sp>
        <p:nvSpPr>
          <p:cNvPr id="17" name="Rectangle 7">
            <a:extLst>
              <a:ext uri="{FF2B5EF4-FFF2-40B4-BE49-F238E27FC236}">
                <a16:creationId xmlns:a16="http://schemas.microsoft.com/office/drawing/2014/main" id="{D4CC1B3C-7CC4-EC49-05D7-76CA00BEFADF}"/>
              </a:ext>
            </a:extLst>
          </p:cNvPr>
          <p:cNvSpPr>
            <a:spLocks/>
          </p:cNvSpPr>
          <p:nvPr/>
        </p:nvSpPr>
        <p:spPr bwMode="auto">
          <a:xfrm>
            <a:off x="9925195" y="1182416"/>
            <a:ext cx="2029630" cy="225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100" b="1" i="1" dirty="0">
                <a:solidFill>
                  <a:srgbClr val="002060"/>
                </a:solidFill>
                <a:latin typeface="FC Minimal" panose="020B0500040200020003" pitchFamily="34" charset="-34"/>
                <a:cs typeface="FC Minimal" panose="020B0500040200020003" pitchFamily="34" charset="-34"/>
              </a:rPr>
              <a:t>Phase 1: Study &amp; Design </a:t>
            </a:r>
          </a:p>
        </p:txBody>
      </p:sp>
      <p:sp>
        <p:nvSpPr>
          <p:cNvPr id="18" name="Rectangle 7">
            <a:extLst>
              <a:ext uri="{FF2B5EF4-FFF2-40B4-BE49-F238E27FC236}">
                <a16:creationId xmlns:a16="http://schemas.microsoft.com/office/drawing/2014/main" id="{A573F13B-45FC-C04C-943B-5691EC7FAB2F}"/>
              </a:ext>
            </a:extLst>
          </p:cNvPr>
          <p:cNvSpPr>
            <a:spLocks/>
          </p:cNvSpPr>
          <p:nvPr/>
        </p:nvSpPr>
        <p:spPr bwMode="auto">
          <a:xfrm>
            <a:off x="9925195" y="2525650"/>
            <a:ext cx="1939130" cy="225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100" b="1" i="1" dirty="0">
                <a:solidFill>
                  <a:srgbClr val="002060"/>
                </a:solidFill>
                <a:latin typeface="FC Minimal" panose="020B0500040200020003" pitchFamily="34" charset="-34"/>
                <a:cs typeface="FC Minimal" panose="020B0500040200020003" pitchFamily="34" charset="-34"/>
              </a:rPr>
              <a:t>Phase 2: Procurement &amp; Fabrication</a:t>
            </a:r>
          </a:p>
        </p:txBody>
      </p:sp>
      <p:sp>
        <p:nvSpPr>
          <p:cNvPr id="20" name="Rectangle 7">
            <a:extLst>
              <a:ext uri="{FF2B5EF4-FFF2-40B4-BE49-F238E27FC236}">
                <a16:creationId xmlns:a16="http://schemas.microsoft.com/office/drawing/2014/main" id="{4CEE397A-0046-473E-8CD6-DA9BED266A6E}"/>
              </a:ext>
            </a:extLst>
          </p:cNvPr>
          <p:cNvSpPr>
            <a:spLocks/>
          </p:cNvSpPr>
          <p:nvPr/>
        </p:nvSpPr>
        <p:spPr bwMode="auto">
          <a:xfrm>
            <a:off x="9925195" y="3881974"/>
            <a:ext cx="1939130" cy="225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100" b="1" i="1" dirty="0">
                <a:solidFill>
                  <a:srgbClr val="002060"/>
                </a:solidFill>
                <a:latin typeface="FC Minimal" panose="020B0500040200020003" pitchFamily="34" charset="-34"/>
                <a:cs typeface="FC Minimal" panose="020B0500040200020003" pitchFamily="34" charset="-34"/>
              </a:rPr>
              <a:t>Phase 3: Integration &amp; Testing</a:t>
            </a:r>
          </a:p>
        </p:txBody>
      </p:sp>
      <p:sp>
        <p:nvSpPr>
          <p:cNvPr id="21" name="Rectangle 7">
            <a:extLst>
              <a:ext uri="{FF2B5EF4-FFF2-40B4-BE49-F238E27FC236}">
                <a16:creationId xmlns:a16="http://schemas.microsoft.com/office/drawing/2014/main" id="{F06CC0DC-7BF8-BEDB-56A9-2C70A3C4272E}"/>
              </a:ext>
            </a:extLst>
          </p:cNvPr>
          <p:cNvSpPr>
            <a:spLocks/>
          </p:cNvSpPr>
          <p:nvPr/>
        </p:nvSpPr>
        <p:spPr bwMode="auto">
          <a:xfrm>
            <a:off x="9925195" y="5192793"/>
            <a:ext cx="2172607" cy="225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100" b="1" i="1" dirty="0">
                <a:solidFill>
                  <a:srgbClr val="002060"/>
                </a:solidFill>
                <a:latin typeface="FC Minimal" panose="020B0500040200020003" pitchFamily="34" charset="-34"/>
                <a:cs typeface="FC Minimal" panose="020B0500040200020003" pitchFamily="34" charset="-34"/>
              </a:rPr>
              <a:t>Phase 4: Finalization &amp; Documentation</a:t>
            </a:r>
          </a:p>
        </p:txBody>
      </p:sp>
      <p:sp>
        <p:nvSpPr>
          <p:cNvPr id="29" name="วงรี 28">
            <a:extLst>
              <a:ext uri="{FF2B5EF4-FFF2-40B4-BE49-F238E27FC236}">
                <a16:creationId xmlns:a16="http://schemas.microsoft.com/office/drawing/2014/main" id="{9C009738-FC85-1799-B53E-A324C8E42E3B}"/>
              </a:ext>
            </a:extLst>
          </p:cNvPr>
          <p:cNvSpPr/>
          <p:nvPr/>
        </p:nvSpPr>
        <p:spPr>
          <a:xfrm>
            <a:off x="9401290" y="1449112"/>
            <a:ext cx="497951" cy="49795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1" name="วงรี 30">
            <a:extLst>
              <a:ext uri="{FF2B5EF4-FFF2-40B4-BE49-F238E27FC236}">
                <a16:creationId xmlns:a16="http://schemas.microsoft.com/office/drawing/2014/main" id="{9EF84E00-A280-777E-3EAA-1476A25A9069}"/>
              </a:ext>
            </a:extLst>
          </p:cNvPr>
          <p:cNvSpPr/>
          <p:nvPr/>
        </p:nvSpPr>
        <p:spPr>
          <a:xfrm>
            <a:off x="9401290" y="2778924"/>
            <a:ext cx="497951" cy="49795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2" name="วงรี 31">
            <a:extLst>
              <a:ext uri="{FF2B5EF4-FFF2-40B4-BE49-F238E27FC236}">
                <a16:creationId xmlns:a16="http://schemas.microsoft.com/office/drawing/2014/main" id="{6FF0A6FC-0FDC-4674-05D5-0C999C3B6985}"/>
              </a:ext>
            </a:extLst>
          </p:cNvPr>
          <p:cNvSpPr/>
          <p:nvPr/>
        </p:nvSpPr>
        <p:spPr>
          <a:xfrm>
            <a:off x="9401290" y="4103514"/>
            <a:ext cx="497951" cy="49795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5" name="วงรี 34">
            <a:extLst>
              <a:ext uri="{FF2B5EF4-FFF2-40B4-BE49-F238E27FC236}">
                <a16:creationId xmlns:a16="http://schemas.microsoft.com/office/drawing/2014/main" id="{892D1BAD-3C02-63F8-9A87-50D3BC4A6D16}"/>
              </a:ext>
            </a:extLst>
          </p:cNvPr>
          <p:cNvSpPr/>
          <p:nvPr/>
        </p:nvSpPr>
        <p:spPr>
          <a:xfrm>
            <a:off x="9401290" y="5443205"/>
            <a:ext cx="497951" cy="49795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7" name="กล่องข้อความ 36">
            <a:extLst>
              <a:ext uri="{FF2B5EF4-FFF2-40B4-BE49-F238E27FC236}">
                <a16:creationId xmlns:a16="http://schemas.microsoft.com/office/drawing/2014/main" id="{700479E0-2C54-B4CE-44DB-D0FA500E2F3B}"/>
              </a:ext>
            </a:extLst>
          </p:cNvPr>
          <p:cNvSpPr txBox="1"/>
          <p:nvPr/>
        </p:nvSpPr>
        <p:spPr>
          <a:xfrm>
            <a:off x="9949317" y="1533684"/>
            <a:ext cx="2066072" cy="422744"/>
          </a:xfrm>
          <a:prstGeom prst="rect">
            <a:avLst/>
          </a:prstGeom>
          <a:noFill/>
        </p:spPr>
        <p:txBody>
          <a:bodyPr wrap="square">
            <a:spAutoFit/>
          </a:bodyPr>
          <a:lstStyle/>
          <a:p>
            <a:pPr>
              <a:lnSpc>
                <a:spcPct val="70000"/>
              </a:lnSpc>
            </a:pPr>
            <a:r>
              <a:rPr lang="en-US" sz="1000" i="1" dirty="0">
                <a:solidFill>
                  <a:srgbClr val="002060"/>
                </a:solidFill>
                <a:latin typeface="FC Minimal" panose="020B0500040200020003" pitchFamily="34" charset="-34"/>
                <a:cs typeface="FC Minimal" panose="020B0500040200020003" pitchFamily="34" charset="-34"/>
              </a:rPr>
              <a:t>Goal : Define project requirements and complete full system design before moving into production</a:t>
            </a:r>
          </a:p>
        </p:txBody>
      </p:sp>
      <p:sp>
        <p:nvSpPr>
          <p:cNvPr id="63" name="สี่เหลี่ยมผืนผ้า: มุมมน 62">
            <a:extLst>
              <a:ext uri="{FF2B5EF4-FFF2-40B4-BE49-F238E27FC236}">
                <a16:creationId xmlns:a16="http://schemas.microsoft.com/office/drawing/2014/main" id="{80C6B692-81C5-E13C-7B86-03B665C15646}"/>
              </a:ext>
            </a:extLst>
          </p:cNvPr>
          <p:cNvSpPr>
            <a:spLocks/>
          </p:cNvSpPr>
          <p:nvPr/>
        </p:nvSpPr>
        <p:spPr>
          <a:xfrm>
            <a:off x="9996810" y="1378460"/>
            <a:ext cx="842773" cy="139088"/>
          </a:xfrm>
          <a:prstGeom prst="roundRect">
            <a:avLst>
              <a:gd name="adj" fmla="val 50000"/>
            </a:avLst>
          </a:prstGeom>
          <a:solidFill>
            <a:srgbClr val="00206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dirty="0">
              <a:solidFill>
                <a:schemeClr val="bg1"/>
              </a:solidFill>
            </a:endParaRPr>
          </a:p>
        </p:txBody>
      </p:sp>
      <p:sp>
        <p:nvSpPr>
          <p:cNvPr id="1025" name="Rectangle 7">
            <a:extLst>
              <a:ext uri="{FF2B5EF4-FFF2-40B4-BE49-F238E27FC236}">
                <a16:creationId xmlns:a16="http://schemas.microsoft.com/office/drawing/2014/main" id="{8A3DBCEB-515F-3330-42DE-EBF9878B6CE8}"/>
              </a:ext>
            </a:extLst>
          </p:cNvPr>
          <p:cNvSpPr>
            <a:spLocks/>
          </p:cNvSpPr>
          <p:nvPr/>
        </p:nvSpPr>
        <p:spPr bwMode="auto">
          <a:xfrm>
            <a:off x="9925195" y="1351984"/>
            <a:ext cx="986002" cy="201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75000"/>
              </a:lnSpc>
            </a:pPr>
            <a:r>
              <a:rPr lang="en-US" sz="900" b="1" i="1" dirty="0">
                <a:solidFill>
                  <a:schemeClr val="bg1"/>
                </a:solidFill>
                <a:latin typeface="FC Minimal" panose="020B0500040200020003" pitchFamily="34" charset="-34"/>
                <a:cs typeface="FC Minimal" panose="020B0500040200020003" pitchFamily="34" charset="-34"/>
              </a:rPr>
              <a:t>May 4 – Jun 30</a:t>
            </a:r>
          </a:p>
        </p:txBody>
      </p:sp>
      <p:sp>
        <p:nvSpPr>
          <p:cNvPr id="1028" name="กล่องข้อความ 1027">
            <a:extLst>
              <a:ext uri="{FF2B5EF4-FFF2-40B4-BE49-F238E27FC236}">
                <a16:creationId xmlns:a16="http://schemas.microsoft.com/office/drawing/2014/main" id="{DD44E540-A91E-CF71-8B93-7B8F49DD0345}"/>
              </a:ext>
            </a:extLst>
          </p:cNvPr>
          <p:cNvSpPr txBox="1"/>
          <p:nvPr/>
        </p:nvSpPr>
        <p:spPr>
          <a:xfrm>
            <a:off x="9949316" y="1908044"/>
            <a:ext cx="2116149" cy="583621"/>
          </a:xfrm>
          <a:prstGeom prst="rect">
            <a:avLst/>
          </a:prstGeom>
          <a:noFill/>
        </p:spPr>
        <p:txBody>
          <a:bodyPr wrap="square">
            <a:spAutoFit/>
          </a:bodyPr>
          <a:lstStyle/>
          <a:p>
            <a:pPr marL="171450" lvl="0" indent="-171450">
              <a:lnSpc>
                <a:spcPct val="70000"/>
              </a:lnSpc>
              <a:buFont typeface="Arial" panose="020B0604020202020204" pitchFamily="34" charset="0"/>
              <a:buChar char="•"/>
            </a:pPr>
            <a:r>
              <a:rPr lang="en-US" sz="900" i="1" dirty="0">
                <a:solidFill>
                  <a:srgbClr val="002060"/>
                </a:solidFill>
                <a:latin typeface="FC Minimal" panose="020B0500040200020003" pitchFamily="34" charset="-34"/>
                <a:cs typeface="FC Minimal" panose="020B0500040200020003" pitchFamily="34" charset="-34"/>
              </a:rPr>
              <a:t>Conduct research, define scope, and prepare all necessary project documents.</a:t>
            </a:r>
          </a:p>
          <a:p>
            <a:pPr marL="171450" lvl="0" indent="-171450">
              <a:lnSpc>
                <a:spcPct val="70000"/>
              </a:lnSpc>
              <a:buFont typeface="Arial" panose="020B0604020202020204" pitchFamily="34" charset="0"/>
              <a:buChar char="•"/>
            </a:pPr>
            <a:r>
              <a:rPr lang="en-US" sz="900" i="1" dirty="0">
                <a:solidFill>
                  <a:srgbClr val="002060"/>
                </a:solidFill>
                <a:latin typeface="FC Minimal" panose="020B0500040200020003" pitchFamily="34" charset="-34"/>
                <a:cs typeface="FC Minimal" panose="020B0500040200020003" pitchFamily="34" charset="-34"/>
              </a:rPr>
              <a:t>Develop mechanical and software</a:t>
            </a:r>
          </a:p>
          <a:p>
            <a:pPr marL="171450" lvl="0" indent="-171450">
              <a:lnSpc>
                <a:spcPct val="70000"/>
              </a:lnSpc>
              <a:buFont typeface="Arial" panose="020B0604020202020204" pitchFamily="34" charset="0"/>
              <a:buChar char="•"/>
            </a:pPr>
            <a:r>
              <a:rPr lang="en-US" sz="900" i="1" dirty="0">
                <a:solidFill>
                  <a:srgbClr val="002060"/>
                </a:solidFill>
                <a:latin typeface="FC Minimal" panose="020B0500040200020003" pitchFamily="34" charset="-34"/>
                <a:cs typeface="FC Minimal" panose="020B0500040200020003" pitchFamily="34" charset="-34"/>
              </a:rPr>
              <a:t>designs from conceptual stage through to detailed design.</a:t>
            </a:r>
          </a:p>
        </p:txBody>
      </p:sp>
      <p:cxnSp>
        <p:nvCxnSpPr>
          <p:cNvPr id="1029" name="ตัวเชื่อมต่อตรง 1028">
            <a:extLst>
              <a:ext uri="{FF2B5EF4-FFF2-40B4-BE49-F238E27FC236}">
                <a16:creationId xmlns:a16="http://schemas.microsoft.com/office/drawing/2014/main" id="{07C6C5CA-7A9A-7D3F-B5A0-7E0E609EDD6C}"/>
              </a:ext>
            </a:extLst>
          </p:cNvPr>
          <p:cNvCxnSpPr>
            <a:cxnSpLocks/>
          </p:cNvCxnSpPr>
          <p:nvPr/>
        </p:nvCxnSpPr>
        <p:spPr>
          <a:xfrm>
            <a:off x="9650265" y="1247775"/>
            <a:ext cx="0" cy="201337"/>
          </a:xfrm>
          <a:prstGeom prst="line">
            <a:avLst/>
          </a:prstGeom>
          <a:ln w="15875" cap="rnd">
            <a:prstDash val="dash"/>
          </a:ln>
        </p:spPr>
        <p:style>
          <a:lnRef idx="2">
            <a:schemeClr val="accent1"/>
          </a:lnRef>
          <a:fillRef idx="0">
            <a:schemeClr val="accent1"/>
          </a:fillRef>
          <a:effectRef idx="1">
            <a:schemeClr val="accent1"/>
          </a:effectRef>
          <a:fontRef idx="minor">
            <a:schemeClr val="tx1"/>
          </a:fontRef>
        </p:style>
      </p:cxnSp>
      <p:sp>
        <p:nvSpPr>
          <p:cNvPr id="1030" name="กล่องข้อความ 1029">
            <a:extLst>
              <a:ext uri="{FF2B5EF4-FFF2-40B4-BE49-F238E27FC236}">
                <a16:creationId xmlns:a16="http://schemas.microsoft.com/office/drawing/2014/main" id="{C8A0D359-ED35-5EB4-392A-2E725962E73F}"/>
              </a:ext>
            </a:extLst>
          </p:cNvPr>
          <p:cNvSpPr txBox="1"/>
          <p:nvPr/>
        </p:nvSpPr>
        <p:spPr>
          <a:xfrm>
            <a:off x="9971414" y="2867340"/>
            <a:ext cx="2150779" cy="422744"/>
          </a:xfrm>
          <a:prstGeom prst="rect">
            <a:avLst/>
          </a:prstGeom>
          <a:noFill/>
        </p:spPr>
        <p:txBody>
          <a:bodyPr wrap="square">
            <a:spAutoFit/>
          </a:bodyPr>
          <a:lstStyle/>
          <a:p>
            <a:pPr>
              <a:lnSpc>
                <a:spcPct val="70000"/>
              </a:lnSpc>
            </a:pPr>
            <a:r>
              <a:rPr lang="en-US" sz="1000" i="1" dirty="0">
                <a:solidFill>
                  <a:srgbClr val="002060"/>
                </a:solidFill>
                <a:latin typeface="FC Minimal" panose="020B0500040200020003" pitchFamily="34" charset="-34"/>
                <a:cs typeface="FC Minimal" panose="020B0500040200020003" pitchFamily="34" charset="-34"/>
              </a:rPr>
              <a:t>Goal : Source all materials and build both hardware and software systems ready for integration</a:t>
            </a:r>
          </a:p>
        </p:txBody>
      </p:sp>
      <p:sp>
        <p:nvSpPr>
          <p:cNvPr id="1035" name="สี่เหลี่ยมผืนผ้า: มุมมน 1034">
            <a:extLst>
              <a:ext uri="{FF2B5EF4-FFF2-40B4-BE49-F238E27FC236}">
                <a16:creationId xmlns:a16="http://schemas.microsoft.com/office/drawing/2014/main" id="{DB1BFFF8-5709-2D10-1244-15D1E483CBC2}"/>
              </a:ext>
            </a:extLst>
          </p:cNvPr>
          <p:cNvSpPr>
            <a:spLocks/>
          </p:cNvSpPr>
          <p:nvPr/>
        </p:nvSpPr>
        <p:spPr>
          <a:xfrm>
            <a:off x="10018908" y="2737516"/>
            <a:ext cx="842773" cy="139088"/>
          </a:xfrm>
          <a:prstGeom prst="roundRect">
            <a:avLst>
              <a:gd name="adj" fmla="val 50000"/>
            </a:avLst>
          </a:prstGeom>
          <a:solidFill>
            <a:srgbClr val="00206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dirty="0">
              <a:solidFill>
                <a:schemeClr val="bg1"/>
              </a:solidFill>
            </a:endParaRPr>
          </a:p>
        </p:txBody>
      </p:sp>
      <p:sp>
        <p:nvSpPr>
          <p:cNvPr id="1036" name="Rectangle 7">
            <a:extLst>
              <a:ext uri="{FF2B5EF4-FFF2-40B4-BE49-F238E27FC236}">
                <a16:creationId xmlns:a16="http://schemas.microsoft.com/office/drawing/2014/main" id="{ECFC1BAB-635B-6F29-2AAE-D694C0CCA0C9}"/>
              </a:ext>
            </a:extLst>
          </p:cNvPr>
          <p:cNvSpPr>
            <a:spLocks/>
          </p:cNvSpPr>
          <p:nvPr/>
        </p:nvSpPr>
        <p:spPr bwMode="auto">
          <a:xfrm>
            <a:off x="9947293" y="2711040"/>
            <a:ext cx="986002" cy="201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75000"/>
              </a:lnSpc>
            </a:pPr>
            <a:r>
              <a:rPr lang="en-US" sz="900" b="1" i="1" dirty="0">
                <a:solidFill>
                  <a:schemeClr val="bg1"/>
                </a:solidFill>
                <a:latin typeface="FC Minimal" panose="020B0500040200020003" pitchFamily="34" charset="-34"/>
                <a:cs typeface="FC Minimal" panose="020B0500040200020003" pitchFamily="34" charset="-34"/>
              </a:rPr>
              <a:t>Jul 1 – Aug 14</a:t>
            </a:r>
          </a:p>
        </p:txBody>
      </p:sp>
      <p:sp>
        <p:nvSpPr>
          <p:cNvPr id="1037" name="กล่องข้อความ 1036">
            <a:extLst>
              <a:ext uri="{FF2B5EF4-FFF2-40B4-BE49-F238E27FC236}">
                <a16:creationId xmlns:a16="http://schemas.microsoft.com/office/drawing/2014/main" id="{71A1DD3D-DADB-665F-348F-789ECA24CBC8}"/>
              </a:ext>
            </a:extLst>
          </p:cNvPr>
          <p:cNvSpPr txBox="1"/>
          <p:nvPr/>
        </p:nvSpPr>
        <p:spPr>
          <a:xfrm>
            <a:off x="9971414" y="3237636"/>
            <a:ext cx="1983411" cy="696729"/>
          </a:xfrm>
          <a:prstGeom prst="rect">
            <a:avLst/>
          </a:prstGeom>
          <a:noFill/>
        </p:spPr>
        <p:txBody>
          <a:bodyPr wrap="square">
            <a:spAutoFit/>
          </a:bodyPr>
          <a:lstStyle/>
          <a:p>
            <a:pPr marL="171450" lvl="0" indent="-171450">
              <a:lnSpc>
                <a:spcPct val="70000"/>
              </a:lnSpc>
              <a:buFont typeface="Arial" panose="020B0604020202020204" pitchFamily="34" charset="0"/>
              <a:buChar char="•"/>
            </a:pPr>
            <a:r>
              <a:rPr lang="en-US" sz="900" i="1" dirty="0">
                <a:solidFill>
                  <a:srgbClr val="002060"/>
                </a:solidFill>
                <a:latin typeface="FC Minimal" panose="020B0500040200020003" pitchFamily="34" charset="-34"/>
                <a:cs typeface="FC Minimal" panose="020B0500040200020003" pitchFamily="34" charset="-34"/>
              </a:rPr>
              <a:t>Prepare BOM, place orders, and track procurement and fabrication of all components.</a:t>
            </a:r>
          </a:p>
          <a:p>
            <a:pPr marL="171450" lvl="0" indent="-171450">
              <a:lnSpc>
                <a:spcPct val="70000"/>
              </a:lnSpc>
              <a:buFont typeface="Arial" panose="020B0604020202020204" pitchFamily="34" charset="0"/>
              <a:buChar char="•"/>
            </a:pPr>
            <a:r>
              <a:rPr lang="en-US" sz="900" i="1" dirty="0">
                <a:solidFill>
                  <a:srgbClr val="002060"/>
                </a:solidFill>
                <a:latin typeface="FC Minimal" panose="020B0500040200020003" pitchFamily="34" charset="-34"/>
                <a:cs typeface="FC Minimal" panose="020B0500040200020003" pitchFamily="34" charset="-34"/>
              </a:rPr>
              <a:t>Assemble hardware systems (frame, </a:t>
            </a:r>
            <a:r>
              <a:rPr lang="en-US" sz="900" dirty="0">
                <a:solidFill>
                  <a:srgbClr val="002060"/>
                </a:solidFill>
                <a:latin typeface="FC Minimal" panose="020B0500040200020003" pitchFamily="34" charset="-34"/>
                <a:cs typeface="FC Minimal" panose="020B0500040200020003" pitchFamily="34" charset="-34"/>
              </a:rPr>
              <a:t>modules</a:t>
            </a:r>
            <a:r>
              <a:rPr lang="th-TH" sz="900" dirty="0">
                <a:solidFill>
                  <a:srgbClr val="002060"/>
                </a:solidFill>
                <a:latin typeface="FC Minimal" panose="020B0500040200020003" pitchFamily="34" charset="-34"/>
                <a:cs typeface="FC Minimal" panose="020B0500040200020003" pitchFamily="34" charset="-34"/>
              </a:rPr>
              <a:t> </a:t>
            </a:r>
            <a:r>
              <a:rPr lang="en-US" sz="900" i="1" dirty="0">
                <a:solidFill>
                  <a:srgbClr val="002060"/>
                </a:solidFill>
                <a:latin typeface="FC Minimal" panose="020B0500040200020003" pitchFamily="34" charset="-34"/>
                <a:cs typeface="FC Minimal" panose="020B0500040200020003" pitchFamily="34" charset="-34"/>
              </a:rPr>
              <a:t>, sensors) and develop UI dashboard and database software.</a:t>
            </a:r>
          </a:p>
        </p:txBody>
      </p:sp>
      <p:sp>
        <p:nvSpPr>
          <p:cNvPr id="1038" name="กล่องข้อความ 1037">
            <a:extLst>
              <a:ext uri="{FF2B5EF4-FFF2-40B4-BE49-F238E27FC236}">
                <a16:creationId xmlns:a16="http://schemas.microsoft.com/office/drawing/2014/main" id="{A760D516-ABE2-EAED-8174-B4E6F50440DC}"/>
              </a:ext>
            </a:extLst>
          </p:cNvPr>
          <p:cNvSpPr txBox="1"/>
          <p:nvPr/>
        </p:nvSpPr>
        <p:spPr>
          <a:xfrm>
            <a:off x="9955374" y="4254736"/>
            <a:ext cx="2118767" cy="530466"/>
          </a:xfrm>
          <a:prstGeom prst="rect">
            <a:avLst/>
          </a:prstGeom>
          <a:noFill/>
        </p:spPr>
        <p:txBody>
          <a:bodyPr wrap="square">
            <a:spAutoFit/>
          </a:bodyPr>
          <a:lstStyle/>
          <a:p>
            <a:pPr>
              <a:lnSpc>
                <a:spcPct val="70000"/>
              </a:lnSpc>
            </a:pPr>
            <a:r>
              <a:rPr lang="en-US" sz="1000" i="1" dirty="0">
                <a:solidFill>
                  <a:srgbClr val="002060"/>
                </a:solidFill>
                <a:latin typeface="FC Minimal" panose="020B0500040200020003" pitchFamily="34" charset="-34"/>
                <a:cs typeface="FC Minimal" panose="020B0500040200020003" pitchFamily="34" charset="-34"/>
              </a:rPr>
              <a:t>Goal : Integrate all systems and validate performance to meet quality standards before handover</a:t>
            </a:r>
          </a:p>
          <a:p>
            <a:pPr>
              <a:lnSpc>
                <a:spcPct val="70000"/>
              </a:lnSpc>
            </a:pPr>
            <a:endParaRPr lang="en-US" sz="1000" i="1" dirty="0">
              <a:solidFill>
                <a:srgbClr val="002060"/>
              </a:solidFill>
              <a:latin typeface="FC Minimal" panose="020B0500040200020003" pitchFamily="34" charset="-34"/>
              <a:cs typeface="FC Minimal" panose="020B0500040200020003" pitchFamily="34" charset="-34"/>
            </a:endParaRPr>
          </a:p>
        </p:txBody>
      </p:sp>
      <p:sp>
        <p:nvSpPr>
          <p:cNvPr id="1039" name="สี่เหลี่ยมผืนผ้า: มุมมน 1038">
            <a:extLst>
              <a:ext uri="{FF2B5EF4-FFF2-40B4-BE49-F238E27FC236}">
                <a16:creationId xmlns:a16="http://schemas.microsoft.com/office/drawing/2014/main" id="{AF9C3483-5A86-D127-AD0B-7B9580A2DEE6}"/>
              </a:ext>
            </a:extLst>
          </p:cNvPr>
          <p:cNvSpPr>
            <a:spLocks/>
          </p:cNvSpPr>
          <p:nvPr/>
        </p:nvSpPr>
        <p:spPr>
          <a:xfrm>
            <a:off x="10002868" y="4099512"/>
            <a:ext cx="842773" cy="139088"/>
          </a:xfrm>
          <a:prstGeom prst="roundRect">
            <a:avLst>
              <a:gd name="adj" fmla="val 50000"/>
            </a:avLst>
          </a:prstGeom>
          <a:solidFill>
            <a:srgbClr val="00206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dirty="0">
              <a:solidFill>
                <a:schemeClr val="bg1"/>
              </a:solidFill>
            </a:endParaRPr>
          </a:p>
        </p:txBody>
      </p:sp>
      <p:sp>
        <p:nvSpPr>
          <p:cNvPr id="1040" name="Rectangle 7">
            <a:extLst>
              <a:ext uri="{FF2B5EF4-FFF2-40B4-BE49-F238E27FC236}">
                <a16:creationId xmlns:a16="http://schemas.microsoft.com/office/drawing/2014/main" id="{14ED3D42-9257-EB1C-0F34-F332C0B8936B}"/>
              </a:ext>
            </a:extLst>
          </p:cNvPr>
          <p:cNvSpPr>
            <a:spLocks/>
          </p:cNvSpPr>
          <p:nvPr/>
        </p:nvSpPr>
        <p:spPr bwMode="auto">
          <a:xfrm>
            <a:off x="9931253" y="4073036"/>
            <a:ext cx="986002" cy="201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75000"/>
              </a:lnSpc>
            </a:pPr>
            <a:r>
              <a:rPr lang="en-US" sz="900" b="1" i="1" dirty="0">
                <a:solidFill>
                  <a:schemeClr val="bg1"/>
                </a:solidFill>
                <a:latin typeface="FC Minimal" panose="020B0500040200020003" pitchFamily="34" charset="-34"/>
                <a:cs typeface="FC Minimal" panose="020B0500040200020003" pitchFamily="34" charset="-34"/>
              </a:rPr>
              <a:t>Aug 15 – Aug 31</a:t>
            </a:r>
          </a:p>
        </p:txBody>
      </p:sp>
      <p:sp>
        <p:nvSpPr>
          <p:cNvPr id="1041" name="กล่องข้อความ 1040">
            <a:extLst>
              <a:ext uri="{FF2B5EF4-FFF2-40B4-BE49-F238E27FC236}">
                <a16:creationId xmlns:a16="http://schemas.microsoft.com/office/drawing/2014/main" id="{DEEACF9E-0110-FD10-7583-0C8279D27362}"/>
              </a:ext>
            </a:extLst>
          </p:cNvPr>
          <p:cNvSpPr txBox="1"/>
          <p:nvPr/>
        </p:nvSpPr>
        <p:spPr>
          <a:xfrm>
            <a:off x="9955375" y="4639256"/>
            <a:ext cx="1946291" cy="583621"/>
          </a:xfrm>
          <a:prstGeom prst="rect">
            <a:avLst/>
          </a:prstGeom>
          <a:noFill/>
        </p:spPr>
        <p:txBody>
          <a:bodyPr wrap="square">
            <a:spAutoFit/>
          </a:bodyPr>
          <a:lstStyle/>
          <a:p>
            <a:pPr marL="171450" lvl="0" indent="-171450">
              <a:lnSpc>
                <a:spcPct val="70000"/>
              </a:lnSpc>
              <a:buFont typeface="Arial" panose="020B0604020202020204" pitchFamily="34" charset="0"/>
              <a:buChar char="•"/>
            </a:pPr>
            <a:r>
              <a:rPr lang="en-US" sz="900" i="1" dirty="0">
                <a:solidFill>
                  <a:srgbClr val="002060"/>
                </a:solidFill>
                <a:latin typeface="FC Minimal" panose="020B0500040200020003" pitchFamily="34" charset="-34"/>
                <a:cs typeface="FC Minimal" panose="020B0500040200020003" pitchFamily="34" charset="-34"/>
              </a:rPr>
              <a:t>Perform system integration and verify functionality through Functional Test and Dry Run.</a:t>
            </a:r>
          </a:p>
          <a:p>
            <a:pPr marL="171450" lvl="0" indent="-171450">
              <a:lnSpc>
                <a:spcPct val="70000"/>
              </a:lnSpc>
              <a:buFont typeface="Arial" panose="020B0604020202020204" pitchFamily="34" charset="0"/>
              <a:buChar char="•"/>
            </a:pPr>
            <a:r>
              <a:rPr lang="en-US" sz="900" i="1" dirty="0">
                <a:solidFill>
                  <a:srgbClr val="002060"/>
                </a:solidFill>
                <a:latin typeface="FC Minimal" panose="020B0500040200020003" pitchFamily="34" charset="-34"/>
                <a:cs typeface="FC Minimal" panose="020B0500040200020003" pitchFamily="34" charset="-34"/>
              </a:rPr>
              <a:t>Evaluate overall Performance, Quality, and Reliability of the complete system.</a:t>
            </a:r>
          </a:p>
        </p:txBody>
      </p:sp>
      <p:sp>
        <p:nvSpPr>
          <p:cNvPr id="1043" name="กล่องข้อความ 1042">
            <a:extLst>
              <a:ext uri="{FF2B5EF4-FFF2-40B4-BE49-F238E27FC236}">
                <a16:creationId xmlns:a16="http://schemas.microsoft.com/office/drawing/2014/main" id="{382D7812-582B-537E-C6D7-0F976D8F5ACF}"/>
              </a:ext>
            </a:extLst>
          </p:cNvPr>
          <p:cNvSpPr txBox="1"/>
          <p:nvPr/>
        </p:nvSpPr>
        <p:spPr>
          <a:xfrm>
            <a:off x="9949317" y="5555060"/>
            <a:ext cx="2066072" cy="423770"/>
          </a:xfrm>
          <a:prstGeom prst="rect">
            <a:avLst/>
          </a:prstGeom>
          <a:noFill/>
        </p:spPr>
        <p:txBody>
          <a:bodyPr wrap="square">
            <a:spAutoFit/>
          </a:bodyPr>
          <a:lstStyle/>
          <a:p>
            <a:pPr>
              <a:lnSpc>
                <a:spcPct val="70000"/>
              </a:lnSpc>
            </a:pPr>
            <a:r>
              <a:rPr lang="en-US" sz="1000" i="1" dirty="0">
                <a:solidFill>
                  <a:srgbClr val="002060"/>
                </a:solidFill>
                <a:latin typeface="FC Minimal" panose="020B0500040200020003" pitchFamily="34" charset="-34"/>
                <a:cs typeface="FC Minimal" panose="020B0500040200020003" pitchFamily="34" charset="-34"/>
              </a:rPr>
              <a:t>Goal : Close out the project with complete documentation and a smooth handover to end users</a:t>
            </a:r>
          </a:p>
        </p:txBody>
      </p:sp>
      <p:sp>
        <p:nvSpPr>
          <p:cNvPr id="1044" name="สี่เหลี่ยมผืนผ้า: มุมมน 1043">
            <a:extLst>
              <a:ext uri="{FF2B5EF4-FFF2-40B4-BE49-F238E27FC236}">
                <a16:creationId xmlns:a16="http://schemas.microsoft.com/office/drawing/2014/main" id="{25410823-6BAB-7C2B-D134-2991112CC6EA}"/>
              </a:ext>
            </a:extLst>
          </p:cNvPr>
          <p:cNvSpPr>
            <a:spLocks/>
          </p:cNvSpPr>
          <p:nvPr/>
        </p:nvSpPr>
        <p:spPr>
          <a:xfrm>
            <a:off x="9996810" y="5399836"/>
            <a:ext cx="842773" cy="139088"/>
          </a:xfrm>
          <a:prstGeom prst="roundRect">
            <a:avLst>
              <a:gd name="adj" fmla="val 50000"/>
            </a:avLst>
          </a:prstGeom>
          <a:solidFill>
            <a:srgbClr val="00206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dirty="0">
              <a:solidFill>
                <a:schemeClr val="bg1"/>
              </a:solidFill>
            </a:endParaRPr>
          </a:p>
        </p:txBody>
      </p:sp>
      <p:sp>
        <p:nvSpPr>
          <p:cNvPr id="1045" name="Rectangle 7">
            <a:extLst>
              <a:ext uri="{FF2B5EF4-FFF2-40B4-BE49-F238E27FC236}">
                <a16:creationId xmlns:a16="http://schemas.microsoft.com/office/drawing/2014/main" id="{6B44F910-ACE3-6D16-E4F6-645A037CF3E0}"/>
              </a:ext>
            </a:extLst>
          </p:cNvPr>
          <p:cNvSpPr>
            <a:spLocks/>
          </p:cNvSpPr>
          <p:nvPr/>
        </p:nvSpPr>
        <p:spPr bwMode="auto">
          <a:xfrm>
            <a:off x="9925195" y="5373360"/>
            <a:ext cx="986002" cy="201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75000"/>
              </a:lnSpc>
            </a:pPr>
            <a:r>
              <a:rPr lang="en-US" sz="900" b="1" i="1" dirty="0">
                <a:solidFill>
                  <a:schemeClr val="bg1"/>
                </a:solidFill>
                <a:latin typeface="FC Minimal" panose="020B0500040200020003" pitchFamily="34" charset="-34"/>
                <a:cs typeface="FC Minimal" panose="020B0500040200020003" pitchFamily="34" charset="-34"/>
              </a:rPr>
              <a:t>Sep 1 – Oct 2</a:t>
            </a:r>
          </a:p>
        </p:txBody>
      </p:sp>
      <p:sp>
        <p:nvSpPr>
          <p:cNvPr id="1046" name="กล่องข้อความ 1045">
            <a:extLst>
              <a:ext uri="{FF2B5EF4-FFF2-40B4-BE49-F238E27FC236}">
                <a16:creationId xmlns:a16="http://schemas.microsoft.com/office/drawing/2014/main" id="{943921D8-912B-91C3-2DA2-BE9045D7B403}"/>
              </a:ext>
            </a:extLst>
          </p:cNvPr>
          <p:cNvSpPr txBox="1"/>
          <p:nvPr/>
        </p:nvSpPr>
        <p:spPr>
          <a:xfrm>
            <a:off x="9949317" y="5929420"/>
            <a:ext cx="1958762" cy="486672"/>
          </a:xfrm>
          <a:prstGeom prst="rect">
            <a:avLst/>
          </a:prstGeom>
          <a:noFill/>
        </p:spPr>
        <p:txBody>
          <a:bodyPr wrap="square">
            <a:spAutoFit/>
          </a:bodyPr>
          <a:lstStyle/>
          <a:p>
            <a:pPr marL="171450" lvl="0" indent="-171450">
              <a:lnSpc>
                <a:spcPct val="70000"/>
              </a:lnSpc>
              <a:buFont typeface="Arial" panose="020B0604020202020204" pitchFamily="34" charset="0"/>
              <a:buChar char="•"/>
            </a:pPr>
            <a:r>
              <a:rPr lang="en-US" sz="900" i="1" dirty="0">
                <a:solidFill>
                  <a:srgbClr val="002060"/>
                </a:solidFill>
                <a:latin typeface="FC Minimal" panose="020B0500040200020003" pitchFamily="34" charset="-34"/>
                <a:cs typeface="FC Minimal" panose="020B0500040200020003" pitchFamily="34" charset="-34"/>
              </a:rPr>
              <a:t>Prepare manual, evaluate KPIs, conduct user training, and complete handover.</a:t>
            </a:r>
          </a:p>
          <a:p>
            <a:pPr marL="171450" lvl="0" indent="-171450">
              <a:lnSpc>
                <a:spcPct val="70000"/>
              </a:lnSpc>
              <a:buFont typeface="Arial" panose="020B0604020202020204" pitchFamily="34" charset="0"/>
              <a:buChar char="•"/>
            </a:pPr>
            <a:r>
              <a:rPr lang="en-US" sz="900" i="1" dirty="0">
                <a:solidFill>
                  <a:srgbClr val="002060"/>
                </a:solidFill>
                <a:latin typeface="FC Minimal" panose="020B0500040200020003" pitchFamily="34" charset="-34"/>
                <a:cs typeface="FC Minimal" panose="020B0500040200020003" pitchFamily="34" charset="-34"/>
              </a:rPr>
              <a:t>Compile Final Report and deliver project presentation.</a:t>
            </a:r>
          </a:p>
        </p:txBody>
      </p:sp>
      <p:cxnSp>
        <p:nvCxnSpPr>
          <p:cNvPr id="1047" name="ตัวเชื่อมต่อตรง 1046">
            <a:extLst>
              <a:ext uri="{FF2B5EF4-FFF2-40B4-BE49-F238E27FC236}">
                <a16:creationId xmlns:a16="http://schemas.microsoft.com/office/drawing/2014/main" id="{74E03C69-A04C-082A-0BF6-25CEB858A11E}"/>
              </a:ext>
            </a:extLst>
          </p:cNvPr>
          <p:cNvCxnSpPr>
            <a:cxnSpLocks/>
          </p:cNvCxnSpPr>
          <p:nvPr/>
        </p:nvCxnSpPr>
        <p:spPr>
          <a:xfrm>
            <a:off x="9650265" y="2002315"/>
            <a:ext cx="0" cy="711930"/>
          </a:xfrm>
          <a:prstGeom prst="line">
            <a:avLst/>
          </a:prstGeom>
          <a:ln w="15875" cap="rnd">
            <a:prstDash val="dash"/>
          </a:ln>
        </p:spPr>
        <p:style>
          <a:lnRef idx="2">
            <a:schemeClr val="accent1"/>
          </a:lnRef>
          <a:fillRef idx="0">
            <a:schemeClr val="accent1"/>
          </a:fillRef>
          <a:effectRef idx="1">
            <a:schemeClr val="accent1"/>
          </a:effectRef>
          <a:fontRef idx="minor">
            <a:schemeClr val="tx1"/>
          </a:fontRef>
        </p:style>
      </p:cxnSp>
      <p:cxnSp>
        <p:nvCxnSpPr>
          <p:cNvPr id="1048" name="ตัวเชื่อมต่อตรง 1047">
            <a:extLst>
              <a:ext uri="{FF2B5EF4-FFF2-40B4-BE49-F238E27FC236}">
                <a16:creationId xmlns:a16="http://schemas.microsoft.com/office/drawing/2014/main" id="{0EF921FA-46FC-B98B-2BAF-33D6D5D6E7F8}"/>
              </a:ext>
            </a:extLst>
          </p:cNvPr>
          <p:cNvCxnSpPr>
            <a:cxnSpLocks/>
          </p:cNvCxnSpPr>
          <p:nvPr/>
        </p:nvCxnSpPr>
        <p:spPr>
          <a:xfrm>
            <a:off x="9650265" y="3328159"/>
            <a:ext cx="0" cy="711930"/>
          </a:xfrm>
          <a:prstGeom prst="line">
            <a:avLst/>
          </a:prstGeom>
          <a:ln w="15875" cap="rnd">
            <a:prstDash val="dash"/>
          </a:ln>
        </p:spPr>
        <p:style>
          <a:lnRef idx="2">
            <a:schemeClr val="accent1"/>
          </a:lnRef>
          <a:fillRef idx="0">
            <a:schemeClr val="accent1"/>
          </a:fillRef>
          <a:effectRef idx="1">
            <a:schemeClr val="accent1"/>
          </a:effectRef>
          <a:fontRef idx="minor">
            <a:schemeClr val="tx1"/>
          </a:fontRef>
        </p:style>
      </p:cxnSp>
      <p:cxnSp>
        <p:nvCxnSpPr>
          <p:cNvPr id="1051" name="ตัวเชื่อมต่อตรง 1050">
            <a:extLst>
              <a:ext uri="{FF2B5EF4-FFF2-40B4-BE49-F238E27FC236}">
                <a16:creationId xmlns:a16="http://schemas.microsoft.com/office/drawing/2014/main" id="{D0862703-69ED-0E73-EED2-24695A726EB5}"/>
              </a:ext>
            </a:extLst>
          </p:cNvPr>
          <p:cNvCxnSpPr>
            <a:cxnSpLocks/>
          </p:cNvCxnSpPr>
          <p:nvPr/>
        </p:nvCxnSpPr>
        <p:spPr>
          <a:xfrm>
            <a:off x="9650265" y="4672757"/>
            <a:ext cx="0" cy="711930"/>
          </a:xfrm>
          <a:prstGeom prst="line">
            <a:avLst/>
          </a:prstGeom>
          <a:ln w="15875" cap="rnd">
            <a:prstDash val="dash"/>
          </a:ln>
        </p:spPr>
        <p:style>
          <a:lnRef idx="2">
            <a:schemeClr val="accent1"/>
          </a:lnRef>
          <a:fillRef idx="0">
            <a:schemeClr val="accent1"/>
          </a:fillRef>
          <a:effectRef idx="1">
            <a:schemeClr val="accent1"/>
          </a:effectRef>
          <a:fontRef idx="minor">
            <a:schemeClr val="tx1"/>
          </a:fontRef>
        </p:style>
      </p:cxnSp>
      <p:pic>
        <p:nvPicPr>
          <p:cNvPr id="1052" name="กราฟิก 1051" descr="ศีรษะมีฟันเฟือง ด้วยสีเติมแบบทึบ">
            <a:extLst>
              <a:ext uri="{FF2B5EF4-FFF2-40B4-BE49-F238E27FC236}">
                <a16:creationId xmlns:a16="http://schemas.microsoft.com/office/drawing/2014/main" id="{4C547571-D779-4A6F-7FC5-60DC8592BB5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70340" y="2836544"/>
            <a:ext cx="382710" cy="382710"/>
          </a:xfrm>
          <a:prstGeom prst="rect">
            <a:avLst/>
          </a:prstGeom>
        </p:spPr>
      </p:pic>
      <p:pic>
        <p:nvPicPr>
          <p:cNvPr id="1053" name="กราฟิก 1052" descr="ฟันเฟืองเดียว ด้วยสีเติมแบบทึบ">
            <a:extLst>
              <a:ext uri="{FF2B5EF4-FFF2-40B4-BE49-F238E27FC236}">
                <a16:creationId xmlns:a16="http://schemas.microsoft.com/office/drawing/2014/main" id="{6BDFE622-233E-179B-5DCC-59ABE54CCD1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19934" y="1471277"/>
            <a:ext cx="255185" cy="255185"/>
          </a:xfrm>
          <a:prstGeom prst="rect">
            <a:avLst/>
          </a:prstGeom>
        </p:spPr>
      </p:pic>
      <p:pic>
        <p:nvPicPr>
          <p:cNvPr id="1054" name="กราฟิก 1053" descr="แบบพิมพ์เขียว ด้วยสีเติมแบบทึบ">
            <a:extLst>
              <a:ext uri="{FF2B5EF4-FFF2-40B4-BE49-F238E27FC236}">
                <a16:creationId xmlns:a16="http://schemas.microsoft.com/office/drawing/2014/main" id="{54ABB88D-15C7-4B25-9053-F6C9628B3C1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71013" y="1520244"/>
            <a:ext cx="349737" cy="349737"/>
          </a:xfrm>
          <a:prstGeom prst="rect">
            <a:avLst/>
          </a:prstGeom>
        </p:spPr>
      </p:pic>
      <p:pic>
        <p:nvPicPr>
          <p:cNvPr id="1055" name="กราฟิก 1054" descr="รายการ ด้วยสีเติมแบบทึบ">
            <a:extLst>
              <a:ext uri="{FF2B5EF4-FFF2-40B4-BE49-F238E27FC236}">
                <a16:creationId xmlns:a16="http://schemas.microsoft.com/office/drawing/2014/main" id="{1F837E6F-1583-6D28-1F12-C31C9435A28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478220" y="5520135"/>
            <a:ext cx="344090" cy="344090"/>
          </a:xfrm>
          <a:prstGeom prst="rect">
            <a:avLst/>
          </a:prstGeom>
        </p:spPr>
      </p:pic>
      <p:pic>
        <p:nvPicPr>
          <p:cNvPr id="1056" name="กราฟิก 1055" descr="ปริศนา ด้วยสีเติมแบบทึบ">
            <a:extLst>
              <a:ext uri="{FF2B5EF4-FFF2-40B4-BE49-F238E27FC236}">
                <a16:creationId xmlns:a16="http://schemas.microsoft.com/office/drawing/2014/main" id="{072D82B3-60E9-0E71-BD4F-A6C90EEB64F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471931" y="4174155"/>
            <a:ext cx="356668" cy="356668"/>
          </a:xfrm>
          <a:prstGeom prst="rect">
            <a:avLst/>
          </a:prstGeom>
        </p:spPr>
      </p:pic>
      <p:cxnSp>
        <p:nvCxnSpPr>
          <p:cNvPr id="1057" name="ตัวเชื่อมต่อตรง 1056">
            <a:extLst>
              <a:ext uri="{FF2B5EF4-FFF2-40B4-BE49-F238E27FC236}">
                <a16:creationId xmlns:a16="http://schemas.microsoft.com/office/drawing/2014/main" id="{83256A04-538A-63DD-F3E7-DE0D3EF7460A}"/>
              </a:ext>
            </a:extLst>
          </p:cNvPr>
          <p:cNvCxnSpPr>
            <a:cxnSpLocks/>
          </p:cNvCxnSpPr>
          <p:nvPr/>
        </p:nvCxnSpPr>
        <p:spPr>
          <a:xfrm>
            <a:off x="9659471" y="5997056"/>
            <a:ext cx="0" cy="148474"/>
          </a:xfrm>
          <a:prstGeom prst="line">
            <a:avLst/>
          </a:prstGeom>
          <a:ln w="15875" cap="rnd">
            <a:prstDash val="dash"/>
          </a:ln>
        </p:spPr>
        <p:style>
          <a:lnRef idx="2">
            <a:schemeClr val="accent1"/>
          </a:lnRef>
          <a:fillRef idx="0">
            <a:schemeClr val="accent1"/>
          </a:fillRef>
          <a:effectRef idx="1">
            <a:schemeClr val="accent1"/>
          </a:effectRef>
          <a:fontRef idx="minor">
            <a:schemeClr val="tx1"/>
          </a:fontRef>
        </p:style>
      </p:cxnSp>
      <p:sp>
        <p:nvSpPr>
          <p:cNvPr id="1058" name="วงรี 1057">
            <a:extLst>
              <a:ext uri="{FF2B5EF4-FFF2-40B4-BE49-F238E27FC236}">
                <a16:creationId xmlns:a16="http://schemas.microsoft.com/office/drawing/2014/main" id="{1E6DF1C4-112B-7B0E-E3A5-0C04A725C9ED}"/>
              </a:ext>
            </a:extLst>
          </p:cNvPr>
          <p:cNvSpPr/>
          <p:nvPr/>
        </p:nvSpPr>
        <p:spPr>
          <a:xfrm>
            <a:off x="9633853" y="6176153"/>
            <a:ext cx="55684" cy="55684"/>
          </a:xfrm>
          <a:prstGeom prst="ellipse">
            <a:avLst/>
          </a:prstGeom>
          <a:solidFill>
            <a:srgbClr val="156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059" name="สี่เหลี่ยมผืนผ้า: มุมมน 1058">
            <a:extLst>
              <a:ext uri="{FF2B5EF4-FFF2-40B4-BE49-F238E27FC236}">
                <a16:creationId xmlns:a16="http://schemas.microsoft.com/office/drawing/2014/main" id="{3E2D9EFF-8FB3-7452-648E-8F84A0C44A3E}"/>
              </a:ext>
            </a:extLst>
          </p:cNvPr>
          <p:cNvSpPr>
            <a:spLocks/>
          </p:cNvSpPr>
          <p:nvPr/>
        </p:nvSpPr>
        <p:spPr>
          <a:xfrm>
            <a:off x="3227386" y="4384041"/>
            <a:ext cx="2801140" cy="2188198"/>
          </a:xfrm>
          <a:prstGeom prst="roundRect">
            <a:avLst>
              <a:gd name="adj" fmla="val 8776"/>
            </a:avLst>
          </a:prstGeom>
          <a:solidFill>
            <a:srgbClr val="00528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solidFill>
                <a:srgbClr val="00528A"/>
              </a:solidFill>
            </a:endParaRPr>
          </a:p>
        </p:txBody>
      </p:sp>
      <p:grpSp>
        <p:nvGrpSpPr>
          <p:cNvPr id="1060" name="กลุ่ม 1059">
            <a:extLst>
              <a:ext uri="{FF2B5EF4-FFF2-40B4-BE49-F238E27FC236}">
                <a16:creationId xmlns:a16="http://schemas.microsoft.com/office/drawing/2014/main" id="{BFF8B409-7822-C89E-8109-22EC1647804B}"/>
              </a:ext>
            </a:extLst>
          </p:cNvPr>
          <p:cNvGrpSpPr>
            <a:grpSpLocks/>
          </p:cNvGrpSpPr>
          <p:nvPr/>
        </p:nvGrpSpPr>
        <p:grpSpPr>
          <a:xfrm>
            <a:off x="3462538" y="4223930"/>
            <a:ext cx="2330836" cy="313471"/>
            <a:chOff x="3958832" y="4288765"/>
            <a:chExt cx="2330836" cy="313471"/>
          </a:xfrm>
        </p:grpSpPr>
        <p:sp>
          <p:nvSpPr>
            <p:cNvPr id="1065" name="สี่เหลี่ยมผืนผ้า: มุมมน 1064">
              <a:extLst>
                <a:ext uri="{FF2B5EF4-FFF2-40B4-BE49-F238E27FC236}">
                  <a16:creationId xmlns:a16="http://schemas.microsoft.com/office/drawing/2014/main" id="{11D2615F-F068-2E1F-7F4E-FD746579C14B}"/>
                </a:ext>
              </a:extLst>
            </p:cNvPr>
            <p:cNvSpPr>
              <a:spLocks/>
            </p:cNvSpPr>
            <p:nvPr/>
          </p:nvSpPr>
          <p:spPr>
            <a:xfrm>
              <a:off x="3958832" y="4288765"/>
              <a:ext cx="2330836" cy="313471"/>
            </a:xfrm>
            <a:prstGeom prst="roundRect">
              <a:avLst>
                <a:gd name="adj" fmla="val 50000"/>
              </a:avLst>
            </a:prstGeom>
            <a:gradFill flip="none" rotWithShape="1">
              <a:gsLst>
                <a:gs pos="0">
                  <a:srgbClr val="00528A"/>
                </a:gs>
                <a:gs pos="65745">
                  <a:srgbClr val="73AFD8"/>
                </a:gs>
                <a:gs pos="38000">
                  <a:srgbClr val="006FB9"/>
                </a:gs>
                <a:gs pos="69000">
                  <a:srgbClr val="80B7DC"/>
                </a:gs>
                <a:gs pos="100000">
                  <a:schemeClr val="accent1">
                    <a:lumMod val="40000"/>
                    <a:lumOff val="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solidFill>
                  <a:srgbClr val="00528A"/>
                </a:solidFill>
              </a:endParaRPr>
            </a:p>
          </p:txBody>
        </p:sp>
        <p:sp>
          <p:nvSpPr>
            <p:cNvPr id="1070" name="กล่องข้อความ 1069">
              <a:extLst>
                <a:ext uri="{FF2B5EF4-FFF2-40B4-BE49-F238E27FC236}">
                  <a16:creationId xmlns:a16="http://schemas.microsoft.com/office/drawing/2014/main" id="{D92C4372-9746-3AA1-DD0A-DD8C3FF817A9}"/>
                </a:ext>
              </a:extLst>
            </p:cNvPr>
            <p:cNvSpPr txBox="1">
              <a:spLocks/>
            </p:cNvSpPr>
            <p:nvPr/>
          </p:nvSpPr>
          <p:spPr>
            <a:xfrm>
              <a:off x="4027332" y="4307001"/>
              <a:ext cx="2193837" cy="276999"/>
            </a:xfrm>
            <a:prstGeom prst="rect">
              <a:avLst/>
            </a:prstGeom>
            <a:noFill/>
          </p:spPr>
          <p:txBody>
            <a:bodyPr wrap="square" rtlCol="0">
              <a:spAutoFit/>
            </a:bodyPr>
            <a:lstStyle/>
            <a:p>
              <a:pPr algn="ctr"/>
              <a:r>
                <a:rPr lang="en-US" sz="1200" b="1" dirty="0">
                  <a:solidFill>
                    <a:schemeClr val="bg1"/>
                  </a:solidFill>
                  <a:latin typeface="Helvetica" panose="020B0604020202020204" pitchFamily="34" charset="0"/>
                  <a:cs typeface="Helvetica" panose="020B0604020202020204" pitchFamily="34" charset="0"/>
                </a:rPr>
                <a:t>Objectives/Success Criteria</a:t>
              </a:r>
              <a:endParaRPr lang="th-TH" sz="1200" b="1" dirty="0">
                <a:solidFill>
                  <a:schemeClr val="bg1"/>
                </a:solidFill>
                <a:latin typeface="Helvetica" panose="020B0604020202020204" pitchFamily="34" charset="0"/>
                <a:cs typeface="Mitr" panose="00000500000000000000" pitchFamily="2" charset="-34"/>
              </a:endParaRPr>
            </a:p>
          </p:txBody>
        </p:sp>
      </p:grpSp>
      <p:sp>
        <p:nvSpPr>
          <p:cNvPr id="1075" name="Rectangle 7">
            <a:extLst>
              <a:ext uri="{FF2B5EF4-FFF2-40B4-BE49-F238E27FC236}">
                <a16:creationId xmlns:a16="http://schemas.microsoft.com/office/drawing/2014/main" id="{E3A450A8-1CC1-BE2C-E607-514F4638E16B}"/>
              </a:ext>
            </a:extLst>
          </p:cNvPr>
          <p:cNvSpPr>
            <a:spLocks/>
          </p:cNvSpPr>
          <p:nvPr/>
        </p:nvSpPr>
        <p:spPr bwMode="auto">
          <a:xfrm>
            <a:off x="3322655" y="4545820"/>
            <a:ext cx="2683620" cy="21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050" b="1" dirty="0">
                <a:solidFill>
                  <a:srgbClr val="002060"/>
                </a:solidFill>
                <a:latin typeface="FC Minimal" panose="020B0500040200020003" pitchFamily="34" charset="-34"/>
                <a:cs typeface="FC Minimal" panose="020B0500040200020003" pitchFamily="34" charset="-34"/>
              </a:rPr>
              <a:t>Objective:</a:t>
            </a:r>
          </a:p>
        </p:txBody>
      </p:sp>
      <p:sp>
        <p:nvSpPr>
          <p:cNvPr id="1076" name="Rectangle 3">
            <a:extLst>
              <a:ext uri="{FF2B5EF4-FFF2-40B4-BE49-F238E27FC236}">
                <a16:creationId xmlns:a16="http://schemas.microsoft.com/office/drawing/2014/main" id="{C45A6239-77BB-D787-34D7-B4277211CE6C}"/>
              </a:ext>
            </a:extLst>
          </p:cNvPr>
          <p:cNvSpPr>
            <a:spLocks noChangeArrowheads="1"/>
          </p:cNvSpPr>
          <p:nvPr/>
        </p:nvSpPr>
        <p:spPr bwMode="auto">
          <a:xfrm>
            <a:off x="3388815" y="4697469"/>
            <a:ext cx="2551299" cy="834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indent="-171450">
              <a:lnSpc>
                <a:spcPct val="80000"/>
              </a:lnSpc>
              <a:buFont typeface="Arial" panose="020B0604020202020204" pitchFamily="34" charset="0"/>
              <a:buChar char="•"/>
            </a:pPr>
            <a:r>
              <a:rPr lang="en-US" sz="1000" b="1" dirty="0">
                <a:solidFill>
                  <a:srgbClr val="002060"/>
                </a:solidFill>
                <a:latin typeface="FC Minimal" panose="020B0500040200020003" pitchFamily="34" charset="-34"/>
                <a:cs typeface="FC Minimal" panose="020B0500040200020003" pitchFamily="34" charset="-34"/>
              </a:rPr>
              <a:t>Standardization</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Establish</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a</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Foolproof</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workflow</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to</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reduce</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skill</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dependency</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and</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improve</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inspection</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efficiency</a:t>
            </a:r>
            <a:r>
              <a:rPr lang="th-TH" sz="1000" dirty="0">
                <a:solidFill>
                  <a:srgbClr val="002060"/>
                </a:solidFill>
                <a:latin typeface="FC Minimal" panose="020B0500040200020003" pitchFamily="34" charset="-34"/>
                <a:cs typeface="FC Minimal" panose="020B0500040200020003" pitchFamily="34" charset="-34"/>
              </a:rPr>
              <a:t>.</a:t>
            </a:r>
            <a:endParaRPr lang="en-US" sz="1000" dirty="0">
              <a:solidFill>
                <a:srgbClr val="002060"/>
              </a:solidFill>
              <a:latin typeface="FC Minimal" panose="020B0500040200020003" pitchFamily="34" charset="-34"/>
              <a:cs typeface="FC Minimal" panose="020B0500040200020003" pitchFamily="34" charset="-34"/>
            </a:endParaRPr>
          </a:p>
          <a:p>
            <a:pPr marL="171450" lvl="0" indent="-171450">
              <a:lnSpc>
                <a:spcPct val="80000"/>
              </a:lnSpc>
              <a:buFont typeface="Arial" panose="020B0604020202020204" pitchFamily="34" charset="0"/>
              <a:buChar char="•"/>
            </a:pPr>
            <a:r>
              <a:rPr lang="en-US" sz="1000" b="1" dirty="0">
                <a:solidFill>
                  <a:srgbClr val="002060"/>
                </a:solidFill>
                <a:latin typeface="FC Minimal" panose="020B0500040200020003" pitchFamily="34" charset="-34"/>
                <a:cs typeface="FC Minimal" panose="020B0500040200020003" pitchFamily="34" charset="-34"/>
              </a:rPr>
              <a:t>Data</a:t>
            </a:r>
            <a:r>
              <a:rPr lang="th-TH" sz="1000" dirty="0">
                <a:solidFill>
                  <a:srgbClr val="002060"/>
                </a:solidFill>
                <a:latin typeface="FC Minimal" panose="020B0500040200020003" pitchFamily="34" charset="-34"/>
                <a:cs typeface="FC Minimal" panose="020B0500040200020003" pitchFamily="34" charset="-34"/>
              </a:rPr>
              <a:t> </a:t>
            </a:r>
            <a:r>
              <a:rPr lang="en-US" sz="1000" b="1" dirty="0">
                <a:solidFill>
                  <a:srgbClr val="002060"/>
                </a:solidFill>
                <a:latin typeface="FC Minimal" panose="020B0500040200020003" pitchFamily="34" charset="-34"/>
                <a:cs typeface="FC Minimal" panose="020B0500040200020003" pitchFamily="34" charset="-34"/>
              </a:rPr>
              <a:t>Centralization</a:t>
            </a:r>
            <a:r>
              <a:rPr lang="en-US" sz="1000" dirty="0">
                <a:solidFill>
                  <a:srgbClr val="002060"/>
                </a:solidFill>
                <a:latin typeface="FC Minimal" panose="020B0500040200020003" pitchFamily="34" charset="-34"/>
                <a:cs typeface="FC Minimal" panose="020B0500040200020003" pitchFamily="34" charset="-34"/>
              </a:rPr>
              <a:t> Create</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a</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systematic</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database</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for</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automated</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logging</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to</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replace</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manual</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Excel</a:t>
            </a:r>
            <a:r>
              <a:rPr lang="th-TH" sz="1000" dirty="0">
                <a:solidFill>
                  <a:srgbClr val="002060"/>
                </a:solidFill>
                <a:latin typeface="FC Minimal" panose="020B0500040200020003" pitchFamily="34" charset="-34"/>
                <a:cs typeface="FC Minimal" panose="020B0500040200020003" pitchFamily="34" charset="-34"/>
              </a:rPr>
              <a:t> </a:t>
            </a:r>
            <a:r>
              <a:rPr lang="en-US" sz="1000" dirty="0">
                <a:solidFill>
                  <a:srgbClr val="002060"/>
                </a:solidFill>
                <a:latin typeface="FC Minimal" panose="020B0500040200020003" pitchFamily="34" charset="-34"/>
                <a:cs typeface="FC Minimal" panose="020B0500040200020003" pitchFamily="34" charset="-34"/>
              </a:rPr>
              <a:t>entry</a:t>
            </a:r>
            <a:r>
              <a:rPr lang="th-TH" sz="1000" dirty="0">
                <a:solidFill>
                  <a:srgbClr val="002060"/>
                </a:solidFill>
                <a:latin typeface="FC Minimal" panose="020B0500040200020003" pitchFamily="34" charset="-34"/>
                <a:cs typeface="FC Minimal" panose="020B0500040200020003" pitchFamily="34" charset="-34"/>
              </a:rPr>
              <a:t>.</a:t>
            </a:r>
            <a:r>
              <a:rPr lang="en-US" sz="1000" dirty="0">
                <a:solidFill>
                  <a:srgbClr val="002060"/>
                </a:solidFill>
                <a:latin typeface="FC Minimal" panose="020B0500040200020003" pitchFamily="34" charset="-34"/>
                <a:cs typeface="FC Minimal" panose="020B0500040200020003" pitchFamily="34" charset="-34"/>
              </a:rPr>
              <a:t> </a:t>
            </a:r>
          </a:p>
        </p:txBody>
      </p:sp>
      <p:sp>
        <p:nvSpPr>
          <p:cNvPr id="1077" name="Rectangle 4">
            <a:extLst>
              <a:ext uri="{FF2B5EF4-FFF2-40B4-BE49-F238E27FC236}">
                <a16:creationId xmlns:a16="http://schemas.microsoft.com/office/drawing/2014/main" id="{229A0FD7-CD8E-E4D6-1498-52EE83ED1CA6}"/>
              </a:ext>
            </a:extLst>
          </p:cNvPr>
          <p:cNvSpPr>
            <a:spLocks noChangeArrowheads="1"/>
          </p:cNvSpPr>
          <p:nvPr/>
        </p:nvSpPr>
        <p:spPr bwMode="auto">
          <a:xfrm>
            <a:off x="3385407" y="5613580"/>
            <a:ext cx="2605296" cy="957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lvl="0" indent="-171450">
              <a:lnSpc>
                <a:spcPct val="80000"/>
              </a:lnSpc>
              <a:buFont typeface="Arial" panose="020B0604020202020204" pitchFamily="34" charset="0"/>
              <a:buChar char="•"/>
            </a:pPr>
            <a:r>
              <a:rPr lang="en-US" sz="1000" b="1" dirty="0">
                <a:solidFill>
                  <a:srgbClr val="002060"/>
                </a:solidFill>
                <a:latin typeface="FC Minimal" panose="020B0500040200020003" pitchFamily="34" charset="-34"/>
                <a:cs typeface="FC Minimal" panose="020B0500040200020003" pitchFamily="34" charset="-34"/>
              </a:rPr>
              <a:t>Data Integrity: </a:t>
            </a:r>
            <a:r>
              <a:rPr lang="en-US" sz="1000" dirty="0">
                <a:solidFill>
                  <a:srgbClr val="002060"/>
                </a:solidFill>
                <a:latin typeface="FC Minimal" panose="020B0500040200020003" pitchFamily="34" charset="-34"/>
                <a:cs typeface="FC Minimal" panose="020B0500040200020003" pitchFamily="34" charset="-34"/>
              </a:rPr>
              <a:t>Achieve 100% automated data entry, effectively reducing the manual transcription error rate from the historical 35.39% down to 0%.</a:t>
            </a:r>
          </a:p>
          <a:p>
            <a:pPr marL="171450" lvl="0" indent="-171450">
              <a:lnSpc>
                <a:spcPct val="80000"/>
              </a:lnSpc>
              <a:buFont typeface="Arial" panose="020B0604020202020204" pitchFamily="34" charset="0"/>
              <a:buChar char="•"/>
            </a:pPr>
            <a:r>
              <a:rPr lang="en-US" sz="1000" b="1" dirty="0">
                <a:solidFill>
                  <a:srgbClr val="002060"/>
                </a:solidFill>
                <a:latin typeface="FC Minimal" panose="020B0500040200020003" pitchFamily="34" charset="-34"/>
                <a:cs typeface="FC Minimal" panose="020B0500040200020003" pitchFamily="34" charset="-34"/>
              </a:rPr>
              <a:t>Cycle Time Efficiency: </a:t>
            </a:r>
            <a:r>
              <a:rPr lang="en-US" sz="1000" dirty="0">
                <a:solidFill>
                  <a:srgbClr val="002060"/>
                </a:solidFill>
                <a:latin typeface="FC Minimal" panose="020B0500040200020003" pitchFamily="34" charset="-34"/>
                <a:cs typeface="FC Minimal" panose="020B0500040200020003" pitchFamily="34" charset="-34"/>
              </a:rPr>
              <a:t>Maintain or improve the current inspection cycle time while enabling "Unattended Operation," allowing technicians to multitask.</a:t>
            </a:r>
          </a:p>
        </p:txBody>
      </p:sp>
      <p:sp>
        <p:nvSpPr>
          <p:cNvPr id="1078" name="Rectangle 7">
            <a:extLst>
              <a:ext uri="{FF2B5EF4-FFF2-40B4-BE49-F238E27FC236}">
                <a16:creationId xmlns:a16="http://schemas.microsoft.com/office/drawing/2014/main" id="{9C2B38F5-32E4-5F14-EA5C-8EDFA5877FE9}"/>
              </a:ext>
            </a:extLst>
          </p:cNvPr>
          <p:cNvSpPr>
            <a:spLocks/>
          </p:cNvSpPr>
          <p:nvPr/>
        </p:nvSpPr>
        <p:spPr bwMode="auto">
          <a:xfrm>
            <a:off x="3322654" y="5463181"/>
            <a:ext cx="2683620" cy="21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050" b="1" dirty="0">
                <a:solidFill>
                  <a:srgbClr val="002060"/>
                </a:solidFill>
                <a:latin typeface="FC Minimal" panose="020B0500040200020003" pitchFamily="34" charset="-34"/>
                <a:cs typeface="FC Minimal" panose="020B0500040200020003" pitchFamily="34" charset="-34"/>
              </a:rPr>
              <a:t>Success Criteria:</a:t>
            </a:r>
          </a:p>
        </p:txBody>
      </p:sp>
    </p:spTree>
    <p:extLst>
      <p:ext uri="{BB962C8B-B14F-4D97-AF65-F5344CB8AC3E}">
        <p14:creationId xmlns:p14="http://schemas.microsoft.com/office/powerpoint/2010/main" val="894422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4D66F0D0-57C8-6E07-BF09-710151BFDFF0}"/>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
        <p:nvSpPr>
          <p:cNvPr id="9" name="กล่องข้อความ 8">
            <a:extLst>
              <a:ext uri="{FF2B5EF4-FFF2-40B4-BE49-F238E27FC236}">
                <a16:creationId xmlns:a16="http://schemas.microsoft.com/office/drawing/2014/main" id="{2A990212-8382-EF58-97BD-F78B3442D99B}"/>
              </a:ext>
            </a:extLst>
          </p:cNvPr>
          <p:cNvSpPr txBox="1"/>
          <p:nvPr/>
        </p:nvSpPr>
        <p:spPr>
          <a:xfrm>
            <a:off x="989536" y="1534345"/>
            <a:ext cx="10208342" cy="1323439"/>
          </a:xfrm>
          <a:prstGeom prst="rect">
            <a:avLst/>
          </a:prstGeom>
          <a:noFill/>
        </p:spPr>
        <p:txBody>
          <a:bodyPr wrap="square">
            <a:spAutoFit/>
          </a:bodyPr>
          <a:lstStyle/>
          <a:p>
            <a:r>
              <a:rPr lang="en-US" sz="2000" dirty="0">
                <a:solidFill>
                  <a:srgbClr val="002060"/>
                </a:solidFill>
                <a:latin typeface="Helvetica" panose="020B0604020202020204" pitchFamily="34" charset="0"/>
                <a:cs typeface="Helvetica" panose="020B0604020202020204" pitchFamily="34" charset="0"/>
              </a:rPr>
              <a:t>	As a semiconductor leader, Analog Devices (ADI) relies on the extremely tight tolerances of IC testing jigs, specifically Alignment Plates (ALPL) and Lead Breakers. These components are critical for accurately aligning the Contact Pins between the Handler and Tester</a:t>
            </a:r>
            <a:endParaRPr lang="th-TH" sz="2000" dirty="0">
              <a:solidFill>
                <a:srgbClr val="002060"/>
              </a:solidFill>
              <a:latin typeface="Helvetica" panose="020B0604020202020204" pitchFamily="34" charset="0"/>
            </a:endParaRPr>
          </a:p>
        </p:txBody>
      </p:sp>
      <p:pic>
        <p:nvPicPr>
          <p:cNvPr id="4" name="Picture 2" descr="Analog Devices | Disruptive Technology for Clinical Trials">
            <a:extLst>
              <a:ext uri="{FF2B5EF4-FFF2-40B4-BE49-F238E27FC236}">
                <a16:creationId xmlns:a16="http://schemas.microsoft.com/office/drawing/2014/main" id="{715A366D-DF8B-8796-8928-0FF6DF5302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 name="Picture 2" descr="LOGO_ENkku_color – Faculty of Engineering , Khon Kaen University">
            <a:extLst>
              <a:ext uri="{FF2B5EF4-FFF2-40B4-BE49-F238E27FC236}">
                <a16:creationId xmlns:a16="http://schemas.microsoft.com/office/drawing/2014/main" id="{7210EB32-D222-979A-4D5D-044C56D4FAB0}"/>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13" name="กล่องข้อความ 12">
            <a:extLst>
              <a:ext uri="{FF2B5EF4-FFF2-40B4-BE49-F238E27FC236}">
                <a16:creationId xmlns:a16="http://schemas.microsoft.com/office/drawing/2014/main" id="{89F22404-E351-965B-9430-0A97E9182320}"/>
              </a:ext>
            </a:extLst>
          </p:cNvPr>
          <p:cNvSpPr txBox="1"/>
          <p:nvPr/>
        </p:nvSpPr>
        <p:spPr>
          <a:xfrm>
            <a:off x="9477712" y="4995656"/>
            <a:ext cx="1720166" cy="523220"/>
          </a:xfrm>
          <a:prstGeom prst="rect">
            <a:avLst/>
          </a:prstGeom>
          <a:noFill/>
        </p:spPr>
        <p:txBody>
          <a:bodyPr wrap="square">
            <a:spAutoFit/>
          </a:bodyPr>
          <a:lstStyle/>
          <a:p>
            <a:pPr algn="ctr"/>
            <a:r>
              <a:rPr lang="en-US" sz="1400" dirty="0">
                <a:solidFill>
                  <a:srgbClr val="002060"/>
                </a:solidFill>
                <a:latin typeface="Helvetica" panose="020B0604020202020204" pitchFamily="34" charset="0"/>
                <a:cs typeface="Helvetica" panose="020B0604020202020204" pitchFamily="34" charset="0"/>
              </a:rPr>
              <a:t>Alignment Plate (ALPL)</a:t>
            </a:r>
            <a:endParaRPr lang="th-TH" sz="1400" dirty="0"/>
          </a:p>
        </p:txBody>
      </p:sp>
      <p:sp>
        <p:nvSpPr>
          <p:cNvPr id="21" name="สี่เหลี่ยมผืนผ้า 20">
            <a:extLst>
              <a:ext uri="{FF2B5EF4-FFF2-40B4-BE49-F238E27FC236}">
                <a16:creationId xmlns:a16="http://schemas.microsoft.com/office/drawing/2014/main" id="{4B018AC1-CB7C-B11C-A871-5CAB8677941F}"/>
              </a:ext>
            </a:extLst>
          </p:cNvPr>
          <p:cNvSpPr/>
          <p:nvPr/>
        </p:nvSpPr>
        <p:spPr>
          <a:xfrm>
            <a:off x="432246" y="533608"/>
            <a:ext cx="2896170" cy="618321"/>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3" name="สี่เหลี่ยมผืนผ้า 22">
            <a:extLst>
              <a:ext uri="{FF2B5EF4-FFF2-40B4-BE49-F238E27FC236}">
                <a16:creationId xmlns:a16="http://schemas.microsoft.com/office/drawing/2014/main" id="{3BB66011-239A-9519-9F33-D0C2B95A7FE9}"/>
              </a:ext>
            </a:extLst>
          </p:cNvPr>
          <p:cNvSpPr/>
          <p:nvPr/>
        </p:nvSpPr>
        <p:spPr>
          <a:xfrm>
            <a:off x="432246" y="533608"/>
            <a:ext cx="132080" cy="61832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5" name="กล่องข้อความ 24">
            <a:extLst>
              <a:ext uri="{FF2B5EF4-FFF2-40B4-BE49-F238E27FC236}">
                <a16:creationId xmlns:a16="http://schemas.microsoft.com/office/drawing/2014/main" id="{14B6A765-6FB7-A806-1502-364A4FA12C0E}"/>
              </a:ext>
            </a:extLst>
          </p:cNvPr>
          <p:cNvSpPr txBox="1">
            <a:spLocks/>
          </p:cNvSpPr>
          <p:nvPr/>
        </p:nvSpPr>
        <p:spPr>
          <a:xfrm>
            <a:off x="786384" y="597115"/>
            <a:ext cx="2432304" cy="523220"/>
          </a:xfrm>
          <a:prstGeom prst="rect">
            <a:avLst/>
          </a:prstGeom>
          <a:noFill/>
        </p:spPr>
        <p:txBody>
          <a:bodyPr wrap="square" rtlCol="0">
            <a:spAutoFit/>
          </a:bodyPr>
          <a:lstStyle/>
          <a:p>
            <a:r>
              <a:rPr lang="en-US" b="1" dirty="0">
                <a:solidFill>
                  <a:srgbClr val="002060"/>
                </a:solidFill>
                <a:latin typeface="Helvetica" panose="020B0604020202020204" pitchFamily="34" charset="0"/>
                <a:cs typeface="Helvetica" panose="020B0604020202020204" pitchFamily="34" charset="0"/>
              </a:rPr>
              <a:t>Background</a:t>
            </a:r>
            <a:endParaRPr lang="th-TH" b="1" dirty="0">
              <a:solidFill>
                <a:srgbClr val="002060"/>
              </a:solidFill>
              <a:latin typeface="Helvetica" panose="020B0604020202020204" pitchFamily="34" charset="0"/>
              <a:cs typeface="Mitr" panose="00000500000000000000" pitchFamily="2" charset="-34"/>
            </a:endParaRPr>
          </a:p>
        </p:txBody>
      </p:sp>
      <p:pic>
        <p:nvPicPr>
          <p:cNvPr id="14" name="รูปภาพ 13">
            <a:extLst>
              <a:ext uri="{FF2B5EF4-FFF2-40B4-BE49-F238E27FC236}">
                <a16:creationId xmlns:a16="http://schemas.microsoft.com/office/drawing/2014/main" id="{D8440829-4613-0FA3-4443-8EF7487D3B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3560" y="3429000"/>
            <a:ext cx="4005419" cy="2334970"/>
          </a:xfrm>
          <a:prstGeom prst="rect">
            <a:avLst/>
          </a:prstGeom>
        </p:spPr>
      </p:pic>
      <p:pic>
        <p:nvPicPr>
          <p:cNvPr id="5" name="รูปภาพ 4">
            <a:extLst>
              <a:ext uri="{FF2B5EF4-FFF2-40B4-BE49-F238E27FC236}">
                <a16:creationId xmlns:a16="http://schemas.microsoft.com/office/drawing/2014/main" id="{D98AB60E-337A-1111-4A59-4E21C72D99C9}"/>
              </a:ext>
            </a:extLst>
          </p:cNvPr>
          <p:cNvPicPr>
            <a:picLocks noChangeAspect="1"/>
          </p:cNvPicPr>
          <p:nvPr/>
        </p:nvPicPr>
        <p:blipFill>
          <a:blip r:embed="rId6">
            <a:extLst>
              <a:ext uri="{28A0092B-C50C-407E-A947-70E740481C1C}">
                <a14:useLocalDpi xmlns:a14="http://schemas.microsoft.com/office/drawing/2010/main" val="0"/>
              </a:ext>
            </a:extLst>
          </a:blip>
          <a:srcRect l="15953" t="8566" r="4722" b="7385"/>
          <a:stretch>
            <a:fillRect/>
          </a:stretch>
        </p:blipFill>
        <p:spPr>
          <a:xfrm rot="5400000">
            <a:off x="6216450" y="3543869"/>
            <a:ext cx="1909452" cy="1517341"/>
          </a:xfrm>
          <a:prstGeom prst="rect">
            <a:avLst/>
          </a:prstGeom>
        </p:spPr>
      </p:pic>
      <p:sp>
        <p:nvSpPr>
          <p:cNvPr id="18" name="สามเหลี่ยมหน้าจั่ว 17">
            <a:extLst>
              <a:ext uri="{FF2B5EF4-FFF2-40B4-BE49-F238E27FC236}">
                <a16:creationId xmlns:a16="http://schemas.microsoft.com/office/drawing/2014/main" id="{E25126EF-C6CD-292A-1E60-E64C1C2F16C7}"/>
              </a:ext>
            </a:extLst>
          </p:cNvPr>
          <p:cNvSpPr/>
          <p:nvPr/>
        </p:nvSpPr>
        <p:spPr>
          <a:xfrm rot="16200000">
            <a:off x="8084651" y="3047189"/>
            <a:ext cx="1085850" cy="2377094"/>
          </a:xfrm>
          <a:prstGeom prst="triangle">
            <a:avLst>
              <a:gd name="adj" fmla="val 4487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pic>
        <p:nvPicPr>
          <p:cNvPr id="11" name="รูปภาพ 10">
            <a:extLst>
              <a:ext uri="{FF2B5EF4-FFF2-40B4-BE49-F238E27FC236}">
                <a16:creationId xmlns:a16="http://schemas.microsoft.com/office/drawing/2014/main" id="{86D46995-EABE-A2B2-2250-2E3C0D481C5D}"/>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20000"/>
                    </a14:imgEffect>
                  </a14:imgLayer>
                </a14:imgProps>
              </a:ext>
              <a:ext uri="{28A0092B-C50C-407E-A947-70E740481C1C}">
                <a14:useLocalDpi xmlns:a14="http://schemas.microsoft.com/office/drawing/2010/main" val="0"/>
              </a:ext>
            </a:extLst>
          </a:blip>
          <a:srcRect l="22169" t="44894" r="36200" b="22801"/>
          <a:stretch>
            <a:fillRect/>
          </a:stretch>
        </p:blipFill>
        <p:spPr>
          <a:xfrm rot="5400000">
            <a:off x="9650586" y="3551182"/>
            <a:ext cx="1323278" cy="1369107"/>
          </a:xfrm>
          <a:prstGeom prst="rect">
            <a:avLst/>
          </a:prstGeom>
          <a:ln>
            <a:noFill/>
          </a:ln>
        </p:spPr>
      </p:pic>
      <p:sp>
        <p:nvSpPr>
          <p:cNvPr id="22" name="สามเหลี่ยมหน้าจั่ว 21">
            <a:extLst>
              <a:ext uri="{FF2B5EF4-FFF2-40B4-BE49-F238E27FC236}">
                <a16:creationId xmlns:a16="http://schemas.microsoft.com/office/drawing/2014/main" id="{8ADC50EB-A40E-0127-128E-D5498067E5BA}"/>
              </a:ext>
            </a:extLst>
          </p:cNvPr>
          <p:cNvSpPr/>
          <p:nvPr/>
        </p:nvSpPr>
        <p:spPr>
          <a:xfrm rot="16200000">
            <a:off x="4385127" y="3229889"/>
            <a:ext cx="1909453" cy="2145302"/>
          </a:xfrm>
          <a:prstGeom prst="triangle">
            <a:avLst>
              <a:gd name="adj" fmla="val 4687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6" name="กล่องข้อความ 25">
            <a:extLst>
              <a:ext uri="{FF2B5EF4-FFF2-40B4-BE49-F238E27FC236}">
                <a16:creationId xmlns:a16="http://schemas.microsoft.com/office/drawing/2014/main" id="{97E64047-56AC-F557-56F6-70E991AA6006}"/>
              </a:ext>
            </a:extLst>
          </p:cNvPr>
          <p:cNvSpPr txBox="1"/>
          <p:nvPr/>
        </p:nvSpPr>
        <p:spPr>
          <a:xfrm>
            <a:off x="6317797" y="5446925"/>
            <a:ext cx="1720166" cy="307777"/>
          </a:xfrm>
          <a:prstGeom prst="rect">
            <a:avLst/>
          </a:prstGeom>
          <a:noFill/>
        </p:spPr>
        <p:txBody>
          <a:bodyPr wrap="square">
            <a:spAutoFit/>
          </a:bodyPr>
          <a:lstStyle/>
          <a:p>
            <a:pPr algn="ctr"/>
            <a:r>
              <a:rPr lang="en-US" sz="1400" dirty="0">
                <a:solidFill>
                  <a:srgbClr val="002060"/>
                </a:solidFill>
                <a:latin typeface="Helvetica" panose="020B0604020202020204" pitchFamily="34" charset="0"/>
                <a:cs typeface="Helvetica" panose="020B0604020202020204" pitchFamily="34" charset="0"/>
              </a:rPr>
              <a:t>CUH Board</a:t>
            </a:r>
            <a:endParaRPr lang="th-TH" sz="1400" dirty="0"/>
          </a:p>
        </p:txBody>
      </p:sp>
      <p:sp>
        <p:nvSpPr>
          <p:cNvPr id="3" name="กล่องข้อความ 2">
            <a:extLst>
              <a:ext uri="{FF2B5EF4-FFF2-40B4-BE49-F238E27FC236}">
                <a16:creationId xmlns:a16="http://schemas.microsoft.com/office/drawing/2014/main" id="{D12116F6-2F8C-529A-7B39-848CAA5C2107}"/>
              </a:ext>
            </a:extLst>
          </p:cNvPr>
          <p:cNvSpPr txBox="1"/>
          <p:nvPr/>
        </p:nvSpPr>
        <p:spPr>
          <a:xfrm>
            <a:off x="6065922" y="5714230"/>
            <a:ext cx="2210507" cy="307777"/>
          </a:xfrm>
          <a:prstGeom prst="rect">
            <a:avLst/>
          </a:prstGeom>
          <a:noFill/>
        </p:spPr>
        <p:txBody>
          <a:bodyPr wrap="square">
            <a:spAutoFit/>
          </a:bodyPr>
          <a:lstStyle/>
          <a:p>
            <a:pPr algn="ctr"/>
            <a:r>
              <a:rPr lang="en-US" sz="1400" dirty="0">
                <a:solidFill>
                  <a:schemeClr val="accent2">
                    <a:lumMod val="75000"/>
                  </a:schemeClr>
                </a:solidFill>
                <a:latin typeface="Helvetica" panose="020B0604020202020204" pitchFamily="34" charset="0"/>
                <a:cs typeface="Helvetica" panose="020B0604020202020204" pitchFamily="34" charset="0"/>
              </a:rPr>
              <a:t>on top of interface board</a:t>
            </a:r>
            <a:endParaRPr lang="th-TH" sz="1400" dirty="0">
              <a:solidFill>
                <a:schemeClr val="accent2">
                  <a:lumMod val="75000"/>
                </a:schemeClr>
              </a:solidFill>
            </a:endParaRPr>
          </a:p>
        </p:txBody>
      </p:sp>
      <p:sp>
        <p:nvSpPr>
          <p:cNvPr id="15" name="กล่องข้อความ 14">
            <a:extLst>
              <a:ext uri="{FF2B5EF4-FFF2-40B4-BE49-F238E27FC236}">
                <a16:creationId xmlns:a16="http://schemas.microsoft.com/office/drawing/2014/main" id="{AE3339A9-FCDF-F56E-F2FD-E5D1DC6368EF}"/>
              </a:ext>
            </a:extLst>
          </p:cNvPr>
          <p:cNvSpPr txBox="1"/>
          <p:nvPr/>
        </p:nvSpPr>
        <p:spPr>
          <a:xfrm>
            <a:off x="2002536" y="5868118"/>
            <a:ext cx="1720166" cy="307777"/>
          </a:xfrm>
          <a:prstGeom prst="rect">
            <a:avLst/>
          </a:prstGeom>
          <a:noFill/>
        </p:spPr>
        <p:txBody>
          <a:bodyPr wrap="square">
            <a:spAutoFit/>
          </a:bodyPr>
          <a:lstStyle/>
          <a:p>
            <a:pPr algn="ctr"/>
            <a:r>
              <a:rPr lang="en-US" sz="1400" dirty="0">
                <a:solidFill>
                  <a:srgbClr val="002060"/>
                </a:solidFill>
                <a:latin typeface="Helvetica" panose="020B0604020202020204" pitchFamily="34" charset="0"/>
                <a:cs typeface="Helvetica" panose="020B0604020202020204" pitchFamily="34" charset="0"/>
              </a:rPr>
              <a:t>Testing Component</a:t>
            </a:r>
            <a:endParaRPr lang="th-TH" sz="1400" dirty="0"/>
          </a:p>
        </p:txBody>
      </p:sp>
    </p:spTree>
    <p:extLst>
      <p:ext uri="{BB962C8B-B14F-4D97-AF65-F5344CB8AC3E}">
        <p14:creationId xmlns:p14="http://schemas.microsoft.com/office/powerpoint/2010/main" val="1245775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21894-7EE9-D3D0-4B90-9351262D5C92}"/>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0143FAB0-34C0-E39B-F21C-02F4CD82D407}"/>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
        <p:nvSpPr>
          <p:cNvPr id="8" name="กล่องข้อความ 7">
            <a:extLst>
              <a:ext uri="{FF2B5EF4-FFF2-40B4-BE49-F238E27FC236}">
                <a16:creationId xmlns:a16="http://schemas.microsoft.com/office/drawing/2014/main" id="{0D997C37-436E-D629-1634-7948761EAC60}"/>
              </a:ext>
            </a:extLst>
          </p:cNvPr>
          <p:cNvSpPr txBox="1"/>
          <p:nvPr/>
        </p:nvSpPr>
        <p:spPr>
          <a:xfrm>
            <a:off x="991829" y="1182231"/>
            <a:ext cx="10208342" cy="1323439"/>
          </a:xfrm>
          <a:prstGeom prst="rect">
            <a:avLst/>
          </a:prstGeom>
          <a:noFill/>
        </p:spPr>
        <p:txBody>
          <a:bodyPr wrap="square">
            <a:spAutoFit/>
          </a:bodyPr>
          <a:lstStyle/>
          <a:p>
            <a:r>
              <a:rPr lang="en-US" sz="2000" dirty="0">
                <a:solidFill>
                  <a:srgbClr val="002060"/>
                </a:solidFill>
                <a:latin typeface="Helvetica" panose="020B0604020202020204" pitchFamily="34" charset="0"/>
                <a:cs typeface="Helvetica" panose="020B0604020202020204" pitchFamily="34" charset="0"/>
              </a:rPr>
              <a:t>	Even micron-level deviations can cause pin misalignment, leading to mechanical wear and yield drops. Therefore, continuous dimensional inspection (IPM) is essential to proactively prevent process bottlenecks, sustain high production yields, and minimize equipment downtime.</a:t>
            </a:r>
            <a:endParaRPr lang="th-TH" sz="1600" dirty="0">
              <a:solidFill>
                <a:srgbClr val="002060"/>
              </a:solidFill>
              <a:latin typeface="Helvetica" panose="020B0604020202020204" pitchFamily="34" charset="0"/>
            </a:endParaRPr>
          </a:p>
        </p:txBody>
      </p:sp>
      <p:pic>
        <p:nvPicPr>
          <p:cNvPr id="4" name="Picture 2" descr="Analog Devices | Disruptive Technology for Clinical Trials">
            <a:extLst>
              <a:ext uri="{FF2B5EF4-FFF2-40B4-BE49-F238E27FC236}">
                <a16:creationId xmlns:a16="http://schemas.microsoft.com/office/drawing/2014/main" id="{465A71D8-0FF6-EA74-5454-2750205581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5" name="Picture 2" descr="LOGO_ENkku_color – Faculty of Engineering , Khon Kaen University">
            <a:extLst>
              <a:ext uri="{FF2B5EF4-FFF2-40B4-BE49-F238E27FC236}">
                <a16:creationId xmlns:a16="http://schemas.microsoft.com/office/drawing/2014/main" id="{CBF62F09-028A-DAAA-6EB8-7F7C227A68CE}"/>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3" name="สี่เหลี่ยมผืนผ้า: มุมตัดเดียว 2">
            <a:extLst>
              <a:ext uri="{FF2B5EF4-FFF2-40B4-BE49-F238E27FC236}">
                <a16:creationId xmlns:a16="http://schemas.microsoft.com/office/drawing/2014/main" id="{29C24654-3416-1208-96A4-E06B3B43E0F8}"/>
              </a:ext>
            </a:extLst>
          </p:cNvPr>
          <p:cNvSpPr/>
          <p:nvPr/>
        </p:nvSpPr>
        <p:spPr>
          <a:xfrm rot="16200000">
            <a:off x="3380505" y="4219546"/>
            <a:ext cx="487680" cy="755165"/>
          </a:xfrm>
          <a:prstGeom prst="snip1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6" name="สี่เหลี่ยมผืนผ้า: มุมตัดเดียว 5">
            <a:extLst>
              <a:ext uri="{FF2B5EF4-FFF2-40B4-BE49-F238E27FC236}">
                <a16:creationId xmlns:a16="http://schemas.microsoft.com/office/drawing/2014/main" id="{122739F3-907D-05E8-30E9-EF72EEF7BB8C}"/>
              </a:ext>
            </a:extLst>
          </p:cNvPr>
          <p:cNvSpPr/>
          <p:nvPr/>
        </p:nvSpPr>
        <p:spPr>
          <a:xfrm rot="5400000" flipH="1">
            <a:off x="1854302" y="4221529"/>
            <a:ext cx="487680" cy="755165"/>
          </a:xfrm>
          <a:prstGeom prst="snip1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9" name="สี่เหลี่ยมผืนผ้า 8">
            <a:extLst>
              <a:ext uri="{FF2B5EF4-FFF2-40B4-BE49-F238E27FC236}">
                <a16:creationId xmlns:a16="http://schemas.microsoft.com/office/drawing/2014/main" id="{038DDB1A-6931-5241-E98C-C3CFCCC81B74}"/>
              </a:ext>
            </a:extLst>
          </p:cNvPr>
          <p:cNvSpPr/>
          <p:nvPr/>
        </p:nvSpPr>
        <p:spPr>
          <a:xfrm>
            <a:off x="1720559" y="4640458"/>
            <a:ext cx="2281369" cy="56161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0" name="สี่เหลี่ยมผืนผ้า 9">
            <a:extLst>
              <a:ext uri="{FF2B5EF4-FFF2-40B4-BE49-F238E27FC236}">
                <a16:creationId xmlns:a16="http://schemas.microsoft.com/office/drawing/2014/main" id="{447699AD-7723-BAB9-BFF4-9C97D8B00FFE}"/>
              </a:ext>
            </a:extLst>
          </p:cNvPr>
          <p:cNvSpPr/>
          <p:nvPr/>
        </p:nvSpPr>
        <p:spPr>
          <a:xfrm>
            <a:off x="2475725" y="4595381"/>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1" name="สี่เหลี่ยมผืนผ้า 10">
            <a:extLst>
              <a:ext uri="{FF2B5EF4-FFF2-40B4-BE49-F238E27FC236}">
                <a16:creationId xmlns:a16="http://schemas.microsoft.com/office/drawing/2014/main" id="{4D9EFD9F-4553-4DB4-E14D-865C37D476D3}"/>
              </a:ext>
            </a:extLst>
          </p:cNvPr>
          <p:cNvSpPr/>
          <p:nvPr/>
        </p:nvSpPr>
        <p:spPr>
          <a:xfrm>
            <a:off x="2557640" y="4595381"/>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3" name="สี่เหลี่ยมผืนผ้า 12">
            <a:extLst>
              <a:ext uri="{FF2B5EF4-FFF2-40B4-BE49-F238E27FC236}">
                <a16:creationId xmlns:a16="http://schemas.microsoft.com/office/drawing/2014/main" id="{A8FC8201-7441-C65C-51DD-FBA4B9B962AE}"/>
              </a:ext>
            </a:extLst>
          </p:cNvPr>
          <p:cNvSpPr/>
          <p:nvPr/>
        </p:nvSpPr>
        <p:spPr>
          <a:xfrm>
            <a:off x="2639555" y="4595380"/>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4" name="สี่เหลี่ยมผืนผ้า 13">
            <a:extLst>
              <a:ext uri="{FF2B5EF4-FFF2-40B4-BE49-F238E27FC236}">
                <a16:creationId xmlns:a16="http://schemas.microsoft.com/office/drawing/2014/main" id="{5097497D-7F19-C369-6D68-CA86C5A48589}"/>
              </a:ext>
            </a:extLst>
          </p:cNvPr>
          <p:cNvSpPr/>
          <p:nvPr/>
        </p:nvSpPr>
        <p:spPr>
          <a:xfrm>
            <a:off x="2721470" y="4595380"/>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5" name="สี่เหลี่ยมผืนผ้า 14">
            <a:extLst>
              <a:ext uri="{FF2B5EF4-FFF2-40B4-BE49-F238E27FC236}">
                <a16:creationId xmlns:a16="http://schemas.microsoft.com/office/drawing/2014/main" id="{F1658EF8-39D0-482C-B40B-EF9F0F8891BE}"/>
              </a:ext>
            </a:extLst>
          </p:cNvPr>
          <p:cNvSpPr/>
          <p:nvPr/>
        </p:nvSpPr>
        <p:spPr>
          <a:xfrm>
            <a:off x="2803385" y="4595380"/>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6" name="สี่เหลี่ยมผืนผ้า 15">
            <a:extLst>
              <a:ext uri="{FF2B5EF4-FFF2-40B4-BE49-F238E27FC236}">
                <a16:creationId xmlns:a16="http://schemas.microsoft.com/office/drawing/2014/main" id="{E7FEEF07-75EC-2F99-01D7-9ABEB87B9150}"/>
              </a:ext>
            </a:extLst>
          </p:cNvPr>
          <p:cNvSpPr/>
          <p:nvPr/>
        </p:nvSpPr>
        <p:spPr>
          <a:xfrm>
            <a:off x="2885300" y="4595379"/>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7" name="สี่เหลี่ยมผืนผ้า 16">
            <a:extLst>
              <a:ext uri="{FF2B5EF4-FFF2-40B4-BE49-F238E27FC236}">
                <a16:creationId xmlns:a16="http://schemas.microsoft.com/office/drawing/2014/main" id="{1EB1414E-D3D5-DBB8-A5C9-A26E1D82F3E8}"/>
              </a:ext>
            </a:extLst>
          </p:cNvPr>
          <p:cNvSpPr/>
          <p:nvPr/>
        </p:nvSpPr>
        <p:spPr>
          <a:xfrm>
            <a:off x="2967215" y="4594106"/>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8" name="สี่เหลี่ยมผืนผ้า 17">
            <a:extLst>
              <a:ext uri="{FF2B5EF4-FFF2-40B4-BE49-F238E27FC236}">
                <a16:creationId xmlns:a16="http://schemas.microsoft.com/office/drawing/2014/main" id="{6924E593-6436-A5AC-CBF3-7F3B65394FA1}"/>
              </a:ext>
            </a:extLst>
          </p:cNvPr>
          <p:cNvSpPr/>
          <p:nvPr/>
        </p:nvSpPr>
        <p:spPr>
          <a:xfrm>
            <a:off x="3049130" y="4594106"/>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9" name="สี่เหลี่ยมผืนผ้า 18">
            <a:extLst>
              <a:ext uri="{FF2B5EF4-FFF2-40B4-BE49-F238E27FC236}">
                <a16:creationId xmlns:a16="http://schemas.microsoft.com/office/drawing/2014/main" id="{BFFFA984-74C3-263F-AA9D-5175A7017449}"/>
              </a:ext>
            </a:extLst>
          </p:cNvPr>
          <p:cNvSpPr/>
          <p:nvPr/>
        </p:nvSpPr>
        <p:spPr>
          <a:xfrm>
            <a:off x="3131045" y="4594105"/>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0" name="สี่เหลี่ยมผืนผ้า 19">
            <a:extLst>
              <a:ext uri="{FF2B5EF4-FFF2-40B4-BE49-F238E27FC236}">
                <a16:creationId xmlns:a16="http://schemas.microsoft.com/office/drawing/2014/main" id="{D433232B-88E8-CD41-15E1-6C41DCA3226C}"/>
              </a:ext>
            </a:extLst>
          </p:cNvPr>
          <p:cNvSpPr/>
          <p:nvPr/>
        </p:nvSpPr>
        <p:spPr>
          <a:xfrm>
            <a:off x="3200726" y="4595378"/>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1" name="สี่เหลี่ยมผืนผ้า: มุมตัดเดียว 20">
            <a:extLst>
              <a:ext uri="{FF2B5EF4-FFF2-40B4-BE49-F238E27FC236}">
                <a16:creationId xmlns:a16="http://schemas.microsoft.com/office/drawing/2014/main" id="{49E4DF61-69B1-4FAD-466D-743F960E3237}"/>
              </a:ext>
            </a:extLst>
          </p:cNvPr>
          <p:cNvSpPr/>
          <p:nvPr/>
        </p:nvSpPr>
        <p:spPr>
          <a:xfrm rot="16200000">
            <a:off x="6556869" y="4209032"/>
            <a:ext cx="487680" cy="774925"/>
          </a:xfrm>
          <a:prstGeom prst="snip1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2" name="สี่เหลี่ยมผืนผ้า: มุมตัดเดียว 21">
            <a:extLst>
              <a:ext uri="{FF2B5EF4-FFF2-40B4-BE49-F238E27FC236}">
                <a16:creationId xmlns:a16="http://schemas.microsoft.com/office/drawing/2014/main" id="{ACC7AF24-EC6F-3D0E-6879-CADF467E3ECB}"/>
              </a:ext>
            </a:extLst>
          </p:cNvPr>
          <p:cNvSpPr/>
          <p:nvPr/>
        </p:nvSpPr>
        <p:spPr>
          <a:xfrm rot="5400000" flipH="1">
            <a:off x="5039025" y="4214716"/>
            <a:ext cx="487680" cy="763558"/>
          </a:xfrm>
          <a:prstGeom prst="snip1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3" name="สี่เหลี่ยมผืนผ้า 22">
            <a:extLst>
              <a:ext uri="{FF2B5EF4-FFF2-40B4-BE49-F238E27FC236}">
                <a16:creationId xmlns:a16="http://schemas.microsoft.com/office/drawing/2014/main" id="{BA334855-0E95-CA8F-A8D5-70FFD5244D22}"/>
              </a:ext>
            </a:extLst>
          </p:cNvPr>
          <p:cNvSpPr/>
          <p:nvPr/>
        </p:nvSpPr>
        <p:spPr>
          <a:xfrm>
            <a:off x="4901086" y="4650690"/>
            <a:ext cx="2287083" cy="56161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4" name="สี่เหลี่ยมผืนผ้า 23">
            <a:extLst>
              <a:ext uri="{FF2B5EF4-FFF2-40B4-BE49-F238E27FC236}">
                <a16:creationId xmlns:a16="http://schemas.microsoft.com/office/drawing/2014/main" id="{C90E5018-DC0E-BEDC-00EE-E0AD21EB26A6}"/>
              </a:ext>
            </a:extLst>
          </p:cNvPr>
          <p:cNvSpPr/>
          <p:nvPr/>
        </p:nvSpPr>
        <p:spPr>
          <a:xfrm>
            <a:off x="5656252" y="4603708"/>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5" name="สี่เหลี่ยมผืนผ้า 24">
            <a:extLst>
              <a:ext uri="{FF2B5EF4-FFF2-40B4-BE49-F238E27FC236}">
                <a16:creationId xmlns:a16="http://schemas.microsoft.com/office/drawing/2014/main" id="{FE04BB66-567F-847F-5442-A7E110D5E7C3}"/>
              </a:ext>
            </a:extLst>
          </p:cNvPr>
          <p:cNvSpPr/>
          <p:nvPr/>
        </p:nvSpPr>
        <p:spPr>
          <a:xfrm>
            <a:off x="5738167" y="4603708"/>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6" name="สี่เหลี่ยมผืนผ้า 25">
            <a:extLst>
              <a:ext uri="{FF2B5EF4-FFF2-40B4-BE49-F238E27FC236}">
                <a16:creationId xmlns:a16="http://schemas.microsoft.com/office/drawing/2014/main" id="{343D15C8-51F1-9824-2815-DED02B8A873D}"/>
              </a:ext>
            </a:extLst>
          </p:cNvPr>
          <p:cNvSpPr/>
          <p:nvPr/>
        </p:nvSpPr>
        <p:spPr>
          <a:xfrm>
            <a:off x="5820082" y="4603707"/>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7" name="สี่เหลี่ยมผืนผ้า 26">
            <a:extLst>
              <a:ext uri="{FF2B5EF4-FFF2-40B4-BE49-F238E27FC236}">
                <a16:creationId xmlns:a16="http://schemas.microsoft.com/office/drawing/2014/main" id="{ED48D758-18B0-C0C2-729F-CD17A2618AB9}"/>
              </a:ext>
            </a:extLst>
          </p:cNvPr>
          <p:cNvSpPr/>
          <p:nvPr/>
        </p:nvSpPr>
        <p:spPr>
          <a:xfrm>
            <a:off x="5901997" y="4603707"/>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8" name="สี่เหลี่ยมผืนผ้า 27">
            <a:extLst>
              <a:ext uri="{FF2B5EF4-FFF2-40B4-BE49-F238E27FC236}">
                <a16:creationId xmlns:a16="http://schemas.microsoft.com/office/drawing/2014/main" id="{F17CB2E1-F43B-5112-9757-F89E996595AB}"/>
              </a:ext>
            </a:extLst>
          </p:cNvPr>
          <p:cNvSpPr/>
          <p:nvPr/>
        </p:nvSpPr>
        <p:spPr>
          <a:xfrm>
            <a:off x="5983912" y="4603707"/>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9" name="สี่เหลี่ยมผืนผ้า 28">
            <a:extLst>
              <a:ext uri="{FF2B5EF4-FFF2-40B4-BE49-F238E27FC236}">
                <a16:creationId xmlns:a16="http://schemas.microsoft.com/office/drawing/2014/main" id="{4A343451-59AB-3644-D2CD-872E104A4928}"/>
              </a:ext>
            </a:extLst>
          </p:cNvPr>
          <p:cNvSpPr/>
          <p:nvPr/>
        </p:nvSpPr>
        <p:spPr>
          <a:xfrm>
            <a:off x="6065827" y="4603706"/>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0" name="สี่เหลี่ยมผืนผ้า 29">
            <a:extLst>
              <a:ext uri="{FF2B5EF4-FFF2-40B4-BE49-F238E27FC236}">
                <a16:creationId xmlns:a16="http://schemas.microsoft.com/office/drawing/2014/main" id="{AB5F9B99-8A7A-5F8E-C69C-0A587D604B63}"/>
              </a:ext>
            </a:extLst>
          </p:cNvPr>
          <p:cNvSpPr/>
          <p:nvPr/>
        </p:nvSpPr>
        <p:spPr>
          <a:xfrm>
            <a:off x="6147742" y="4604338"/>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1" name="สี่เหลี่ยมผืนผ้า 30">
            <a:extLst>
              <a:ext uri="{FF2B5EF4-FFF2-40B4-BE49-F238E27FC236}">
                <a16:creationId xmlns:a16="http://schemas.microsoft.com/office/drawing/2014/main" id="{6C06CFEA-DE77-BDC6-0348-EED4E1E930C7}"/>
              </a:ext>
            </a:extLst>
          </p:cNvPr>
          <p:cNvSpPr/>
          <p:nvPr/>
        </p:nvSpPr>
        <p:spPr>
          <a:xfrm>
            <a:off x="6229657" y="4604338"/>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2" name="สี่เหลี่ยมผืนผ้า 31">
            <a:extLst>
              <a:ext uri="{FF2B5EF4-FFF2-40B4-BE49-F238E27FC236}">
                <a16:creationId xmlns:a16="http://schemas.microsoft.com/office/drawing/2014/main" id="{AE7164C7-4497-81EC-B0E2-5A8F7FD212C4}"/>
              </a:ext>
            </a:extLst>
          </p:cNvPr>
          <p:cNvSpPr/>
          <p:nvPr/>
        </p:nvSpPr>
        <p:spPr>
          <a:xfrm>
            <a:off x="6311572" y="4604337"/>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3" name="สี่เหลี่ยมผืนผ้า 32">
            <a:extLst>
              <a:ext uri="{FF2B5EF4-FFF2-40B4-BE49-F238E27FC236}">
                <a16:creationId xmlns:a16="http://schemas.microsoft.com/office/drawing/2014/main" id="{4B4755E1-BD52-9A84-7096-FADF68E5EF87}"/>
              </a:ext>
            </a:extLst>
          </p:cNvPr>
          <p:cNvSpPr/>
          <p:nvPr/>
        </p:nvSpPr>
        <p:spPr>
          <a:xfrm>
            <a:off x="6381253" y="4603705"/>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4" name="สี่เหลี่ยมผืนผ้า: มุมตัดเดียว 33">
            <a:extLst>
              <a:ext uri="{FF2B5EF4-FFF2-40B4-BE49-F238E27FC236}">
                <a16:creationId xmlns:a16="http://schemas.microsoft.com/office/drawing/2014/main" id="{8C194A4B-F325-9508-CEBB-5CD5C0C42D67}"/>
              </a:ext>
            </a:extLst>
          </p:cNvPr>
          <p:cNvSpPr/>
          <p:nvPr/>
        </p:nvSpPr>
        <p:spPr>
          <a:xfrm rot="16200000">
            <a:off x="9868205" y="4243008"/>
            <a:ext cx="487680" cy="706738"/>
          </a:xfrm>
          <a:prstGeom prst="snip1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5" name="สี่เหลี่ยมผืนผ้า: มุมตัดเดียว 34">
            <a:extLst>
              <a:ext uri="{FF2B5EF4-FFF2-40B4-BE49-F238E27FC236}">
                <a16:creationId xmlns:a16="http://schemas.microsoft.com/office/drawing/2014/main" id="{123647E3-E145-5E0E-F017-6902ABE28B89}"/>
              </a:ext>
            </a:extLst>
          </p:cNvPr>
          <p:cNvSpPr/>
          <p:nvPr/>
        </p:nvSpPr>
        <p:spPr>
          <a:xfrm rot="5400000" flipH="1">
            <a:off x="8293885" y="4232999"/>
            <a:ext cx="487680" cy="706736"/>
          </a:xfrm>
          <a:prstGeom prst="snip1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6" name="สี่เหลี่ยมผืนผ้า 35">
            <a:extLst>
              <a:ext uri="{FF2B5EF4-FFF2-40B4-BE49-F238E27FC236}">
                <a16:creationId xmlns:a16="http://schemas.microsoft.com/office/drawing/2014/main" id="{3EC4E1AF-E769-A972-B817-A7B314B4D230}"/>
              </a:ext>
            </a:extLst>
          </p:cNvPr>
          <p:cNvSpPr/>
          <p:nvPr/>
        </p:nvSpPr>
        <p:spPr>
          <a:xfrm>
            <a:off x="8184358" y="4654998"/>
            <a:ext cx="2287083" cy="56161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7" name="สี่เหลี่ยมผืนผ้า 36">
            <a:extLst>
              <a:ext uri="{FF2B5EF4-FFF2-40B4-BE49-F238E27FC236}">
                <a16:creationId xmlns:a16="http://schemas.microsoft.com/office/drawing/2014/main" id="{050090DC-DE1A-5962-7532-B256CF20910B}"/>
              </a:ext>
            </a:extLst>
          </p:cNvPr>
          <p:cNvSpPr/>
          <p:nvPr/>
        </p:nvSpPr>
        <p:spPr>
          <a:xfrm>
            <a:off x="8939524" y="4608016"/>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8" name="สี่เหลี่ยมผืนผ้า 37">
            <a:extLst>
              <a:ext uri="{FF2B5EF4-FFF2-40B4-BE49-F238E27FC236}">
                <a16:creationId xmlns:a16="http://schemas.microsoft.com/office/drawing/2014/main" id="{EFD684D1-8DEC-C82D-2486-497EE91051C1}"/>
              </a:ext>
            </a:extLst>
          </p:cNvPr>
          <p:cNvSpPr/>
          <p:nvPr/>
        </p:nvSpPr>
        <p:spPr>
          <a:xfrm>
            <a:off x="9021439" y="4608016"/>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9" name="สี่เหลี่ยมผืนผ้า 38">
            <a:extLst>
              <a:ext uri="{FF2B5EF4-FFF2-40B4-BE49-F238E27FC236}">
                <a16:creationId xmlns:a16="http://schemas.microsoft.com/office/drawing/2014/main" id="{38FA1248-A05F-A4D3-ACD3-E7851F570199}"/>
              </a:ext>
            </a:extLst>
          </p:cNvPr>
          <p:cNvSpPr/>
          <p:nvPr/>
        </p:nvSpPr>
        <p:spPr>
          <a:xfrm>
            <a:off x="9103354" y="4608015"/>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40" name="สี่เหลี่ยมผืนผ้า 39">
            <a:extLst>
              <a:ext uri="{FF2B5EF4-FFF2-40B4-BE49-F238E27FC236}">
                <a16:creationId xmlns:a16="http://schemas.microsoft.com/office/drawing/2014/main" id="{6CE6343B-7096-EB94-A8E4-95E8E78D7415}"/>
              </a:ext>
            </a:extLst>
          </p:cNvPr>
          <p:cNvSpPr/>
          <p:nvPr/>
        </p:nvSpPr>
        <p:spPr>
          <a:xfrm>
            <a:off x="9185269" y="4608015"/>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41" name="สี่เหลี่ยมผืนผ้า 40">
            <a:extLst>
              <a:ext uri="{FF2B5EF4-FFF2-40B4-BE49-F238E27FC236}">
                <a16:creationId xmlns:a16="http://schemas.microsoft.com/office/drawing/2014/main" id="{F4DE9ACA-9ADF-8959-B7E7-0258DD0A5B3A}"/>
              </a:ext>
            </a:extLst>
          </p:cNvPr>
          <p:cNvSpPr/>
          <p:nvPr/>
        </p:nvSpPr>
        <p:spPr>
          <a:xfrm>
            <a:off x="9267184" y="4608015"/>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42" name="สี่เหลี่ยมผืนผ้า 41">
            <a:extLst>
              <a:ext uri="{FF2B5EF4-FFF2-40B4-BE49-F238E27FC236}">
                <a16:creationId xmlns:a16="http://schemas.microsoft.com/office/drawing/2014/main" id="{34836DC3-CFD9-B9EA-6A0C-DBA53D038D7E}"/>
              </a:ext>
            </a:extLst>
          </p:cNvPr>
          <p:cNvSpPr/>
          <p:nvPr/>
        </p:nvSpPr>
        <p:spPr>
          <a:xfrm>
            <a:off x="9349099" y="4608014"/>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43" name="สี่เหลี่ยมผืนผ้า 42">
            <a:extLst>
              <a:ext uri="{FF2B5EF4-FFF2-40B4-BE49-F238E27FC236}">
                <a16:creationId xmlns:a16="http://schemas.microsoft.com/office/drawing/2014/main" id="{A64CD4FB-A6B5-8539-40A8-9ECBE8C07B20}"/>
              </a:ext>
            </a:extLst>
          </p:cNvPr>
          <p:cNvSpPr/>
          <p:nvPr/>
        </p:nvSpPr>
        <p:spPr>
          <a:xfrm>
            <a:off x="9431014" y="4608646"/>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44" name="สี่เหลี่ยมผืนผ้า 43">
            <a:extLst>
              <a:ext uri="{FF2B5EF4-FFF2-40B4-BE49-F238E27FC236}">
                <a16:creationId xmlns:a16="http://schemas.microsoft.com/office/drawing/2014/main" id="{F8E6CA41-F2AA-6D8A-2562-E3227CDFE622}"/>
              </a:ext>
            </a:extLst>
          </p:cNvPr>
          <p:cNvSpPr/>
          <p:nvPr/>
        </p:nvSpPr>
        <p:spPr>
          <a:xfrm>
            <a:off x="9512929" y="4608646"/>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45" name="สี่เหลี่ยมผืนผ้า 44">
            <a:extLst>
              <a:ext uri="{FF2B5EF4-FFF2-40B4-BE49-F238E27FC236}">
                <a16:creationId xmlns:a16="http://schemas.microsoft.com/office/drawing/2014/main" id="{807B718D-A8B3-5FA2-277F-468169667EC1}"/>
              </a:ext>
            </a:extLst>
          </p:cNvPr>
          <p:cNvSpPr/>
          <p:nvPr/>
        </p:nvSpPr>
        <p:spPr>
          <a:xfrm>
            <a:off x="9594844" y="4608645"/>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46" name="สี่เหลี่ยมผืนผ้า 45">
            <a:extLst>
              <a:ext uri="{FF2B5EF4-FFF2-40B4-BE49-F238E27FC236}">
                <a16:creationId xmlns:a16="http://schemas.microsoft.com/office/drawing/2014/main" id="{96DA1AFB-3BF2-DC55-CD80-065E81C2842B}"/>
              </a:ext>
            </a:extLst>
          </p:cNvPr>
          <p:cNvSpPr/>
          <p:nvPr/>
        </p:nvSpPr>
        <p:spPr>
          <a:xfrm>
            <a:off x="9664525" y="4608013"/>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grpSp>
        <p:nvGrpSpPr>
          <p:cNvPr id="109" name="กลุ่ม 108">
            <a:extLst>
              <a:ext uri="{FF2B5EF4-FFF2-40B4-BE49-F238E27FC236}">
                <a16:creationId xmlns:a16="http://schemas.microsoft.com/office/drawing/2014/main" id="{5D9203E1-75AD-8FD0-D9EB-DB4C0A932755}"/>
              </a:ext>
            </a:extLst>
          </p:cNvPr>
          <p:cNvGrpSpPr/>
          <p:nvPr/>
        </p:nvGrpSpPr>
        <p:grpSpPr>
          <a:xfrm>
            <a:off x="2475725" y="4290503"/>
            <a:ext cx="770721" cy="304800"/>
            <a:chOff x="2475725" y="4290503"/>
            <a:chExt cx="770721" cy="304800"/>
          </a:xfrm>
        </p:grpSpPr>
        <p:sp>
          <p:nvSpPr>
            <p:cNvPr id="2" name="สี่เหลี่ยมผืนผ้า 1">
              <a:extLst>
                <a:ext uri="{FF2B5EF4-FFF2-40B4-BE49-F238E27FC236}">
                  <a16:creationId xmlns:a16="http://schemas.microsoft.com/office/drawing/2014/main" id="{B4B190F5-D161-AB49-FF02-99F55E4DE500}"/>
                </a:ext>
              </a:extLst>
            </p:cNvPr>
            <p:cNvSpPr/>
            <p:nvPr/>
          </p:nvSpPr>
          <p:spPr>
            <a:xfrm>
              <a:off x="2475726" y="4290503"/>
              <a:ext cx="770720" cy="30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47" name="สี่เหลี่ยมผืนผ้า 46">
              <a:extLst>
                <a:ext uri="{FF2B5EF4-FFF2-40B4-BE49-F238E27FC236}">
                  <a16:creationId xmlns:a16="http://schemas.microsoft.com/office/drawing/2014/main" id="{C8D09996-F074-BB3C-9AD5-82D19C45B6CA}"/>
                </a:ext>
              </a:extLst>
            </p:cNvPr>
            <p:cNvSpPr/>
            <p:nvPr/>
          </p:nvSpPr>
          <p:spPr>
            <a:xfrm>
              <a:off x="2475725" y="4548388"/>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48" name="สี่เหลี่ยมผืนผ้า 47">
              <a:extLst>
                <a:ext uri="{FF2B5EF4-FFF2-40B4-BE49-F238E27FC236}">
                  <a16:creationId xmlns:a16="http://schemas.microsoft.com/office/drawing/2014/main" id="{C842CF3F-DEF7-ABEF-2A08-2CFFEBA24E72}"/>
                </a:ext>
              </a:extLst>
            </p:cNvPr>
            <p:cNvSpPr/>
            <p:nvPr/>
          </p:nvSpPr>
          <p:spPr>
            <a:xfrm>
              <a:off x="2557640" y="4548388"/>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49" name="สี่เหลี่ยมผืนผ้า 48">
              <a:extLst>
                <a:ext uri="{FF2B5EF4-FFF2-40B4-BE49-F238E27FC236}">
                  <a16:creationId xmlns:a16="http://schemas.microsoft.com/office/drawing/2014/main" id="{C3185AA0-F0AA-B8CE-E7A6-9AA1B473A673}"/>
                </a:ext>
              </a:extLst>
            </p:cNvPr>
            <p:cNvSpPr/>
            <p:nvPr/>
          </p:nvSpPr>
          <p:spPr>
            <a:xfrm>
              <a:off x="2639555" y="4548387"/>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50" name="สี่เหลี่ยมผืนผ้า 49">
              <a:extLst>
                <a:ext uri="{FF2B5EF4-FFF2-40B4-BE49-F238E27FC236}">
                  <a16:creationId xmlns:a16="http://schemas.microsoft.com/office/drawing/2014/main" id="{C1A7922A-B178-40A1-EB8B-2FE5A535BEDE}"/>
                </a:ext>
              </a:extLst>
            </p:cNvPr>
            <p:cNvSpPr/>
            <p:nvPr/>
          </p:nvSpPr>
          <p:spPr>
            <a:xfrm>
              <a:off x="2721470" y="4548387"/>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51" name="สี่เหลี่ยมผืนผ้า 50">
              <a:extLst>
                <a:ext uri="{FF2B5EF4-FFF2-40B4-BE49-F238E27FC236}">
                  <a16:creationId xmlns:a16="http://schemas.microsoft.com/office/drawing/2014/main" id="{02AF2EA5-6898-0714-4EC5-EC38AF78155A}"/>
                </a:ext>
              </a:extLst>
            </p:cNvPr>
            <p:cNvSpPr/>
            <p:nvPr/>
          </p:nvSpPr>
          <p:spPr>
            <a:xfrm>
              <a:off x="2803385" y="4548387"/>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52" name="สี่เหลี่ยมผืนผ้า 51">
              <a:extLst>
                <a:ext uri="{FF2B5EF4-FFF2-40B4-BE49-F238E27FC236}">
                  <a16:creationId xmlns:a16="http://schemas.microsoft.com/office/drawing/2014/main" id="{A3B11251-1BFB-5734-5E44-40859E38C870}"/>
                </a:ext>
              </a:extLst>
            </p:cNvPr>
            <p:cNvSpPr/>
            <p:nvPr/>
          </p:nvSpPr>
          <p:spPr>
            <a:xfrm>
              <a:off x="2885300" y="4548386"/>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53" name="สี่เหลี่ยมผืนผ้า 52">
              <a:extLst>
                <a:ext uri="{FF2B5EF4-FFF2-40B4-BE49-F238E27FC236}">
                  <a16:creationId xmlns:a16="http://schemas.microsoft.com/office/drawing/2014/main" id="{3AF6BB43-049C-8D64-AC97-79092824E96F}"/>
                </a:ext>
              </a:extLst>
            </p:cNvPr>
            <p:cNvSpPr/>
            <p:nvPr/>
          </p:nvSpPr>
          <p:spPr>
            <a:xfrm>
              <a:off x="2967215" y="4549018"/>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54" name="สี่เหลี่ยมผืนผ้า 53">
              <a:extLst>
                <a:ext uri="{FF2B5EF4-FFF2-40B4-BE49-F238E27FC236}">
                  <a16:creationId xmlns:a16="http://schemas.microsoft.com/office/drawing/2014/main" id="{6257BF74-9697-D19D-7673-7C3220BBEE7D}"/>
                </a:ext>
              </a:extLst>
            </p:cNvPr>
            <p:cNvSpPr/>
            <p:nvPr/>
          </p:nvSpPr>
          <p:spPr>
            <a:xfrm>
              <a:off x="3049130" y="4549018"/>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55" name="สี่เหลี่ยมผืนผ้า 54">
              <a:extLst>
                <a:ext uri="{FF2B5EF4-FFF2-40B4-BE49-F238E27FC236}">
                  <a16:creationId xmlns:a16="http://schemas.microsoft.com/office/drawing/2014/main" id="{AC76288B-CF67-14FD-B13D-C27C95B0348D}"/>
                </a:ext>
              </a:extLst>
            </p:cNvPr>
            <p:cNvSpPr/>
            <p:nvPr/>
          </p:nvSpPr>
          <p:spPr>
            <a:xfrm>
              <a:off x="3131045" y="4549017"/>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56" name="สี่เหลี่ยมผืนผ้า 55">
              <a:extLst>
                <a:ext uri="{FF2B5EF4-FFF2-40B4-BE49-F238E27FC236}">
                  <a16:creationId xmlns:a16="http://schemas.microsoft.com/office/drawing/2014/main" id="{8B6EDB73-18D1-0329-57BE-C98F5AA0E457}"/>
                </a:ext>
              </a:extLst>
            </p:cNvPr>
            <p:cNvSpPr/>
            <p:nvPr/>
          </p:nvSpPr>
          <p:spPr>
            <a:xfrm>
              <a:off x="3200726" y="4548385"/>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grpSp>
      <p:sp>
        <p:nvSpPr>
          <p:cNvPr id="81" name="กล่องข้อความ 80">
            <a:extLst>
              <a:ext uri="{FF2B5EF4-FFF2-40B4-BE49-F238E27FC236}">
                <a16:creationId xmlns:a16="http://schemas.microsoft.com/office/drawing/2014/main" id="{8CBA6699-D67A-1BD2-FD98-3AA5CBC33D5C}"/>
              </a:ext>
            </a:extLst>
          </p:cNvPr>
          <p:cNvSpPr txBox="1"/>
          <p:nvPr/>
        </p:nvSpPr>
        <p:spPr>
          <a:xfrm>
            <a:off x="3393350" y="3402939"/>
            <a:ext cx="1228583" cy="307777"/>
          </a:xfrm>
          <a:prstGeom prst="rect">
            <a:avLst/>
          </a:prstGeom>
          <a:noFill/>
        </p:spPr>
        <p:txBody>
          <a:bodyPr wrap="square">
            <a:spAutoFit/>
          </a:bodyPr>
          <a:lstStyle/>
          <a:p>
            <a:pPr algn="ctr"/>
            <a:r>
              <a:rPr lang="en-US" sz="1400" dirty="0">
                <a:solidFill>
                  <a:srgbClr val="002060"/>
                </a:solidFill>
                <a:latin typeface="Helvetica" panose="020B0604020202020204" pitchFamily="34" charset="0"/>
                <a:cs typeface="Helvetica" panose="020B0604020202020204" pitchFamily="34" charset="0"/>
              </a:rPr>
              <a:t>IC</a:t>
            </a:r>
            <a:endParaRPr lang="th-TH" sz="1400" dirty="0"/>
          </a:p>
        </p:txBody>
      </p:sp>
      <p:sp>
        <p:nvSpPr>
          <p:cNvPr id="82" name="กล่องข้อความ 81">
            <a:extLst>
              <a:ext uri="{FF2B5EF4-FFF2-40B4-BE49-F238E27FC236}">
                <a16:creationId xmlns:a16="http://schemas.microsoft.com/office/drawing/2014/main" id="{33939428-DDB5-D0C9-2B7A-88E525E53564}"/>
              </a:ext>
            </a:extLst>
          </p:cNvPr>
          <p:cNvSpPr txBox="1"/>
          <p:nvPr/>
        </p:nvSpPr>
        <p:spPr>
          <a:xfrm>
            <a:off x="869559" y="3362433"/>
            <a:ext cx="1228583" cy="307777"/>
          </a:xfrm>
          <a:prstGeom prst="rect">
            <a:avLst/>
          </a:prstGeom>
          <a:noFill/>
        </p:spPr>
        <p:txBody>
          <a:bodyPr wrap="square">
            <a:spAutoFit/>
          </a:bodyPr>
          <a:lstStyle/>
          <a:p>
            <a:pPr algn="ctr"/>
            <a:r>
              <a:rPr lang="en-US" sz="1400" dirty="0">
                <a:solidFill>
                  <a:srgbClr val="002060"/>
                </a:solidFill>
                <a:latin typeface="Helvetica" panose="020B0604020202020204" pitchFamily="34" charset="0"/>
                <a:cs typeface="Helvetica" panose="020B0604020202020204" pitchFamily="34" charset="0"/>
              </a:rPr>
              <a:t>ALPL</a:t>
            </a:r>
            <a:endParaRPr lang="th-TH" sz="1400" dirty="0"/>
          </a:p>
        </p:txBody>
      </p:sp>
      <p:cxnSp>
        <p:nvCxnSpPr>
          <p:cNvPr id="83" name="ลูกศรเชื่อมต่อแบบตรง 82">
            <a:extLst>
              <a:ext uri="{FF2B5EF4-FFF2-40B4-BE49-F238E27FC236}">
                <a16:creationId xmlns:a16="http://schemas.microsoft.com/office/drawing/2014/main" id="{92287165-82DE-618E-1550-D71ADE76E0C4}"/>
              </a:ext>
            </a:extLst>
          </p:cNvPr>
          <p:cNvCxnSpPr>
            <a:cxnSpLocks/>
            <a:stCxn id="82" idx="2"/>
            <a:endCxn id="6" idx="0"/>
          </p:cNvCxnSpPr>
          <p:nvPr/>
        </p:nvCxnSpPr>
        <p:spPr>
          <a:xfrm>
            <a:off x="1483851" y="3670210"/>
            <a:ext cx="614291" cy="685062"/>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84" name="ลูกศรเชื่อมต่อแบบตรง 83">
            <a:extLst>
              <a:ext uri="{FF2B5EF4-FFF2-40B4-BE49-F238E27FC236}">
                <a16:creationId xmlns:a16="http://schemas.microsoft.com/office/drawing/2014/main" id="{684E9D5E-09FA-46D4-5105-6ED7E23D96A6}"/>
              </a:ext>
            </a:extLst>
          </p:cNvPr>
          <p:cNvCxnSpPr>
            <a:cxnSpLocks/>
          </p:cNvCxnSpPr>
          <p:nvPr/>
        </p:nvCxnSpPr>
        <p:spPr>
          <a:xfrm flipH="1">
            <a:off x="3200726" y="3735021"/>
            <a:ext cx="611758" cy="555482"/>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sp>
        <p:nvSpPr>
          <p:cNvPr id="85" name="กล่องข้อความ 84">
            <a:extLst>
              <a:ext uri="{FF2B5EF4-FFF2-40B4-BE49-F238E27FC236}">
                <a16:creationId xmlns:a16="http://schemas.microsoft.com/office/drawing/2014/main" id="{4399B953-7D74-C188-4AF0-FD02BC93A109}"/>
              </a:ext>
            </a:extLst>
          </p:cNvPr>
          <p:cNvSpPr txBox="1"/>
          <p:nvPr/>
        </p:nvSpPr>
        <p:spPr>
          <a:xfrm>
            <a:off x="427470" y="5212307"/>
            <a:ext cx="1228583" cy="523220"/>
          </a:xfrm>
          <a:prstGeom prst="rect">
            <a:avLst/>
          </a:prstGeom>
          <a:noFill/>
        </p:spPr>
        <p:txBody>
          <a:bodyPr wrap="square">
            <a:spAutoFit/>
          </a:bodyPr>
          <a:lstStyle/>
          <a:p>
            <a:pPr algn="ctr"/>
            <a:r>
              <a:rPr lang="en-US" sz="1400" dirty="0">
                <a:solidFill>
                  <a:srgbClr val="002060"/>
                </a:solidFill>
                <a:latin typeface="Helvetica" panose="020B0604020202020204" pitchFamily="34" charset="0"/>
                <a:cs typeface="Helvetica" panose="020B0604020202020204" pitchFamily="34" charset="0"/>
              </a:rPr>
              <a:t>Contact</a:t>
            </a:r>
          </a:p>
          <a:p>
            <a:pPr algn="ctr"/>
            <a:r>
              <a:rPr lang="en-US" sz="1400" dirty="0">
                <a:solidFill>
                  <a:srgbClr val="002060"/>
                </a:solidFill>
                <a:latin typeface="Helvetica" panose="020B0604020202020204" pitchFamily="34" charset="0"/>
                <a:cs typeface="Helvetica" panose="020B0604020202020204" pitchFamily="34" charset="0"/>
              </a:rPr>
              <a:t>Pins</a:t>
            </a:r>
            <a:endParaRPr lang="th-TH" sz="1400" dirty="0"/>
          </a:p>
        </p:txBody>
      </p:sp>
      <p:cxnSp>
        <p:nvCxnSpPr>
          <p:cNvPr id="86" name="ลูกศรเชื่อมต่อแบบตรง 85">
            <a:extLst>
              <a:ext uri="{FF2B5EF4-FFF2-40B4-BE49-F238E27FC236}">
                <a16:creationId xmlns:a16="http://schemas.microsoft.com/office/drawing/2014/main" id="{4569C036-29A1-F6E6-6791-70A7A969EDA4}"/>
              </a:ext>
            </a:extLst>
          </p:cNvPr>
          <p:cNvCxnSpPr>
            <a:cxnSpLocks/>
            <a:endCxn id="6" idx="3"/>
          </p:cNvCxnSpPr>
          <p:nvPr/>
        </p:nvCxnSpPr>
        <p:spPr>
          <a:xfrm flipV="1">
            <a:off x="1450852" y="4599112"/>
            <a:ext cx="1024873" cy="613195"/>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sp>
        <p:nvSpPr>
          <p:cNvPr id="87" name="กล่องข้อความ 86">
            <a:extLst>
              <a:ext uri="{FF2B5EF4-FFF2-40B4-BE49-F238E27FC236}">
                <a16:creationId xmlns:a16="http://schemas.microsoft.com/office/drawing/2014/main" id="{78036A08-C191-9F63-E944-2BE8300B47BC}"/>
              </a:ext>
            </a:extLst>
          </p:cNvPr>
          <p:cNvSpPr txBox="1"/>
          <p:nvPr/>
        </p:nvSpPr>
        <p:spPr>
          <a:xfrm>
            <a:off x="3891445" y="5246203"/>
            <a:ext cx="1228583" cy="307777"/>
          </a:xfrm>
          <a:prstGeom prst="rect">
            <a:avLst/>
          </a:prstGeom>
          <a:noFill/>
        </p:spPr>
        <p:txBody>
          <a:bodyPr wrap="square">
            <a:spAutoFit/>
          </a:bodyPr>
          <a:lstStyle/>
          <a:p>
            <a:pPr algn="ctr"/>
            <a:r>
              <a:rPr lang="en-US" sz="1400">
                <a:solidFill>
                  <a:srgbClr val="002060"/>
                </a:solidFill>
                <a:latin typeface="Helvetica" panose="020B0604020202020204" pitchFamily="34" charset="0"/>
                <a:cs typeface="Helvetica" panose="020B0604020202020204" pitchFamily="34" charset="0"/>
              </a:rPr>
              <a:t>Tester</a:t>
            </a:r>
            <a:endParaRPr lang="th-TH" sz="1400"/>
          </a:p>
        </p:txBody>
      </p:sp>
      <p:cxnSp>
        <p:nvCxnSpPr>
          <p:cNvPr id="88" name="ลูกศรเชื่อมต่อแบบตรง 87">
            <a:extLst>
              <a:ext uri="{FF2B5EF4-FFF2-40B4-BE49-F238E27FC236}">
                <a16:creationId xmlns:a16="http://schemas.microsoft.com/office/drawing/2014/main" id="{88F30FEE-7179-6E6A-6F73-9D58176228CA}"/>
              </a:ext>
            </a:extLst>
          </p:cNvPr>
          <p:cNvCxnSpPr>
            <a:cxnSpLocks/>
          </p:cNvCxnSpPr>
          <p:nvPr/>
        </p:nvCxnSpPr>
        <p:spPr>
          <a:xfrm flipH="1" flipV="1">
            <a:off x="3722150" y="4948388"/>
            <a:ext cx="395349" cy="287583"/>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sp>
        <p:nvSpPr>
          <p:cNvPr id="89" name="กล่องข้อความ 88">
            <a:extLst>
              <a:ext uri="{FF2B5EF4-FFF2-40B4-BE49-F238E27FC236}">
                <a16:creationId xmlns:a16="http://schemas.microsoft.com/office/drawing/2014/main" id="{61F4F1B9-92FC-3B6B-9CB3-8CA2D4D7C3E5}"/>
              </a:ext>
            </a:extLst>
          </p:cNvPr>
          <p:cNvSpPr txBox="1"/>
          <p:nvPr/>
        </p:nvSpPr>
        <p:spPr>
          <a:xfrm>
            <a:off x="1641138" y="5892305"/>
            <a:ext cx="2458720" cy="338554"/>
          </a:xfrm>
          <a:prstGeom prst="rect">
            <a:avLst/>
          </a:prstGeom>
          <a:noFill/>
        </p:spPr>
        <p:txBody>
          <a:bodyPr wrap="square">
            <a:spAutoFit/>
          </a:bodyPr>
          <a:lstStyle/>
          <a:p>
            <a:pPr algn="ctr"/>
            <a:r>
              <a:rPr lang="en-US" sz="1600" b="1">
                <a:solidFill>
                  <a:schemeClr val="accent6">
                    <a:lumMod val="75000"/>
                  </a:schemeClr>
                </a:solidFill>
                <a:latin typeface="Helvetica" panose="020B0604020202020204" pitchFamily="34" charset="0"/>
                <a:cs typeface="Helvetica" panose="020B0604020202020204" pitchFamily="34" charset="0"/>
              </a:rPr>
              <a:t>Within Tolerance</a:t>
            </a:r>
            <a:r>
              <a:rPr lang="en-US" sz="1600">
                <a:solidFill>
                  <a:schemeClr val="accent6">
                    <a:lumMod val="75000"/>
                  </a:schemeClr>
                </a:solidFill>
                <a:latin typeface="Helvetica" panose="020B0604020202020204" pitchFamily="34" charset="0"/>
                <a:cs typeface="Helvetica" panose="020B0604020202020204" pitchFamily="34" charset="0"/>
              </a:rPr>
              <a:t> </a:t>
            </a:r>
            <a:endParaRPr lang="th-TH" sz="1600">
              <a:solidFill>
                <a:schemeClr val="accent6">
                  <a:lumMod val="75000"/>
                </a:schemeClr>
              </a:solidFill>
              <a:latin typeface="Helvetica" panose="020B0604020202020204" pitchFamily="34" charset="0"/>
            </a:endParaRPr>
          </a:p>
        </p:txBody>
      </p:sp>
      <p:sp>
        <p:nvSpPr>
          <p:cNvPr id="90" name="กล่องข้อความ 89">
            <a:extLst>
              <a:ext uri="{FF2B5EF4-FFF2-40B4-BE49-F238E27FC236}">
                <a16:creationId xmlns:a16="http://schemas.microsoft.com/office/drawing/2014/main" id="{17FF1EF3-CD2E-A0AB-AE04-A0E6F5710C0F}"/>
              </a:ext>
            </a:extLst>
          </p:cNvPr>
          <p:cNvSpPr txBox="1"/>
          <p:nvPr/>
        </p:nvSpPr>
        <p:spPr>
          <a:xfrm>
            <a:off x="4836467" y="5892305"/>
            <a:ext cx="2458720" cy="338554"/>
          </a:xfrm>
          <a:prstGeom prst="rect">
            <a:avLst/>
          </a:prstGeom>
          <a:noFill/>
        </p:spPr>
        <p:txBody>
          <a:bodyPr wrap="square">
            <a:spAutoFit/>
          </a:bodyPr>
          <a:lstStyle/>
          <a:p>
            <a:pPr algn="ctr"/>
            <a:r>
              <a:rPr lang="en-US" sz="1600" b="1" dirty="0">
                <a:solidFill>
                  <a:srgbClr val="FF0000"/>
                </a:solidFill>
                <a:latin typeface="Helvetica" panose="020B0604020202020204" pitchFamily="34" charset="0"/>
                <a:cs typeface="Helvetica" panose="020B0604020202020204" pitchFamily="34" charset="0"/>
              </a:rPr>
              <a:t>Undersized</a:t>
            </a:r>
            <a:endParaRPr lang="th-TH" sz="1600" dirty="0">
              <a:solidFill>
                <a:srgbClr val="FF0000"/>
              </a:solidFill>
              <a:latin typeface="Helvetica" panose="020B0604020202020204" pitchFamily="34" charset="0"/>
            </a:endParaRPr>
          </a:p>
        </p:txBody>
      </p:sp>
      <p:sp>
        <p:nvSpPr>
          <p:cNvPr id="91" name="กล่องข้อความ 90">
            <a:extLst>
              <a:ext uri="{FF2B5EF4-FFF2-40B4-BE49-F238E27FC236}">
                <a16:creationId xmlns:a16="http://schemas.microsoft.com/office/drawing/2014/main" id="{2191BFBF-0F3B-6E0C-DF76-D11ACA2391C3}"/>
              </a:ext>
            </a:extLst>
          </p:cNvPr>
          <p:cNvSpPr txBox="1"/>
          <p:nvPr/>
        </p:nvSpPr>
        <p:spPr>
          <a:xfrm>
            <a:off x="8083543" y="5880974"/>
            <a:ext cx="2458720" cy="338554"/>
          </a:xfrm>
          <a:prstGeom prst="rect">
            <a:avLst/>
          </a:prstGeom>
          <a:noFill/>
        </p:spPr>
        <p:txBody>
          <a:bodyPr wrap="square">
            <a:spAutoFit/>
          </a:bodyPr>
          <a:lstStyle/>
          <a:p>
            <a:pPr algn="ctr"/>
            <a:r>
              <a:rPr lang="en-US" sz="1600" b="1">
                <a:solidFill>
                  <a:srgbClr val="FF0000"/>
                </a:solidFill>
                <a:latin typeface="Helvetica" panose="020B0604020202020204" pitchFamily="34" charset="0"/>
                <a:cs typeface="Helvetica" panose="020B0604020202020204" pitchFamily="34" charset="0"/>
              </a:rPr>
              <a:t>Oversized</a:t>
            </a:r>
            <a:endParaRPr lang="th-TH" sz="1600">
              <a:solidFill>
                <a:srgbClr val="FF0000"/>
              </a:solidFill>
              <a:latin typeface="Helvetica" panose="020B0604020202020204" pitchFamily="34" charset="0"/>
            </a:endParaRPr>
          </a:p>
        </p:txBody>
      </p:sp>
      <p:sp>
        <p:nvSpPr>
          <p:cNvPr id="92" name="กล่องข้อความ 91">
            <a:extLst>
              <a:ext uri="{FF2B5EF4-FFF2-40B4-BE49-F238E27FC236}">
                <a16:creationId xmlns:a16="http://schemas.microsoft.com/office/drawing/2014/main" id="{C4EFB4EB-4F49-2F78-4B3D-D2D4431E1835}"/>
              </a:ext>
            </a:extLst>
          </p:cNvPr>
          <p:cNvSpPr txBox="1"/>
          <p:nvPr/>
        </p:nvSpPr>
        <p:spPr>
          <a:xfrm>
            <a:off x="2097003" y="3273788"/>
            <a:ext cx="1533057" cy="400110"/>
          </a:xfrm>
          <a:prstGeom prst="rect">
            <a:avLst/>
          </a:prstGeom>
          <a:noFill/>
        </p:spPr>
        <p:txBody>
          <a:bodyPr wrap="square">
            <a:spAutoFit/>
          </a:bodyPr>
          <a:lstStyle/>
          <a:p>
            <a:pPr algn="ctr"/>
            <a:r>
              <a:rPr lang="en-US" sz="2000" dirty="0">
                <a:solidFill>
                  <a:schemeClr val="accent6">
                    <a:lumMod val="75000"/>
                  </a:schemeClr>
                </a:solidFill>
                <a:latin typeface="Helvetica" panose="020B0604020202020204" pitchFamily="34" charset="0"/>
                <a:cs typeface="Helvetica" panose="020B0604020202020204" pitchFamily="34" charset="0"/>
              </a:rPr>
              <a:t>Test Pass</a:t>
            </a:r>
            <a:endParaRPr lang="th-TH" sz="2000" dirty="0">
              <a:solidFill>
                <a:schemeClr val="accent6">
                  <a:lumMod val="75000"/>
                </a:schemeClr>
              </a:solidFill>
            </a:endParaRPr>
          </a:p>
        </p:txBody>
      </p:sp>
      <p:sp>
        <p:nvSpPr>
          <p:cNvPr id="93" name="กล่องข้อความ 92">
            <a:extLst>
              <a:ext uri="{FF2B5EF4-FFF2-40B4-BE49-F238E27FC236}">
                <a16:creationId xmlns:a16="http://schemas.microsoft.com/office/drawing/2014/main" id="{A56B8229-40A6-48F7-DBD0-1B74801493D3}"/>
              </a:ext>
            </a:extLst>
          </p:cNvPr>
          <p:cNvSpPr txBox="1"/>
          <p:nvPr/>
        </p:nvSpPr>
        <p:spPr>
          <a:xfrm>
            <a:off x="5299298" y="3273788"/>
            <a:ext cx="1533057" cy="400110"/>
          </a:xfrm>
          <a:prstGeom prst="rect">
            <a:avLst/>
          </a:prstGeom>
          <a:noFill/>
        </p:spPr>
        <p:txBody>
          <a:bodyPr wrap="square">
            <a:spAutoFit/>
          </a:bodyPr>
          <a:lstStyle/>
          <a:p>
            <a:pPr algn="ctr"/>
            <a:r>
              <a:rPr lang="en-US" sz="2000" dirty="0">
                <a:solidFill>
                  <a:srgbClr val="FF0000"/>
                </a:solidFill>
                <a:latin typeface="Helvetica" panose="020B0604020202020204" pitchFamily="34" charset="0"/>
                <a:cs typeface="Helvetica" panose="020B0604020202020204" pitchFamily="34" charset="0"/>
              </a:rPr>
              <a:t>Test Failed</a:t>
            </a:r>
            <a:endParaRPr lang="th-TH" sz="2000" dirty="0">
              <a:solidFill>
                <a:srgbClr val="FF0000"/>
              </a:solidFill>
            </a:endParaRPr>
          </a:p>
        </p:txBody>
      </p:sp>
      <p:sp>
        <p:nvSpPr>
          <p:cNvPr id="94" name="กล่องข้อความ 93">
            <a:extLst>
              <a:ext uri="{FF2B5EF4-FFF2-40B4-BE49-F238E27FC236}">
                <a16:creationId xmlns:a16="http://schemas.microsoft.com/office/drawing/2014/main" id="{CEE9FC83-BDC0-A47C-67F6-BB11B00A92BC}"/>
              </a:ext>
            </a:extLst>
          </p:cNvPr>
          <p:cNvSpPr txBox="1"/>
          <p:nvPr/>
        </p:nvSpPr>
        <p:spPr>
          <a:xfrm>
            <a:off x="8561370" y="3273788"/>
            <a:ext cx="1533057" cy="400110"/>
          </a:xfrm>
          <a:prstGeom prst="rect">
            <a:avLst/>
          </a:prstGeom>
          <a:noFill/>
        </p:spPr>
        <p:txBody>
          <a:bodyPr wrap="square">
            <a:spAutoFit/>
          </a:bodyPr>
          <a:lstStyle/>
          <a:p>
            <a:pPr algn="ctr"/>
            <a:r>
              <a:rPr lang="en-US" sz="2000" dirty="0">
                <a:solidFill>
                  <a:srgbClr val="FF0000"/>
                </a:solidFill>
                <a:latin typeface="Helvetica" panose="020B0604020202020204" pitchFamily="34" charset="0"/>
                <a:cs typeface="Helvetica" panose="020B0604020202020204" pitchFamily="34" charset="0"/>
              </a:rPr>
              <a:t>Test Failed</a:t>
            </a:r>
            <a:endParaRPr lang="th-TH" sz="2000" dirty="0">
              <a:solidFill>
                <a:srgbClr val="FF0000"/>
              </a:solidFill>
            </a:endParaRPr>
          </a:p>
        </p:txBody>
      </p:sp>
      <p:cxnSp>
        <p:nvCxnSpPr>
          <p:cNvPr id="96" name="ลูกศรเชื่อมต่อแบบตรง 95">
            <a:extLst>
              <a:ext uri="{FF2B5EF4-FFF2-40B4-BE49-F238E27FC236}">
                <a16:creationId xmlns:a16="http://schemas.microsoft.com/office/drawing/2014/main" id="{6AD733C5-8ED6-E284-4933-9D6C7CA8352B}"/>
              </a:ext>
            </a:extLst>
          </p:cNvPr>
          <p:cNvCxnSpPr>
            <a:cxnSpLocks/>
          </p:cNvCxnSpPr>
          <p:nvPr/>
        </p:nvCxnSpPr>
        <p:spPr>
          <a:xfrm>
            <a:off x="5656252" y="4828619"/>
            <a:ext cx="762328" cy="0"/>
          </a:xfrm>
          <a:prstGeom prst="straightConnector1">
            <a:avLst/>
          </a:prstGeom>
          <a:ln w="12700">
            <a:solidFill>
              <a:schemeClr val="bg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8" name="ตัวเชื่อมต่อตรง 97">
            <a:extLst>
              <a:ext uri="{FF2B5EF4-FFF2-40B4-BE49-F238E27FC236}">
                <a16:creationId xmlns:a16="http://schemas.microsoft.com/office/drawing/2014/main" id="{9F141E91-FA1D-2623-3BB4-39F196E8B5AC}"/>
              </a:ext>
            </a:extLst>
          </p:cNvPr>
          <p:cNvCxnSpPr>
            <a:cxnSpLocks/>
          </p:cNvCxnSpPr>
          <p:nvPr/>
        </p:nvCxnSpPr>
        <p:spPr>
          <a:xfrm>
            <a:off x="5653871" y="4698766"/>
            <a:ext cx="0" cy="259707"/>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99" name="ตัวเชื่อมต่อตรง 98">
            <a:extLst>
              <a:ext uri="{FF2B5EF4-FFF2-40B4-BE49-F238E27FC236}">
                <a16:creationId xmlns:a16="http://schemas.microsoft.com/office/drawing/2014/main" id="{4EA2E50B-75AC-EA98-9C72-1CBCF99717B3}"/>
              </a:ext>
            </a:extLst>
          </p:cNvPr>
          <p:cNvCxnSpPr>
            <a:cxnSpLocks/>
          </p:cNvCxnSpPr>
          <p:nvPr/>
        </p:nvCxnSpPr>
        <p:spPr>
          <a:xfrm>
            <a:off x="6426972" y="4698766"/>
            <a:ext cx="0" cy="259707"/>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0" name="ลูกศรเชื่อมต่อแบบตรง 99">
            <a:extLst>
              <a:ext uri="{FF2B5EF4-FFF2-40B4-BE49-F238E27FC236}">
                <a16:creationId xmlns:a16="http://schemas.microsoft.com/office/drawing/2014/main" id="{8820E819-693F-33B4-A529-4AD063C2DC7B}"/>
              </a:ext>
            </a:extLst>
          </p:cNvPr>
          <p:cNvCxnSpPr>
            <a:cxnSpLocks/>
          </p:cNvCxnSpPr>
          <p:nvPr/>
        </p:nvCxnSpPr>
        <p:spPr>
          <a:xfrm>
            <a:off x="8891093" y="4840217"/>
            <a:ext cx="867583" cy="0"/>
          </a:xfrm>
          <a:prstGeom prst="straightConnector1">
            <a:avLst/>
          </a:prstGeom>
          <a:ln w="12700">
            <a:solidFill>
              <a:schemeClr val="bg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1" name="ตัวเชื่อมต่อตรง 100">
            <a:extLst>
              <a:ext uri="{FF2B5EF4-FFF2-40B4-BE49-F238E27FC236}">
                <a16:creationId xmlns:a16="http://schemas.microsoft.com/office/drawing/2014/main" id="{BCCD2A63-6E04-89B8-ABB7-536C74D3EC49}"/>
              </a:ext>
            </a:extLst>
          </p:cNvPr>
          <p:cNvCxnSpPr>
            <a:cxnSpLocks/>
          </p:cNvCxnSpPr>
          <p:nvPr/>
        </p:nvCxnSpPr>
        <p:spPr>
          <a:xfrm>
            <a:off x="8888712" y="4710364"/>
            <a:ext cx="0" cy="259707"/>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2" name="ตัวเชื่อมต่อตรง 101">
            <a:extLst>
              <a:ext uri="{FF2B5EF4-FFF2-40B4-BE49-F238E27FC236}">
                <a16:creationId xmlns:a16="http://schemas.microsoft.com/office/drawing/2014/main" id="{F6A9544E-8B74-9867-0D65-D1A78280B56C}"/>
              </a:ext>
            </a:extLst>
          </p:cNvPr>
          <p:cNvCxnSpPr>
            <a:cxnSpLocks/>
          </p:cNvCxnSpPr>
          <p:nvPr/>
        </p:nvCxnSpPr>
        <p:spPr>
          <a:xfrm>
            <a:off x="9768974" y="4710364"/>
            <a:ext cx="0" cy="259707"/>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110" name="กลุ่ม 109">
            <a:extLst>
              <a:ext uri="{FF2B5EF4-FFF2-40B4-BE49-F238E27FC236}">
                <a16:creationId xmlns:a16="http://schemas.microsoft.com/office/drawing/2014/main" id="{1955AA2D-2D2F-52AF-E288-B76F8BA8AB33}"/>
              </a:ext>
            </a:extLst>
          </p:cNvPr>
          <p:cNvGrpSpPr/>
          <p:nvPr/>
        </p:nvGrpSpPr>
        <p:grpSpPr>
          <a:xfrm rot="21449387">
            <a:off x="5658100" y="4282143"/>
            <a:ext cx="770721" cy="304800"/>
            <a:chOff x="2475725" y="4290503"/>
            <a:chExt cx="770721" cy="304800"/>
          </a:xfrm>
        </p:grpSpPr>
        <p:sp>
          <p:nvSpPr>
            <p:cNvPr id="111" name="สี่เหลี่ยมผืนผ้า 110">
              <a:extLst>
                <a:ext uri="{FF2B5EF4-FFF2-40B4-BE49-F238E27FC236}">
                  <a16:creationId xmlns:a16="http://schemas.microsoft.com/office/drawing/2014/main" id="{E46F963D-CA02-A9A7-D9A0-172EC7F011A7}"/>
                </a:ext>
              </a:extLst>
            </p:cNvPr>
            <p:cNvSpPr/>
            <p:nvPr/>
          </p:nvSpPr>
          <p:spPr>
            <a:xfrm>
              <a:off x="2475726" y="4290503"/>
              <a:ext cx="770720" cy="30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12" name="สี่เหลี่ยมผืนผ้า 111">
              <a:extLst>
                <a:ext uri="{FF2B5EF4-FFF2-40B4-BE49-F238E27FC236}">
                  <a16:creationId xmlns:a16="http://schemas.microsoft.com/office/drawing/2014/main" id="{B6DC127D-3343-9DEB-25D3-78E79397A293}"/>
                </a:ext>
              </a:extLst>
            </p:cNvPr>
            <p:cNvSpPr/>
            <p:nvPr/>
          </p:nvSpPr>
          <p:spPr>
            <a:xfrm>
              <a:off x="2475725" y="4548388"/>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13" name="สี่เหลี่ยมผืนผ้า 112">
              <a:extLst>
                <a:ext uri="{FF2B5EF4-FFF2-40B4-BE49-F238E27FC236}">
                  <a16:creationId xmlns:a16="http://schemas.microsoft.com/office/drawing/2014/main" id="{577121DC-4858-7C08-6FBB-4689CBCF1D13}"/>
                </a:ext>
              </a:extLst>
            </p:cNvPr>
            <p:cNvSpPr/>
            <p:nvPr/>
          </p:nvSpPr>
          <p:spPr>
            <a:xfrm>
              <a:off x="2557640" y="4548388"/>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14" name="สี่เหลี่ยมผืนผ้า 113">
              <a:extLst>
                <a:ext uri="{FF2B5EF4-FFF2-40B4-BE49-F238E27FC236}">
                  <a16:creationId xmlns:a16="http://schemas.microsoft.com/office/drawing/2014/main" id="{FD3139EB-4F5A-27C3-127A-84A6CFF63F08}"/>
                </a:ext>
              </a:extLst>
            </p:cNvPr>
            <p:cNvSpPr/>
            <p:nvPr/>
          </p:nvSpPr>
          <p:spPr>
            <a:xfrm>
              <a:off x="2639555" y="4548387"/>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15" name="สี่เหลี่ยมผืนผ้า 114">
              <a:extLst>
                <a:ext uri="{FF2B5EF4-FFF2-40B4-BE49-F238E27FC236}">
                  <a16:creationId xmlns:a16="http://schemas.microsoft.com/office/drawing/2014/main" id="{C665DD2E-9029-0D46-6ECB-C71D91B263A5}"/>
                </a:ext>
              </a:extLst>
            </p:cNvPr>
            <p:cNvSpPr/>
            <p:nvPr/>
          </p:nvSpPr>
          <p:spPr>
            <a:xfrm>
              <a:off x="2721470" y="4548387"/>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16" name="สี่เหลี่ยมผืนผ้า 115">
              <a:extLst>
                <a:ext uri="{FF2B5EF4-FFF2-40B4-BE49-F238E27FC236}">
                  <a16:creationId xmlns:a16="http://schemas.microsoft.com/office/drawing/2014/main" id="{2EE80C29-BD0C-40E7-A838-EF033AC65F44}"/>
                </a:ext>
              </a:extLst>
            </p:cNvPr>
            <p:cNvSpPr/>
            <p:nvPr/>
          </p:nvSpPr>
          <p:spPr>
            <a:xfrm>
              <a:off x="2803385" y="4548387"/>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17" name="สี่เหลี่ยมผืนผ้า 116">
              <a:extLst>
                <a:ext uri="{FF2B5EF4-FFF2-40B4-BE49-F238E27FC236}">
                  <a16:creationId xmlns:a16="http://schemas.microsoft.com/office/drawing/2014/main" id="{A669642B-0EC3-EADC-26A1-8C69A9CB8EBA}"/>
                </a:ext>
              </a:extLst>
            </p:cNvPr>
            <p:cNvSpPr/>
            <p:nvPr/>
          </p:nvSpPr>
          <p:spPr>
            <a:xfrm>
              <a:off x="2885300" y="4548386"/>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18" name="สี่เหลี่ยมผืนผ้า 117">
              <a:extLst>
                <a:ext uri="{FF2B5EF4-FFF2-40B4-BE49-F238E27FC236}">
                  <a16:creationId xmlns:a16="http://schemas.microsoft.com/office/drawing/2014/main" id="{6C5E9099-4EB1-443C-64C7-138F7C23728E}"/>
                </a:ext>
              </a:extLst>
            </p:cNvPr>
            <p:cNvSpPr/>
            <p:nvPr/>
          </p:nvSpPr>
          <p:spPr>
            <a:xfrm>
              <a:off x="2967215" y="4549018"/>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19" name="สี่เหลี่ยมผืนผ้า 118">
              <a:extLst>
                <a:ext uri="{FF2B5EF4-FFF2-40B4-BE49-F238E27FC236}">
                  <a16:creationId xmlns:a16="http://schemas.microsoft.com/office/drawing/2014/main" id="{BE7B3AA1-0D79-EC5A-7E5D-E2D1BF90445F}"/>
                </a:ext>
              </a:extLst>
            </p:cNvPr>
            <p:cNvSpPr/>
            <p:nvPr/>
          </p:nvSpPr>
          <p:spPr>
            <a:xfrm>
              <a:off x="3049130" y="4549018"/>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20" name="สี่เหลี่ยมผืนผ้า 119">
              <a:extLst>
                <a:ext uri="{FF2B5EF4-FFF2-40B4-BE49-F238E27FC236}">
                  <a16:creationId xmlns:a16="http://schemas.microsoft.com/office/drawing/2014/main" id="{DABFC5AD-6C2D-477D-E3EA-82D0FB2FE3C6}"/>
                </a:ext>
              </a:extLst>
            </p:cNvPr>
            <p:cNvSpPr/>
            <p:nvPr/>
          </p:nvSpPr>
          <p:spPr>
            <a:xfrm>
              <a:off x="3131045" y="4549017"/>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21" name="สี่เหลี่ยมผืนผ้า 120">
              <a:extLst>
                <a:ext uri="{FF2B5EF4-FFF2-40B4-BE49-F238E27FC236}">
                  <a16:creationId xmlns:a16="http://schemas.microsoft.com/office/drawing/2014/main" id="{EE15D086-1186-77A3-39CC-5D64D5F1A82B}"/>
                </a:ext>
              </a:extLst>
            </p:cNvPr>
            <p:cNvSpPr/>
            <p:nvPr/>
          </p:nvSpPr>
          <p:spPr>
            <a:xfrm>
              <a:off x="3200726" y="4548385"/>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grpSp>
      <p:grpSp>
        <p:nvGrpSpPr>
          <p:cNvPr id="122" name="กลุ่ม 121">
            <a:extLst>
              <a:ext uri="{FF2B5EF4-FFF2-40B4-BE49-F238E27FC236}">
                <a16:creationId xmlns:a16="http://schemas.microsoft.com/office/drawing/2014/main" id="{66198FFE-888E-8209-0E87-C076DA6A9F56}"/>
              </a:ext>
            </a:extLst>
          </p:cNvPr>
          <p:cNvGrpSpPr/>
          <p:nvPr/>
        </p:nvGrpSpPr>
        <p:grpSpPr>
          <a:xfrm>
            <a:off x="8998253" y="4302580"/>
            <a:ext cx="770721" cy="304800"/>
            <a:chOff x="2475725" y="4290503"/>
            <a:chExt cx="770721" cy="304800"/>
          </a:xfrm>
        </p:grpSpPr>
        <p:sp>
          <p:nvSpPr>
            <p:cNvPr id="123" name="สี่เหลี่ยมผืนผ้า 122">
              <a:extLst>
                <a:ext uri="{FF2B5EF4-FFF2-40B4-BE49-F238E27FC236}">
                  <a16:creationId xmlns:a16="http://schemas.microsoft.com/office/drawing/2014/main" id="{2D9E9920-1D4C-497C-9C1D-3E80B2DAA769}"/>
                </a:ext>
              </a:extLst>
            </p:cNvPr>
            <p:cNvSpPr/>
            <p:nvPr/>
          </p:nvSpPr>
          <p:spPr>
            <a:xfrm>
              <a:off x="2475726" y="4290503"/>
              <a:ext cx="770720" cy="30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24" name="สี่เหลี่ยมผืนผ้า 123">
              <a:extLst>
                <a:ext uri="{FF2B5EF4-FFF2-40B4-BE49-F238E27FC236}">
                  <a16:creationId xmlns:a16="http://schemas.microsoft.com/office/drawing/2014/main" id="{625D9601-99E9-2D31-42E4-82493331A044}"/>
                </a:ext>
              </a:extLst>
            </p:cNvPr>
            <p:cNvSpPr/>
            <p:nvPr/>
          </p:nvSpPr>
          <p:spPr>
            <a:xfrm>
              <a:off x="2475725" y="4548388"/>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25" name="สี่เหลี่ยมผืนผ้า 124">
              <a:extLst>
                <a:ext uri="{FF2B5EF4-FFF2-40B4-BE49-F238E27FC236}">
                  <a16:creationId xmlns:a16="http://schemas.microsoft.com/office/drawing/2014/main" id="{FFD295D5-92E9-EB48-E6A1-73B36F696EE1}"/>
                </a:ext>
              </a:extLst>
            </p:cNvPr>
            <p:cNvSpPr/>
            <p:nvPr/>
          </p:nvSpPr>
          <p:spPr>
            <a:xfrm>
              <a:off x="2557640" y="4548388"/>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26" name="สี่เหลี่ยมผืนผ้า 125">
              <a:extLst>
                <a:ext uri="{FF2B5EF4-FFF2-40B4-BE49-F238E27FC236}">
                  <a16:creationId xmlns:a16="http://schemas.microsoft.com/office/drawing/2014/main" id="{7FDB5A6A-91A3-CC79-82B0-DD8E74EA69FA}"/>
                </a:ext>
              </a:extLst>
            </p:cNvPr>
            <p:cNvSpPr/>
            <p:nvPr/>
          </p:nvSpPr>
          <p:spPr>
            <a:xfrm>
              <a:off x="2639555" y="4548387"/>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27" name="สี่เหลี่ยมผืนผ้า 126">
              <a:extLst>
                <a:ext uri="{FF2B5EF4-FFF2-40B4-BE49-F238E27FC236}">
                  <a16:creationId xmlns:a16="http://schemas.microsoft.com/office/drawing/2014/main" id="{DC083106-A582-59B6-6875-7BA3883AD2EB}"/>
                </a:ext>
              </a:extLst>
            </p:cNvPr>
            <p:cNvSpPr/>
            <p:nvPr/>
          </p:nvSpPr>
          <p:spPr>
            <a:xfrm>
              <a:off x="2721470" y="4548387"/>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28" name="สี่เหลี่ยมผืนผ้า 127">
              <a:extLst>
                <a:ext uri="{FF2B5EF4-FFF2-40B4-BE49-F238E27FC236}">
                  <a16:creationId xmlns:a16="http://schemas.microsoft.com/office/drawing/2014/main" id="{ED4942E0-1E16-1F92-3691-88DF97524A36}"/>
                </a:ext>
              </a:extLst>
            </p:cNvPr>
            <p:cNvSpPr/>
            <p:nvPr/>
          </p:nvSpPr>
          <p:spPr>
            <a:xfrm>
              <a:off x="2803385" y="4548387"/>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29" name="สี่เหลี่ยมผืนผ้า 128">
              <a:extLst>
                <a:ext uri="{FF2B5EF4-FFF2-40B4-BE49-F238E27FC236}">
                  <a16:creationId xmlns:a16="http://schemas.microsoft.com/office/drawing/2014/main" id="{0181360A-EB08-AA50-4171-E4850D591ACB}"/>
                </a:ext>
              </a:extLst>
            </p:cNvPr>
            <p:cNvSpPr/>
            <p:nvPr/>
          </p:nvSpPr>
          <p:spPr>
            <a:xfrm>
              <a:off x="2885300" y="4548386"/>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30" name="สี่เหลี่ยมผืนผ้า 129">
              <a:extLst>
                <a:ext uri="{FF2B5EF4-FFF2-40B4-BE49-F238E27FC236}">
                  <a16:creationId xmlns:a16="http://schemas.microsoft.com/office/drawing/2014/main" id="{6F20D864-21DC-2720-1C63-6D625EB0AA2D}"/>
                </a:ext>
              </a:extLst>
            </p:cNvPr>
            <p:cNvSpPr/>
            <p:nvPr/>
          </p:nvSpPr>
          <p:spPr>
            <a:xfrm>
              <a:off x="2967215" y="4549018"/>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31" name="สี่เหลี่ยมผืนผ้า 130">
              <a:extLst>
                <a:ext uri="{FF2B5EF4-FFF2-40B4-BE49-F238E27FC236}">
                  <a16:creationId xmlns:a16="http://schemas.microsoft.com/office/drawing/2014/main" id="{09F2EB33-D785-4B07-BDA0-DE3688808864}"/>
                </a:ext>
              </a:extLst>
            </p:cNvPr>
            <p:cNvSpPr/>
            <p:nvPr/>
          </p:nvSpPr>
          <p:spPr>
            <a:xfrm>
              <a:off x="3049130" y="4549018"/>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32" name="สี่เหลี่ยมผืนผ้า 131">
              <a:extLst>
                <a:ext uri="{FF2B5EF4-FFF2-40B4-BE49-F238E27FC236}">
                  <a16:creationId xmlns:a16="http://schemas.microsoft.com/office/drawing/2014/main" id="{9A220189-2F2C-2E6A-9D04-14F451E07CD0}"/>
                </a:ext>
              </a:extLst>
            </p:cNvPr>
            <p:cNvSpPr/>
            <p:nvPr/>
          </p:nvSpPr>
          <p:spPr>
            <a:xfrm>
              <a:off x="3131045" y="4549017"/>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33" name="สี่เหลี่ยมผืนผ้า 132">
              <a:extLst>
                <a:ext uri="{FF2B5EF4-FFF2-40B4-BE49-F238E27FC236}">
                  <a16:creationId xmlns:a16="http://schemas.microsoft.com/office/drawing/2014/main" id="{7CF1ADF1-FF53-7249-1799-3B6EFFFC9A06}"/>
                </a:ext>
              </a:extLst>
            </p:cNvPr>
            <p:cNvSpPr/>
            <p:nvPr/>
          </p:nvSpPr>
          <p:spPr>
            <a:xfrm>
              <a:off x="3200726" y="4548385"/>
              <a:ext cx="45719" cy="4571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grpSp>
      <p:pic>
        <p:nvPicPr>
          <p:cNvPr id="139" name="รูปภาพ 138">
            <a:extLst>
              <a:ext uri="{FF2B5EF4-FFF2-40B4-BE49-F238E27FC236}">
                <a16:creationId xmlns:a16="http://schemas.microsoft.com/office/drawing/2014/main" id="{559BADC2-8811-3A81-4E43-A5E68570E355}"/>
              </a:ext>
            </a:extLst>
          </p:cNvPr>
          <p:cNvPicPr>
            <a:picLocks noChangeAspect="1"/>
          </p:cNvPicPr>
          <p:nvPr/>
        </p:nvPicPr>
        <p:blipFill rotWithShape="1">
          <a:blip r:embed="rId5">
            <a:extLst>
              <a:ext uri="{28A0092B-C50C-407E-A947-70E740481C1C}">
                <a14:useLocalDpi xmlns:a14="http://schemas.microsoft.com/office/drawing/2010/main" val="0"/>
              </a:ext>
            </a:extLst>
          </a:blip>
          <a:srcRect l="62236" t="23218" r="29014" b="54907"/>
          <a:stretch>
            <a:fillRect/>
          </a:stretch>
        </p:blipFill>
        <p:spPr>
          <a:xfrm>
            <a:off x="10094427" y="3654416"/>
            <a:ext cx="532568" cy="532568"/>
          </a:xfrm>
          <a:prstGeom prst="ellipse">
            <a:avLst/>
          </a:prstGeom>
        </p:spPr>
      </p:pic>
      <p:sp>
        <p:nvSpPr>
          <p:cNvPr id="140" name="วงรี 139">
            <a:extLst>
              <a:ext uri="{FF2B5EF4-FFF2-40B4-BE49-F238E27FC236}">
                <a16:creationId xmlns:a16="http://schemas.microsoft.com/office/drawing/2014/main" id="{625D1ACC-E0B5-10EC-CF85-D63F68578E0C}"/>
              </a:ext>
            </a:extLst>
          </p:cNvPr>
          <p:cNvSpPr/>
          <p:nvPr/>
        </p:nvSpPr>
        <p:spPr>
          <a:xfrm>
            <a:off x="6239530" y="4434390"/>
            <a:ext cx="291478" cy="291478"/>
          </a:xfrm>
          <a:prstGeom prst="ellipse">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42" name="วงรี 141">
            <a:extLst>
              <a:ext uri="{FF2B5EF4-FFF2-40B4-BE49-F238E27FC236}">
                <a16:creationId xmlns:a16="http://schemas.microsoft.com/office/drawing/2014/main" id="{05CD2E90-C25C-0603-2371-B1E0975A9A23}"/>
              </a:ext>
            </a:extLst>
          </p:cNvPr>
          <p:cNvSpPr/>
          <p:nvPr/>
        </p:nvSpPr>
        <p:spPr>
          <a:xfrm>
            <a:off x="9573881" y="4465901"/>
            <a:ext cx="291478" cy="291478"/>
          </a:xfrm>
          <a:prstGeom prst="ellipse">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pic>
        <p:nvPicPr>
          <p:cNvPr id="137" name="รูปภาพ 136">
            <a:extLst>
              <a:ext uri="{FF2B5EF4-FFF2-40B4-BE49-F238E27FC236}">
                <a16:creationId xmlns:a16="http://schemas.microsoft.com/office/drawing/2014/main" id="{8F9AA1AA-6D3A-3775-DEAE-33E9ACE474F9}"/>
              </a:ext>
            </a:extLst>
          </p:cNvPr>
          <p:cNvPicPr>
            <a:picLocks noChangeAspect="1"/>
          </p:cNvPicPr>
          <p:nvPr/>
        </p:nvPicPr>
        <p:blipFill rotWithShape="1">
          <a:blip r:embed="rId6">
            <a:extLst>
              <a:ext uri="{28A0092B-C50C-407E-A947-70E740481C1C}">
                <a14:useLocalDpi xmlns:a14="http://schemas.microsoft.com/office/drawing/2010/main" val="0"/>
              </a:ext>
            </a:extLst>
          </a:blip>
          <a:srcRect l="59773" t="24245" r="31201" b="53982"/>
          <a:stretch>
            <a:fillRect/>
          </a:stretch>
        </p:blipFill>
        <p:spPr>
          <a:xfrm>
            <a:off x="6744954" y="3656881"/>
            <a:ext cx="532568" cy="532568"/>
          </a:xfrm>
          <a:prstGeom prst="ellipse">
            <a:avLst/>
          </a:prstGeom>
        </p:spPr>
      </p:pic>
      <p:cxnSp>
        <p:nvCxnSpPr>
          <p:cNvPr id="151" name="ลูกศรเชื่อมต่อแบบตรง 150">
            <a:extLst>
              <a:ext uri="{FF2B5EF4-FFF2-40B4-BE49-F238E27FC236}">
                <a16:creationId xmlns:a16="http://schemas.microsoft.com/office/drawing/2014/main" id="{3BF8AD8A-2759-24A4-DDC3-0675F3DCB18E}"/>
              </a:ext>
            </a:extLst>
          </p:cNvPr>
          <p:cNvCxnSpPr>
            <a:cxnSpLocks/>
          </p:cNvCxnSpPr>
          <p:nvPr/>
        </p:nvCxnSpPr>
        <p:spPr>
          <a:xfrm flipV="1">
            <a:off x="6468073" y="4110782"/>
            <a:ext cx="349505" cy="352291"/>
          </a:xfrm>
          <a:prstGeom prst="straightConnector1">
            <a:avLst/>
          </a:prstGeom>
          <a:ln w="95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54" name="ลูกศรเชื่อมต่อแบบตรง 153">
            <a:extLst>
              <a:ext uri="{FF2B5EF4-FFF2-40B4-BE49-F238E27FC236}">
                <a16:creationId xmlns:a16="http://schemas.microsoft.com/office/drawing/2014/main" id="{CB63CC56-4AAF-AA54-3206-518920A15683}"/>
              </a:ext>
            </a:extLst>
          </p:cNvPr>
          <p:cNvCxnSpPr>
            <a:cxnSpLocks/>
          </p:cNvCxnSpPr>
          <p:nvPr/>
        </p:nvCxnSpPr>
        <p:spPr>
          <a:xfrm flipV="1">
            <a:off x="9790923" y="4105735"/>
            <a:ext cx="367365" cy="383802"/>
          </a:xfrm>
          <a:prstGeom prst="straightConnector1">
            <a:avLst/>
          </a:prstGeom>
          <a:ln w="952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1" name="กล่องข้อความ 160">
            <a:extLst>
              <a:ext uri="{FF2B5EF4-FFF2-40B4-BE49-F238E27FC236}">
                <a16:creationId xmlns:a16="http://schemas.microsoft.com/office/drawing/2014/main" id="{7FE9A096-AF6D-41BD-5FC5-754EEA94C84F}"/>
              </a:ext>
            </a:extLst>
          </p:cNvPr>
          <p:cNvSpPr txBox="1"/>
          <p:nvPr/>
        </p:nvSpPr>
        <p:spPr>
          <a:xfrm>
            <a:off x="7110530" y="3786254"/>
            <a:ext cx="1228583" cy="261610"/>
          </a:xfrm>
          <a:prstGeom prst="rect">
            <a:avLst/>
          </a:prstGeom>
          <a:noFill/>
        </p:spPr>
        <p:txBody>
          <a:bodyPr wrap="square">
            <a:spAutoFit/>
          </a:bodyPr>
          <a:lstStyle/>
          <a:p>
            <a:pPr algn="ctr"/>
            <a:r>
              <a:rPr lang="en-US" sz="1050" dirty="0">
                <a:solidFill>
                  <a:srgbClr val="FF0000"/>
                </a:solidFill>
                <a:latin typeface="Helvetica" panose="020B0604020202020204" pitchFamily="34" charset="0"/>
                <a:cs typeface="Helvetica" panose="020B0604020202020204" pitchFamily="34" charset="0"/>
              </a:rPr>
              <a:t>No Contact</a:t>
            </a:r>
          </a:p>
        </p:txBody>
      </p:sp>
      <p:sp>
        <p:nvSpPr>
          <p:cNvPr id="163" name="กล่องข้อความ 162">
            <a:extLst>
              <a:ext uri="{FF2B5EF4-FFF2-40B4-BE49-F238E27FC236}">
                <a16:creationId xmlns:a16="http://schemas.microsoft.com/office/drawing/2014/main" id="{2C74B6B0-795E-5873-6B71-9394BE09D35C}"/>
              </a:ext>
            </a:extLst>
          </p:cNvPr>
          <p:cNvSpPr txBox="1"/>
          <p:nvPr/>
        </p:nvSpPr>
        <p:spPr>
          <a:xfrm>
            <a:off x="10433657" y="3758748"/>
            <a:ext cx="1228583" cy="261610"/>
          </a:xfrm>
          <a:prstGeom prst="rect">
            <a:avLst/>
          </a:prstGeom>
          <a:noFill/>
        </p:spPr>
        <p:txBody>
          <a:bodyPr wrap="square">
            <a:spAutoFit/>
          </a:bodyPr>
          <a:lstStyle/>
          <a:p>
            <a:pPr algn="ctr"/>
            <a:r>
              <a:rPr lang="en-US" sz="1050" dirty="0">
                <a:solidFill>
                  <a:srgbClr val="FF0000"/>
                </a:solidFill>
                <a:latin typeface="Helvetica" panose="020B0604020202020204" pitchFamily="34" charset="0"/>
                <a:cs typeface="Helvetica" panose="020B0604020202020204" pitchFamily="34" charset="0"/>
              </a:rPr>
              <a:t>No Contact</a:t>
            </a:r>
          </a:p>
        </p:txBody>
      </p:sp>
    </p:spTree>
    <p:extLst>
      <p:ext uri="{BB962C8B-B14F-4D97-AF65-F5344CB8AC3E}">
        <p14:creationId xmlns:p14="http://schemas.microsoft.com/office/powerpoint/2010/main" val="1659154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0A2D0-76F1-064C-28D2-C7F60623B45A}"/>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CBB9770B-2E03-1CDC-A9D1-6E8923D9020F}"/>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4" name="Picture 2" descr="Analog Devices | Disruptive Technology for Clinical Trials">
            <a:extLst>
              <a:ext uri="{FF2B5EF4-FFF2-40B4-BE49-F238E27FC236}">
                <a16:creationId xmlns:a16="http://schemas.microsoft.com/office/drawing/2014/main" id="{0CDC3D5A-4FF3-EA10-73CC-B1B80DCB56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 name="Picture 2" descr="LOGO_ENkku_color – Faculty of Engineering , Khon Kaen University">
            <a:extLst>
              <a:ext uri="{FF2B5EF4-FFF2-40B4-BE49-F238E27FC236}">
                <a16:creationId xmlns:a16="http://schemas.microsoft.com/office/drawing/2014/main" id="{75D55D55-8644-B20B-0B05-59DD748C9CC5}"/>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25" name="กล่องข้อความ 24">
            <a:extLst>
              <a:ext uri="{FF2B5EF4-FFF2-40B4-BE49-F238E27FC236}">
                <a16:creationId xmlns:a16="http://schemas.microsoft.com/office/drawing/2014/main" id="{60447C03-4818-130D-EFC6-E3C93A9C9DB6}"/>
              </a:ext>
            </a:extLst>
          </p:cNvPr>
          <p:cNvSpPr txBox="1">
            <a:spLocks/>
          </p:cNvSpPr>
          <p:nvPr/>
        </p:nvSpPr>
        <p:spPr>
          <a:xfrm>
            <a:off x="648733" y="442731"/>
            <a:ext cx="5830725" cy="2246769"/>
          </a:xfrm>
          <a:prstGeom prst="rect">
            <a:avLst/>
          </a:prstGeom>
          <a:noFill/>
        </p:spPr>
        <p:txBody>
          <a:bodyPr wrap="square" rtlCol="0">
            <a:spAutoFit/>
          </a:bodyPr>
          <a:lstStyle/>
          <a:p>
            <a:r>
              <a:rPr lang="en-US" b="1" dirty="0">
                <a:solidFill>
                  <a:schemeClr val="bg1">
                    <a:lumMod val="75000"/>
                  </a:schemeClr>
                </a:solidFill>
                <a:latin typeface="Helvetica" panose="020B0604020202020204" pitchFamily="34" charset="0"/>
                <a:cs typeface="Helvetica" panose="020B0604020202020204" pitchFamily="34" charset="0"/>
              </a:rPr>
              <a:t>Problem Statement (2 pages)</a:t>
            </a:r>
          </a:p>
          <a:p>
            <a:pPr marL="457200" indent="-457200">
              <a:buFont typeface="Arial" panose="020B0604020202020204" pitchFamily="34" charset="0"/>
              <a:buChar char="•"/>
            </a:pPr>
            <a:r>
              <a:rPr lang="en-US" dirty="0">
                <a:solidFill>
                  <a:schemeClr val="bg1">
                    <a:lumMod val="75000"/>
                  </a:schemeClr>
                </a:solidFill>
                <a:latin typeface="Helvetica" panose="020B0604020202020204" pitchFamily="34" charset="0"/>
                <a:cs typeface="Helvetica" panose="020B0604020202020204" pitchFamily="34" charset="0"/>
              </a:rPr>
              <a:t>Hardware x 1 page</a:t>
            </a:r>
          </a:p>
          <a:p>
            <a:pPr marL="457200" indent="-457200">
              <a:buFont typeface="Arial" panose="020B0604020202020204" pitchFamily="34" charset="0"/>
              <a:buChar char="•"/>
            </a:pPr>
            <a:r>
              <a:rPr lang="en-US" dirty="0">
                <a:solidFill>
                  <a:schemeClr val="bg1">
                    <a:lumMod val="75000"/>
                  </a:schemeClr>
                </a:solidFill>
                <a:latin typeface="Helvetica" panose="020B0604020202020204" pitchFamily="34" charset="0"/>
                <a:cs typeface="Helvetica" panose="020B0604020202020204" pitchFamily="34" charset="0"/>
              </a:rPr>
              <a:t>Software x 1 page</a:t>
            </a:r>
          </a:p>
          <a:p>
            <a:pPr marL="457200" indent="-457200">
              <a:buFont typeface="Arial" panose="020B0604020202020204" pitchFamily="34" charset="0"/>
              <a:buChar char="•"/>
            </a:pPr>
            <a:endParaRPr lang="en-US" dirty="0">
              <a:solidFill>
                <a:schemeClr val="bg1">
                  <a:lumMod val="75000"/>
                </a:schemeClr>
              </a:solidFill>
              <a:latin typeface="Helvetica" panose="020B0604020202020204" pitchFamily="34" charset="0"/>
              <a:cs typeface="Helvetica" panose="020B0604020202020204" pitchFamily="34" charset="0"/>
            </a:endParaRPr>
          </a:p>
          <a:p>
            <a:pPr marL="457200" indent="-457200">
              <a:buFont typeface="Arial" panose="020B0604020202020204" pitchFamily="34" charset="0"/>
              <a:buChar char="•"/>
            </a:pPr>
            <a:endParaRPr lang="th-TH" dirty="0">
              <a:solidFill>
                <a:schemeClr val="bg1">
                  <a:lumMod val="75000"/>
                </a:schemeClr>
              </a:solidFill>
              <a:latin typeface="Helvetica" panose="020B0604020202020204" pitchFamily="34" charset="0"/>
              <a:cs typeface="Mitr" panose="00000500000000000000" pitchFamily="2" charset="-34"/>
            </a:endParaRPr>
          </a:p>
        </p:txBody>
      </p:sp>
    </p:spTree>
    <p:extLst>
      <p:ext uri="{BB962C8B-B14F-4D97-AF65-F5344CB8AC3E}">
        <p14:creationId xmlns:p14="http://schemas.microsoft.com/office/powerpoint/2010/main" val="224578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2E576-229A-4838-CF08-60FA7E1DE354}"/>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75F18B33-3CF0-64BB-DA57-585A614FC449}"/>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4" name="Picture 2" descr="Analog Devices | Disruptive Technology for Clinical Trials">
            <a:extLst>
              <a:ext uri="{FF2B5EF4-FFF2-40B4-BE49-F238E27FC236}">
                <a16:creationId xmlns:a16="http://schemas.microsoft.com/office/drawing/2014/main" id="{CC5211A5-8C6D-40B5-90B7-E993780C6D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 name="Picture 2" descr="LOGO_ENkku_color – Faculty of Engineering , Khon Kaen University">
            <a:extLst>
              <a:ext uri="{FF2B5EF4-FFF2-40B4-BE49-F238E27FC236}">
                <a16:creationId xmlns:a16="http://schemas.microsoft.com/office/drawing/2014/main" id="{EB9ABA9B-1A74-C348-A16E-D901121113DF}"/>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25" name="กล่องข้อความ 24">
            <a:extLst>
              <a:ext uri="{FF2B5EF4-FFF2-40B4-BE49-F238E27FC236}">
                <a16:creationId xmlns:a16="http://schemas.microsoft.com/office/drawing/2014/main" id="{53EF6F0D-EB19-3574-DC80-1D70FB9A204C}"/>
              </a:ext>
            </a:extLst>
          </p:cNvPr>
          <p:cNvSpPr txBox="1">
            <a:spLocks/>
          </p:cNvSpPr>
          <p:nvPr/>
        </p:nvSpPr>
        <p:spPr>
          <a:xfrm>
            <a:off x="648733" y="442731"/>
            <a:ext cx="5830725" cy="2246769"/>
          </a:xfrm>
          <a:prstGeom prst="rect">
            <a:avLst/>
          </a:prstGeom>
          <a:noFill/>
        </p:spPr>
        <p:txBody>
          <a:bodyPr wrap="square" rtlCol="0">
            <a:spAutoFit/>
          </a:bodyPr>
          <a:lstStyle/>
          <a:p>
            <a:r>
              <a:rPr lang="en-US" b="1" dirty="0">
                <a:solidFill>
                  <a:schemeClr val="bg1">
                    <a:lumMod val="75000"/>
                  </a:schemeClr>
                </a:solidFill>
                <a:latin typeface="Helvetica" panose="020B0604020202020204" pitchFamily="34" charset="0"/>
                <a:cs typeface="Helvetica" panose="020B0604020202020204" pitchFamily="34" charset="0"/>
              </a:rPr>
              <a:t>Problem Statement (2 pages)</a:t>
            </a:r>
          </a:p>
          <a:p>
            <a:pPr marL="457200" indent="-457200">
              <a:buFont typeface="Arial" panose="020B0604020202020204" pitchFamily="34" charset="0"/>
              <a:buChar char="•"/>
            </a:pPr>
            <a:r>
              <a:rPr lang="en-US" dirty="0">
                <a:solidFill>
                  <a:schemeClr val="bg1">
                    <a:lumMod val="75000"/>
                  </a:schemeClr>
                </a:solidFill>
                <a:latin typeface="Helvetica" panose="020B0604020202020204" pitchFamily="34" charset="0"/>
                <a:cs typeface="Helvetica" panose="020B0604020202020204" pitchFamily="34" charset="0"/>
              </a:rPr>
              <a:t>Hardware x 1 page</a:t>
            </a:r>
          </a:p>
          <a:p>
            <a:pPr marL="457200" indent="-457200">
              <a:buFont typeface="Arial" panose="020B0604020202020204" pitchFamily="34" charset="0"/>
              <a:buChar char="•"/>
            </a:pPr>
            <a:r>
              <a:rPr lang="en-US" dirty="0">
                <a:solidFill>
                  <a:schemeClr val="bg1">
                    <a:lumMod val="75000"/>
                  </a:schemeClr>
                </a:solidFill>
                <a:latin typeface="Helvetica" panose="020B0604020202020204" pitchFamily="34" charset="0"/>
                <a:cs typeface="Helvetica" panose="020B0604020202020204" pitchFamily="34" charset="0"/>
              </a:rPr>
              <a:t>Software x 1 page</a:t>
            </a:r>
          </a:p>
          <a:p>
            <a:pPr marL="457200" indent="-457200">
              <a:buFont typeface="Arial" panose="020B0604020202020204" pitchFamily="34" charset="0"/>
              <a:buChar char="•"/>
            </a:pPr>
            <a:endParaRPr lang="en-US" dirty="0">
              <a:solidFill>
                <a:schemeClr val="bg1">
                  <a:lumMod val="75000"/>
                </a:schemeClr>
              </a:solidFill>
              <a:latin typeface="Helvetica" panose="020B0604020202020204" pitchFamily="34" charset="0"/>
              <a:cs typeface="Helvetica" panose="020B0604020202020204" pitchFamily="34" charset="0"/>
            </a:endParaRPr>
          </a:p>
          <a:p>
            <a:pPr marL="457200" indent="-457200">
              <a:buFont typeface="Arial" panose="020B0604020202020204" pitchFamily="34" charset="0"/>
              <a:buChar char="•"/>
            </a:pPr>
            <a:endParaRPr lang="th-TH" dirty="0">
              <a:solidFill>
                <a:schemeClr val="bg1">
                  <a:lumMod val="75000"/>
                </a:schemeClr>
              </a:solidFill>
              <a:latin typeface="Helvetica" panose="020B0604020202020204" pitchFamily="34" charset="0"/>
              <a:cs typeface="Mitr" panose="00000500000000000000" pitchFamily="2" charset="-34"/>
            </a:endParaRPr>
          </a:p>
        </p:txBody>
      </p:sp>
    </p:spTree>
    <p:extLst>
      <p:ext uri="{BB962C8B-B14F-4D97-AF65-F5344CB8AC3E}">
        <p14:creationId xmlns:p14="http://schemas.microsoft.com/office/powerpoint/2010/main" val="2159754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Slide title">
            <a:extLst>
              <a:ext uri="{FF2B5EF4-FFF2-40B4-BE49-F238E27FC236}">
                <a16:creationId xmlns:a16="http://schemas.microsoft.com/office/drawing/2014/main" id="{D088098B-70B9-4C34-A4FA-E4806FAC537C}"/>
              </a:ext>
            </a:extLst>
          </p:cNvPr>
          <p:cNvSpPr>
            <a:spLocks noGrp="1"/>
          </p:cNvSpPr>
          <p:nvPr/>
        </p:nvSpPr>
        <p:spPr>
          <a:xfrm>
            <a:off x="525643" y="378573"/>
            <a:ext cx="5110419" cy="538739"/>
          </a:xfrm>
          <a:prstGeom prst="rect">
            <a:avLst/>
          </a:prstGeom>
          <a:noFill/>
          <a:ln w="0">
            <a:noFill/>
          </a:ln>
        </p:spPr>
        <p:txBody>
          <a:bodyPr wrap="square" lIns="0" tIns="0" rIns="0" bIns="0" anchor="ctr">
            <a:normAutofit fontScale="99327"/>
          </a:bodyPr>
          <a:lstStyle/>
          <a:p>
            <a:pPr algn="l">
              <a:defRPr sz="3559" b="1">
                <a:solidFill>
                  <a:srgbClr val="092B6C"/>
                </a:solidFill>
                <a:latin typeface="Arial"/>
                <a:ea typeface="Arial"/>
                <a:cs typeface="Arial"/>
              </a:defRPr>
            </a:pPr>
            <a:r>
              <a:rPr sz="3559" b="1">
                <a:solidFill>
                  <a:srgbClr val="092B6C"/>
                </a:solidFill>
                <a:latin typeface="Arial"/>
                <a:ea typeface="Arial"/>
                <a:cs typeface="Arial"/>
              </a:rPr>
              <a:t>Problem Statements</a:t>
            </a:r>
          </a:p>
        </p:txBody>
      </p:sp>
      <p:sp>
        <p:nvSpPr>
          <p:cNvPr id="2" name="Section heading">
            <a:extLst>
              <a:ext uri="{FF2B5EF4-FFF2-40B4-BE49-F238E27FC236}">
                <a16:creationId xmlns:a16="http://schemas.microsoft.com/office/drawing/2014/main" id="{711C1596-439C-4DDA-B503-0E6327FB2711}"/>
              </a:ext>
            </a:extLst>
          </p:cNvPr>
          <p:cNvSpPr>
            <a:spLocks noGrp="1"/>
          </p:cNvSpPr>
          <p:nvPr/>
        </p:nvSpPr>
        <p:spPr>
          <a:xfrm>
            <a:off x="525643" y="1011955"/>
            <a:ext cx="6570539" cy="378573"/>
          </a:xfrm>
          <a:prstGeom prst="rect">
            <a:avLst/>
          </a:prstGeom>
          <a:noFill/>
          <a:ln w="0">
            <a:noFill/>
          </a:ln>
        </p:spPr>
        <p:txBody>
          <a:bodyPr wrap="square" lIns="0" tIns="0" rIns="0" bIns="0" anchor="ctr">
            <a:normAutofit/>
          </a:bodyPr>
          <a:lstStyle/>
          <a:p>
            <a:pPr algn="l">
              <a:defRPr sz="2296" b="1">
                <a:solidFill>
                  <a:srgbClr val="0B6B31"/>
                </a:solidFill>
                <a:latin typeface="Arial"/>
                <a:ea typeface="Arial"/>
                <a:cs typeface="Arial"/>
              </a:defRPr>
            </a:pPr>
            <a:r>
              <a:rPr sz="2296" b="1">
                <a:solidFill>
                  <a:srgbClr val="0B6B31"/>
                </a:solidFill>
                <a:latin typeface="Arial"/>
                <a:ea typeface="Arial"/>
                <a:cs typeface="Arial"/>
              </a:rPr>
              <a:t>Data Management &amp; Reliability</a:t>
            </a:r>
          </a:p>
        </p:txBody>
      </p:sp>
      <p:sp>
        <p:nvSpPr>
          <p:cNvPr id="3" name="Rectangle 2">
            <a:extLst>
              <a:ext uri="{FF2B5EF4-FFF2-40B4-BE49-F238E27FC236}">
                <a16:creationId xmlns:a16="http://schemas.microsoft.com/office/drawing/2014/main" id="{8DFF943A-6D7E-43E2-A7CD-D076E8B409D5}"/>
              </a:ext>
            </a:extLst>
          </p:cNvPr>
          <p:cNvSpPr>
            <a:spLocks noGrp="1"/>
          </p:cNvSpPr>
          <p:nvPr/>
        </p:nvSpPr>
        <p:spPr>
          <a:xfrm>
            <a:off x="525643" y="1368688"/>
            <a:ext cx="10622371" cy="276650"/>
          </a:xfrm>
          <a:prstGeom prst="rect">
            <a:avLst/>
          </a:prstGeom>
          <a:noFill/>
          <a:ln w="0">
            <a:noFill/>
          </a:ln>
        </p:spPr>
        <p:txBody>
          <a:bodyPr wrap="square" lIns="0" tIns="0" rIns="0" bIns="0" anchor="ctr">
            <a:normAutofit/>
          </a:bodyPr>
          <a:lstStyle/>
          <a:p>
            <a:pPr algn="l">
              <a:defRPr sz="1550" b="0">
                <a:solidFill>
                  <a:srgbClr val="5F7284"/>
                </a:solidFill>
                <a:latin typeface="Arial"/>
                <a:ea typeface="Arial"/>
                <a:cs typeface="Arial"/>
              </a:defRPr>
            </a:pPr>
            <a:r>
              <a:rPr sz="1550" b="0">
                <a:solidFill>
                  <a:srgbClr val="5F7284"/>
                </a:solidFill>
                <a:latin typeface="Arial"/>
                <a:ea typeface="Arial"/>
                <a:cs typeface="Arial"/>
              </a:rPr>
              <a:t>Current ALPL data collection using Excel is manual, unstandardized, and prone to human error.</a:t>
            </a:r>
          </a:p>
        </p:txBody>
      </p:sp>
      <p:sp>
        <p:nvSpPr>
          <p:cNvPr id="5" name="Problem 1 panel">
            <a:extLst>
              <a:ext uri="{FF2B5EF4-FFF2-40B4-BE49-F238E27FC236}">
                <a16:creationId xmlns:a16="http://schemas.microsoft.com/office/drawing/2014/main" id="{1861F2C2-4591-4D19-9803-07681F6F6A93}"/>
              </a:ext>
            </a:extLst>
          </p:cNvPr>
          <p:cNvSpPr>
            <a:spLocks noGrp="1"/>
          </p:cNvSpPr>
          <p:nvPr/>
        </p:nvSpPr>
        <p:spPr>
          <a:xfrm>
            <a:off x="459938" y="1776382"/>
            <a:ext cx="5431646" cy="742586"/>
          </a:xfrm>
          <a:prstGeom prst="roundRect">
            <a:avLst>
              <a:gd name="adj" fmla="val 13745"/>
            </a:avLst>
          </a:prstGeom>
          <a:solidFill>
            <a:srgbClr val="FBF9F8"/>
          </a:solidFill>
          <a:ln w="0">
            <a:noFill/>
            <a:prstDash val="solid"/>
          </a:ln>
        </p:spPr>
        <p:txBody>
          <a:bodyPr/>
          <a:lstStyle/>
          <a:p>
            <a:endParaRPr lang="th-TH"/>
          </a:p>
        </p:txBody>
      </p:sp>
      <p:pic>
        <p:nvPicPr>
          <p:cNvPr id="223" name="Picture 222"/>
          <p:cNvPicPr>
            <a:picLocks noChangeAspect="1"/>
          </p:cNvPicPr>
          <p:nvPr/>
        </p:nvPicPr>
        <p:blipFill>
          <a:blip r:embed="rId3"/>
          <a:stretch/>
        </p:blipFill>
        <p:spPr>
          <a:xfrm>
            <a:off x="603047" y="1834624"/>
            <a:ext cx="567951" cy="575140"/>
          </a:xfrm>
          <a:prstGeom prst="rect">
            <a:avLst/>
          </a:prstGeom>
        </p:spPr>
      </p:pic>
      <p:sp>
        <p:nvSpPr>
          <p:cNvPr id="7" name="Rectangle 6">
            <a:extLst>
              <a:ext uri="{FF2B5EF4-FFF2-40B4-BE49-F238E27FC236}">
                <a16:creationId xmlns:a16="http://schemas.microsoft.com/office/drawing/2014/main" id="{5ACC5C0D-B7E1-4060-9986-02FB6B50C977}"/>
              </a:ext>
            </a:extLst>
          </p:cNvPr>
          <p:cNvSpPr>
            <a:spLocks noGrp="1"/>
          </p:cNvSpPr>
          <p:nvPr/>
        </p:nvSpPr>
        <p:spPr>
          <a:xfrm>
            <a:off x="1430917" y="1827344"/>
            <a:ext cx="4380359" cy="269369"/>
          </a:xfrm>
          <a:prstGeom prst="rect">
            <a:avLst/>
          </a:prstGeom>
          <a:noFill/>
          <a:ln w="0">
            <a:noFill/>
          </a:ln>
        </p:spPr>
        <p:txBody>
          <a:bodyPr wrap="square" lIns="0" tIns="0" rIns="0" bIns="0" anchor="ctr">
            <a:normAutofit/>
          </a:bodyPr>
          <a:lstStyle/>
          <a:p>
            <a:pPr algn="l">
              <a:defRPr sz="1320" b="1">
                <a:solidFill>
                  <a:srgbClr val="092B6C"/>
                </a:solidFill>
                <a:latin typeface="Arial"/>
                <a:ea typeface="Arial"/>
                <a:cs typeface="Arial"/>
              </a:defRPr>
            </a:pPr>
            <a:r>
              <a:rPr sz="1320" b="1">
                <a:solidFill>
                  <a:srgbClr val="092B6C"/>
                </a:solidFill>
                <a:latin typeface="Arial"/>
                <a:ea typeface="Arial"/>
                <a:cs typeface="Arial"/>
              </a:rPr>
              <a:t>Records in separate Excel sheets</a:t>
            </a:r>
          </a:p>
        </p:txBody>
      </p:sp>
      <p:sp>
        <p:nvSpPr>
          <p:cNvPr id="8" name="Rectangle 7">
            <a:extLst>
              <a:ext uri="{FF2B5EF4-FFF2-40B4-BE49-F238E27FC236}">
                <a16:creationId xmlns:a16="http://schemas.microsoft.com/office/drawing/2014/main" id="{4C8C4329-1E48-49EC-B8D3-1746244F68F7}"/>
              </a:ext>
            </a:extLst>
          </p:cNvPr>
          <p:cNvSpPr>
            <a:spLocks noGrp="1"/>
          </p:cNvSpPr>
          <p:nvPr/>
        </p:nvSpPr>
        <p:spPr>
          <a:xfrm>
            <a:off x="1430917" y="2082153"/>
            <a:ext cx="4416862" cy="407694"/>
          </a:xfrm>
          <a:prstGeom prst="rect">
            <a:avLst/>
          </a:prstGeom>
          <a:noFill/>
          <a:ln w="0">
            <a:noFill/>
          </a:ln>
        </p:spPr>
        <p:txBody>
          <a:bodyPr wrap="square" lIns="0" tIns="0" rIns="0" bIns="0" anchor="t">
            <a:normAutofit/>
          </a:bodyPr>
          <a:lstStyle/>
          <a:p>
            <a:pPr algn="l">
              <a:defRPr sz="1148" b="0">
                <a:solidFill>
                  <a:srgbClr val="20437D"/>
                </a:solidFill>
                <a:latin typeface="Arial"/>
                <a:ea typeface="Arial"/>
                <a:cs typeface="Arial"/>
              </a:defRPr>
            </a:pPr>
            <a:r>
              <a:rPr sz="1148" b="0">
                <a:solidFill>
                  <a:srgbClr val="20437D"/>
                </a:solidFill>
                <a:latin typeface="Arial"/>
                <a:ea typeface="Arial"/>
                <a:cs typeface="Arial"/>
              </a:rPr>
              <a:t>Split by part size (e.g. HT9046, MX9046) with no standardized</a:t>
            </a:r>
          </a:p>
          <a:p>
            <a:pPr algn="l">
              <a:defRPr sz="1148" b="0">
                <a:solidFill>
                  <a:srgbClr val="20437D"/>
                </a:solidFill>
                <a:latin typeface="Arial"/>
                <a:ea typeface="Arial"/>
                <a:cs typeface="Arial"/>
              </a:defRPr>
            </a:pPr>
            <a:r>
              <a:rPr sz="1148" b="0">
                <a:solidFill>
                  <a:srgbClr val="20437D"/>
                </a:solidFill>
                <a:latin typeface="Arial"/>
                <a:ea typeface="Arial"/>
                <a:cs typeface="Arial"/>
              </a:rPr>
              <a:t>format.</a:t>
            </a:r>
          </a:p>
        </p:txBody>
      </p:sp>
      <p:sp>
        <p:nvSpPr>
          <p:cNvPr id="9" name="Problem 2 panel">
            <a:extLst>
              <a:ext uri="{FF2B5EF4-FFF2-40B4-BE49-F238E27FC236}">
                <a16:creationId xmlns:a16="http://schemas.microsoft.com/office/drawing/2014/main" id="{951ED219-B14B-4A1E-B28C-580FEC213639}"/>
              </a:ext>
            </a:extLst>
          </p:cNvPr>
          <p:cNvSpPr>
            <a:spLocks noGrp="1"/>
          </p:cNvSpPr>
          <p:nvPr/>
        </p:nvSpPr>
        <p:spPr>
          <a:xfrm>
            <a:off x="459938" y="2577210"/>
            <a:ext cx="5431646" cy="640662"/>
          </a:xfrm>
          <a:prstGeom prst="roundRect">
            <a:avLst>
              <a:gd name="adj" fmla="val 15931"/>
            </a:avLst>
          </a:prstGeom>
          <a:solidFill>
            <a:srgbClr val="FBF9F8"/>
          </a:solidFill>
          <a:ln w="0">
            <a:noFill/>
            <a:prstDash val="solid"/>
          </a:ln>
        </p:spPr>
        <p:txBody>
          <a:bodyPr/>
          <a:lstStyle/>
          <a:p>
            <a:endParaRPr lang="th-TH"/>
          </a:p>
        </p:txBody>
      </p:sp>
      <p:pic>
        <p:nvPicPr>
          <p:cNvPr id="227" name="Picture 226"/>
          <p:cNvPicPr>
            <a:picLocks noChangeAspect="1"/>
          </p:cNvPicPr>
          <p:nvPr/>
        </p:nvPicPr>
        <p:blipFill>
          <a:blip r:embed="rId4"/>
          <a:stretch/>
        </p:blipFill>
        <p:spPr>
          <a:xfrm>
            <a:off x="603047" y="2635452"/>
            <a:ext cx="567951" cy="575140"/>
          </a:xfrm>
          <a:prstGeom prst="rect">
            <a:avLst/>
          </a:prstGeom>
        </p:spPr>
      </p:pic>
      <p:sp>
        <p:nvSpPr>
          <p:cNvPr id="11" name="Rectangle 10">
            <a:extLst>
              <a:ext uri="{FF2B5EF4-FFF2-40B4-BE49-F238E27FC236}">
                <a16:creationId xmlns:a16="http://schemas.microsoft.com/office/drawing/2014/main" id="{ECD7E56F-71FB-4ADE-915E-7DB6FBC5B3B3}"/>
              </a:ext>
            </a:extLst>
          </p:cNvPr>
          <p:cNvSpPr>
            <a:spLocks noGrp="1"/>
          </p:cNvSpPr>
          <p:nvPr/>
        </p:nvSpPr>
        <p:spPr>
          <a:xfrm>
            <a:off x="1430917" y="2628172"/>
            <a:ext cx="4380359" cy="269369"/>
          </a:xfrm>
          <a:prstGeom prst="rect">
            <a:avLst/>
          </a:prstGeom>
          <a:noFill/>
          <a:ln w="0">
            <a:noFill/>
          </a:ln>
        </p:spPr>
        <p:txBody>
          <a:bodyPr wrap="square" lIns="0" tIns="0" rIns="0" bIns="0" anchor="ctr">
            <a:normAutofit/>
          </a:bodyPr>
          <a:lstStyle/>
          <a:p>
            <a:pPr algn="l">
              <a:defRPr sz="1320" b="1">
                <a:solidFill>
                  <a:srgbClr val="092B6C"/>
                </a:solidFill>
                <a:latin typeface="Arial"/>
                <a:ea typeface="Arial"/>
                <a:cs typeface="Arial"/>
              </a:defRPr>
            </a:pPr>
            <a:r>
              <a:rPr sz="1320" b="1">
                <a:solidFill>
                  <a:srgbClr val="092B6C"/>
                </a:solidFill>
                <a:latin typeface="Arial"/>
                <a:ea typeface="Arial"/>
                <a:cs typeface="Arial"/>
              </a:rPr>
              <a:t>ALPL specifications are not centrally stored</a:t>
            </a:r>
          </a:p>
        </p:txBody>
      </p:sp>
      <p:sp>
        <p:nvSpPr>
          <p:cNvPr id="12" name="Rectangle 11">
            <a:extLst>
              <a:ext uri="{FF2B5EF4-FFF2-40B4-BE49-F238E27FC236}">
                <a16:creationId xmlns:a16="http://schemas.microsoft.com/office/drawing/2014/main" id="{E3F48C56-EBAF-4819-BAFE-6A52ACFD7C04}"/>
              </a:ext>
            </a:extLst>
          </p:cNvPr>
          <p:cNvSpPr>
            <a:spLocks noGrp="1"/>
          </p:cNvSpPr>
          <p:nvPr/>
        </p:nvSpPr>
        <p:spPr>
          <a:xfrm>
            <a:off x="1430917" y="2882981"/>
            <a:ext cx="4416862" cy="305771"/>
          </a:xfrm>
          <a:prstGeom prst="rect">
            <a:avLst/>
          </a:prstGeom>
          <a:noFill/>
          <a:ln w="0">
            <a:noFill/>
          </a:ln>
        </p:spPr>
        <p:txBody>
          <a:bodyPr wrap="square" lIns="0" tIns="0" rIns="0" bIns="0" anchor="t">
            <a:normAutofit/>
          </a:bodyPr>
          <a:lstStyle/>
          <a:p>
            <a:pPr algn="l">
              <a:defRPr sz="1148" b="0">
                <a:solidFill>
                  <a:srgbClr val="20437D"/>
                </a:solidFill>
                <a:latin typeface="Arial"/>
                <a:ea typeface="Arial"/>
                <a:cs typeface="Arial"/>
              </a:defRPr>
            </a:pPr>
            <a:r>
              <a:rPr sz="1148" b="0">
                <a:solidFill>
                  <a:srgbClr val="20437D"/>
                </a:solidFill>
                <a:latin typeface="Arial"/>
                <a:ea typeface="Arial"/>
                <a:cs typeface="Arial"/>
              </a:rPr>
              <a:t>Need to search or ask operator at the PM Kit room.</a:t>
            </a:r>
          </a:p>
        </p:txBody>
      </p:sp>
      <p:sp>
        <p:nvSpPr>
          <p:cNvPr id="13" name="Problem 3 panel">
            <a:extLst>
              <a:ext uri="{FF2B5EF4-FFF2-40B4-BE49-F238E27FC236}">
                <a16:creationId xmlns:a16="http://schemas.microsoft.com/office/drawing/2014/main" id="{40307546-CD34-47E0-B265-89661EB80BED}"/>
              </a:ext>
            </a:extLst>
          </p:cNvPr>
          <p:cNvSpPr>
            <a:spLocks noGrp="1"/>
          </p:cNvSpPr>
          <p:nvPr/>
        </p:nvSpPr>
        <p:spPr>
          <a:xfrm>
            <a:off x="459938" y="3290675"/>
            <a:ext cx="5431646" cy="633382"/>
          </a:xfrm>
          <a:prstGeom prst="roundRect">
            <a:avLst>
              <a:gd name="adj" fmla="val 16114"/>
            </a:avLst>
          </a:prstGeom>
          <a:solidFill>
            <a:srgbClr val="FBF9F8"/>
          </a:solidFill>
          <a:ln w="0">
            <a:noFill/>
            <a:prstDash val="solid"/>
          </a:ln>
        </p:spPr>
        <p:txBody>
          <a:bodyPr/>
          <a:lstStyle/>
          <a:p>
            <a:endParaRPr lang="th-TH"/>
          </a:p>
        </p:txBody>
      </p:sp>
      <p:pic>
        <p:nvPicPr>
          <p:cNvPr id="231" name="Picture 230"/>
          <p:cNvPicPr>
            <a:picLocks noChangeAspect="1"/>
          </p:cNvPicPr>
          <p:nvPr/>
        </p:nvPicPr>
        <p:blipFill>
          <a:blip r:embed="rId5"/>
          <a:stretch/>
        </p:blipFill>
        <p:spPr>
          <a:xfrm>
            <a:off x="603047" y="3348917"/>
            <a:ext cx="567951" cy="575140"/>
          </a:xfrm>
          <a:prstGeom prst="rect">
            <a:avLst/>
          </a:prstGeom>
        </p:spPr>
      </p:pic>
      <p:sp>
        <p:nvSpPr>
          <p:cNvPr id="15" name="Rectangle 14">
            <a:extLst>
              <a:ext uri="{FF2B5EF4-FFF2-40B4-BE49-F238E27FC236}">
                <a16:creationId xmlns:a16="http://schemas.microsoft.com/office/drawing/2014/main" id="{57BF8603-084D-4C25-8CF6-B77497147A95}"/>
              </a:ext>
            </a:extLst>
          </p:cNvPr>
          <p:cNvSpPr>
            <a:spLocks noGrp="1"/>
          </p:cNvSpPr>
          <p:nvPr/>
        </p:nvSpPr>
        <p:spPr>
          <a:xfrm>
            <a:off x="1430917" y="3341637"/>
            <a:ext cx="4380359" cy="269369"/>
          </a:xfrm>
          <a:prstGeom prst="rect">
            <a:avLst/>
          </a:prstGeom>
          <a:noFill/>
          <a:ln w="0">
            <a:noFill/>
          </a:ln>
        </p:spPr>
        <p:txBody>
          <a:bodyPr wrap="square" lIns="0" tIns="0" rIns="0" bIns="0" anchor="ctr">
            <a:normAutofit/>
          </a:bodyPr>
          <a:lstStyle/>
          <a:p>
            <a:pPr algn="l">
              <a:defRPr sz="1320" b="1">
                <a:solidFill>
                  <a:srgbClr val="092B6C"/>
                </a:solidFill>
                <a:latin typeface="Arial"/>
                <a:ea typeface="Arial"/>
                <a:cs typeface="Arial"/>
              </a:defRPr>
            </a:pPr>
            <a:r>
              <a:rPr sz="1320" b="1">
                <a:solidFill>
                  <a:srgbClr val="092B6C"/>
                </a:solidFill>
                <a:latin typeface="Arial"/>
                <a:ea typeface="Arial"/>
                <a:cs typeface="Arial"/>
              </a:rPr>
              <a:t>Data access depends on operator</a:t>
            </a:r>
          </a:p>
        </p:txBody>
      </p:sp>
      <p:sp>
        <p:nvSpPr>
          <p:cNvPr id="16" name="Rectangle 15">
            <a:extLst>
              <a:ext uri="{FF2B5EF4-FFF2-40B4-BE49-F238E27FC236}">
                <a16:creationId xmlns:a16="http://schemas.microsoft.com/office/drawing/2014/main" id="{B791DFEF-5A79-49DA-AC24-185E6658C048}"/>
              </a:ext>
            </a:extLst>
          </p:cNvPr>
          <p:cNvSpPr>
            <a:spLocks noGrp="1"/>
          </p:cNvSpPr>
          <p:nvPr/>
        </p:nvSpPr>
        <p:spPr>
          <a:xfrm>
            <a:off x="1430917" y="3596446"/>
            <a:ext cx="4416862" cy="298490"/>
          </a:xfrm>
          <a:prstGeom prst="rect">
            <a:avLst/>
          </a:prstGeom>
          <a:noFill/>
          <a:ln w="0">
            <a:noFill/>
          </a:ln>
        </p:spPr>
        <p:txBody>
          <a:bodyPr wrap="square" lIns="0" tIns="0" rIns="0" bIns="0" anchor="t">
            <a:normAutofit/>
          </a:bodyPr>
          <a:lstStyle/>
          <a:p>
            <a:pPr algn="l">
              <a:defRPr sz="1148" b="0">
                <a:solidFill>
                  <a:srgbClr val="20437D"/>
                </a:solidFill>
                <a:latin typeface="Arial"/>
                <a:ea typeface="Arial"/>
                <a:cs typeface="Arial"/>
              </a:defRPr>
            </a:pPr>
            <a:r>
              <a:rPr sz="1148" b="0">
                <a:solidFill>
                  <a:srgbClr val="20437D"/>
                </a:solidFill>
                <a:latin typeface="Arial"/>
                <a:ea typeface="Arial"/>
                <a:cs typeface="Arial"/>
              </a:rPr>
              <a:t>No direct or immediate access.</a:t>
            </a:r>
          </a:p>
        </p:txBody>
      </p:sp>
      <p:sp>
        <p:nvSpPr>
          <p:cNvPr id="17" name="Problem 4 panel">
            <a:extLst>
              <a:ext uri="{FF2B5EF4-FFF2-40B4-BE49-F238E27FC236}">
                <a16:creationId xmlns:a16="http://schemas.microsoft.com/office/drawing/2014/main" id="{DC38BDCF-BA36-48F6-B257-849F7E50B3C3}"/>
              </a:ext>
            </a:extLst>
          </p:cNvPr>
          <p:cNvSpPr>
            <a:spLocks noGrp="1"/>
          </p:cNvSpPr>
          <p:nvPr/>
        </p:nvSpPr>
        <p:spPr>
          <a:xfrm>
            <a:off x="459938" y="3989580"/>
            <a:ext cx="5431646" cy="633382"/>
          </a:xfrm>
          <a:prstGeom prst="roundRect">
            <a:avLst>
              <a:gd name="adj" fmla="val 16114"/>
            </a:avLst>
          </a:prstGeom>
          <a:solidFill>
            <a:srgbClr val="FBF9F8"/>
          </a:solidFill>
          <a:ln w="0">
            <a:noFill/>
            <a:prstDash val="solid"/>
          </a:ln>
        </p:spPr>
        <p:txBody>
          <a:bodyPr/>
          <a:lstStyle/>
          <a:p>
            <a:endParaRPr lang="th-TH"/>
          </a:p>
        </p:txBody>
      </p:sp>
      <p:pic>
        <p:nvPicPr>
          <p:cNvPr id="235" name="Picture 234"/>
          <p:cNvPicPr>
            <a:picLocks noChangeAspect="1"/>
          </p:cNvPicPr>
          <p:nvPr/>
        </p:nvPicPr>
        <p:blipFill>
          <a:blip r:embed="rId6"/>
          <a:stretch/>
        </p:blipFill>
        <p:spPr>
          <a:xfrm>
            <a:off x="603047" y="4047822"/>
            <a:ext cx="567951" cy="575140"/>
          </a:xfrm>
          <a:prstGeom prst="rect">
            <a:avLst/>
          </a:prstGeom>
        </p:spPr>
      </p:pic>
      <p:sp>
        <p:nvSpPr>
          <p:cNvPr id="19" name="Rectangle 18">
            <a:extLst>
              <a:ext uri="{FF2B5EF4-FFF2-40B4-BE49-F238E27FC236}">
                <a16:creationId xmlns:a16="http://schemas.microsoft.com/office/drawing/2014/main" id="{FB2CAC7A-3A58-4525-8A07-0832C9708CC4}"/>
              </a:ext>
            </a:extLst>
          </p:cNvPr>
          <p:cNvSpPr>
            <a:spLocks noGrp="1"/>
          </p:cNvSpPr>
          <p:nvPr/>
        </p:nvSpPr>
        <p:spPr>
          <a:xfrm>
            <a:off x="1430917" y="4040541"/>
            <a:ext cx="4380359" cy="269369"/>
          </a:xfrm>
          <a:prstGeom prst="rect">
            <a:avLst/>
          </a:prstGeom>
          <a:noFill/>
          <a:ln w="0">
            <a:noFill/>
          </a:ln>
        </p:spPr>
        <p:txBody>
          <a:bodyPr wrap="square" lIns="0" tIns="0" rIns="0" bIns="0" anchor="ctr">
            <a:normAutofit/>
          </a:bodyPr>
          <a:lstStyle/>
          <a:p>
            <a:pPr algn="l">
              <a:defRPr sz="1320" b="1">
                <a:solidFill>
                  <a:srgbClr val="092B6C"/>
                </a:solidFill>
                <a:latin typeface="Arial"/>
                <a:ea typeface="Arial"/>
                <a:cs typeface="Arial"/>
              </a:defRPr>
            </a:pPr>
            <a:r>
              <a:rPr sz="1320" b="1">
                <a:solidFill>
                  <a:srgbClr val="092B6C"/>
                </a:solidFill>
                <a:latin typeface="Arial"/>
                <a:ea typeface="Arial"/>
                <a:cs typeface="Arial"/>
              </a:rPr>
              <a:t>No timestamp or operator identity</a:t>
            </a:r>
          </a:p>
        </p:txBody>
      </p:sp>
      <p:sp>
        <p:nvSpPr>
          <p:cNvPr id="20" name="Rectangle 19">
            <a:extLst>
              <a:ext uri="{FF2B5EF4-FFF2-40B4-BE49-F238E27FC236}">
                <a16:creationId xmlns:a16="http://schemas.microsoft.com/office/drawing/2014/main" id="{9E26E2FE-C824-4E60-BF1D-D9A1594D655C}"/>
              </a:ext>
            </a:extLst>
          </p:cNvPr>
          <p:cNvSpPr>
            <a:spLocks noGrp="1"/>
          </p:cNvSpPr>
          <p:nvPr/>
        </p:nvSpPr>
        <p:spPr>
          <a:xfrm>
            <a:off x="1430917" y="4295350"/>
            <a:ext cx="4416862" cy="298490"/>
          </a:xfrm>
          <a:prstGeom prst="rect">
            <a:avLst/>
          </a:prstGeom>
          <a:noFill/>
          <a:ln w="0">
            <a:noFill/>
          </a:ln>
        </p:spPr>
        <p:txBody>
          <a:bodyPr wrap="square" lIns="0" tIns="0" rIns="0" bIns="0" anchor="t">
            <a:normAutofit/>
          </a:bodyPr>
          <a:lstStyle/>
          <a:p>
            <a:pPr algn="l">
              <a:defRPr sz="1148" b="0">
                <a:solidFill>
                  <a:srgbClr val="20437D"/>
                </a:solidFill>
                <a:latin typeface="Arial"/>
                <a:ea typeface="Arial"/>
                <a:cs typeface="Arial"/>
              </a:defRPr>
            </a:pPr>
            <a:r>
              <a:rPr sz="1148" b="0">
                <a:solidFill>
                  <a:srgbClr val="20437D"/>
                </a:solidFill>
                <a:latin typeface="Arial"/>
                <a:ea typeface="Arial"/>
                <a:cs typeface="Arial"/>
              </a:rPr>
              <a:t>When a result is questioned, root cause cannot be traced.</a:t>
            </a:r>
          </a:p>
        </p:txBody>
      </p:sp>
      <p:sp>
        <p:nvSpPr>
          <p:cNvPr id="21" name="Problem 5 panel">
            <a:extLst>
              <a:ext uri="{FF2B5EF4-FFF2-40B4-BE49-F238E27FC236}">
                <a16:creationId xmlns:a16="http://schemas.microsoft.com/office/drawing/2014/main" id="{374926DE-B81F-4C3B-B770-80254C5B0D6A}"/>
              </a:ext>
            </a:extLst>
          </p:cNvPr>
          <p:cNvSpPr>
            <a:spLocks noGrp="1"/>
          </p:cNvSpPr>
          <p:nvPr/>
        </p:nvSpPr>
        <p:spPr>
          <a:xfrm>
            <a:off x="459938" y="4688484"/>
            <a:ext cx="5431646" cy="662503"/>
          </a:xfrm>
          <a:prstGeom prst="roundRect">
            <a:avLst>
              <a:gd name="adj" fmla="val 15406"/>
            </a:avLst>
          </a:prstGeom>
          <a:solidFill>
            <a:srgbClr val="FBF9F8"/>
          </a:solidFill>
          <a:ln w="0">
            <a:noFill/>
            <a:prstDash val="solid"/>
          </a:ln>
        </p:spPr>
        <p:txBody>
          <a:bodyPr/>
          <a:lstStyle/>
          <a:p>
            <a:endParaRPr lang="th-TH"/>
          </a:p>
        </p:txBody>
      </p:sp>
      <p:pic>
        <p:nvPicPr>
          <p:cNvPr id="239" name="Picture 238"/>
          <p:cNvPicPr>
            <a:picLocks noChangeAspect="1"/>
          </p:cNvPicPr>
          <p:nvPr/>
        </p:nvPicPr>
        <p:blipFill>
          <a:blip r:embed="rId7"/>
          <a:stretch/>
        </p:blipFill>
        <p:spPr>
          <a:xfrm>
            <a:off x="603047" y="4746726"/>
            <a:ext cx="567951" cy="575140"/>
          </a:xfrm>
          <a:prstGeom prst="rect">
            <a:avLst/>
          </a:prstGeom>
        </p:spPr>
      </p:pic>
      <p:sp>
        <p:nvSpPr>
          <p:cNvPr id="23" name="Rectangle 22">
            <a:extLst>
              <a:ext uri="{FF2B5EF4-FFF2-40B4-BE49-F238E27FC236}">
                <a16:creationId xmlns:a16="http://schemas.microsoft.com/office/drawing/2014/main" id="{C33DF626-696B-4C1F-B264-7D69BFA319B6}"/>
              </a:ext>
            </a:extLst>
          </p:cNvPr>
          <p:cNvSpPr>
            <a:spLocks noGrp="1"/>
          </p:cNvSpPr>
          <p:nvPr/>
        </p:nvSpPr>
        <p:spPr>
          <a:xfrm>
            <a:off x="1430917" y="4739446"/>
            <a:ext cx="4380359" cy="269369"/>
          </a:xfrm>
          <a:prstGeom prst="rect">
            <a:avLst/>
          </a:prstGeom>
          <a:noFill/>
          <a:ln w="0">
            <a:noFill/>
          </a:ln>
        </p:spPr>
        <p:txBody>
          <a:bodyPr wrap="square" lIns="0" tIns="0" rIns="0" bIns="0" anchor="ctr">
            <a:normAutofit/>
          </a:bodyPr>
          <a:lstStyle/>
          <a:p>
            <a:pPr algn="l">
              <a:defRPr sz="1320" b="1">
                <a:solidFill>
                  <a:srgbClr val="092B6C"/>
                </a:solidFill>
                <a:latin typeface="Arial"/>
                <a:ea typeface="Arial"/>
                <a:cs typeface="Arial"/>
              </a:defRPr>
            </a:pPr>
            <a:r>
              <a:rPr sz="1320" b="1">
                <a:solidFill>
                  <a:srgbClr val="092B6C"/>
                </a:solidFill>
                <a:latin typeface="Arial"/>
                <a:ea typeface="Arial"/>
                <a:cs typeface="Arial"/>
              </a:rPr>
              <a:t>Manual recording causes frequent human error</a:t>
            </a:r>
          </a:p>
        </p:txBody>
      </p:sp>
      <p:sp>
        <p:nvSpPr>
          <p:cNvPr id="24" name="Rectangle 23">
            <a:extLst>
              <a:ext uri="{FF2B5EF4-FFF2-40B4-BE49-F238E27FC236}">
                <a16:creationId xmlns:a16="http://schemas.microsoft.com/office/drawing/2014/main" id="{3A3BB4FF-EFCA-4D06-BA76-DB7190C4C84C}"/>
              </a:ext>
            </a:extLst>
          </p:cNvPr>
          <p:cNvSpPr>
            <a:spLocks noGrp="1"/>
          </p:cNvSpPr>
          <p:nvPr/>
        </p:nvSpPr>
        <p:spPr>
          <a:xfrm>
            <a:off x="1430917" y="4994255"/>
            <a:ext cx="4416862" cy="327611"/>
          </a:xfrm>
          <a:prstGeom prst="rect">
            <a:avLst/>
          </a:prstGeom>
          <a:noFill/>
          <a:ln w="0">
            <a:noFill/>
          </a:ln>
        </p:spPr>
        <p:txBody>
          <a:bodyPr wrap="square" lIns="0" tIns="0" rIns="0" bIns="0" anchor="t">
            <a:normAutofit/>
          </a:bodyPr>
          <a:lstStyle/>
          <a:p>
            <a:pPr algn="l">
              <a:defRPr sz="1148" b="0">
                <a:solidFill>
                  <a:srgbClr val="20437D"/>
                </a:solidFill>
                <a:latin typeface="Arial"/>
                <a:ea typeface="Arial"/>
                <a:cs typeface="Arial"/>
              </a:defRPr>
            </a:pPr>
            <a:r>
              <a:rPr sz="1148" b="0">
                <a:solidFill>
                  <a:srgbClr val="20437D"/>
                </a:solidFill>
                <a:latin typeface="Arial"/>
                <a:ea typeface="Arial"/>
                <a:cs typeface="Arial"/>
              </a:rPr>
              <a:t>Result entries do not always match the measured values.</a:t>
            </a:r>
          </a:p>
        </p:txBody>
      </p:sp>
      <p:sp>
        <p:nvSpPr>
          <p:cNvPr id="25" name="Error metric panel">
            <a:extLst>
              <a:ext uri="{FF2B5EF4-FFF2-40B4-BE49-F238E27FC236}">
                <a16:creationId xmlns:a16="http://schemas.microsoft.com/office/drawing/2014/main" id="{1664D1C6-85A3-4AE0-BA58-E4D794E7D17A}"/>
              </a:ext>
            </a:extLst>
          </p:cNvPr>
          <p:cNvSpPr>
            <a:spLocks noGrp="1"/>
          </p:cNvSpPr>
          <p:nvPr/>
        </p:nvSpPr>
        <p:spPr>
          <a:xfrm>
            <a:off x="467238" y="5431070"/>
            <a:ext cx="5424345" cy="1128439"/>
          </a:xfrm>
          <a:prstGeom prst="roundRect">
            <a:avLst>
              <a:gd name="adj" fmla="val 11629"/>
            </a:avLst>
          </a:prstGeom>
          <a:solidFill>
            <a:srgbClr val="FCE8E9"/>
          </a:solidFill>
          <a:ln w="0">
            <a:noFill/>
            <a:prstDash val="solid"/>
          </a:ln>
        </p:spPr>
        <p:txBody>
          <a:bodyPr/>
          <a:lstStyle/>
          <a:p>
            <a:endParaRPr lang="th-TH"/>
          </a:p>
        </p:txBody>
      </p:sp>
      <p:sp>
        <p:nvSpPr>
          <p:cNvPr id="26" name="Rectangle 25">
            <a:extLst>
              <a:ext uri="{FF2B5EF4-FFF2-40B4-BE49-F238E27FC236}">
                <a16:creationId xmlns:a16="http://schemas.microsoft.com/office/drawing/2014/main" id="{DCAF667D-5ED9-45E9-9EC0-FEA5892A3ABA}"/>
              </a:ext>
            </a:extLst>
          </p:cNvPr>
          <p:cNvSpPr>
            <a:spLocks noGrp="1"/>
          </p:cNvSpPr>
          <p:nvPr/>
        </p:nvSpPr>
        <p:spPr>
          <a:xfrm>
            <a:off x="722759" y="5926127"/>
            <a:ext cx="131411" cy="218408"/>
          </a:xfrm>
          <a:prstGeom prst="rect">
            <a:avLst/>
          </a:prstGeom>
          <a:solidFill>
            <a:srgbClr val="B90000"/>
          </a:solidFill>
          <a:ln w="0">
            <a:noFill/>
            <a:prstDash val="solid"/>
          </a:ln>
        </p:spPr>
        <p:txBody>
          <a:bodyPr/>
          <a:lstStyle/>
          <a:p>
            <a:endParaRPr lang="th-TH"/>
          </a:p>
        </p:txBody>
      </p:sp>
      <p:sp>
        <p:nvSpPr>
          <p:cNvPr id="27" name="Rectangle 26">
            <a:extLst>
              <a:ext uri="{FF2B5EF4-FFF2-40B4-BE49-F238E27FC236}">
                <a16:creationId xmlns:a16="http://schemas.microsoft.com/office/drawing/2014/main" id="{9ACC727D-5285-496B-9393-3D9DFDC8E271}"/>
              </a:ext>
            </a:extLst>
          </p:cNvPr>
          <p:cNvSpPr>
            <a:spLocks noGrp="1"/>
          </p:cNvSpPr>
          <p:nvPr/>
        </p:nvSpPr>
        <p:spPr>
          <a:xfrm>
            <a:off x="905274" y="5795083"/>
            <a:ext cx="131411" cy="349452"/>
          </a:xfrm>
          <a:prstGeom prst="rect">
            <a:avLst/>
          </a:prstGeom>
          <a:solidFill>
            <a:srgbClr val="B90000"/>
          </a:solidFill>
          <a:ln w="0">
            <a:noFill/>
            <a:prstDash val="solid"/>
          </a:ln>
        </p:spPr>
        <p:txBody>
          <a:bodyPr/>
          <a:lstStyle/>
          <a:p>
            <a:endParaRPr lang="th-TH"/>
          </a:p>
        </p:txBody>
      </p:sp>
      <p:sp>
        <p:nvSpPr>
          <p:cNvPr id="28" name="Rectangle 27">
            <a:extLst>
              <a:ext uri="{FF2B5EF4-FFF2-40B4-BE49-F238E27FC236}">
                <a16:creationId xmlns:a16="http://schemas.microsoft.com/office/drawing/2014/main" id="{BB3F577F-8F27-4A86-BB26-1359F2838F5E}"/>
              </a:ext>
            </a:extLst>
          </p:cNvPr>
          <p:cNvSpPr>
            <a:spLocks noGrp="1"/>
          </p:cNvSpPr>
          <p:nvPr/>
        </p:nvSpPr>
        <p:spPr>
          <a:xfrm>
            <a:off x="1087789" y="5664038"/>
            <a:ext cx="131411" cy="480497"/>
          </a:xfrm>
          <a:prstGeom prst="rect">
            <a:avLst/>
          </a:prstGeom>
          <a:solidFill>
            <a:srgbClr val="B90000"/>
          </a:solidFill>
          <a:ln w="0">
            <a:noFill/>
            <a:prstDash val="solid"/>
          </a:ln>
        </p:spPr>
        <p:txBody>
          <a:bodyPr/>
          <a:lstStyle/>
          <a:p>
            <a:endParaRPr lang="th-TH"/>
          </a:p>
        </p:txBody>
      </p:sp>
      <p:sp>
        <p:nvSpPr>
          <p:cNvPr id="29" name="Rectangle 28">
            <a:extLst>
              <a:ext uri="{FF2B5EF4-FFF2-40B4-BE49-F238E27FC236}">
                <a16:creationId xmlns:a16="http://schemas.microsoft.com/office/drawing/2014/main" id="{0EA5C746-E2F0-4E22-993F-B8442C756FAD}"/>
              </a:ext>
            </a:extLst>
          </p:cNvPr>
          <p:cNvSpPr>
            <a:spLocks noGrp="1"/>
          </p:cNvSpPr>
          <p:nvPr/>
        </p:nvSpPr>
        <p:spPr>
          <a:xfrm>
            <a:off x="1540426" y="5511153"/>
            <a:ext cx="4161341" cy="451376"/>
          </a:xfrm>
          <a:prstGeom prst="rect">
            <a:avLst/>
          </a:prstGeom>
          <a:noFill/>
          <a:ln w="0">
            <a:noFill/>
          </a:ln>
        </p:spPr>
        <p:txBody>
          <a:bodyPr wrap="square" lIns="0" tIns="0" rIns="0" bIns="0" anchor="ctr">
            <a:normAutofit fontScale="93816" lnSpcReduction="10000"/>
          </a:bodyPr>
          <a:lstStyle/>
          <a:p>
            <a:pPr algn="l">
              <a:defRPr sz="3157" b="1">
                <a:solidFill>
                  <a:srgbClr val="B90000"/>
                </a:solidFill>
                <a:latin typeface="Arial"/>
                <a:ea typeface="Arial"/>
                <a:cs typeface="Arial"/>
              </a:defRPr>
            </a:pPr>
            <a:r>
              <a:rPr sz="3157" b="1">
                <a:solidFill>
                  <a:srgbClr val="B90000"/>
                </a:solidFill>
                <a:latin typeface="Arial"/>
                <a:ea typeface="Arial"/>
                <a:cs typeface="Arial"/>
              </a:rPr>
              <a:t>700 / 1,978 parts</a:t>
            </a:r>
          </a:p>
        </p:txBody>
      </p:sp>
      <p:sp>
        <p:nvSpPr>
          <p:cNvPr id="30" name="Rectangle 29">
            <a:extLst>
              <a:ext uri="{FF2B5EF4-FFF2-40B4-BE49-F238E27FC236}">
                <a16:creationId xmlns:a16="http://schemas.microsoft.com/office/drawing/2014/main" id="{7B7DA63E-44FB-4B07-B577-EFA4C9F4ED1D}"/>
              </a:ext>
            </a:extLst>
          </p:cNvPr>
          <p:cNvSpPr>
            <a:spLocks noGrp="1"/>
          </p:cNvSpPr>
          <p:nvPr/>
        </p:nvSpPr>
        <p:spPr>
          <a:xfrm>
            <a:off x="1540426" y="5962529"/>
            <a:ext cx="1168096" cy="313051"/>
          </a:xfrm>
          <a:prstGeom prst="rect">
            <a:avLst/>
          </a:prstGeom>
          <a:noFill/>
          <a:ln w="0">
            <a:noFill/>
          </a:ln>
        </p:spPr>
        <p:txBody>
          <a:bodyPr wrap="square" lIns="0" tIns="0" rIns="0" bIns="0" anchor="ctr">
            <a:normAutofit fontScale="96711" lnSpcReduction="10000"/>
          </a:bodyPr>
          <a:lstStyle/>
          <a:p>
            <a:pPr algn="l">
              <a:defRPr sz="2124" b="1">
                <a:solidFill>
                  <a:srgbClr val="B90000"/>
                </a:solidFill>
                <a:latin typeface="Arial"/>
                <a:ea typeface="Arial"/>
                <a:cs typeface="Arial"/>
              </a:defRPr>
            </a:pPr>
            <a:r>
              <a:rPr sz="2124" b="1">
                <a:solidFill>
                  <a:srgbClr val="B90000"/>
                </a:solidFill>
                <a:latin typeface="Arial"/>
                <a:ea typeface="Arial"/>
                <a:cs typeface="Arial"/>
              </a:rPr>
              <a:t>35.39%</a:t>
            </a:r>
          </a:p>
        </p:txBody>
      </p:sp>
      <p:sp>
        <p:nvSpPr>
          <p:cNvPr id="31" name="Rectangle 30">
            <a:extLst>
              <a:ext uri="{FF2B5EF4-FFF2-40B4-BE49-F238E27FC236}">
                <a16:creationId xmlns:a16="http://schemas.microsoft.com/office/drawing/2014/main" id="{100D4A1D-E00F-4A98-B7B1-0C78C3EE8BB8}"/>
              </a:ext>
            </a:extLst>
          </p:cNvPr>
          <p:cNvSpPr>
            <a:spLocks noGrp="1"/>
          </p:cNvSpPr>
          <p:nvPr/>
        </p:nvSpPr>
        <p:spPr>
          <a:xfrm>
            <a:off x="2774228" y="5991650"/>
            <a:ext cx="2993246" cy="283930"/>
          </a:xfrm>
          <a:prstGeom prst="rect">
            <a:avLst/>
          </a:prstGeom>
          <a:noFill/>
          <a:ln w="0">
            <a:noFill/>
          </a:ln>
        </p:spPr>
        <p:txBody>
          <a:bodyPr wrap="square" lIns="0" tIns="0" rIns="0" bIns="0" anchor="ctr">
            <a:normAutofit/>
          </a:bodyPr>
          <a:lstStyle/>
          <a:p>
            <a:pPr algn="l">
              <a:defRPr sz="1780" b="0">
                <a:solidFill>
                  <a:srgbClr val="B90000"/>
                </a:solidFill>
                <a:latin typeface="Arial"/>
                <a:ea typeface="Arial"/>
                <a:cs typeface="Arial"/>
              </a:defRPr>
            </a:pPr>
            <a:r>
              <a:rPr sz="1780" b="0">
                <a:solidFill>
                  <a:srgbClr val="B90000"/>
                </a:solidFill>
                <a:latin typeface="Arial"/>
                <a:ea typeface="Arial"/>
                <a:cs typeface="Arial"/>
              </a:rPr>
              <a:t>incorrect Result entries</a:t>
            </a:r>
          </a:p>
        </p:txBody>
      </p:sp>
      <p:sp>
        <p:nvSpPr>
          <p:cNvPr id="32" name="Rectangle 31">
            <a:extLst>
              <a:ext uri="{FF2B5EF4-FFF2-40B4-BE49-F238E27FC236}">
                <a16:creationId xmlns:a16="http://schemas.microsoft.com/office/drawing/2014/main" id="{9203400D-7272-473F-976A-120D504DE758}"/>
              </a:ext>
            </a:extLst>
          </p:cNvPr>
          <p:cNvSpPr>
            <a:spLocks noGrp="1"/>
          </p:cNvSpPr>
          <p:nvPr/>
        </p:nvSpPr>
        <p:spPr>
          <a:xfrm>
            <a:off x="1540426" y="6311981"/>
            <a:ext cx="4044532" cy="189287"/>
          </a:xfrm>
          <a:prstGeom prst="rect">
            <a:avLst/>
          </a:prstGeom>
          <a:noFill/>
          <a:ln w="0">
            <a:noFill/>
          </a:ln>
        </p:spPr>
        <p:txBody>
          <a:bodyPr wrap="square" lIns="0" tIns="0" rIns="0" bIns="0" anchor="ctr">
            <a:normAutofit/>
          </a:bodyPr>
          <a:lstStyle/>
          <a:p>
            <a:pPr algn="l">
              <a:defRPr sz="1033" b="0">
                <a:solidFill>
                  <a:srgbClr val="5F7284"/>
                </a:solidFill>
                <a:latin typeface="Arial"/>
                <a:ea typeface="Arial"/>
                <a:cs typeface="Arial"/>
              </a:defRPr>
            </a:pPr>
            <a:r>
              <a:rPr sz="1033" b="0">
                <a:solidFill>
                  <a:srgbClr val="5F7284"/>
                </a:solidFill>
                <a:latin typeface="Arial"/>
                <a:ea typeface="Arial"/>
                <a:cs typeface="Arial"/>
              </a:rPr>
              <a:t>Based on HT9046 / HT9046MX Excel log review</a:t>
            </a:r>
          </a:p>
        </p:txBody>
      </p:sp>
      <p:sp>
        <p:nvSpPr>
          <p:cNvPr id="33" name="Excel format panel">
            <a:extLst>
              <a:ext uri="{FF2B5EF4-FFF2-40B4-BE49-F238E27FC236}">
                <a16:creationId xmlns:a16="http://schemas.microsoft.com/office/drawing/2014/main" id="{9DFBEF50-6718-4B2E-81A1-7940D8D54152}"/>
              </a:ext>
            </a:extLst>
          </p:cNvPr>
          <p:cNvSpPr>
            <a:spLocks noGrp="1"/>
          </p:cNvSpPr>
          <p:nvPr/>
        </p:nvSpPr>
        <p:spPr>
          <a:xfrm>
            <a:off x="6088699" y="1747261"/>
            <a:ext cx="5818577" cy="2657293"/>
          </a:xfrm>
          <a:prstGeom prst="roundRect">
            <a:avLst>
              <a:gd name="adj" fmla="val 6036"/>
            </a:avLst>
          </a:prstGeom>
          <a:solidFill>
            <a:srgbClr val="EFF7FD"/>
          </a:solidFill>
          <a:ln w="0">
            <a:noFill/>
            <a:prstDash val="solid"/>
          </a:ln>
        </p:spPr>
        <p:txBody>
          <a:bodyPr/>
          <a:lstStyle/>
          <a:p>
            <a:endParaRPr lang="th-TH"/>
          </a:p>
        </p:txBody>
      </p:sp>
      <p:sp>
        <p:nvSpPr>
          <p:cNvPr id="34" name="Oval 33">
            <a:extLst>
              <a:ext uri="{FF2B5EF4-FFF2-40B4-BE49-F238E27FC236}">
                <a16:creationId xmlns:a16="http://schemas.microsoft.com/office/drawing/2014/main" id="{761D98CF-A8D4-4516-A17D-01F9D09C6C80}"/>
              </a:ext>
            </a:extLst>
          </p:cNvPr>
          <p:cNvSpPr>
            <a:spLocks noGrp="1"/>
          </p:cNvSpPr>
          <p:nvPr/>
        </p:nvSpPr>
        <p:spPr>
          <a:xfrm>
            <a:off x="6132503" y="1776382"/>
            <a:ext cx="350429" cy="349452"/>
          </a:xfrm>
          <a:prstGeom prst="ellipse">
            <a:avLst/>
          </a:prstGeom>
          <a:solidFill>
            <a:srgbClr val="07508D"/>
          </a:solidFill>
          <a:ln w="0">
            <a:noFill/>
          </a:ln>
        </p:spPr>
        <p:txBody>
          <a:bodyPr/>
          <a:lstStyle/>
          <a:p>
            <a:endParaRPr lang="th-TH"/>
          </a:p>
        </p:txBody>
      </p:sp>
      <p:sp>
        <p:nvSpPr>
          <p:cNvPr id="35" name="Rectangle 34">
            <a:extLst>
              <a:ext uri="{FF2B5EF4-FFF2-40B4-BE49-F238E27FC236}">
                <a16:creationId xmlns:a16="http://schemas.microsoft.com/office/drawing/2014/main" id="{EC50BF0B-3F00-4A9B-8028-9355731F3C5B}"/>
              </a:ext>
            </a:extLst>
          </p:cNvPr>
          <p:cNvSpPr>
            <a:spLocks noGrp="1"/>
          </p:cNvSpPr>
          <p:nvPr/>
        </p:nvSpPr>
        <p:spPr>
          <a:xfrm>
            <a:off x="6132503" y="1790943"/>
            <a:ext cx="350429" cy="313051"/>
          </a:xfrm>
          <a:prstGeom prst="rect">
            <a:avLst/>
          </a:prstGeom>
          <a:noFill/>
          <a:ln w="0">
            <a:noFill/>
          </a:ln>
        </p:spPr>
        <p:txBody>
          <a:bodyPr wrap="square" lIns="0" tIns="0" rIns="0" bIns="0" anchor="ctr">
            <a:normAutofit/>
          </a:bodyPr>
          <a:lstStyle/>
          <a:p>
            <a:pPr algn="ctr">
              <a:defRPr sz="1780" b="1">
                <a:solidFill>
                  <a:srgbClr val="FFFFFF"/>
                </a:solidFill>
                <a:latin typeface="Arial"/>
                <a:ea typeface="Arial"/>
                <a:cs typeface="Arial"/>
              </a:defRPr>
            </a:pPr>
            <a:r>
              <a:rPr sz="1780" b="1">
                <a:solidFill>
                  <a:srgbClr val="FFFFFF"/>
                </a:solidFill>
                <a:latin typeface="Arial"/>
                <a:ea typeface="Arial"/>
                <a:cs typeface="Arial"/>
              </a:rPr>
              <a:t>1</a:t>
            </a:r>
          </a:p>
        </p:txBody>
      </p:sp>
      <p:sp>
        <p:nvSpPr>
          <p:cNvPr id="36" name="Rectangle 35">
            <a:extLst>
              <a:ext uri="{FF2B5EF4-FFF2-40B4-BE49-F238E27FC236}">
                <a16:creationId xmlns:a16="http://schemas.microsoft.com/office/drawing/2014/main" id="{D482CA9E-A020-41EE-93C7-0221BBD35FDE}"/>
              </a:ext>
            </a:extLst>
          </p:cNvPr>
          <p:cNvSpPr>
            <a:spLocks noGrp="1"/>
          </p:cNvSpPr>
          <p:nvPr/>
        </p:nvSpPr>
        <p:spPr>
          <a:xfrm>
            <a:off x="6658146" y="1776382"/>
            <a:ext cx="2883737" cy="364013"/>
          </a:xfrm>
          <a:prstGeom prst="rect">
            <a:avLst/>
          </a:prstGeom>
          <a:noFill/>
          <a:ln w="0">
            <a:noFill/>
          </a:ln>
        </p:spPr>
        <p:txBody>
          <a:bodyPr wrap="square" lIns="0" tIns="0" rIns="0" bIns="0" anchor="ctr">
            <a:normAutofit/>
          </a:bodyPr>
          <a:lstStyle/>
          <a:p>
            <a:pPr algn="l">
              <a:defRPr sz="1435" b="1">
                <a:solidFill>
                  <a:srgbClr val="092B6C"/>
                </a:solidFill>
                <a:latin typeface="Arial"/>
                <a:ea typeface="Arial"/>
                <a:cs typeface="Arial"/>
              </a:defRPr>
            </a:pPr>
            <a:r>
              <a:rPr sz="1435" b="1">
                <a:solidFill>
                  <a:srgbClr val="092B6C"/>
                </a:solidFill>
                <a:latin typeface="Arial"/>
                <a:ea typeface="Arial"/>
                <a:cs typeface="Arial"/>
              </a:rPr>
              <a:t>Unstandardized Excel Format</a:t>
            </a:r>
          </a:p>
        </p:txBody>
      </p:sp>
      <p:sp>
        <p:nvSpPr>
          <p:cNvPr id="37" name="Rectangle: Rounded Corners 36">
            <a:extLst>
              <a:ext uri="{FF2B5EF4-FFF2-40B4-BE49-F238E27FC236}">
                <a16:creationId xmlns:a16="http://schemas.microsoft.com/office/drawing/2014/main" id="{DC6B142F-269F-4A41-AF33-BAF5B54340E7}"/>
              </a:ext>
            </a:extLst>
          </p:cNvPr>
          <p:cNvSpPr>
            <a:spLocks noGrp="1"/>
          </p:cNvSpPr>
          <p:nvPr/>
        </p:nvSpPr>
        <p:spPr>
          <a:xfrm>
            <a:off x="9687895" y="1827344"/>
            <a:ext cx="1825150" cy="291210"/>
          </a:xfrm>
          <a:prstGeom prst="roundRect">
            <a:avLst>
              <a:gd name="adj" fmla="val 15021"/>
            </a:avLst>
          </a:prstGeom>
          <a:solidFill>
            <a:srgbClr val="FAD6D8"/>
          </a:solidFill>
          <a:ln w="0">
            <a:noFill/>
            <a:prstDash val="solid"/>
          </a:ln>
        </p:spPr>
        <p:txBody>
          <a:bodyPr/>
          <a:lstStyle/>
          <a:p>
            <a:endParaRPr lang="th-TH"/>
          </a:p>
        </p:txBody>
      </p:sp>
      <p:sp>
        <p:nvSpPr>
          <p:cNvPr id="38" name="Rectangle 37">
            <a:extLst>
              <a:ext uri="{FF2B5EF4-FFF2-40B4-BE49-F238E27FC236}">
                <a16:creationId xmlns:a16="http://schemas.microsoft.com/office/drawing/2014/main" id="{02FE1ADC-B902-42EC-8FD5-8BAE7F67EEF7}"/>
              </a:ext>
            </a:extLst>
          </p:cNvPr>
          <p:cNvSpPr>
            <a:spLocks noGrp="1"/>
          </p:cNvSpPr>
          <p:nvPr/>
        </p:nvSpPr>
        <p:spPr>
          <a:xfrm>
            <a:off x="9804704" y="1863745"/>
            <a:ext cx="1635334" cy="218408"/>
          </a:xfrm>
          <a:prstGeom prst="rect">
            <a:avLst/>
          </a:prstGeom>
          <a:noFill/>
          <a:ln w="0">
            <a:noFill/>
          </a:ln>
        </p:spPr>
        <p:txBody>
          <a:bodyPr wrap="square" lIns="0" tIns="0" rIns="0" bIns="0" anchor="ctr">
            <a:normAutofit/>
          </a:bodyPr>
          <a:lstStyle/>
          <a:p>
            <a:pPr algn="l">
              <a:defRPr sz="1033" b="1">
                <a:solidFill>
                  <a:srgbClr val="B90000"/>
                </a:solidFill>
                <a:latin typeface="Arial"/>
                <a:ea typeface="Arial"/>
                <a:cs typeface="Arial"/>
              </a:defRPr>
            </a:pPr>
            <a:r>
              <a:rPr sz="1033" b="1">
                <a:solidFill>
                  <a:srgbClr val="B90000"/>
                </a:solidFill>
                <a:latin typeface="Arial"/>
                <a:ea typeface="Arial"/>
                <a:cs typeface="Arial"/>
              </a:rPr>
              <a:t>Missing Column Headers</a:t>
            </a:r>
          </a:p>
        </p:txBody>
      </p:sp>
      <p:sp>
        <p:nvSpPr>
          <p:cNvPr id="39" name="Rectangle 38">
            <a:extLst>
              <a:ext uri="{FF2B5EF4-FFF2-40B4-BE49-F238E27FC236}">
                <a16:creationId xmlns:a16="http://schemas.microsoft.com/office/drawing/2014/main" id="{D0F0B913-38C6-42FE-A274-29820B20DE44}"/>
              </a:ext>
            </a:extLst>
          </p:cNvPr>
          <p:cNvSpPr>
            <a:spLocks noGrp="1"/>
          </p:cNvSpPr>
          <p:nvPr/>
        </p:nvSpPr>
        <p:spPr>
          <a:xfrm>
            <a:off x="6256613" y="2205917"/>
            <a:ext cx="5373241" cy="1587096"/>
          </a:xfrm>
          <a:prstGeom prst="rect">
            <a:avLst/>
          </a:prstGeom>
          <a:solidFill>
            <a:srgbClr val="FFFFFF"/>
          </a:solidFill>
          <a:ln w="7290">
            <a:solidFill>
              <a:srgbClr val="D7DDE2"/>
            </a:solidFill>
            <a:prstDash val="solid"/>
          </a:ln>
        </p:spPr>
        <p:txBody>
          <a:bodyPr/>
          <a:lstStyle/>
          <a:p>
            <a:endParaRPr lang="th-TH"/>
          </a:p>
        </p:txBody>
      </p:sp>
      <p:sp>
        <p:nvSpPr>
          <p:cNvPr id="40" name="Rectangle 39">
            <a:extLst>
              <a:ext uri="{FF2B5EF4-FFF2-40B4-BE49-F238E27FC236}">
                <a16:creationId xmlns:a16="http://schemas.microsoft.com/office/drawing/2014/main" id="{D5560289-A1EE-41A3-B72B-09782577E61E}"/>
              </a:ext>
            </a:extLst>
          </p:cNvPr>
          <p:cNvSpPr>
            <a:spLocks noGrp="1"/>
          </p:cNvSpPr>
          <p:nvPr/>
        </p:nvSpPr>
        <p:spPr>
          <a:xfrm>
            <a:off x="6256613" y="2205917"/>
            <a:ext cx="226319" cy="196567"/>
          </a:xfrm>
          <a:prstGeom prst="rect">
            <a:avLst/>
          </a:prstGeom>
          <a:solidFill>
            <a:srgbClr val="F3F4F6"/>
          </a:solidFill>
          <a:ln w="4374">
            <a:solidFill>
              <a:srgbClr val="D7DDE2"/>
            </a:solidFill>
            <a:prstDash val="solid"/>
          </a:ln>
        </p:spPr>
        <p:txBody>
          <a:bodyPr/>
          <a:lstStyle/>
          <a:p>
            <a:endParaRPr lang="th-TH"/>
          </a:p>
        </p:txBody>
      </p:sp>
      <p:sp>
        <p:nvSpPr>
          <p:cNvPr id="41" name="Rectangle 40">
            <a:extLst>
              <a:ext uri="{FF2B5EF4-FFF2-40B4-BE49-F238E27FC236}">
                <a16:creationId xmlns:a16="http://schemas.microsoft.com/office/drawing/2014/main" id="{F17D319D-9502-4606-A803-1AB032A4443F}"/>
              </a:ext>
            </a:extLst>
          </p:cNvPr>
          <p:cNvSpPr>
            <a:spLocks noGrp="1"/>
          </p:cNvSpPr>
          <p:nvPr/>
        </p:nvSpPr>
        <p:spPr>
          <a:xfrm>
            <a:off x="6256613" y="2213197"/>
            <a:ext cx="226319" cy="182006"/>
          </a:xfrm>
          <a:prstGeom prst="rect">
            <a:avLst/>
          </a:prstGeom>
          <a:noFill/>
          <a:ln w="0">
            <a:noFill/>
          </a:ln>
        </p:spPr>
        <p:txBody>
          <a:bodyPr wrap="square" lIns="0" tIns="0" rIns="0" bIns="0" anchor="ctr">
            <a:normAutofit fontScale="47500" lnSpcReduction="20000"/>
          </a:bodyPr>
          <a:lstStyle/>
          <a:p>
            <a:endParaRPr/>
          </a:p>
        </p:txBody>
      </p:sp>
      <p:sp>
        <p:nvSpPr>
          <p:cNvPr id="42" name="Rectangle 41">
            <a:extLst>
              <a:ext uri="{FF2B5EF4-FFF2-40B4-BE49-F238E27FC236}">
                <a16:creationId xmlns:a16="http://schemas.microsoft.com/office/drawing/2014/main" id="{CE465BF0-808F-48B6-BDD6-390855896EC6}"/>
              </a:ext>
            </a:extLst>
          </p:cNvPr>
          <p:cNvSpPr>
            <a:spLocks noGrp="1"/>
          </p:cNvSpPr>
          <p:nvPr/>
        </p:nvSpPr>
        <p:spPr>
          <a:xfrm>
            <a:off x="6482932" y="2205917"/>
            <a:ext cx="686256" cy="196567"/>
          </a:xfrm>
          <a:prstGeom prst="rect">
            <a:avLst/>
          </a:prstGeom>
          <a:solidFill>
            <a:srgbClr val="F3F4F6"/>
          </a:solidFill>
          <a:ln w="4374">
            <a:solidFill>
              <a:srgbClr val="D7DDE2"/>
            </a:solidFill>
            <a:prstDash val="solid"/>
          </a:ln>
        </p:spPr>
        <p:txBody>
          <a:bodyPr/>
          <a:lstStyle/>
          <a:p>
            <a:endParaRPr lang="th-TH"/>
          </a:p>
        </p:txBody>
      </p:sp>
      <p:sp>
        <p:nvSpPr>
          <p:cNvPr id="43" name="Rectangle 42">
            <a:extLst>
              <a:ext uri="{FF2B5EF4-FFF2-40B4-BE49-F238E27FC236}">
                <a16:creationId xmlns:a16="http://schemas.microsoft.com/office/drawing/2014/main" id="{BEE78CDD-DECD-46C3-AD88-7EC19D4B3E7F}"/>
              </a:ext>
            </a:extLst>
          </p:cNvPr>
          <p:cNvSpPr>
            <a:spLocks noGrp="1"/>
          </p:cNvSpPr>
          <p:nvPr/>
        </p:nvSpPr>
        <p:spPr>
          <a:xfrm>
            <a:off x="6482932" y="2213197"/>
            <a:ext cx="686256" cy="182006"/>
          </a:xfrm>
          <a:prstGeom prst="rect">
            <a:avLst/>
          </a:prstGeom>
          <a:noFill/>
          <a:ln w="0">
            <a:noFill/>
          </a:ln>
        </p:spPr>
        <p:txBody>
          <a:bodyPr wrap="square" lIns="0" tIns="0" rIns="0" bIns="0" anchor="ctr">
            <a:normAutofit/>
          </a:bodyPr>
          <a:lstStyle/>
          <a:p>
            <a:pPr algn="ctr">
              <a:defRPr sz="746" b="0">
                <a:solidFill>
                  <a:srgbClr val="596575"/>
                </a:solidFill>
                <a:latin typeface="Arial"/>
                <a:ea typeface="Arial"/>
                <a:cs typeface="Arial"/>
              </a:defRPr>
            </a:pPr>
            <a:r>
              <a:rPr sz="746" b="0">
                <a:solidFill>
                  <a:srgbClr val="596575"/>
                </a:solidFill>
                <a:latin typeface="Arial"/>
                <a:ea typeface="Arial"/>
                <a:cs typeface="Arial"/>
              </a:rPr>
              <a:t>A</a:t>
            </a:r>
          </a:p>
        </p:txBody>
      </p:sp>
      <p:sp>
        <p:nvSpPr>
          <p:cNvPr id="44" name="Rectangle 43">
            <a:extLst>
              <a:ext uri="{FF2B5EF4-FFF2-40B4-BE49-F238E27FC236}">
                <a16:creationId xmlns:a16="http://schemas.microsoft.com/office/drawing/2014/main" id="{A7DE0ACC-BABC-4393-A873-28195D29C704}"/>
              </a:ext>
            </a:extLst>
          </p:cNvPr>
          <p:cNvSpPr>
            <a:spLocks noGrp="1"/>
          </p:cNvSpPr>
          <p:nvPr/>
        </p:nvSpPr>
        <p:spPr>
          <a:xfrm>
            <a:off x="7169188" y="2205917"/>
            <a:ext cx="489140" cy="196567"/>
          </a:xfrm>
          <a:prstGeom prst="rect">
            <a:avLst/>
          </a:prstGeom>
          <a:solidFill>
            <a:srgbClr val="F3F4F6"/>
          </a:solidFill>
          <a:ln w="4374">
            <a:solidFill>
              <a:srgbClr val="D7DDE2"/>
            </a:solidFill>
            <a:prstDash val="solid"/>
          </a:ln>
        </p:spPr>
        <p:txBody>
          <a:bodyPr/>
          <a:lstStyle/>
          <a:p>
            <a:endParaRPr lang="th-TH"/>
          </a:p>
        </p:txBody>
      </p:sp>
      <p:sp>
        <p:nvSpPr>
          <p:cNvPr id="45" name="Rectangle 44">
            <a:extLst>
              <a:ext uri="{FF2B5EF4-FFF2-40B4-BE49-F238E27FC236}">
                <a16:creationId xmlns:a16="http://schemas.microsoft.com/office/drawing/2014/main" id="{26D3BDDC-64DF-4981-B889-67BDD47207F8}"/>
              </a:ext>
            </a:extLst>
          </p:cNvPr>
          <p:cNvSpPr>
            <a:spLocks noGrp="1"/>
          </p:cNvSpPr>
          <p:nvPr/>
        </p:nvSpPr>
        <p:spPr>
          <a:xfrm>
            <a:off x="7169188" y="2213197"/>
            <a:ext cx="489140" cy="182006"/>
          </a:xfrm>
          <a:prstGeom prst="rect">
            <a:avLst/>
          </a:prstGeom>
          <a:noFill/>
          <a:ln w="0">
            <a:noFill/>
          </a:ln>
        </p:spPr>
        <p:txBody>
          <a:bodyPr wrap="square" lIns="0" tIns="0" rIns="0" bIns="0" anchor="ctr">
            <a:normAutofit/>
          </a:bodyPr>
          <a:lstStyle/>
          <a:p>
            <a:pPr algn="ctr">
              <a:defRPr sz="746" b="0">
                <a:solidFill>
                  <a:srgbClr val="596575"/>
                </a:solidFill>
                <a:latin typeface="Arial"/>
                <a:ea typeface="Arial"/>
                <a:cs typeface="Arial"/>
              </a:defRPr>
            </a:pPr>
            <a:r>
              <a:rPr sz="746" b="0">
                <a:solidFill>
                  <a:srgbClr val="596575"/>
                </a:solidFill>
                <a:latin typeface="Arial"/>
                <a:ea typeface="Arial"/>
                <a:cs typeface="Arial"/>
              </a:rPr>
              <a:t>B</a:t>
            </a:r>
          </a:p>
        </p:txBody>
      </p:sp>
      <p:sp>
        <p:nvSpPr>
          <p:cNvPr id="46" name="Rectangle 45">
            <a:extLst>
              <a:ext uri="{FF2B5EF4-FFF2-40B4-BE49-F238E27FC236}">
                <a16:creationId xmlns:a16="http://schemas.microsoft.com/office/drawing/2014/main" id="{D9E6556F-4BBC-4F37-941A-2C1D89E494BD}"/>
              </a:ext>
            </a:extLst>
          </p:cNvPr>
          <p:cNvSpPr>
            <a:spLocks noGrp="1"/>
          </p:cNvSpPr>
          <p:nvPr/>
        </p:nvSpPr>
        <p:spPr>
          <a:xfrm>
            <a:off x="7658328" y="2205917"/>
            <a:ext cx="511042" cy="196567"/>
          </a:xfrm>
          <a:prstGeom prst="rect">
            <a:avLst/>
          </a:prstGeom>
          <a:solidFill>
            <a:srgbClr val="F3F4F6"/>
          </a:solidFill>
          <a:ln w="4374">
            <a:solidFill>
              <a:srgbClr val="D7DDE2"/>
            </a:solidFill>
            <a:prstDash val="solid"/>
          </a:ln>
        </p:spPr>
        <p:txBody>
          <a:bodyPr/>
          <a:lstStyle/>
          <a:p>
            <a:endParaRPr lang="th-TH"/>
          </a:p>
        </p:txBody>
      </p:sp>
      <p:sp>
        <p:nvSpPr>
          <p:cNvPr id="47" name="Rectangle 46">
            <a:extLst>
              <a:ext uri="{FF2B5EF4-FFF2-40B4-BE49-F238E27FC236}">
                <a16:creationId xmlns:a16="http://schemas.microsoft.com/office/drawing/2014/main" id="{A1E38D84-0FFA-4744-8FD6-E5CED07B5F70}"/>
              </a:ext>
            </a:extLst>
          </p:cNvPr>
          <p:cNvSpPr>
            <a:spLocks noGrp="1"/>
          </p:cNvSpPr>
          <p:nvPr/>
        </p:nvSpPr>
        <p:spPr>
          <a:xfrm>
            <a:off x="7658328" y="2213197"/>
            <a:ext cx="511042" cy="182006"/>
          </a:xfrm>
          <a:prstGeom prst="rect">
            <a:avLst/>
          </a:prstGeom>
          <a:noFill/>
          <a:ln w="0">
            <a:noFill/>
          </a:ln>
        </p:spPr>
        <p:txBody>
          <a:bodyPr wrap="square" lIns="0" tIns="0" rIns="0" bIns="0" anchor="ctr">
            <a:normAutofit/>
          </a:bodyPr>
          <a:lstStyle/>
          <a:p>
            <a:pPr algn="ctr">
              <a:defRPr sz="746" b="0">
                <a:solidFill>
                  <a:srgbClr val="596575"/>
                </a:solidFill>
                <a:latin typeface="Arial"/>
                <a:ea typeface="Arial"/>
                <a:cs typeface="Arial"/>
              </a:defRPr>
            </a:pPr>
            <a:r>
              <a:rPr sz="746" b="0">
                <a:solidFill>
                  <a:srgbClr val="596575"/>
                </a:solidFill>
                <a:latin typeface="Arial"/>
                <a:ea typeface="Arial"/>
                <a:cs typeface="Arial"/>
              </a:rPr>
              <a:t>C</a:t>
            </a:r>
          </a:p>
        </p:txBody>
      </p:sp>
      <p:sp>
        <p:nvSpPr>
          <p:cNvPr id="48" name="Rectangle 47">
            <a:extLst>
              <a:ext uri="{FF2B5EF4-FFF2-40B4-BE49-F238E27FC236}">
                <a16:creationId xmlns:a16="http://schemas.microsoft.com/office/drawing/2014/main" id="{1D664711-8E63-49DE-809C-AFF9BE7DFF9D}"/>
              </a:ext>
            </a:extLst>
          </p:cNvPr>
          <p:cNvSpPr>
            <a:spLocks noGrp="1"/>
          </p:cNvSpPr>
          <p:nvPr/>
        </p:nvSpPr>
        <p:spPr>
          <a:xfrm>
            <a:off x="8169370" y="2205917"/>
            <a:ext cx="985581" cy="196567"/>
          </a:xfrm>
          <a:prstGeom prst="rect">
            <a:avLst/>
          </a:prstGeom>
          <a:solidFill>
            <a:srgbClr val="F3F4F6"/>
          </a:solidFill>
          <a:ln w="4374">
            <a:solidFill>
              <a:srgbClr val="D7DDE2"/>
            </a:solidFill>
            <a:prstDash val="solid"/>
          </a:ln>
        </p:spPr>
        <p:txBody>
          <a:bodyPr/>
          <a:lstStyle/>
          <a:p>
            <a:endParaRPr lang="th-TH"/>
          </a:p>
        </p:txBody>
      </p:sp>
      <p:sp>
        <p:nvSpPr>
          <p:cNvPr id="49" name="Rectangle 48">
            <a:extLst>
              <a:ext uri="{FF2B5EF4-FFF2-40B4-BE49-F238E27FC236}">
                <a16:creationId xmlns:a16="http://schemas.microsoft.com/office/drawing/2014/main" id="{85147456-5937-4281-A480-17A8F9576A31}"/>
              </a:ext>
            </a:extLst>
          </p:cNvPr>
          <p:cNvSpPr>
            <a:spLocks noGrp="1"/>
          </p:cNvSpPr>
          <p:nvPr/>
        </p:nvSpPr>
        <p:spPr>
          <a:xfrm>
            <a:off x="8169370" y="2213197"/>
            <a:ext cx="985581" cy="182006"/>
          </a:xfrm>
          <a:prstGeom prst="rect">
            <a:avLst/>
          </a:prstGeom>
          <a:noFill/>
          <a:ln w="0">
            <a:noFill/>
          </a:ln>
        </p:spPr>
        <p:txBody>
          <a:bodyPr wrap="square" lIns="0" tIns="0" rIns="0" bIns="0" anchor="ctr">
            <a:normAutofit/>
          </a:bodyPr>
          <a:lstStyle/>
          <a:p>
            <a:pPr algn="ctr">
              <a:defRPr sz="746" b="0">
                <a:solidFill>
                  <a:srgbClr val="596575"/>
                </a:solidFill>
                <a:latin typeface="Arial"/>
                <a:ea typeface="Arial"/>
                <a:cs typeface="Arial"/>
              </a:defRPr>
            </a:pPr>
            <a:r>
              <a:rPr sz="746" b="0">
                <a:solidFill>
                  <a:srgbClr val="596575"/>
                </a:solidFill>
                <a:latin typeface="Arial"/>
                <a:ea typeface="Arial"/>
                <a:cs typeface="Arial"/>
              </a:rPr>
              <a:t>D</a:t>
            </a:r>
          </a:p>
        </p:txBody>
      </p:sp>
      <p:sp>
        <p:nvSpPr>
          <p:cNvPr id="50" name="Rectangle 49">
            <a:extLst>
              <a:ext uri="{FF2B5EF4-FFF2-40B4-BE49-F238E27FC236}">
                <a16:creationId xmlns:a16="http://schemas.microsoft.com/office/drawing/2014/main" id="{3F725D30-FB15-406E-9A16-A6F390630401}"/>
              </a:ext>
            </a:extLst>
          </p:cNvPr>
          <p:cNvSpPr>
            <a:spLocks noGrp="1"/>
          </p:cNvSpPr>
          <p:nvPr/>
        </p:nvSpPr>
        <p:spPr>
          <a:xfrm>
            <a:off x="9154951" y="2205917"/>
            <a:ext cx="1350611" cy="196567"/>
          </a:xfrm>
          <a:prstGeom prst="rect">
            <a:avLst/>
          </a:prstGeom>
          <a:solidFill>
            <a:srgbClr val="F3F4F6"/>
          </a:solidFill>
          <a:ln w="4374">
            <a:solidFill>
              <a:srgbClr val="D7DDE2"/>
            </a:solidFill>
            <a:prstDash val="solid"/>
          </a:ln>
        </p:spPr>
        <p:txBody>
          <a:bodyPr/>
          <a:lstStyle/>
          <a:p>
            <a:endParaRPr lang="th-TH"/>
          </a:p>
        </p:txBody>
      </p:sp>
      <p:sp>
        <p:nvSpPr>
          <p:cNvPr id="51" name="Rectangle 50">
            <a:extLst>
              <a:ext uri="{FF2B5EF4-FFF2-40B4-BE49-F238E27FC236}">
                <a16:creationId xmlns:a16="http://schemas.microsoft.com/office/drawing/2014/main" id="{D2EA159D-0148-4CE6-986F-8F55BA2BE89F}"/>
              </a:ext>
            </a:extLst>
          </p:cNvPr>
          <p:cNvSpPr>
            <a:spLocks noGrp="1"/>
          </p:cNvSpPr>
          <p:nvPr/>
        </p:nvSpPr>
        <p:spPr>
          <a:xfrm>
            <a:off x="9154951" y="2213197"/>
            <a:ext cx="1350611" cy="182006"/>
          </a:xfrm>
          <a:prstGeom prst="rect">
            <a:avLst/>
          </a:prstGeom>
          <a:noFill/>
          <a:ln w="0">
            <a:noFill/>
          </a:ln>
        </p:spPr>
        <p:txBody>
          <a:bodyPr wrap="square" lIns="0" tIns="0" rIns="0" bIns="0" anchor="ctr">
            <a:normAutofit/>
          </a:bodyPr>
          <a:lstStyle/>
          <a:p>
            <a:pPr algn="ctr">
              <a:defRPr sz="746" b="0">
                <a:solidFill>
                  <a:srgbClr val="596575"/>
                </a:solidFill>
                <a:latin typeface="Arial"/>
                <a:ea typeface="Arial"/>
                <a:cs typeface="Arial"/>
              </a:defRPr>
            </a:pPr>
            <a:r>
              <a:rPr sz="746" b="0">
                <a:solidFill>
                  <a:srgbClr val="596575"/>
                </a:solidFill>
                <a:latin typeface="Arial"/>
                <a:ea typeface="Arial"/>
                <a:cs typeface="Arial"/>
              </a:rPr>
              <a:t>E</a:t>
            </a:r>
          </a:p>
        </p:txBody>
      </p:sp>
      <p:sp>
        <p:nvSpPr>
          <p:cNvPr id="52" name="Rectangle 51">
            <a:extLst>
              <a:ext uri="{FF2B5EF4-FFF2-40B4-BE49-F238E27FC236}">
                <a16:creationId xmlns:a16="http://schemas.microsoft.com/office/drawing/2014/main" id="{54A94DBC-A1B3-439A-8913-235FC819F1F6}"/>
              </a:ext>
            </a:extLst>
          </p:cNvPr>
          <p:cNvSpPr>
            <a:spLocks noGrp="1"/>
          </p:cNvSpPr>
          <p:nvPr/>
        </p:nvSpPr>
        <p:spPr>
          <a:xfrm>
            <a:off x="10505562" y="2205917"/>
            <a:ext cx="642453" cy="196567"/>
          </a:xfrm>
          <a:prstGeom prst="rect">
            <a:avLst/>
          </a:prstGeom>
          <a:solidFill>
            <a:srgbClr val="F3F4F6"/>
          </a:solidFill>
          <a:ln w="4374">
            <a:solidFill>
              <a:srgbClr val="D7DDE2"/>
            </a:solidFill>
            <a:prstDash val="solid"/>
          </a:ln>
        </p:spPr>
        <p:txBody>
          <a:bodyPr/>
          <a:lstStyle/>
          <a:p>
            <a:endParaRPr lang="th-TH"/>
          </a:p>
        </p:txBody>
      </p:sp>
      <p:sp>
        <p:nvSpPr>
          <p:cNvPr id="53" name="Rectangle 52">
            <a:extLst>
              <a:ext uri="{FF2B5EF4-FFF2-40B4-BE49-F238E27FC236}">
                <a16:creationId xmlns:a16="http://schemas.microsoft.com/office/drawing/2014/main" id="{B75BAD2A-6BE5-4715-A737-9DFDAE4874C3}"/>
              </a:ext>
            </a:extLst>
          </p:cNvPr>
          <p:cNvSpPr>
            <a:spLocks noGrp="1"/>
          </p:cNvSpPr>
          <p:nvPr/>
        </p:nvSpPr>
        <p:spPr>
          <a:xfrm>
            <a:off x="10505562" y="2213197"/>
            <a:ext cx="642453" cy="182006"/>
          </a:xfrm>
          <a:prstGeom prst="rect">
            <a:avLst/>
          </a:prstGeom>
          <a:noFill/>
          <a:ln w="0">
            <a:noFill/>
          </a:ln>
        </p:spPr>
        <p:txBody>
          <a:bodyPr wrap="square" lIns="0" tIns="0" rIns="0" bIns="0" anchor="ctr">
            <a:normAutofit/>
          </a:bodyPr>
          <a:lstStyle/>
          <a:p>
            <a:pPr algn="ctr">
              <a:defRPr sz="746" b="0">
                <a:solidFill>
                  <a:srgbClr val="596575"/>
                </a:solidFill>
                <a:latin typeface="Arial"/>
                <a:ea typeface="Arial"/>
                <a:cs typeface="Arial"/>
              </a:defRPr>
            </a:pPr>
            <a:r>
              <a:rPr sz="746" b="0">
                <a:solidFill>
                  <a:srgbClr val="596575"/>
                </a:solidFill>
                <a:latin typeface="Arial"/>
                <a:ea typeface="Arial"/>
                <a:cs typeface="Arial"/>
              </a:rPr>
              <a:t>F</a:t>
            </a:r>
          </a:p>
        </p:txBody>
      </p:sp>
      <p:sp>
        <p:nvSpPr>
          <p:cNvPr id="54" name="Rectangle 53">
            <a:extLst>
              <a:ext uri="{FF2B5EF4-FFF2-40B4-BE49-F238E27FC236}">
                <a16:creationId xmlns:a16="http://schemas.microsoft.com/office/drawing/2014/main" id="{BDCEA52A-9B1E-475C-A3DD-DF04B7EBCD86}"/>
              </a:ext>
            </a:extLst>
          </p:cNvPr>
          <p:cNvSpPr>
            <a:spLocks noGrp="1"/>
          </p:cNvSpPr>
          <p:nvPr/>
        </p:nvSpPr>
        <p:spPr>
          <a:xfrm>
            <a:off x="11148014" y="2205917"/>
            <a:ext cx="481840" cy="196567"/>
          </a:xfrm>
          <a:prstGeom prst="rect">
            <a:avLst/>
          </a:prstGeom>
          <a:solidFill>
            <a:srgbClr val="F3F4F6"/>
          </a:solidFill>
          <a:ln w="4374">
            <a:solidFill>
              <a:srgbClr val="D7DDE2"/>
            </a:solidFill>
            <a:prstDash val="solid"/>
          </a:ln>
        </p:spPr>
        <p:txBody>
          <a:bodyPr/>
          <a:lstStyle/>
          <a:p>
            <a:endParaRPr lang="th-TH"/>
          </a:p>
        </p:txBody>
      </p:sp>
      <p:sp>
        <p:nvSpPr>
          <p:cNvPr id="55" name="Rectangle 54">
            <a:extLst>
              <a:ext uri="{FF2B5EF4-FFF2-40B4-BE49-F238E27FC236}">
                <a16:creationId xmlns:a16="http://schemas.microsoft.com/office/drawing/2014/main" id="{E86B5762-F7D5-453A-BB57-47143B2C7BDA}"/>
              </a:ext>
            </a:extLst>
          </p:cNvPr>
          <p:cNvSpPr>
            <a:spLocks noGrp="1"/>
          </p:cNvSpPr>
          <p:nvPr/>
        </p:nvSpPr>
        <p:spPr>
          <a:xfrm>
            <a:off x="11148014" y="2213197"/>
            <a:ext cx="481840" cy="182006"/>
          </a:xfrm>
          <a:prstGeom prst="rect">
            <a:avLst/>
          </a:prstGeom>
          <a:noFill/>
          <a:ln w="0">
            <a:noFill/>
          </a:ln>
        </p:spPr>
        <p:txBody>
          <a:bodyPr wrap="square" lIns="0" tIns="0" rIns="0" bIns="0" anchor="ctr">
            <a:normAutofit/>
          </a:bodyPr>
          <a:lstStyle/>
          <a:p>
            <a:pPr algn="ctr">
              <a:defRPr sz="746" b="0">
                <a:solidFill>
                  <a:srgbClr val="596575"/>
                </a:solidFill>
                <a:latin typeface="Arial"/>
                <a:ea typeface="Arial"/>
                <a:cs typeface="Arial"/>
              </a:defRPr>
            </a:pPr>
            <a:r>
              <a:rPr sz="746" b="0">
                <a:solidFill>
                  <a:srgbClr val="596575"/>
                </a:solidFill>
                <a:latin typeface="Arial"/>
                <a:ea typeface="Arial"/>
                <a:cs typeface="Arial"/>
              </a:rPr>
              <a:t>G</a:t>
            </a:r>
          </a:p>
        </p:txBody>
      </p:sp>
      <p:sp>
        <p:nvSpPr>
          <p:cNvPr id="56" name="Rectangle 55">
            <a:extLst>
              <a:ext uri="{FF2B5EF4-FFF2-40B4-BE49-F238E27FC236}">
                <a16:creationId xmlns:a16="http://schemas.microsoft.com/office/drawing/2014/main" id="{230FEC6D-F6EC-4E4E-8969-79A450E7F349}"/>
              </a:ext>
            </a:extLst>
          </p:cNvPr>
          <p:cNvSpPr>
            <a:spLocks noGrp="1"/>
          </p:cNvSpPr>
          <p:nvPr/>
        </p:nvSpPr>
        <p:spPr>
          <a:xfrm>
            <a:off x="6256613" y="2402484"/>
            <a:ext cx="226319" cy="232968"/>
          </a:xfrm>
          <a:prstGeom prst="rect">
            <a:avLst/>
          </a:prstGeom>
          <a:solidFill>
            <a:srgbClr val="F5F6F7"/>
          </a:solidFill>
          <a:ln w="5103">
            <a:solidFill>
              <a:srgbClr val="C9CDD1"/>
            </a:solidFill>
            <a:prstDash val="solid"/>
          </a:ln>
        </p:spPr>
        <p:txBody>
          <a:bodyPr/>
          <a:lstStyle/>
          <a:p>
            <a:endParaRPr lang="th-TH"/>
          </a:p>
        </p:txBody>
      </p:sp>
      <p:sp>
        <p:nvSpPr>
          <p:cNvPr id="57" name="Rectangle 56">
            <a:extLst>
              <a:ext uri="{FF2B5EF4-FFF2-40B4-BE49-F238E27FC236}">
                <a16:creationId xmlns:a16="http://schemas.microsoft.com/office/drawing/2014/main" id="{1B8BFDBA-44B9-4257-962C-86E86A7610AC}"/>
              </a:ext>
            </a:extLst>
          </p:cNvPr>
          <p:cNvSpPr>
            <a:spLocks noGrp="1"/>
          </p:cNvSpPr>
          <p:nvPr/>
        </p:nvSpPr>
        <p:spPr>
          <a:xfrm>
            <a:off x="6271214" y="2417045"/>
            <a:ext cx="197116" cy="203847"/>
          </a:xfrm>
          <a:prstGeom prst="rect">
            <a:avLst/>
          </a:prstGeom>
          <a:noFill/>
          <a:ln w="0">
            <a:noFill/>
          </a:ln>
        </p:spPr>
        <p:txBody>
          <a:bodyPr wrap="square" lIns="0" tIns="0" rIns="0" bIns="0" anchor="ctr">
            <a:normAutofit/>
          </a:bodyPr>
          <a:lstStyle/>
          <a:p>
            <a:pPr algn="ctr">
              <a:defRPr sz="746" b="0">
                <a:solidFill>
                  <a:srgbClr val="4C535A"/>
                </a:solidFill>
                <a:latin typeface="Arial"/>
                <a:ea typeface="Arial"/>
                <a:cs typeface="Arial"/>
              </a:defRPr>
            </a:pPr>
            <a:r>
              <a:rPr sz="746" b="0">
                <a:solidFill>
                  <a:srgbClr val="4C535A"/>
                </a:solidFill>
                <a:latin typeface="Arial"/>
                <a:ea typeface="Arial"/>
                <a:cs typeface="Arial"/>
              </a:rPr>
              <a:t>1</a:t>
            </a:r>
          </a:p>
        </p:txBody>
      </p:sp>
      <p:sp>
        <p:nvSpPr>
          <p:cNvPr id="58" name="Rectangle 57">
            <a:extLst>
              <a:ext uri="{FF2B5EF4-FFF2-40B4-BE49-F238E27FC236}">
                <a16:creationId xmlns:a16="http://schemas.microsoft.com/office/drawing/2014/main" id="{42E3BD49-180D-457E-A588-471B33615C62}"/>
              </a:ext>
            </a:extLst>
          </p:cNvPr>
          <p:cNvSpPr>
            <a:spLocks noGrp="1"/>
          </p:cNvSpPr>
          <p:nvPr/>
        </p:nvSpPr>
        <p:spPr>
          <a:xfrm>
            <a:off x="6482932" y="2402484"/>
            <a:ext cx="686256" cy="232968"/>
          </a:xfrm>
          <a:prstGeom prst="rect">
            <a:avLst/>
          </a:prstGeom>
          <a:solidFill>
            <a:srgbClr val="FFFFFF"/>
          </a:solidFill>
          <a:ln w="5103">
            <a:solidFill>
              <a:srgbClr val="C9CDD1"/>
            </a:solidFill>
            <a:prstDash val="solid"/>
          </a:ln>
        </p:spPr>
        <p:txBody>
          <a:bodyPr/>
          <a:lstStyle/>
          <a:p>
            <a:endParaRPr lang="th-TH"/>
          </a:p>
        </p:txBody>
      </p:sp>
      <p:sp>
        <p:nvSpPr>
          <p:cNvPr id="59" name="Rectangle 58">
            <a:extLst>
              <a:ext uri="{FF2B5EF4-FFF2-40B4-BE49-F238E27FC236}">
                <a16:creationId xmlns:a16="http://schemas.microsoft.com/office/drawing/2014/main" id="{685233FC-3B66-46B7-A849-D1F2B93CD08E}"/>
              </a:ext>
            </a:extLst>
          </p:cNvPr>
          <p:cNvSpPr>
            <a:spLocks noGrp="1"/>
          </p:cNvSpPr>
          <p:nvPr/>
        </p:nvSpPr>
        <p:spPr>
          <a:xfrm>
            <a:off x="6497533" y="2417045"/>
            <a:ext cx="657054" cy="203847"/>
          </a:xfrm>
          <a:prstGeom prst="rect">
            <a:avLst/>
          </a:prstGeom>
          <a:noFill/>
          <a:ln w="0">
            <a:noFill/>
          </a:ln>
        </p:spPr>
        <p:txBody>
          <a:bodyPr wrap="square" lIns="0" tIns="0" rIns="0" bIns="0" anchor="ctr">
            <a:normAutofit/>
          </a:bodyPr>
          <a:lstStyle/>
          <a:p>
            <a:pPr algn="ctr">
              <a:defRPr sz="746" b="0">
                <a:solidFill>
                  <a:srgbClr val="4C535A"/>
                </a:solidFill>
                <a:latin typeface="Arial"/>
                <a:ea typeface="Arial"/>
                <a:cs typeface="Arial"/>
              </a:defRPr>
            </a:pPr>
            <a:r>
              <a:rPr sz="746" b="0">
                <a:solidFill>
                  <a:srgbClr val="4C535A"/>
                </a:solidFill>
                <a:latin typeface="Arial"/>
                <a:ea typeface="Arial"/>
                <a:cs typeface="Arial"/>
              </a:rPr>
              <a:t>หมายเลข</a:t>
            </a:r>
          </a:p>
        </p:txBody>
      </p:sp>
      <p:sp>
        <p:nvSpPr>
          <p:cNvPr id="60" name="Rectangle 59">
            <a:extLst>
              <a:ext uri="{FF2B5EF4-FFF2-40B4-BE49-F238E27FC236}">
                <a16:creationId xmlns:a16="http://schemas.microsoft.com/office/drawing/2014/main" id="{AFBCD5FB-C7AA-4B5F-ABED-170FC7BF2B9A}"/>
              </a:ext>
            </a:extLst>
          </p:cNvPr>
          <p:cNvSpPr>
            <a:spLocks noGrp="1"/>
          </p:cNvSpPr>
          <p:nvPr/>
        </p:nvSpPr>
        <p:spPr>
          <a:xfrm>
            <a:off x="7169188" y="2402484"/>
            <a:ext cx="489140" cy="232968"/>
          </a:xfrm>
          <a:prstGeom prst="rect">
            <a:avLst/>
          </a:prstGeom>
          <a:solidFill>
            <a:srgbClr val="FCE0E1"/>
          </a:solidFill>
          <a:ln w="5103">
            <a:solidFill>
              <a:srgbClr val="C9CDD1"/>
            </a:solidFill>
            <a:prstDash val="solid"/>
          </a:ln>
        </p:spPr>
        <p:txBody>
          <a:bodyPr/>
          <a:lstStyle/>
          <a:p>
            <a:endParaRPr lang="th-TH"/>
          </a:p>
        </p:txBody>
      </p:sp>
      <p:sp>
        <p:nvSpPr>
          <p:cNvPr id="61" name="Rectangle 60">
            <a:extLst>
              <a:ext uri="{FF2B5EF4-FFF2-40B4-BE49-F238E27FC236}">
                <a16:creationId xmlns:a16="http://schemas.microsoft.com/office/drawing/2014/main" id="{E7D3C09E-FBEC-4D48-B59A-05A39E161E07}"/>
              </a:ext>
            </a:extLst>
          </p:cNvPr>
          <p:cNvSpPr>
            <a:spLocks noGrp="1"/>
          </p:cNvSpPr>
          <p:nvPr/>
        </p:nvSpPr>
        <p:spPr>
          <a:xfrm>
            <a:off x="7183789" y="2417045"/>
            <a:ext cx="459938" cy="203847"/>
          </a:xfrm>
          <a:prstGeom prst="rect">
            <a:avLst/>
          </a:prstGeom>
          <a:noFill/>
          <a:ln w="0">
            <a:noFill/>
          </a:ln>
        </p:spPr>
        <p:txBody>
          <a:bodyPr wrap="square" lIns="0" tIns="0" rIns="0" bIns="0" anchor="ctr">
            <a:normAutofit/>
          </a:bodyPr>
          <a:lstStyle/>
          <a:p>
            <a:pPr algn="ctr">
              <a:defRPr sz="746" b="0">
                <a:solidFill>
                  <a:srgbClr val="C51D1D"/>
                </a:solidFill>
                <a:latin typeface="Arial"/>
                <a:ea typeface="Arial"/>
                <a:cs typeface="Arial"/>
              </a:defRPr>
            </a:pPr>
            <a:r>
              <a:rPr sz="746" b="0">
                <a:solidFill>
                  <a:srgbClr val="C51D1D"/>
                </a:solidFill>
                <a:latin typeface="Arial"/>
                <a:ea typeface="Arial"/>
                <a:cs typeface="Arial"/>
              </a:rPr>
              <a:t>X</a:t>
            </a:r>
          </a:p>
        </p:txBody>
      </p:sp>
      <p:sp>
        <p:nvSpPr>
          <p:cNvPr id="62" name="Rectangle 61">
            <a:extLst>
              <a:ext uri="{FF2B5EF4-FFF2-40B4-BE49-F238E27FC236}">
                <a16:creationId xmlns:a16="http://schemas.microsoft.com/office/drawing/2014/main" id="{7617A3C3-6330-4D50-9B4D-BBA1D202ED0B}"/>
              </a:ext>
            </a:extLst>
          </p:cNvPr>
          <p:cNvSpPr>
            <a:spLocks noGrp="1"/>
          </p:cNvSpPr>
          <p:nvPr/>
        </p:nvSpPr>
        <p:spPr>
          <a:xfrm>
            <a:off x="7658328" y="2402484"/>
            <a:ext cx="511042" cy="232968"/>
          </a:xfrm>
          <a:prstGeom prst="rect">
            <a:avLst/>
          </a:prstGeom>
          <a:solidFill>
            <a:srgbClr val="FCE0E1"/>
          </a:solidFill>
          <a:ln w="5103">
            <a:solidFill>
              <a:srgbClr val="C9CDD1"/>
            </a:solidFill>
            <a:prstDash val="solid"/>
          </a:ln>
        </p:spPr>
        <p:txBody>
          <a:bodyPr/>
          <a:lstStyle/>
          <a:p>
            <a:endParaRPr lang="th-TH"/>
          </a:p>
        </p:txBody>
      </p:sp>
      <p:sp>
        <p:nvSpPr>
          <p:cNvPr id="63" name="Rectangle 62">
            <a:extLst>
              <a:ext uri="{FF2B5EF4-FFF2-40B4-BE49-F238E27FC236}">
                <a16:creationId xmlns:a16="http://schemas.microsoft.com/office/drawing/2014/main" id="{0A7C28D3-5788-4FBA-9E64-F058D750AFE7}"/>
              </a:ext>
            </a:extLst>
          </p:cNvPr>
          <p:cNvSpPr>
            <a:spLocks noGrp="1"/>
          </p:cNvSpPr>
          <p:nvPr/>
        </p:nvSpPr>
        <p:spPr>
          <a:xfrm>
            <a:off x="7672929" y="2417045"/>
            <a:ext cx="481840" cy="203847"/>
          </a:xfrm>
          <a:prstGeom prst="rect">
            <a:avLst/>
          </a:prstGeom>
          <a:noFill/>
          <a:ln w="0">
            <a:noFill/>
          </a:ln>
        </p:spPr>
        <p:txBody>
          <a:bodyPr wrap="square" lIns="0" tIns="0" rIns="0" bIns="0" anchor="ctr">
            <a:normAutofit/>
          </a:bodyPr>
          <a:lstStyle/>
          <a:p>
            <a:pPr algn="ctr">
              <a:defRPr sz="746" b="0">
                <a:solidFill>
                  <a:srgbClr val="C51D1D"/>
                </a:solidFill>
                <a:latin typeface="Arial"/>
                <a:ea typeface="Arial"/>
                <a:cs typeface="Arial"/>
              </a:defRPr>
            </a:pPr>
            <a:r>
              <a:rPr sz="746" b="0">
                <a:solidFill>
                  <a:srgbClr val="C51D1D"/>
                </a:solidFill>
                <a:latin typeface="Arial"/>
                <a:ea typeface="Arial"/>
                <a:cs typeface="Arial"/>
              </a:rPr>
              <a:t>Y</a:t>
            </a:r>
          </a:p>
        </p:txBody>
      </p:sp>
      <p:sp>
        <p:nvSpPr>
          <p:cNvPr id="64" name="Rectangle 63">
            <a:extLst>
              <a:ext uri="{FF2B5EF4-FFF2-40B4-BE49-F238E27FC236}">
                <a16:creationId xmlns:a16="http://schemas.microsoft.com/office/drawing/2014/main" id="{CB0FD2C0-8610-40C5-A40F-AF039F747AFE}"/>
              </a:ext>
            </a:extLst>
          </p:cNvPr>
          <p:cNvSpPr>
            <a:spLocks noGrp="1"/>
          </p:cNvSpPr>
          <p:nvPr/>
        </p:nvSpPr>
        <p:spPr>
          <a:xfrm>
            <a:off x="8169370" y="2402484"/>
            <a:ext cx="985581" cy="232968"/>
          </a:xfrm>
          <a:prstGeom prst="rect">
            <a:avLst/>
          </a:prstGeom>
          <a:solidFill>
            <a:srgbClr val="FFFFFF"/>
          </a:solidFill>
          <a:ln w="5103">
            <a:solidFill>
              <a:srgbClr val="C9CDD1"/>
            </a:solidFill>
            <a:prstDash val="solid"/>
          </a:ln>
        </p:spPr>
        <p:txBody>
          <a:bodyPr/>
          <a:lstStyle/>
          <a:p>
            <a:endParaRPr lang="th-TH"/>
          </a:p>
        </p:txBody>
      </p:sp>
      <p:sp>
        <p:nvSpPr>
          <p:cNvPr id="65" name="Rectangle 64">
            <a:extLst>
              <a:ext uri="{FF2B5EF4-FFF2-40B4-BE49-F238E27FC236}">
                <a16:creationId xmlns:a16="http://schemas.microsoft.com/office/drawing/2014/main" id="{6DEE9D06-BF5D-4989-90A9-B15DDB4FDC3D}"/>
              </a:ext>
            </a:extLst>
          </p:cNvPr>
          <p:cNvSpPr>
            <a:spLocks noGrp="1"/>
          </p:cNvSpPr>
          <p:nvPr/>
        </p:nvSpPr>
        <p:spPr>
          <a:xfrm>
            <a:off x="8183971" y="2417045"/>
            <a:ext cx="956378" cy="203847"/>
          </a:xfrm>
          <a:prstGeom prst="rect">
            <a:avLst/>
          </a:prstGeom>
          <a:noFill/>
          <a:ln w="0">
            <a:noFill/>
          </a:ln>
        </p:spPr>
        <p:txBody>
          <a:bodyPr wrap="square" lIns="0" tIns="0" rIns="0" bIns="0" anchor="ctr">
            <a:normAutofit/>
          </a:bodyPr>
          <a:lstStyle/>
          <a:p>
            <a:pPr algn="ctr">
              <a:defRPr sz="746" b="0">
                <a:solidFill>
                  <a:srgbClr val="4C535A"/>
                </a:solidFill>
                <a:latin typeface="Arial"/>
                <a:ea typeface="Arial"/>
                <a:cs typeface="Arial"/>
              </a:defRPr>
            </a:pPr>
            <a:r>
              <a:rPr sz="746" b="0">
                <a:solidFill>
                  <a:srgbClr val="4C535A"/>
                </a:solidFill>
                <a:latin typeface="Arial"/>
                <a:ea typeface="Arial"/>
                <a:cs typeface="Arial"/>
              </a:rPr>
              <a:t>X3.00-Y3.05</a:t>
            </a:r>
          </a:p>
        </p:txBody>
      </p:sp>
      <p:sp>
        <p:nvSpPr>
          <p:cNvPr id="66" name="Rectangle 65">
            <a:extLst>
              <a:ext uri="{FF2B5EF4-FFF2-40B4-BE49-F238E27FC236}">
                <a16:creationId xmlns:a16="http://schemas.microsoft.com/office/drawing/2014/main" id="{6577E943-FE9F-4868-B9D5-65C79EE59D7B}"/>
              </a:ext>
            </a:extLst>
          </p:cNvPr>
          <p:cNvSpPr>
            <a:spLocks noGrp="1"/>
          </p:cNvSpPr>
          <p:nvPr/>
        </p:nvSpPr>
        <p:spPr>
          <a:xfrm>
            <a:off x="9154951" y="2402484"/>
            <a:ext cx="1350611" cy="232968"/>
          </a:xfrm>
          <a:prstGeom prst="rect">
            <a:avLst/>
          </a:prstGeom>
          <a:solidFill>
            <a:srgbClr val="FFFFFF"/>
          </a:solidFill>
          <a:ln w="5103">
            <a:solidFill>
              <a:srgbClr val="C9CDD1"/>
            </a:solidFill>
            <a:prstDash val="solid"/>
          </a:ln>
        </p:spPr>
        <p:txBody>
          <a:bodyPr/>
          <a:lstStyle/>
          <a:p>
            <a:endParaRPr lang="th-TH"/>
          </a:p>
        </p:txBody>
      </p:sp>
      <p:sp>
        <p:nvSpPr>
          <p:cNvPr id="67" name="Rectangle 66">
            <a:extLst>
              <a:ext uri="{FF2B5EF4-FFF2-40B4-BE49-F238E27FC236}">
                <a16:creationId xmlns:a16="http://schemas.microsoft.com/office/drawing/2014/main" id="{667E69EC-D32C-4BFD-AF1D-B31E8A31F6DC}"/>
              </a:ext>
            </a:extLst>
          </p:cNvPr>
          <p:cNvSpPr>
            <a:spLocks noGrp="1"/>
          </p:cNvSpPr>
          <p:nvPr/>
        </p:nvSpPr>
        <p:spPr>
          <a:xfrm>
            <a:off x="9169552" y="2417045"/>
            <a:ext cx="1321408" cy="203847"/>
          </a:xfrm>
          <a:prstGeom prst="rect">
            <a:avLst/>
          </a:prstGeom>
          <a:noFill/>
          <a:ln w="0">
            <a:noFill/>
          </a:ln>
        </p:spPr>
        <p:txBody>
          <a:bodyPr wrap="square" lIns="0" tIns="0" rIns="0" bIns="0" anchor="ctr">
            <a:normAutofit fontScale="55000" lnSpcReduction="20000"/>
          </a:bodyPr>
          <a:lstStyle/>
          <a:p>
            <a:endParaRPr/>
          </a:p>
        </p:txBody>
      </p:sp>
      <p:sp>
        <p:nvSpPr>
          <p:cNvPr id="68" name="Rectangle 67">
            <a:extLst>
              <a:ext uri="{FF2B5EF4-FFF2-40B4-BE49-F238E27FC236}">
                <a16:creationId xmlns:a16="http://schemas.microsoft.com/office/drawing/2014/main" id="{3493BD5B-DC8C-44EC-BC1F-997155F40B7C}"/>
              </a:ext>
            </a:extLst>
          </p:cNvPr>
          <p:cNvSpPr>
            <a:spLocks noGrp="1"/>
          </p:cNvSpPr>
          <p:nvPr/>
        </p:nvSpPr>
        <p:spPr>
          <a:xfrm>
            <a:off x="10505562" y="2402484"/>
            <a:ext cx="642453" cy="232968"/>
          </a:xfrm>
          <a:prstGeom prst="rect">
            <a:avLst/>
          </a:prstGeom>
          <a:solidFill>
            <a:srgbClr val="FFFFFF"/>
          </a:solidFill>
          <a:ln w="5103">
            <a:solidFill>
              <a:srgbClr val="C9CDD1"/>
            </a:solidFill>
            <a:prstDash val="solid"/>
          </a:ln>
        </p:spPr>
        <p:txBody>
          <a:bodyPr/>
          <a:lstStyle/>
          <a:p>
            <a:endParaRPr lang="th-TH"/>
          </a:p>
        </p:txBody>
      </p:sp>
      <p:sp>
        <p:nvSpPr>
          <p:cNvPr id="69" name="Rectangle 68">
            <a:extLst>
              <a:ext uri="{FF2B5EF4-FFF2-40B4-BE49-F238E27FC236}">
                <a16:creationId xmlns:a16="http://schemas.microsoft.com/office/drawing/2014/main" id="{AE5FE1BF-0158-4360-A442-8E5451598BDF}"/>
              </a:ext>
            </a:extLst>
          </p:cNvPr>
          <p:cNvSpPr>
            <a:spLocks noGrp="1"/>
          </p:cNvSpPr>
          <p:nvPr/>
        </p:nvSpPr>
        <p:spPr>
          <a:xfrm>
            <a:off x="10520163" y="2417045"/>
            <a:ext cx="613250" cy="203847"/>
          </a:xfrm>
          <a:prstGeom prst="rect">
            <a:avLst/>
          </a:prstGeom>
          <a:noFill/>
          <a:ln w="0">
            <a:noFill/>
          </a:ln>
        </p:spPr>
        <p:txBody>
          <a:bodyPr wrap="square" lIns="0" tIns="0" rIns="0" bIns="0" anchor="ctr">
            <a:normAutofit fontScale="55000" lnSpcReduction="20000"/>
          </a:bodyPr>
          <a:lstStyle/>
          <a:p>
            <a:endParaRPr/>
          </a:p>
        </p:txBody>
      </p:sp>
      <p:sp>
        <p:nvSpPr>
          <p:cNvPr id="70" name="Rectangle 69">
            <a:extLst>
              <a:ext uri="{FF2B5EF4-FFF2-40B4-BE49-F238E27FC236}">
                <a16:creationId xmlns:a16="http://schemas.microsoft.com/office/drawing/2014/main" id="{E1572FD5-E4DE-446C-B492-E56F4BD7D50A}"/>
              </a:ext>
            </a:extLst>
          </p:cNvPr>
          <p:cNvSpPr>
            <a:spLocks noGrp="1"/>
          </p:cNvSpPr>
          <p:nvPr/>
        </p:nvSpPr>
        <p:spPr>
          <a:xfrm>
            <a:off x="11148014" y="2402484"/>
            <a:ext cx="481840" cy="232968"/>
          </a:xfrm>
          <a:prstGeom prst="rect">
            <a:avLst/>
          </a:prstGeom>
          <a:solidFill>
            <a:srgbClr val="FFFFFF"/>
          </a:solidFill>
          <a:ln w="5103">
            <a:solidFill>
              <a:srgbClr val="C9CDD1"/>
            </a:solidFill>
            <a:prstDash val="solid"/>
          </a:ln>
        </p:spPr>
        <p:txBody>
          <a:bodyPr/>
          <a:lstStyle/>
          <a:p>
            <a:endParaRPr lang="th-TH"/>
          </a:p>
        </p:txBody>
      </p:sp>
      <p:sp>
        <p:nvSpPr>
          <p:cNvPr id="71" name="Rectangle 70">
            <a:extLst>
              <a:ext uri="{FF2B5EF4-FFF2-40B4-BE49-F238E27FC236}">
                <a16:creationId xmlns:a16="http://schemas.microsoft.com/office/drawing/2014/main" id="{39274232-B761-481E-9C23-534BC01600B1}"/>
              </a:ext>
            </a:extLst>
          </p:cNvPr>
          <p:cNvSpPr>
            <a:spLocks noGrp="1"/>
          </p:cNvSpPr>
          <p:nvPr/>
        </p:nvSpPr>
        <p:spPr>
          <a:xfrm>
            <a:off x="11162616" y="2417045"/>
            <a:ext cx="452637" cy="203847"/>
          </a:xfrm>
          <a:prstGeom prst="rect">
            <a:avLst/>
          </a:prstGeom>
          <a:noFill/>
          <a:ln w="0">
            <a:noFill/>
          </a:ln>
        </p:spPr>
        <p:txBody>
          <a:bodyPr wrap="square" lIns="0" tIns="0" rIns="0" bIns="0" anchor="ctr">
            <a:normAutofit fontScale="55000" lnSpcReduction="20000"/>
          </a:bodyPr>
          <a:lstStyle/>
          <a:p>
            <a:endParaRPr/>
          </a:p>
        </p:txBody>
      </p:sp>
      <p:sp>
        <p:nvSpPr>
          <p:cNvPr id="72" name="Rectangle 71">
            <a:extLst>
              <a:ext uri="{FF2B5EF4-FFF2-40B4-BE49-F238E27FC236}">
                <a16:creationId xmlns:a16="http://schemas.microsoft.com/office/drawing/2014/main" id="{8A43A580-3B0C-497C-ADF6-4BD5709453CD}"/>
              </a:ext>
            </a:extLst>
          </p:cNvPr>
          <p:cNvSpPr>
            <a:spLocks noGrp="1"/>
          </p:cNvSpPr>
          <p:nvPr/>
        </p:nvSpPr>
        <p:spPr>
          <a:xfrm>
            <a:off x="6256613" y="2635452"/>
            <a:ext cx="226319" cy="211127"/>
          </a:xfrm>
          <a:prstGeom prst="rect">
            <a:avLst/>
          </a:prstGeom>
          <a:solidFill>
            <a:srgbClr val="F5F6F7"/>
          </a:solidFill>
          <a:ln w="5103">
            <a:solidFill>
              <a:srgbClr val="C9CDD1"/>
            </a:solidFill>
            <a:prstDash val="solid"/>
          </a:ln>
        </p:spPr>
        <p:txBody>
          <a:bodyPr/>
          <a:lstStyle/>
          <a:p>
            <a:endParaRPr lang="th-TH"/>
          </a:p>
        </p:txBody>
      </p:sp>
      <p:sp>
        <p:nvSpPr>
          <p:cNvPr id="73" name="Rectangle 72">
            <a:extLst>
              <a:ext uri="{FF2B5EF4-FFF2-40B4-BE49-F238E27FC236}">
                <a16:creationId xmlns:a16="http://schemas.microsoft.com/office/drawing/2014/main" id="{EB18443A-E3F2-4228-89C3-F6EC3CD4F12A}"/>
              </a:ext>
            </a:extLst>
          </p:cNvPr>
          <p:cNvSpPr>
            <a:spLocks noGrp="1"/>
          </p:cNvSpPr>
          <p:nvPr/>
        </p:nvSpPr>
        <p:spPr>
          <a:xfrm>
            <a:off x="6271214" y="2650013"/>
            <a:ext cx="197116"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2</a:t>
            </a:r>
          </a:p>
        </p:txBody>
      </p:sp>
      <p:sp>
        <p:nvSpPr>
          <p:cNvPr id="74" name="Rectangle 73">
            <a:extLst>
              <a:ext uri="{FF2B5EF4-FFF2-40B4-BE49-F238E27FC236}">
                <a16:creationId xmlns:a16="http://schemas.microsoft.com/office/drawing/2014/main" id="{3B61FE28-6FDF-4217-A78D-EF08212BF818}"/>
              </a:ext>
            </a:extLst>
          </p:cNvPr>
          <p:cNvSpPr>
            <a:spLocks noGrp="1"/>
          </p:cNvSpPr>
          <p:nvPr/>
        </p:nvSpPr>
        <p:spPr>
          <a:xfrm>
            <a:off x="6482932" y="2635452"/>
            <a:ext cx="686256" cy="211127"/>
          </a:xfrm>
          <a:prstGeom prst="rect">
            <a:avLst/>
          </a:prstGeom>
          <a:solidFill>
            <a:srgbClr val="FFFFFF"/>
          </a:solidFill>
          <a:ln w="5103">
            <a:solidFill>
              <a:srgbClr val="C9CDD1"/>
            </a:solidFill>
            <a:prstDash val="solid"/>
          </a:ln>
        </p:spPr>
        <p:txBody>
          <a:bodyPr/>
          <a:lstStyle/>
          <a:p>
            <a:endParaRPr lang="th-TH"/>
          </a:p>
        </p:txBody>
      </p:sp>
      <p:sp>
        <p:nvSpPr>
          <p:cNvPr id="75" name="Rectangle 74">
            <a:extLst>
              <a:ext uri="{FF2B5EF4-FFF2-40B4-BE49-F238E27FC236}">
                <a16:creationId xmlns:a16="http://schemas.microsoft.com/office/drawing/2014/main" id="{12B40DA8-DE20-4279-A3BA-ED230843B307}"/>
              </a:ext>
            </a:extLst>
          </p:cNvPr>
          <p:cNvSpPr>
            <a:spLocks noGrp="1"/>
          </p:cNvSpPr>
          <p:nvPr/>
        </p:nvSpPr>
        <p:spPr>
          <a:xfrm>
            <a:off x="6497533" y="2650013"/>
            <a:ext cx="657054"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2</a:t>
            </a:r>
          </a:p>
        </p:txBody>
      </p:sp>
      <p:sp>
        <p:nvSpPr>
          <p:cNvPr id="76" name="Rectangle 75">
            <a:extLst>
              <a:ext uri="{FF2B5EF4-FFF2-40B4-BE49-F238E27FC236}">
                <a16:creationId xmlns:a16="http://schemas.microsoft.com/office/drawing/2014/main" id="{C13198AD-B107-4A57-854E-7E5885B743DF}"/>
              </a:ext>
            </a:extLst>
          </p:cNvPr>
          <p:cNvSpPr>
            <a:spLocks noGrp="1"/>
          </p:cNvSpPr>
          <p:nvPr/>
        </p:nvSpPr>
        <p:spPr>
          <a:xfrm>
            <a:off x="7169188" y="2635452"/>
            <a:ext cx="489140" cy="211127"/>
          </a:xfrm>
          <a:prstGeom prst="rect">
            <a:avLst/>
          </a:prstGeom>
          <a:solidFill>
            <a:srgbClr val="FCE0E1"/>
          </a:solidFill>
          <a:ln w="5103">
            <a:solidFill>
              <a:srgbClr val="C9CDD1"/>
            </a:solidFill>
            <a:prstDash val="solid"/>
          </a:ln>
        </p:spPr>
        <p:txBody>
          <a:bodyPr/>
          <a:lstStyle/>
          <a:p>
            <a:endParaRPr lang="th-TH"/>
          </a:p>
        </p:txBody>
      </p:sp>
      <p:sp>
        <p:nvSpPr>
          <p:cNvPr id="77" name="Rectangle 76">
            <a:extLst>
              <a:ext uri="{FF2B5EF4-FFF2-40B4-BE49-F238E27FC236}">
                <a16:creationId xmlns:a16="http://schemas.microsoft.com/office/drawing/2014/main" id="{C255D67E-0CF8-4F1B-A0F5-42C47D3B8797}"/>
              </a:ext>
            </a:extLst>
          </p:cNvPr>
          <p:cNvSpPr>
            <a:spLocks noGrp="1"/>
          </p:cNvSpPr>
          <p:nvPr/>
        </p:nvSpPr>
        <p:spPr>
          <a:xfrm>
            <a:off x="7183789" y="2650013"/>
            <a:ext cx="459938" cy="182006"/>
          </a:xfrm>
          <a:prstGeom prst="rect">
            <a:avLst/>
          </a:prstGeom>
          <a:noFill/>
          <a:ln w="0">
            <a:noFill/>
          </a:ln>
        </p:spPr>
        <p:txBody>
          <a:bodyPr wrap="square" lIns="0" tIns="0" rIns="0" bIns="0" anchor="ctr">
            <a:normAutofit/>
          </a:bodyPr>
          <a:lstStyle/>
          <a:p>
            <a:pPr algn="ctr">
              <a:defRPr sz="804" b="0">
                <a:solidFill>
                  <a:srgbClr val="D12323"/>
                </a:solidFill>
                <a:latin typeface="Arial"/>
                <a:ea typeface="Arial"/>
                <a:cs typeface="Arial"/>
              </a:defRPr>
            </a:pPr>
            <a:r>
              <a:rPr sz="804" b="0">
                <a:solidFill>
                  <a:srgbClr val="D12323"/>
                </a:solidFill>
                <a:latin typeface="Arial"/>
                <a:ea typeface="Arial"/>
                <a:cs typeface="Arial"/>
              </a:rPr>
              <a:t>3.090</a:t>
            </a:r>
          </a:p>
        </p:txBody>
      </p:sp>
      <p:sp>
        <p:nvSpPr>
          <p:cNvPr id="78" name="Rectangle 77">
            <a:extLst>
              <a:ext uri="{FF2B5EF4-FFF2-40B4-BE49-F238E27FC236}">
                <a16:creationId xmlns:a16="http://schemas.microsoft.com/office/drawing/2014/main" id="{6666E8F8-4FFC-4DE3-B18A-4949734E8714}"/>
              </a:ext>
            </a:extLst>
          </p:cNvPr>
          <p:cNvSpPr>
            <a:spLocks noGrp="1"/>
          </p:cNvSpPr>
          <p:nvPr/>
        </p:nvSpPr>
        <p:spPr>
          <a:xfrm>
            <a:off x="7658328" y="2635452"/>
            <a:ext cx="511042" cy="211127"/>
          </a:xfrm>
          <a:prstGeom prst="rect">
            <a:avLst/>
          </a:prstGeom>
          <a:solidFill>
            <a:srgbClr val="FCE0E1"/>
          </a:solidFill>
          <a:ln w="5103">
            <a:solidFill>
              <a:srgbClr val="C9CDD1"/>
            </a:solidFill>
            <a:prstDash val="solid"/>
          </a:ln>
        </p:spPr>
        <p:txBody>
          <a:bodyPr/>
          <a:lstStyle/>
          <a:p>
            <a:endParaRPr lang="th-TH"/>
          </a:p>
        </p:txBody>
      </p:sp>
      <p:sp>
        <p:nvSpPr>
          <p:cNvPr id="79" name="Rectangle 78">
            <a:extLst>
              <a:ext uri="{FF2B5EF4-FFF2-40B4-BE49-F238E27FC236}">
                <a16:creationId xmlns:a16="http://schemas.microsoft.com/office/drawing/2014/main" id="{BED63A8B-F0C9-4557-9BAB-2ACCAC3C4882}"/>
              </a:ext>
            </a:extLst>
          </p:cNvPr>
          <p:cNvSpPr>
            <a:spLocks noGrp="1"/>
          </p:cNvSpPr>
          <p:nvPr/>
        </p:nvSpPr>
        <p:spPr>
          <a:xfrm>
            <a:off x="7672929" y="2650013"/>
            <a:ext cx="481840" cy="182006"/>
          </a:xfrm>
          <a:prstGeom prst="rect">
            <a:avLst/>
          </a:prstGeom>
          <a:noFill/>
          <a:ln w="0">
            <a:noFill/>
          </a:ln>
        </p:spPr>
        <p:txBody>
          <a:bodyPr wrap="square" lIns="0" tIns="0" rIns="0" bIns="0" anchor="ctr">
            <a:normAutofit/>
          </a:bodyPr>
          <a:lstStyle/>
          <a:p>
            <a:pPr algn="ctr">
              <a:defRPr sz="804" b="0">
                <a:solidFill>
                  <a:srgbClr val="D12323"/>
                </a:solidFill>
                <a:latin typeface="Arial"/>
                <a:ea typeface="Arial"/>
                <a:cs typeface="Arial"/>
              </a:defRPr>
            </a:pPr>
            <a:r>
              <a:rPr sz="804" b="0">
                <a:solidFill>
                  <a:srgbClr val="D12323"/>
                </a:solidFill>
                <a:latin typeface="Arial"/>
                <a:ea typeface="Arial"/>
                <a:cs typeface="Arial"/>
              </a:rPr>
              <a:t>3.097</a:t>
            </a:r>
          </a:p>
        </p:txBody>
      </p:sp>
      <p:sp>
        <p:nvSpPr>
          <p:cNvPr id="80" name="Rectangle 79">
            <a:extLst>
              <a:ext uri="{FF2B5EF4-FFF2-40B4-BE49-F238E27FC236}">
                <a16:creationId xmlns:a16="http://schemas.microsoft.com/office/drawing/2014/main" id="{693706A5-9576-4349-A2EF-AF0886B2A7C9}"/>
              </a:ext>
            </a:extLst>
          </p:cNvPr>
          <p:cNvSpPr>
            <a:spLocks noGrp="1"/>
          </p:cNvSpPr>
          <p:nvPr/>
        </p:nvSpPr>
        <p:spPr>
          <a:xfrm>
            <a:off x="8169370" y="2635452"/>
            <a:ext cx="985581" cy="211127"/>
          </a:xfrm>
          <a:prstGeom prst="rect">
            <a:avLst/>
          </a:prstGeom>
          <a:solidFill>
            <a:srgbClr val="FFFFFF"/>
          </a:solidFill>
          <a:ln w="5103">
            <a:solidFill>
              <a:srgbClr val="C9CDD1"/>
            </a:solidFill>
            <a:prstDash val="solid"/>
          </a:ln>
        </p:spPr>
        <p:txBody>
          <a:bodyPr/>
          <a:lstStyle/>
          <a:p>
            <a:endParaRPr lang="th-TH"/>
          </a:p>
        </p:txBody>
      </p:sp>
      <p:sp>
        <p:nvSpPr>
          <p:cNvPr id="81" name="Rectangle 80">
            <a:extLst>
              <a:ext uri="{FF2B5EF4-FFF2-40B4-BE49-F238E27FC236}">
                <a16:creationId xmlns:a16="http://schemas.microsoft.com/office/drawing/2014/main" id="{F2F6E01B-F291-4DA7-AA67-800E06D4F31C}"/>
              </a:ext>
            </a:extLst>
          </p:cNvPr>
          <p:cNvSpPr>
            <a:spLocks noGrp="1"/>
          </p:cNvSpPr>
          <p:nvPr/>
        </p:nvSpPr>
        <p:spPr>
          <a:xfrm>
            <a:off x="8183971" y="2650013"/>
            <a:ext cx="956378"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FAIL</a:t>
            </a:r>
          </a:p>
        </p:txBody>
      </p:sp>
      <p:sp>
        <p:nvSpPr>
          <p:cNvPr id="82" name="Rectangle 81">
            <a:extLst>
              <a:ext uri="{FF2B5EF4-FFF2-40B4-BE49-F238E27FC236}">
                <a16:creationId xmlns:a16="http://schemas.microsoft.com/office/drawing/2014/main" id="{EF9C634F-D14B-415A-AD6C-13C8016DFAF3}"/>
              </a:ext>
            </a:extLst>
          </p:cNvPr>
          <p:cNvSpPr>
            <a:spLocks noGrp="1"/>
          </p:cNvSpPr>
          <p:nvPr/>
        </p:nvSpPr>
        <p:spPr>
          <a:xfrm>
            <a:off x="9154951" y="2635452"/>
            <a:ext cx="1350611" cy="211127"/>
          </a:xfrm>
          <a:prstGeom prst="rect">
            <a:avLst/>
          </a:prstGeom>
          <a:solidFill>
            <a:srgbClr val="FFFFFF"/>
          </a:solidFill>
          <a:ln w="5103">
            <a:solidFill>
              <a:srgbClr val="C9CDD1"/>
            </a:solidFill>
            <a:prstDash val="solid"/>
          </a:ln>
        </p:spPr>
        <p:txBody>
          <a:bodyPr/>
          <a:lstStyle/>
          <a:p>
            <a:endParaRPr lang="th-TH"/>
          </a:p>
        </p:txBody>
      </p:sp>
      <p:sp>
        <p:nvSpPr>
          <p:cNvPr id="83" name="Rectangle 82">
            <a:extLst>
              <a:ext uri="{FF2B5EF4-FFF2-40B4-BE49-F238E27FC236}">
                <a16:creationId xmlns:a16="http://schemas.microsoft.com/office/drawing/2014/main" id="{50D64BD7-0790-4A65-91A6-6833F56CD731}"/>
              </a:ext>
            </a:extLst>
          </p:cNvPr>
          <p:cNvSpPr>
            <a:spLocks noGrp="1"/>
          </p:cNvSpPr>
          <p:nvPr/>
        </p:nvSpPr>
        <p:spPr>
          <a:xfrm>
            <a:off x="9169552" y="2650013"/>
            <a:ext cx="1321408"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SAWN</a:t>
            </a:r>
          </a:p>
        </p:txBody>
      </p:sp>
      <p:sp>
        <p:nvSpPr>
          <p:cNvPr id="84" name="Rectangle 83">
            <a:extLst>
              <a:ext uri="{FF2B5EF4-FFF2-40B4-BE49-F238E27FC236}">
                <a16:creationId xmlns:a16="http://schemas.microsoft.com/office/drawing/2014/main" id="{82BF2782-5A07-4CDD-923A-170755B68575}"/>
              </a:ext>
            </a:extLst>
          </p:cNvPr>
          <p:cNvSpPr>
            <a:spLocks noGrp="1"/>
          </p:cNvSpPr>
          <p:nvPr/>
        </p:nvSpPr>
        <p:spPr>
          <a:xfrm>
            <a:off x="10505562" y="2635452"/>
            <a:ext cx="642453" cy="211127"/>
          </a:xfrm>
          <a:prstGeom prst="rect">
            <a:avLst/>
          </a:prstGeom>
          <a:solidFill>
            <a:srgbClr val="FFFFFF"/>
          </a:solidFill>
          <a:ln w="5103">
            <a:solidFill>
              <a:srgbClr val="C9CDD1"/>
            </a:solidFill>
            <a:prstDash val="solid"/>
          </a:ln>
        </p:spPr>
        <p:txBody>
          <a:bodyPr/>
          <a:lstStyle/>
          <a:p>
            <a:endParaRPr lang="th-TH"/>
          </a:p>
        </p:txBody>
      </p:sp>
      <p:sp>
        <p:nvSpPr>
          <p:cNvPr id="85" name="Rectangle 84">
            <a:extLst>
              <a:ext uri="{FF2B5EF4-FFF2-40B4-BE49-F238E27FC236}">
                <a16:creationId xmlns:a16="http://schemas.microsoft.com/office/drawing/2014/main" id="{500FDC66-CAF4-4AE8-BF67-08EE913CCB55}"/>
              </a:ext>
            </a:extLst>
          </p:cNvPr>
          <p:cNvSpPr>
            <a:spLocks noGrp="1"/>
          </p:cNvSpPr>
          <p:nvPr/>
        </p:nvSpPr>
        <p:spPr>
          <a:xfrm>
            <a:off x="10520163" y="2650013"/>
            <a:ext cx="613250" cy="182006"/>
          </a:xfrm>
          <a:prstGeom prst="rect">
            <a:avLst/>
          </a:prstGeom>
          <a:noFill/>
          <a:ln w="0">
            <a:noFill/>
          </a:ln>
        </p:spPr>
        <p:txBody>
          <a:bodyPr wrap="square" lIns="0" tIns="0" rIns="0" bIns="0" anchor="ctr">
            <a:normAutofit fontScale="47500" lnSpcReduction="20000"/>
          </a:bodyPr>
          <a:lstStyle/>
          <a:p>
            <a:endParaRPr/>
          </a:p>
        </p:txBody>
      </p:sp>
      <p:sp>
        <p:nvSpPr>
          <p:cNvPr id="86" name="Rectangle 85">
            <a:extLst>
              <a:ext uri="{FF2B5EF4-FFF2-40B4-BE49-F238E27FC236}">
                <a16:creationId xmlns:a16="http://schemas.microsoft.com/office/drawing/2014/main" id="{C3E0356F-4116-44EC-A25A-DBD0EB7B75D1}"/>
              </a:ext>
            </a:extLst>
          </p:cNvPr>
          <p:cNvSpPr>
            <a:spLocks noGrp="1"/>
          </p:cNvSpPr>
          <p:nvPr/>
        </p:nvSpPr>
        <p:spPr>
          <a:xfrm>
            <a:off x="11148014" y="2635452"/>
            <a:ext cx="481840" cy="211127"/>
          </a:xfrm>
          <a:prstGeom prst="rect">
            <a:avLst/>
          </a:prstGeom>
          <a:solidFill>
            <a:srgbClr val="FFFFFF"/>
          </a:solidFill>
          <a:ln w="5103">
            <a:solidFill>
              <a:srgbClr val="C9CDD1"/>
            </a:solidFill>
            <a:prstDash val="solid"/>
          </a:ln>
        </p:spPr>
        <p:txBody>
          <a:bodyPr/>
          <a:lstStyle/>
          <a:p>
            <a:endParaRPr lang="th-TH"/>
          </a:p>
        </p:txBody>
      </p:sp>
      <p:sp>
        <p:nvSpPr>
          <p:cNvPr id="87" name="Rectangle 86">
            <a:extLst>
              <a:ext uri="{FF2B5EF4-FFF2-40B4-BE49-F238E27FC236}">
                <a16:creationId xmlns:a16="http://schemas.microsoft.com/office/drawing/2014/main" id="{53C0FBAD-F859-4ADB-B8AD-B321967556E2}"/>
              </a:ext>
            </a:extLst>
          </p:cNvPr>
          <p:cNvSpPr>
            <a:spLocks noGrp="1"/>
          </p:cNvSpPr>
          <p:nvPr/>
        </p:nvSpPr>
        <p:spPr>
          <a:xfrm>
            <a:off x="11162616" y="2650013"/>
            <a:ext cx="452637" cy="182006"/>
          </a:xfrm>
          <a:prstGeom prst="rect">
            <a:avLst/>
          </a:prstGeom>
          <a:noFill/>
          <a:ln w="0">
            <a:noFill/>
          </a:ln>
        </p:spPr>
        <p:txBody>
          <a:bodyPr wrap="square" lIns="0" tIns="0" rIns="0" bIns="0" anchor="ctr">
            <a:normAutofit fontScale="47500" lnSpcReduction="20000"/>
          </a:bodyPr>
          <a:lstStyle/>
          <a:p>
            <a:endParaRPr/>
          </a:p>
        </p:txBody>
      </p:sp>
      <p:sp>
        <p:nvSpPr>
          <p:cNvPr id="88" name="Rectangle 87">
            <a:extLst>
              <a:ext uri="{FF2B5EF4-FFF2-40B4-BE49-F238E27FC236}">
                <a16:creationId xmlns:a16="http://schemas.microsoft.com/office/drawing/2014/main" id="{4E083402-01C1-4D85-AFF0-AB34377835F9}"/>
              </a:ext>
            </a:extLst>
          </p:cNvPr>
          <p:cNvSpPr>
            <a:spLocks noGrp="1"/>
          </p:cNvSpPr>
          <p:nvPr/>
        </p:nvSpPr>
        <p:spPr>
          <a:xfrm>
            <a:off x="6256613" y="2846580"/>
            <a:ext cx="226319" cy="211127"/>
          </a:xfrm>
          <a:prstGeom prst="rect">
            <a:avLst/>
          </a:prstGeom>
          <a:solidFill>
            <a:srgbClr val="F5F6F7"/>
          </a:solidFill>
          <a:ln w="5103">
            <a:solidFill>
              <a:srgbClr val="C9CDD1"/>
            </a:solidFill>
            <a:prstDash val="solid"/>
          </a:ln>
        </p:spPr>
        <p:txBody>
          <a:bodyPr/>
          <a:lstStyle/>
          <a:p>
            <a:endParaRPr lang="th-TH"/>
          </a:p>
        </p:txBody>
      </p:sp>
      <p:sp>
        <p:nvSpPr>
          <p:cNvPr id="89" name="Rectangle 88">
            <a:extLst>
              <a:ext uri="{FF2B5EF4-FFF2-40B4-BE49-F238E27FC236}">
                <a16:creationId xmlns:a16="http://schemas.microsoft.com/office/drawing/2014/main" id="{63DD9E09-F04B-4C47-8EDC-0A22BF15E973}"/>
              </a:ext>
            </a:extLst>
          </p:cNvPr>
          <p:cNvSpPr>
            <a:spLocks noGrp="1"/>
          </p:cNvSpPr>
          <p:nvPr/>
        </p:nvSpPr>
        <p:spPr>
          <a:xfrm>
            <a:off x="6271214" y="2861140"/>
            <a:ext cx="197116"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3</a:t>
            </a:r>
          </a:p>
        </p:txBody>
      </p:sp>
      <p:sp>
        <p:nvSpPr>
          <p:cNvPr id="90" name="Rectangle 89">
            <a:extLst>
              <a:ext uri="{FF2B5EF4-FFF2-40B4-BE49-F238E27FC236}">
                <a16:creationId xmlns:a16="http://schemas.microsoft.com/office/drawing/2014/main" id="{B579EC70-0638-48E7-8C7B-863CE9944910}"/>
              </a:ext>
            </a:extLst>
          </p:cNvPr>
          <p:cNvSpPr>
            <a:spLocks noGrp="1"/>
          </p:cNvSpPr>
          <p:nvPr/>
        </p:nvSpPr>
        <p:spPr>
          <a:xfrm>
            <a:off x="6482932" y="2846580"/>
            <a:ext cx="686256" cy="211127"/>
          </a:xfrm>
          <a:prstGeom prst="rect">
            <a:avLst/>
          </a:prstGeom>
          <a:solidFill>
            <a:srgbClr val="FFFFFF"/>
          </a:solidFill>
          <a:ln w="5103">
            <a:solidFill>
              <a:srgbClr val="C9CDD1"/>
            </a:solidFill>
            <a:prstDash val="solid"/>
          </a:ln>
        </p:spPr>
        <p:txBody>
          <a:bodyPr/>
          <a:lstStyle/>
          <a:p>
            <a:endParaRPr lang="th-TH"/>
          </a:p>
        </p:txBody>
      </p:sp>
      <p:sp>
        <p:nvSpPr>
          <p:cNvPr id="91" name="Rectangle 90">
            <a:extLst>
              <a:ext uri="{FF2B5EF4-FFF2-40B4-BE49-F238E27FC236}">
                <a16:creationId xmlns:a16="http://schemas.microsoft.com/office/drawing/2014/main" id="{FD414800-6FBE-432E-A9DE-510488DBB781}"/>
              </a:ext>
            </a:extLst>
          </p:cNvPr>
          <p:cNvSpPr>
            <a:spLocks noGrp="1"/>
          </p:cNvSpPr>
          <p:nvPr/>
        </p:nvSpPr>
        <p:spPr>
          <a:xfrm>
            <a:off x="6497533" y="2861140"/>
            <a:ext cx="657054"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3</a:t>
            </a:r>
          </a:p>
        </p:txBody>
      </p:sp>
      <p:sp>
        <p:nvSpPr>
          <p:cNvPr id="92" name="Rectangle 91">
            <a:extLst>
              <a:ext uri="{FF2B5EF4-FFF2-40B4-BE49-F238E27FC236}">
                <a16:creationId xmlns:a16="http://schemas.microsoft.com/office/drawing/2014/main" id="{72654517-0595-4FCA-BBBF-26EB5F89240A}"/>
              </a:ext>
            </a:extLst>
          </p:cNvPr>
          <p:cNvSpPr>
            <a:spLocks noGrp="1"/>
          </p:cNvSpPr>
          <p:nvPr/>
        </p:nvSpPr>
        <p:spPr>
          <a:xfrm>
            <a:off x="7169188" y="2846580"/>
            <a:ext cx="489140" cy="211127"/>
          </a:xfrm>
          <a:prstGeom prst="rect">
            <a:avLst/>
          </a:prstGeom>
          <a:solidFill>
            <a:srgbClr val="FCE0E1"/>
          </a:solidFill>
          <a:ln w="5103">
            <a:solidFill>
              <a:srgbClr val="C9CDD1"/>
            </a:solidFill>
            <a:prstDash val="solid"/>
          </a:ln>
        </p:spPr>
        <p:txBody>
          <a:bodyPr/>
          <a:lstStyle/>
          <a:p>
            <a:endParaRPr lang="th-TH"/>
          </a:p>
        </p:txBody>
      </p:sp>
      <p:sp>
        <p:nvSpPr>
          <p:cNvPr id="93" name="Rectangle 92">
            <a:extLst>
              <a:ext uri="{FF2B5EF4-FFF2-40B4-BE49-F238E27FC236}">
                <a16:creationId xmlns:a16="http://schemas.microsoft.com/office/drawing/2014/main" id="{D8DEDAFB-CB36-493B-BBF8-CDB857268DBB}"/>
              </a:ext>
            </a:extLst>
          </p:cNvPr>
          <p:cNvSpPr>
            <a:spLocks noGrp="1"/>
          </p:cNvSpPr>
          <p:nvPr/>
        </p:nvSpPr>
        <p:spPr>
          <a:xfrm>
            <a:off x="7183789" y="2861140"/>
            <a:ext cx="459938" cy="182006"/>
          </a:xfrm>
          <a:prstGeom prst="rect">
            <a:avLst/>
          </a:prstGeom>
          <a:noFill/>
          <a:ln w="0">
            <a:noFill/>
          </a:ln>
        </p:spPr>
        <p:txBody>
          <a:bodyPr wrap="square" lIns="0" tIns="0" rIns="0" bIns="0" anchor="ctr">
            <a:normAutofit/>
          </a:bodyPr>
          <a:lstStyle/>
          <a:p>
            <a:pPr algn="ctr">
              <a:defRPr sz="804" b="0">
                <a:solidFill>
                  <a:srgbClr val="D12323"/>
                </a:solidFill>
                <a:latin typeface="Arial"/>
                <a:ea typeface="Arial"/>
                <a:cs typeface="Arial"/>
              </a:defRPr>
            </a:pPr>
            <a:r>
              <a:rPr sz="804" b="0">
                <a:solidFill>
                  <a:srgbClr val="D12323"/>
                </a:solidFill>
                <a:latin typeface="Arial"/>
                <a:ea typeface="Arial"/>
                <a:cs typeface="Arial"/>
              </a:rPr>
              <a:t>3.076</a:t>
            </a:r>
          </a:p>
        </p:txBody>
      </p:sp>
      <p:sp>
        <p:nvSpPr>
          <p:cNvPr id="94" name="Rectangle 93">
            <a:extLst>
              <a:ext uri="{FF2B5EF4-FFF2-40B4-BE49-F238E27FC236}">
                <a16:creationId xmlns:a16="http://schemas.microsoft.com/office/drawing/2014/main" id="{E8ABB8C9-D861-48A9-B666-8E95D660E86D}"/>
              </a:ext>
            </a:extLst>
          </p:cNvPr>
          <p:cNvSpPr>
            <a:spLocks noGrp="1"/>
          </p:cNvSpPr>
          <p:nvPr/>
        </p:nvSpPr>
        <p:spPr>
          <a:xfrm>
            <a:off x="7658328" y="2846580"/>
            <a:ext cx="511042" cy="211127"/>
          </a:xfrm>
          <a:prstGeom prst="rect">
            <a:avLst/>
          </a:prstGeom>
          <a:solidFill>
            <a:srgbClr val="FCE0E1"/>
          </a:solidFill>
          <a:ln w="5103">
            <a:solidFill>
              <a:srgbClr val="C9CDD1"/>
            </a:solidFill>
            <a:prstDash val="solid"/>
          </a:ln>
        </p:spPr>
        <p:txBody>
          <a:bodyPr/>
          <a:lstStyle/>
          <a:p>
            <a:endParaRPr lang="th-TH"/>
          </a:p>
        </p:txBody>
      </p:sp>
      <p:sp>
        <p:nvSpPr>
          <p:cNvPr id="95" name="Rectangle 94">
            <a:extLst>
              <a:ext uri="{FF2B5EF4-FFF2-40B4-BE49-F238E27FC236}">
                <a16:creationId xmlns:a16="http://schemas.microsoft.com/office/drawing/2014/main" id="{7F1E7348-A560-4420-B6EF-1A96A9CAF035}"/>
              </a:ext>
            </a:extLst>
          </p:cNvPr>
          <p:cNvSpPr>
            <a:spLocks noGrp="1"/>
          </p:cNvSpPr>
          <p:nvPr/>
        </p:nvSpPr>
        <p:spPr>
          <a:xfrm>
            <a:off x="7672929" y="2861140"/>
            <a:ext cx="481840" cy="182006"/>
          </a:xfrm>
          <a:prstGeom prst="rect">
            <a:avLst/>
          </a:prstGeom>
          <a:noFill/>
          <a:ln w="0">
            <a:noFill/>
          </a:ln>
        </p:spPr>
        <p:txBody>
          <a:bodyPr wrap="square" lIns="0" tIns="0" rIns="0" bIns="0" anchor="ctr">
            <a:normAutofit/>
          </a:bodyPr>
          <a:lstStyle/>
          <a:p>
            <a:pPr algn="ctr">
              <a:defRPr sz="804" b="0">
                <a:solidFill>
                  <a:srgbClr val="D12323"/>
                </a:solidFill>
                <a:latin typeface="Arial"/>
                <a:ea typeface="Arial"/>
                <a:cs typeface="Arial"/>
              </a:defRPr>
            </a:pPr>
            <a:r>
              <a:rPr sz="804" b="0">
                <a:solidFill>
                  <a:srgbClr val="D12323"/>
                </a:solidFill>
                <a:latin typeface="Arial"/>
                <a:ea typeface="Arial"/>
                <a:cs typeface="Arial"/>
              </a:rPr>
              <a:t>3.103</a:t>
            </a:r>
          </a:p>
        </p:txBody>
      </p:sp>
      <p:sp>
        <p:nvSpPr>
          <p:cNvPr id="96" name="Rectangle 95">
            <a:extLst>
              <a:ext uri="{FF2B5EF4-FFF2-40B4-BE49-F238E27FC236}">
                <a16:creationId xmlns:a16="http://schemas.microsoft.com/office/drawing/2014/main" id="{27612C9C-1AB6-493B-BB77-823EB09DC3BD}"/>
              </a:ext>
            </a:extLst>
          </p:cNvPr>
          <p:cNvSpPr>
            <a:spLocks noGrp="1"/>
          </p:cNvSpPr>
          <p:nvPr/>
        </p:nvSpPr>
        <p:spPr>
          <a:xfrm>
            <a:off x="8169370" y="2846580"/>
            <a:ext cx="985581" cy="211127"/>
          </a:xfrm>
          <a:prstGeom prst="rect">
            <a:avLst/>
          </a:prstGeom>
          <a:solidFill>
            <a:srgbClr val="FFFFFF"/>
          </a:solidFill>
          <a:ln w="5103">
            <a:solidFill>
              <a:srgbClr val="C9CDD1"/>
            </a:solidFill>
            <a:prstDash val="solid"/>
          </a:ln>
        </p:spPr>
        <p:txBody>
          <a:bodyPr/>
          <a:lstStyle/>
          <a:p>
            <a:endParaRPr lang="th-TH"/>
          </a:p>
        </p:txBody>
      </p:sp>
      <p:sp>
        <p:nvSpPr>
          <p:cNvPr id="97" name="Rectangle 96">
            <a:extLst>
              <a:ext uri="{FF2B5EF4-FFF2-40B4-BE49-F238E27FC236}">
                <a16:creationId xmlns:a16="http://schemas.microsoft.com/office/drawing/2014/main" id="{62AC3172-2597-4591-8E13-71E716B69404}"/>
              </a:ext>
            </a:extLst>
          </p:cNvPr>
          <p:cNvSpPr>
            <a:spLocks noGrp="1"/>
          </p:cNvSpPr>
          <p:nvPr/>
        </p:nvSpPr>
        <p:spPr>
          <a:xfrm>
            <a:off x="8183971" y="2861140"/>
            <a:ext cx="956378"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FAIL</a:t>
            </a:r>
          </a:p>
        </p:txBody>
      </p:sp>
      <p:sp>
        <p:nvSpPr>
          <p:cNvPr id="98" name="Rectangle 97">
            <a:extLst>
              <a:ext uri="{FF2B5EF4-FFF2-40B4-BE49-F238E27FC236}">
                <a16:creationId xmlns:a16="http://schemas.microsoft.com/office/drawing/2014/main" id="{3B93652B-9823-4E33-9A62-539589035536}"/>
              </a:ext>
            </a:extLst>
          </p:cNvPr>
          <p:cNvSpPr>
            <a:spLocks noGrp="1"/>
          </p:cNvSpPr>
          <p:nvPr/>
        </p:nvSpPr>
        <p:spPr>
          <a:xfrm>
            <a:off x="9154951" y="2846580"/>
            <a:ext cx="1350611" cy="211127"/>
          </a:xfrm>
          <a:prstGeom prst="rect">
            <a:avLst/>
          </a:prstGeom>
          <a:solidFill>
            <a:srgbClr val="FFFFFF"/>
          </a:solidFill>
          <a:ln w="5103">
            <a:solidFill>
              <a:srgbClr val="C9CDD1"/>
            </a:solidFill>
            <a:prstDash val="solid"/>
          </a:ln>
        </p:spPr>
        <p:txBody>
          <a:bodyPr/>
          <a:lstStyle/>
          <a:p>
            <a:endParaRPr lang="th-TH"/>
          </a:p>
        </p:txBody>
      </p:sp>
      <p:sp>
        <p:nvSpPr>
          <p:cNvPr id="99" name="Rectangle 98">
            <a:extLst>
              <a:ext uri="{FF2B5EF4-FFF2-40B4-BE49-F238E27FC236}">
                <a16:creationId xmlns:a16="http://schemas.microsoft.com/office/drawing/2014/main" id="{E8A07D97-5D57-440C-A1BE-70E7AE3A10B7}"/>
              </a:ext>
            </a:extLst>
          </p:cNvPr>
          <p:cNvSpPr>
            <a:spLocks noGrp="1"/>
          </p:cNvSpPr>
          <p:nvPr/>
        </p:nvSpPr>
        <p:spPr>
          <a:xfrm>
            <a:off x="9169552" y="2861140"/>
            <a:ext cx="1321408"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SAWN</a:t>
            </a:r>
          </a:p>
        </p:txBody>
      </p:sp>
      <p:sp>
        <p:nvSpPr>
          <p:cNvPr id="100" name="Rectangle 99">
            <a:extLst>
              <a:ext uri="{FF2B5EF4-FFF2-40B4-BE49-F238E27FC236}">
                <a16:creationId xmlns:a16="http://schemas.microsoft.com/office/drawing/2014/main" id="{7E0AB5BF-B3B5-46F1-99C5-F437F0A4DBAC}"/>
              </a:ext>
            </a:extLst>
          </p:cNvPr>
          <p:cNvSpPr>
            <a:spLocks noGrp="1"/>
          </p:cNvSpPr>
          <p:nvPr/>
        </p:nvSpPr>
        <p:spPr>
          <a:xfrm>
            <a:off x="10505562" y="2846580"/>
            <a:ext cx="642453" cy="211127"/>
          </a:xfrm>
          <a:prstGeom prst="rect">
            <a:avLst/>
          </a:prstGeom>
          <a:solidFill>
            <a:srgbClr val="FFFFFF"/>
          </a:solidFill>
          <a:ln w="5103">
            <a:solidFill>
              <a:srgbClr val="C9CDD1"/>
            </a:solidFill>
            <a:prstDash val="solid"/>
          </a:ln>
        </p:spPr>
        <p:txBody>
          <a:bodyPr/>
          <a:lstStyle/>
          <a:p>
            <a:endParaRPr lang="th-TH"/>
          </a:p>
        </p:txBody>
      </p:sp>
      <p:sp>
        <p:nvSpPr>
          <p:cNvPr id="101" name="Rectangle 100">
            <a:extLst>
              <a:ext uri="{FF2B5EF4-FFF2-40B4-BE49-F238E27FC236}">
                <a16:creationId xmlns:a16="http://schemas.microsoft.com/office/drawing/2014/main" id="{EA2AA09B-1592-4DD3-8750-2E5478C88082}"/>
              </a:ext>
            </a:extLst>
          </p:cNvPr>
          <p:cNvSpPr>
            <a:spLocks noGrp="1"/>
          </p:cNvSpPr>
          <p:nvPr/>
        </p:nvSpPr>
        <p:spPr>
          <a:xfrm>
            <a:off x="10520163" y="2861140"/>
            <a:ext cx="613250" cy="182006"/>
          </a:xfrm>
          <a:prstGeom prst="rect">
            <a:avLst/>
          </a:prstGeom>
          <a:noFill/>
          <a:ln w="0">
            <a:noFill/>
          </a:ln>
        </p:spPr>
        <p:txBody>
          <a:bodyPr wrap="square" lIns="0" tIns="0" rIns="0" bIns="0" anchor="ctr">
            <a:normAutofit fontScale="47500" lnSpcReduction="20000"/>
          </a:bodyPr>
          <a:lstStyle/>
          <a:p>
            <a:endParaRPr/>
          </a:p>
        </p:txBody>
      </p:sp>
      <p:sp>
        <p:nvSpPr>
          <p:cNvPr id="102" name="Rectangle 101">
            <a:extLst>
              <a:ext uri="{FF2B5EF4-FFF2-40B4-BE49-F238E27FC236}">
                <a16:creationId xmlns:a16="http://schemas.microsoft.com/office/drawing/2014/main" id="{BEEB0E64-42E3-4C9D-BB3F-ADC4281F8F4D}"/>
              </a:ext>
            </a:extLst>
          </p:cNvPr>
          <p:cNvSpPr>
            <a:spLocks noGrp="1"/>
          </p:cNvSpPr>
          <p:nvPr/>
        </p:nvSpPr>
        <p:spPr>
          <a:xfrm>
            <a:off x="11148014" y="2846580"/>
            <a:ext cx="481840" cy="211127"/>
          </a:xfrm>
          <a:prstGeom prst="rect">
            <a:avLst/>
          </a:prstGeom>
          <a:solidFill>
            <a:srgbClr val="FFFFFF"/>
          </a:solidFill>
          <a:ln w="5103">
            <a:solidFill>
              <a:srgbClr val="C9CDD1"/>
            </a:solidFill>
            <a:prstDash val="solid"/>
          </a:ln>
        </p:spPr>
        <p:txBody>
          <a:bodyPr/>
          <a:lstStyle/>
          <a:p>
            <a:endParaRPr lang="th-TH"/>
          </a:p>
        </p:txBody>
      </p:sp>
      <p:sp>
        <p:nvSpPr>
          <p:cNvPr id="103" name="Rectangle 102">
            <a:extLst>
              <a:ext uri="{FF2B5EF4-FFF2-40B4-BE49-F238E27FC236}">
                <a16:creationId xmlns:a16="http://schemas.microsoft.com/office/drawing/2014/main" id="{BC695DF0-882D-47DA-89B3-DF59F30F15E5}"/>
              </a:ext>
            </a:extLst>
          </p:cNvPr>
          <p:cNvSpPr>
            <a:spLocks noGrp="1"/>
          </p:cNvSpPr>
          <p:nvPr/>
        </p:nvSpPr>
        <p:spPr>
          <a:xfrm>
            <a:off x="11162616" y="2861140"/>
            <a:ext cx="452637" cy="182006"/>
          </a:xfrm>
          <a:prstGeom prst="rect">
            <a:avLst/>
          </a:prstGeom>
          <a:noFill/>
          <a:ln w="0">
            <a:noFill/>
          </a:ln>
        </p:spPr>
        <p:txBody>
          <a:bodyPr wrap="square" lIns="0" tIns="0" rIns="0" bIns="0" anchor="ctr">
            <a:normAutofit fontScale="47500" lnSpcReduction="20000"/>
          </a:bodyPr>
          <a:lstStyle/>
          <a:p>
            <a:endParaRPr/>
          </a:p>
        </p:txBody>
      </p:sp>
      <p:sp>
        <p:nvSpPr>
          <p:cNvPr id="104" name="Rectangle 103">
            <a:extLst>
              <a:ext uri="{FF2B5EF4-FFF2-40B4-BE49-F238E27FC236}">
                <a16:creationId xmlns:a16="http://schemas.microsoft.com/office/drawing/2014/main" id="{E7729377-B413-48F3-BC86-4D33DB66B21D}"/>
              </a:ext>
            </a:extLst>
          </p:cNvPr>
          <p:cNvSpPr>
            <a:spLocks noGrp="1"/>
          </p:cNvSpPr>
          <p:nvPr/>
        </p:nvSpPr>
        <p:spPr>
          <a:xfrm>
            <a:off x="6256613" y="3057707"/>
            <a:ext cx="226319" cy="211127"/>
          </a:xfrm>
          <a:prstGeom prst="rect">
            <a:avLst/>
          </a:prstGeom>
          <a:solidFill>
            <a:srgbClr val="F5F6F7"/>
          </a:solidFill>
          <a:ln w="5103">
            <a:solidFill>
              <a:srgbClr val="C9CDD1"/>
            </a:solidFill>
            <a:prstDash val="solid"/>
          </a:ln>
        </p:spPr>
        <p:txBody>
          <a:bodyPr/>
          <a:lstStyle/>
          <a:p>
            <a:endParaRPr lang="th-TH"/>
          </a:p>
        </p:txBody>
      </p:sp>
      <p:sp>
        <p:nvSpPr>
          <p:cNvPr id="105" name="Rectangle 104">
            <a:extLst>
              <a:ext uri="{FF2B5EF4-FFF2-40B4-BE49-F238E27FC236}">
                <a16:creationId xmlns:a16="http://schemas.microsoft.com/office/drawing/2014/main" id="{4481C42E-D23C-432B-AC5E-8625D66F58E0}"/>
              </a:ext>
            </a:extLst>
          </p:cNvPr>
          <p:cNvSpPr>
            <a:spLocks noGrp="1"/>
          </p:cNvSpPr>
          <p:nvPr/>
        </p:nvSpPr>
        <p:spPr>
          <a:xfrm>
            <a:off x="6271214" y="3072268"/>
            <a:ext cx="197116"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4</a:t>
            </a:r>
          </a:p>
        </p:txBody>
      </p:sp>
      <p:sp>
        <p:nvSpPr>
          <p:cNvPr id="106" name="Rectangle 105">
            <a:extLst>
              <a:ext uri="{FF2B5EF4-FFF2-40B4-BE49-F238E27FC236}">
                <a16:creationId xmlns:a16="http://schemas.microsoft.com/office/drawing/2014/main" id="{CA09D67D-4FA9-4818-A2D9-453DC6211CB6}"/>
              </a:ext>
            </a:extLst>
          </p:cNvPr>
          <p:cNvSpPr>
            <a:spLocks noGrp="1"/>
          </p:cNvSpPr>
          <p:nvPr/>
        </p:nvSpPr>
        <p:spPr>
          <a:xfrm>
            <a:off x="6482932" y="3057707"/>
            <a:ext cx="686256" cy="211127"/>
          </a:xfrm>
          <a:prstGeom prst="rect">
            <a:avLst/>
          </a:prstGeom>
          <a:solidFill>
            <a:srgbClr val="FFFFFF"/>
          </a:solidFill>
          <a:ln w="5103">
            <a:solidFill>
              <a:srgbClr val="C9CDD1"/>
            </a:solidFill>
            <a:prstDash val="solid"/>
          </a:ln>
        </p:spPr>
        <p:txBody>
          <a:bodyPr/>
          <a:lstStyle/>
          <a:p>
            <a:endParaRPr lang="th-TH"/>
          </a:p>
        </p:txBody>
      </p:sp>
      <p:sp>
        <p:nvSpPr>
          <p:cNvPr id="107" name="Rectangle 106">
            <a:extLst>
              <a:ext uri="{FF2B5EF4-FFF2-40B4-BE49-F238E27FC236}">
                <a16:creationId xmlns:a16="http://schemas.microsoft.com/office/drawing/2014/main" id="{5FE5DC5D-EA68-4D37-BC1F-B946999ED3FD}"/>
              </a:ext>
            </a:extLst>
          </p:cNvPr>
          <p:cNvSpPr>
            <a:spLocks noGrp="1"/>
          </p:cNvSpPr>
          <p:nvPr/>
        </p:nvSpPr>
        <p:spPr>
          <a:xfrm>
            <a:off x="6497533" y="3072268"/>
            <a:ext cx="657054"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4</a:t>
            </a:r>
          </a:p>
        </p:txBody>
      </p:sp>
      <p:sp>
        <p:nvSpPr>
          <p:cNvPr id="108" name="Rectangle 107">
            <a:extLst>
              <a:ext uri="{FF2B5EF4-FFF2-40B4-BE49-F238E27FC236}">
                <a16:creationId xmlns:a16="http://schemas.microsoft.com/office/drawing/2014/main" id="{FCEB22B4-5548-47FF-B1A6-2338A9D98463}"/>
              </a:ext>
            </a:extLst>
          </p:cNvPr>
          <p:cNvSpPr>
            <a:spLocks noGrp="1"/>
          </p:cNvSpPr>
          <p:nvPr/>
        </p:nvSpPr>
        <p:spPr>
          <a:xfrm>
            <a:off x="7169188" y="3057707"/>
            <a:ext cx="489140" cy="211127"/>
          </a:xfrm>
          <a:prstGeom prst="rect">
            <a:avLst/>
          </a:prstGeom>
          <a:solidFill>
            <a:srgbClr val="CFF1D0"/>
          </a:solidFill>
          <a:ln w="5103">
            <a:solidFill>
              <a:srgbClr val="C9CDD1"/>
            </a:solidFill>
            <a:prstDash val="solid"/>
          </a:ln>
        </p:spPr>
        <p:txBody>
          <a:bodyPr/>
          <a:lstStyle/>
          <a:p>
            <a:endParaRPr lang="th-TH"/>
          </a:p>
        </p:txBody>
      </p:sp>
      <p:sp>
        <p:nvSpPr>
          <p:cNvPr id="109" name="Rectangle 108">
            <a:extLst>
              <a:ext uri="{FF2B5EF4-FFF2-40B4-BE49-F238E27FC236}">
                <a16:creationId xmlns:a16="http://schemas.microsoft.com/office/drawing/2014/main" id="{4A5C81FC-068C-4965-9674-BC4A9F5CD422}"/>
              </a:ext>
            </a:extLst>
          </p:cNvPr>
          <p:cNvSpPr>
            <a:spLocks noGrp="1"/>
          </p:cNvSpPr>
          <p:nvPr/>
        </p:nvSpPr>
        <p:spPr>
          <a:xfrm>
            <a:off x="7183789" y="3072268"/>
            <a:ext cx="459938" cy="182006"/>
          </a:xfrm>
          <a:prstGeom prst="rect">
            <a:avLst/>
          </a:prstGeom>
          <a:noFill/>
          <a:ln w="0">
            <a:noFill/>
          </a:ln>
        </p:spPr>
        <p:txBody>
          <a:bodyPr wrap="square" lIns="0" tIns="0" rIns="0" bIns="0" anchor="ctr">
            <a:normAutofit/>
          </a:bodyPr>
          <a:lstStyle/>
          <a:p>
            <a:pPr algn="ctr">
              <a:defRPr sz="804" b="0">
                <a:solidFill>
                  <a:srgbClr val="138A26"/>
                </a:solidFill>
                <a:latin typeface="Arial"/>
                <a:ea typeface="Arial"/>
                <a:cs typeface="Arial"/>
              </a:defRPr>
            </a:pPr>
            <a:r>
              <a:rPr sz="804" b="0">
                <a:solidFill>
                  <a:srgbClr val="138A26"/>
                </a:solidFill>
                <a:latin typeface="Arial"/>
                <a:ea typeface="Arial"/>
                <a:cs typeface="Arial"/>
              </a:rPr>
              <a:t>3.054</a:t>
            </a:r>
          </a:p>
        </p:txBody>
      </p:sp>
      <p:sp>
        <p:nvSpPr>
          <p:cNvPr id="110" name="Rectangle 109">
            <a:extLst>
              <a:ext uri="{FF2B5EF4-FFF2-40B4-BE49-F238E27FC236}">
                <a16:creationId xmlns:a16="http://schemas.microsoft.com/office/drawing/2014/main" id="{0D2F3B28-252C-4E73-820E-4343F452D240}"/>
              </a:ext>
            </a:extLst>
          </p:cNvPr>
          <p:cNvSpPr>
            <a:spLocks noGrp="1"/>
          </p:cNvSpPr>
          <p:nvPr/>
        </p:nvSpPr>
        <p:spPr>
          <a:xfrm>
            <a:off x="7658328" y="3057707"/>
            <a:ext cx="511042" cy="211127"/>
          </a:xfrm>
          <a:prstGeom prst="rect">
            <a:avLst/>
          </a:prstGeom>
          <a:solidFill>
            <a:srgbClr val="CFF1D0"/>
          </a:solidFill>
          <a:ln w="5103">
            <a:solidFill>
              <a:srgbClr val="C9CDD1"/>
            </a:solidFill>
            <a:prstDash val="solid"/>
          </a:ln>
        </p:spPr>
        <p:txBody>
          <a:bodyPr/>
          <a:lstStyle/>
          <a:p>
            <a:endParaRPr lang="th-TH"/>
          </a:p>
        </p:txBody>
      </p:sp>
      <p:sp>
        <p:nvSpPr>
          <p:cNvPr id="111" name="Rectangle 110">
            <a:extLst>
              <a:ext uri="{FF2B5EF4-FFF2-40B4-BE49-F238E27FC236}">
                <a16:creationId xmlns:a16="http://schemas.microsoft.com/office/drawing/2014/main" id="{619C68D1-7302-4048-A354-93F1618DB586}"/>
              </a:ext>
            </a:extLst>
          </p:cNvPr>
          <p:cNvSpPr>
            <a:spLocks noGrp="1"/>
          </p:cNvSpPr>
          <p:nvPr/>
        </p:nvSpPr>
        <p:spPr>
          <a:xfrm>
            <a:off x="7672929" y="3072268"/>
            <a:ext cx="481840" cy="182006"/>
          </a:xfrm>
          <a:prstGeom prst="rect">
            <a:avLst/>
          </a:prstGeom>
          <a:noFill/>
          <a:ln w="0">
            <a:noFill/>
          </a:ln>
        </p:spPr>
        <p:txBody>
          <a:bodyPr wrap="square" lIns="0" tIns="0" rIns="0" bIns="0" anchor="ctr">
            <a:normAutofit/>
          </a:bodyPr>
          <a:lstStyle/>
          <a:p>
            <a:pPr algn="ctr">
              <a:defRPr sz="804" b="0">
                <a:solidFill>
                  <a:srgbClr val="138A26"/>
                </a:solidFill>
                <a:latin typeface="Arial"/>
                <a:ea typeface="Arial"/>
                <a:cs typeface="Arial"/>
              </a:defRPr>
            </a:pPr>
            <a:r>
              <a:rPr sz="804" b="0">
                <a:solidFill>
                  <a:srgbClr val="138A26"/>
                </a:solidFill>
                <a:latin typeface="Arial"/>
                <a:ea typeface="Arial"/>
                <a:cs typeface="Arial"/>
              </a:rPr>
              <a:t>3.068</a:t>
            </a:r>
          </a:p>
        </p:txBody>
      </p:sp>
      <p:sp>
        <p:nvSpPr>
          <p:cNvPr id="112" name="Rectangle 111">
            <a:extLst>
              <a:ext uri="{FF2B5EF4-FFF2-40B4-BE49-F238E27FC236}">
                <a16:creationId xmlns:a16="http://schemas.microsoft.com/office/drawing/2014/main" id="{282D0205-837F-490E-987B-3442D678E68A}"/>
              </a:ext>
            </a:extLst>
          </p:cNvPr>
          <p:cNvSpPr>
            <a:spLocks noGrp="1"/>
          </p:cNvSpPr>
          <p:nvPr/>
        </p:nvSpPr>
        <p:spPr>
          <a:xfrm>
            <a:off x="8169370" y="3057707"/>
            <a:ext cx="985581" cy="211127"/>
          </a:xfrm>
          <a:prstGeom prst="rect">
            <a:avLst/>
          </a:prstGeom>
          <a:solidFill>
            <a:srgbClr val="FFFFFF"/>
          </a:solidFill>
          <a:ln w="5103">
            <a:solidFill>
              <a:srgbClr val="C9CDD1"/>
            </a:solidFill>
            <a:prstDash val="solid"/>
          </a:ln>
        </p:spPr>
        <p:txBody>
          <a:bodyPr/>
          <a:lstStyle/>
          <a:p>
            <a:endParaRPr lang="th-TH"/>
          </a:p>
        </p:txBody>
      </p:sp>
      <p:sp>
        <p:nvSpPr>
          <p:cNvPr id="113" name="Rectangle 112">
            <a:extLst>
              <a:ext uri="{FF2B5EF4-FFF2-40B4-BE49-F238E27FC236}">
                <a16:creationId xmlns:a16="http://schemas.microsoft.com/office/drawing/2014/main" id="{62F4911C-43E3-44E9-B373-58B2AEF3A7AA}"/>
              </a:ext>
            </a:extLst>
          </p:cNvPr>
          <p:cNvSpPr>
            <a:spLocks noGrp="1"/>
          </p:cNvSpPr>
          <p:nvPr/>
        </p:nvSpPr>
        <p:spPr>
          <a:xfrm>
            <a:off x="8183971" y="3072268"/>
            <a:ext cx="956378"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FAIL</a:t>
            </a:r>
          </a:p>
        </p:txBody>
      </p:sp>
      <p:sp>
        <p:nvSpPr>
          <p:cNvPr id="114" name="Rectangle 113">
            <a:extLst>
              <a:ext uri="{FF2B5EF4-FFF2-40B4-BE49-F238E27FC236}">
                <a16:creationId xmlns:a16="http://schemas.microsoft.com/office/drawing/2014/main" id="{AE46289A-E0FA-4929-82EE-8182771FA171}"/>
              </a:ext>
            </a:extLst>
          </p:cNvPr>
          <p:cNvSpPr>
            <a:spLocks noGrp="1"/>
          </p:cNvSpPr>
          <p:nvPr/>
        </p:nvSpPr>
        <p:spPr>
          <a:xfrm>
            <a:off x="9154951" y="3057707"/>
            <a:ext cx="1350611" cy="211127"/>
          </a:xfrm>
          <a:prstGeom prst="rect">
            <a:avLst/>
          </a:prstGeom>
          <a:solidFill>
            <a:srgbClr val="FFFFFF"/>
          </a:solidFill>
          <a:ln w="5103">
            <a:solidFill>
              <a:srgbClr val="C9CDD1"/>
            </a:solidFill>
            <a:prstDash val="solid"/>
          </a:ln>
        </p:spPr>
        <p:txBody>
          <a:bodyPr/>
          <a:lstStyle/>
          <a:p>
            <a:endParaRPr lang="th-TH"/>
          </a:p>
        </p:txBody>
      </p:sp>
      <p:sp>
        <p:nvSpPr>
          <p:cNvPr id="115" name="Rectangle 114">
            <a:extLst>
              <a:ext uri="{FF2B5EF4-FFF2-40B4-BE49-F238E27FC236}">
                <a16:creationId xmlns:a16="http://schemas.microsoft.com/office/drawing/2014/main" id="{1FA871FB-7CB7-4716-BE98-A41867AE60D7}"/>
              </a:ext>
            </a:extLst>
          </p:cNvPr>
          <p:cNvSpPr>
            <a:spLocks noGrp="1"/>
          </p:cNvSpPr>
          <p:nvPr/>
        </p:nvSpPr>
        <p:spPr>
          <a:xfrm>
            <a:off x="9169552" y="3072268"/>
            <a:ext cx="1321408"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SAWN</a:t>
            </a:r>
          </a:p>
        </p:txBody>
      </p:sp>
      <p:sp>
        <p:nvSpPr>
          <p:cNvPr id="116" name="Rectangle 115">
            <a:extLst>
              <a:ext uri="{FF2B5EF4-FFF2-40B4-BE49-F238E27FC236}">
                <a16:creationId xmlns:a16="http://schemas.microsoft.com/office/drawing/2014/main" id="{6EBCBA7E-7E8A-4D52-9F3C-DFBD66E6CA96}"/>
              </a:ext>
            </a:extLst>
          </p:cNvPr>
          <p:cNvSpPr>
            <a:spLocks noGrp="1"/>
          </p:cNvSpPr>
          <p:nvPr/>
        </p:nvSpPr>
        <p:spPr>
          <a:xfrm>
            <a:off x="10505562" y="3057707"/>
            <a:ext cx="642453" cy="211127"/>
          </a:xfrm>
          <a:prstGeom prst="rect">
            <a:avLst/>
          </a:prstGeom>
          <a:solidFill>
            <a:srgbClr val="FFFFFF"/>
          </a:solidFill>
          <a:ln w="5103">
            <a:solidFill>
              <a:srgbClr val="C9CDD1"/>
            </a:solidFill>
            <a:prstDash val="solid"/>
          </a:ln>
        </p:spPr>
        <p:txBody>
          <a:bodyPr/>
          <a:lstStyle/>
          <a:p>
            <a:endParaRPr lang="th-TH"/>
          </a:p>
        </p:txBody>
      </p:sp>
      <p:sp>
        <p:nvSpPr>
          <p:cNvPr id="117" name="Rectangle 116">
            <a:extLst>
              <a:ext uri="{FF2B5EF4-FFF2-40B4-BE49-F238E27FC236}">
                <a16:creationId xmlns:a16="http://schemas.microsoft.com/office/drawing/2014/main" id="{A1EE811B-366A-4209-8665-5DDAD101D8B3}"/>
              </a:ext>
            </a:extLst>
          </p:cNvPr>
          <p:cNvSpPr>
            <a:spLocks noGrp="1"/>
          </p:cNvSpPr>
          <p:nvPr/>
        </p:nvSpPr>
        <p:spPr>
          <a:xfrm>
            <a:off x="10520163" y="3072268"/>
            <a:ext cx="613250" cy="182006"/>
          </a:xfrm>
          <a:prstGeom prst="rect">
            <a:avLst/>
          </a:prstGeom>
          <a:noFill/>
          <a:ln w="0">
            <a:noFill/>
          </a:ln>
        </p:spPr>
        <p:txBody>
          <a:bodyPr wrap="square" lIns="0" tIns="0" rIns="0" bIns="0" anchor="ctr">
            <a:normAutofit fontScale="47500" lnSpcReduction="20000"/>
          </a:bodyPr>
          <a:lstStyle/>
          <a:p>
            <a:endParaRPr/>
          </a:p>
        </p:txBody>
      </p:sp>
      <p:sp>
        <p:nvSpPr>
          <p:cNvPr id="118" name="Rectangle 117">
            <a:extLst>
              <a:ext uri="{FF2B5EF4-FFF2-40B4-BE49-F238E27FC236}">
                <a16:creationId xmlns:a16="http://schemas.microsoft.com/office/drawing/2014/main" id="{15CA7020-4A84-4627-86B9-AC6F68BE1CB4}"/>
              </a:ext>
            </a:extLst>
          </p:cNvPr>
          <p:cNvSpPr>
            <a:spLocks noGrp="1"/>
          </p:cNvSpPr>
          <p:nvPr/>
        </p:nvSpPr>
        <p:spPr>
          <a:xfrm>
            <a:off x="11148014" y="3057707"/>
            <a:ext cx="481840" cy="211127"/>
          </a:xfrm>
          <a:prstGeom prst="rect">
            <a:avLst/>
          </a:prstGeom>
          <a:solidFill>
            <a:srgbClr val="FFFFFF"/>
          </a:solidFill>
          <a:ln w="5103">
            <a:solidFill>
              <a:srgbClr val="C9CDD1"/>
            </a:solidFill>
            <a:prstDash val="solid"/>
          </a:ln>
        </p:spPr>
        <p:txBody>
          <a:bodyPr/>
          <a:lstStyle/>
          <a:p>
            <a:endParaRPr lang="th-TH"/>
          </a:p>
        </p:txBody>
      </p:sp>
      <p:sp>
        <p:nvSpPr>
          <p:cNvPr id="119" name="Rectangle 118">
            <a:extLst>
              <a:ext uri="{FF2B5EF4-FFF2-40B4-BE49-F238E27FC236}">
                <a16:creationId xmlns:a16="http://schemas.microsoft.com/office/drawing/2014/main" id="{04205317-76D6-477B-9333-7A1255AB1A9B}"/>
              </a:ext>
            </a:extLst>
          </p:cNvPr>
          <p:cNvSpPr>
            <a:spLocks noGrp="1"/>
          </p:cNvSpPr>
          <p:nvPr/>
        </p:nvSpPr>
        <p:spPr>
          <a:xfrm>
            <a:off x="11162616" y="3072268"/>
            <a:ext cx="452637" cy="182006"/>
          </a:xfrm>
          <a:prstGeom prst="rect">
            <a:avLst/>
          </a:prstGeom>
          <a:noFill/>
          <a:ln w="0">
            <a:noFill/>
          </a:ln>
        </p:spPr>
        <p:txBody>
          <a:bodyPr wrap="square" lIns="0" tIns="0" rIns="0" bIns="0" anchor="ctr">
            <a:normAutofit fontScale="47500" lnSpcReduction="20000"/>
          </a:bodyPr>
          <a:lstStyle/>
          <a:p>
            <a:endParaRPr/>
          </a:p>
        </p:txBody>
      </p:sp>
      <p:sp>
        <p:nvSpPr>
          <p:cNvPr id="120" name="Rectangle 119">
            <a:extLst>
              <a:ext uri="{FF2B5EF4-FFF2-40B4-BE49-F238E27FC236}">
                <a16:creationId xmlns:a16="http://schemas.microsoft.com/office/drawing/2014/main" id="{FE94347C-5068-4D25-A402-FCD9EB495C96}"/>
              </a:ext>
            </a:extLst>
          </p:cNvPr>
          <p:cNvSpPr>
            <a:spLocks noGrp="1"/>
          </p:cNvSpPr>
          <p:nvPr/>
        </p:nvSpPr>
        <p:spPr>
          <a:xfrm>
            <a:off x="6256613" y="3268834"/>
            <a:ext cx="226319" cy="211127"/>
          </a:xfrm>
          <a:prstGeom prst="rect">
            <a:avLst/>
          </a:prstGeom>
          <a:solidFill>
            <a:srgbClr val="F5F6F7"/>
          </a:solidFill>
          <a:ln w="5103">
            <a:solidFill>
              <a:srgbClr val="C9CDD1"/>
            </a:solidFill>
            <a:prstDash val="solid"/>
          </a:ln>
        </p:spPr>
        <p:txBody>
          <a:bodyPr/>
          <a:lstStyle/>
          <a:p>
            <a:endParaRPr lang="th-TH"/>
          </a:p>
        </p:txBody>
      </p:sp>
      <p:sp>
        <p:nvSpPr>
          <p:cNvPr id="121" name="Rectangle 120">
            <a:extLst>
              <a:ext uri="{FF2B5EF4-FFF2-40B4-BE49-F238E27FC236}">
                <a16:creationId xmlns:a16="http://schemas.microsoft.com/office/drawing/2014/main" id="{7DD7C522-74A8-4BB5-98FA-1412511A0E18}"/>
              </a:ext>
            </a:extLst>
          </p:cNvPr>
          <p:cNvSpPr>
            <a:spLocks noGrp="1"/>
          </p:cNvSpPr>
          <p:nvPr/>
        </p:nvSpPr>
        <p:spPr>
          <a:xfrm>
            <a:off x="6271214" y="3283395"/>
            <a:ext cx="197116"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5</a:t>
            </a:r>
          </a:p>
        </p:txBody>
      </p:sp>
      <p:sp>
        <p:nvSpPr>
          <p:cNvPr id="122" name="Rectangle 121">
            <a:extLst>
              <a:ext uri="{FF2B5EF4-FFF2-40B4-BE49-F238E27FC236}">
                <a16:creationId xmlns:a16="http://schemas.microsoft.com/office/drawing/2014/main" id="{97F564FA-F3AC-4625-9C49-072462B1385A}"/>
              </a:ext>
            </a:extLst>
          </p:cNvPr>
          <p:cNvSpPr>
            <a:spLocks noGrp="1"/>
          </p:cNvSpPr>
          <p:nvPr/>
        </p:nvSpPr>
        <p:spPr>
          <a:xfrm>
            <a:off x="6482932" y="3268834"/>
            <a:ext cx="686256" cy="211127"/>
          </a:xfrm>
          <a:prstGeom prst="rect">
            <a:avLst/>
          </a:prstGeom>
          <a:solidFill>
            <a:srgbClr val="FFFFFF"/>
          </a:solidFill>
          <a:ln w="5103">
            <a:solidFill>
              <a:srgbClr val="C9CDD1"/>
            </a:solidFill>
            <a:prstDash val="solid"/>
          </a:ln>
        </p:spPr>
        <p:txBody>
          <a:bodyPr/>
          <a:lstStyle/>
          <a:p>
            <a:endParaRPr lang="th-TH"/>
          </a:p>
        </p:txBody>
      </p:sp>
      <p:sp>
        <p:nvSpPr>
          <p:cNvPr id="123" name="Rectangle 122">
            <a:extLst>
              <a:ext uri="{FF2B5EF4-FFF2-40B4-BE49-F238E27FC236}">
                <a16:creationId xmlns:a16="http://schemas.microsoft.com/office/drawing/2014/main" id="{D24F1EFE-BAF2-4135-AC4B-8AFB4AD66C7E}"/>
              </a:ext>
            </a:extLst>
          </p:cNvPr>
          <p:cNvSpPr>
            <a:spLocks noGrp="1"/>
          </p:cNvSpPr>
          <p:nvPr/>
        </p:nvSpPr>
        <p:spPr>
          <a:xfrm>
            <a:off x="6497533" y="3283395"/>
            <a:ext cx="657054"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4</a:t>
            </a:r>
          </a:p>
        </p:txBody>
      </p:sp>
      <p:sp>
        <p:nvSpPr>
          <p:cNvPr id="124" name="Rectangle 123">
            <a:extLst>
              <a:ext uri="{FF2B5EF4-FFF2-40B4-BE49-F238E27FC236}">
                <a16:creationId xmlns:a16="http://schemas.microsoft.com/office/drawing/2014/main" id="{6B90C56A-78FE-4D9B-868B-13C4D9A7C8D2}"/>
              </a:ext>
            </a:extLst>
          </p:cNvPr>
          <p:cNvSpPr>
            <a:spLocks noGrp="1"/>
          </p:cNvSpPr>
          <p:nvPr/>
        </p:nvSpPr>
        <p:spPr>
          <a:xfrm>
            <a:off x="7169188" y="3268834"/>
            <a:ext cx="489140" cy="211127"/>
          </a:xfrm>
          <a:prstGeom prst="rect">
            <a:avLst/>
          </a:prstGeom>
          <a:solidFill>
            <a:srgbClr val="CFF1D0"/>
          </a:solidFill>
          <a:ln w="5103">
            <a:solidFill>
              <a:srgbClr val="C9CDD1"/>
            </a:solidFill>
            <a:prstDash val="solid"/>
          </a:ln>
        </p:spPr>
        <p:txBody>
          <a:bodyPr/>
          <a:lstStyle/>
          <a:p>
            <a:endParaRPr lang="th-TH"/>
          </a:p>
        </p:txBody>
      </p:sp>
      <p:sp>
        <p:nvSpPr>
          <p:cNvPr id="125" name="Rectangle 124">
            <a:extLst>
              <a:ext uri="{FF2B5EF4-FFF2-40B4-BE49-F238E27FC236}">
                <a16:creationId xmlns:a16="http://schemas.microsoft.com/office/drawing/2014/main" id="{F89D1C3A-9EBF-49B4-9D89-85FF56C154ED}"/>
              </a:ext>
            </a:extLst>
          </p:cNvPr>
          <p:cNvSpPr>
            <a:spLocks noGrp="1"/>
          </p:cNvSpPr>
          <p:nvPr/>
        </p:nvSpPr>
        <p:spPr>
          <a:xfrm>
            <a:off x="7183789" y="3283395"/>
            <a:ext cx="459938" cy="182006"/>
          </a:xfrm>
          <a:prstGeom prst="rect">
            <a:avLst/>
          </a:prstGeom>
          <a:noFill/>
          <a:ln w="0">
            <a:noFill/>
          </a:ln>
        </p:spPr>
        <p:txBody>
          <a:bodyPr wrap="square" lIns="0" tIns="0" rIns="0" bIns="0" anchor="ctr">
            <a:normAutofit/>
          </a:bodyPr>
          <a:lstStyle/>
          <a:p>
            <a:pPr algn="ctr">
              <a:defRPr sz="804" b="0">
                <a:solidFill>
                  <a:srgbClr val="138A26"/>
                </a:solidFill>
                <a:latin typeface="Arial"/>
                <a:ea typeface="Arial"/>
                <a:cs typeface="Arial"/>
              </a:defRPr>
            </a:pPr>
            <a:r>
              <a:rPr sz="804" b="0">
                <a:solidFill>
                  <a:srgbClr val="138A26"/>
                </a:solidFill>
                <a:latin typeface="Arial"/>
                <a:ea typeface="Arial"/>
                <a:cs typeface="Arial"/>
              </a:rPr>
              <a:t>3.063</a:t>
            </a:r>
          </a:p>
        </p:txBody>
      </p:sp>
      <p:sp>
        <p:nvSpPr>
          <p:cNvPr id="126" name="Rectangle 125">
            <a:extLst>
              <a:ext uri="{FF2B5EF4-FFF2-40B4-BE49-F238E27FC236}">
                <a16:creationId xmlns:a16="http://schemas.microsoft.com/office/drawing/2014/main" id="{CCB96EB9-F41B-4442-BDD4-0734B98D870E}"/>
              </a:ext>
            </a:extLst>
          </p:cNvPr>
          <p:cNvSpPr>
            <a:spLocks noGrp="1"/>
          </p:cNvSpPr>
          <p:nvPr/>
        </p:nvSpPr>
        <p:spPr>
          <a:xfrm>
            <a:off x="7658328" y="3268834"/>
            <a:ext cx="511042" cy="211127"/>
          </a:xfrm>
          <a:prstGeom prst="rect">
            <a:avLst/>
          </a:prstGeom>
          <a:solidFill>
            <a:srgbClr val="FCE0E1"/>
          </a:solidFill>
          <a:ln w="5103">
            <a:solidFill>
              <a:srgbClr val="C9CDD1"/>
            </a:solidFill>
            <a:prstDash val="solid"/>
          </a:ln>
        </p:spPr>
        <p:txBody>
          <a:bodyPr/>
          <a:lstStyle/>
          <a:p>
            <a:endParaRPr lang="th-TH"/>
          </a:p>
        </p:txBody>
      </p:sp>
      <p:sp>
        <p:nvSpPr>
          <p:cNvPr id="127" name="Rectangle 126">
            <a:extLst>
              <a:ext uri="{FF2B5EF4-FFF2-40B4-BE49-F238E27FC236}">
                <a16:creationId xmlns:a16="http://schemas.microsoft.com/office/drawing/2014/main" id="{BF831D14-D2CF-4833-9392-F70AE55A9758}"/>
              </a:ext>
            </a:extLst>
          </p:cNvPr>
          <p:cNvSpPr>
            <a:spLocks noGrp="1"/>
          </p:cNvSpPr>
          <p:nvPr/>
        </p:nvSpPr>
        <p:spPr>
          <a:xfrm>
            <a:off x="7672929" y="3283395"/>
            <a:ext cx="481840" cy="182006"/>
          </a:xfrm>
          <a:prstGeom prst="rect">
            <a:avLst/>
          </a:prstGeom>
          <a:noFill/>
          <a:ln w="0">
            <a:noFill/>
          </a:ln>
        </p:spPr>
        <p:txBody>
          <a:bodyPr wrap="square" lIns="0" tIns="0" rIns="0" bIns="0" anchor="ctr">
            <a:normAutofit/>
          </a:bodyPr>
          <a:lstStyle/>
          <a:p>
            <a:pPr algn="ctr">
              <a:defRPr sz="804" b="0">
                <a:solidFill>
                  <a:srgbClr val="D12323"/>
                </a:solidFill>
                <a:latin typeface="Arial"/>
                <a:ea typeface="Arial"/>
                <a:cs typeface="Arial"/>
              </a:defRPr>
            </a:pPr>
            <a:r>
              <a:rPr sz="804" b="0">
                <a:solidFill>
                  <a:srgbClr val="D12323"/>
                </a:solidFill>
                <a:latin typeface="Arial"/>
                <a:ea typeface="Arial"/>
                <a:cs typeface="Arial"/>
              </a:rPr>
              <a:t>3.088</a:t>
            </a:r>
          </a:p>
        </p:txBody>
      </p:sp>
      <p:sp>
        <p:nvSpPr>
          <p:cNvPr id="128" name="Rectangle 127">
            <a:extLst>
              <a:ext uri="{FF2B5EF4-FFF2-40B4-BE49-F238E27FC236}">
                <a16:creationId xmlns:a16="http://schemas.microsoft.com/office/drawing/2014/main" id="{53961D24-DD4A-4E37-BB41-50971A4B2B31}"/>
              </a:ext>
            </a:extLst>
          </p:cNvPr>
          <p:cNvSpPr>
            <a:spLocks noGrp="1"/>
          </p:cNvSpPr>
          <p:nvPr/>
        </p:nvSpPr>
        <p:spPr>
          <a:xfrm>
            <a:off x="8169370" y="3268834"/>
            <a:ext cx="985581" cy="211127"/>
          </a:xfrm>
          <a:prstGeom prst="rect">
            <a:avLst/>
          </a:prstGeom>
          <a:solidFill>
            <a:srgbClr val="FFFFFF"/>
          </a:solidFill>
          <a:ln w="5103">
            <a:solidFill>
              <a:srgbClr val="C9CDD1"/>
            </a:solidFill>
            <a:prstDash val="solid"/>
          </a:ln>
        </p:spPr>
        <p:txBody>
          <a:bodyPr/>
          <a:lstStyle/>
          <a:p>
            <a:endParaRPr lang="th-TH"/>
          </a:p>
        </p:txBody>
      </p:sp>
      <p:sp>
        <p:nvSpPr>
          <p:cNvPr id="129" name="Rectangle 128">
            <a:extLst>
              <a:ext uri="{FF2B5EF4-FFF2-40B4-BE49-F238E27FC236}">
                <a16:creationId xmlns:a16="http://schemas.microsoft.com/office/drawing/2014/main" id="{93C317C0-AAB7-4683-9C0A-B69372C57468}"/>
              </a:ext>
            </a:extLst>
          </p:cNvPr>
          <p:cNvSpPr>
            <a:spLocks noGrp="1"/>
          </p:cNvSpPr>
          <p:nvPr/>
        </p:nvSpPr>
        <p:spPr>
          <a:xfrm>
            <a:off x="8183971" y="3283395"/>
            <a:ext cx="956378"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FAIL</a:t>
            </a:r>
          </a:p>
        </p:txBody>
      </p:sp>
      <p:sp>
        <p:nvSpPr>
          <p:cNvPr id="130" name="Rectangle 129">
            <a:extLst>
              <a:ext uri="{FF2B5EF4-FFF2-40B4-BE49-F238E27FC236}">
                <a16:creationId xmlns:a16="http://schemas.microsoft.com/office/drawing/2014/main" id="{1BEA1687-4CFC-456C-B69A-92AEE32A1355}"/>
              </a:ext>
            </a:extLst>
          </p:cNvPr>
          <p:cNvSpPr>
            <a:spLocks noGrp="1"/>
          </p:cNvSpPr>
          <p:nvPr/>
        </p:nvSpPr>
        <p:spPr>
          <a:xfrm>
            <a:off x="9154951" y="3268834"/>
            <a:ext cx="1350611" cy="211127"/>
          </a:xfrm>
          <a:prstGeom prst="rect">
            <a:avLst/>
          </a:prstGeom>
          <a:solidFill>
            <a:srgbClr val="FFFFFF"/>
          </a:solidFill>
          <a:ln w="5103">
            <a:solidFill>
              <a:srgbClr val="C9CDD1"/>
            </a:solidFill>
            <a:prstDash val="solid"/>
          </a:ln>
        </p:spPr>
        <p:txBody>
          <a:bodyPr/>
          <a:lstStyle/>
          <a:p>
            <a:endParaRPr lang="th-TH"/>
          </a:p>
        </p:txBody>
      </p:sp>
      <p:sp>
        <p:nvSpPr>
          <p:cNvPr id="131" name="Rectangle 130">
            <a:extLst>
              <a:ext uri="{FF2B5EF4-FFF2-40B4-BE49-F238E27FC236}">
                <a16:creationId xmlns:a16="http://schemas.microsoft.com/office/drawing/2014/main" id="{3855818F-614C-40F5-B23C-B6298D6C14D7}"/>
              </a:ext>
            </a:extLst>
          </p:cNvPr>
          <p:cNvSpPr>
            <a:spLocks noGrp="1"/>
          </p:cNvSpPr>
          <p:nvPr/>
        </p:nvSpPr>
        <p:spPr>
          <a:xfrm>
            <a:off x="9169552" y="3283395"/>
            <a:ext cx="1321408"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SAWN</a:t>
            </a:r>
          </a:p>
        </p:txBody>
      </p:sp>
      <p:sp>
        <p:nvSpPr>
          <p:cNvPr id="132" name="Rectangle 131">
            <a:extLst>
              <a:ext uri="{FF2B5EF4-FFF2-40B4-BE49-F238E27FC236}">
                <a16:creationId xmlns:a16="http://schemas.microsoft.com/office/drawing/2014/main" id="{27D3F837-C800-4B9B-813D-575197386BF9}"/>
              </a:ext>
            </a:extLst>
          </p:cNvPr>
          <p:cNvSpPr>
            <a:spLocks noGrp="1"/>
          </p:cNvSpPr>
          <p:nvPr/>
        </p:nvSpPr>
        <p:spPr>
          <a:xfrm>
            <a:off x="10505562" y="3268834"/>
            <a:ext cx="642453" cy="211127"/>
          </a:xfrm>
          <a:prstGeom prst="rect">
            <a:avLst/>
          </a:prstGeom>
          <a:solidFill>
            <a:srgbClr val="FFFFFF"/>
          </a:solidFill>
          <a:ln w="5103">
            <a:solidFill>
              <a:srgbClr val="C9CDD1"/>
            </a:solidFill>
            <a:prstDash val="solid"/>
          </a:ln>
        </p:spPr>
        <p:txBody>
          <a:bodyPr/>
          <a:lstStyle/>
          <a:p>
            <a:endParaRPr lang="th-TH"/>
          </a:p>
        </p:txBody>
      </p:sp>
      <p:sp>
        <p:nvSpPr>
          <p:cNvPr id="133" name="Rectangle 132">
            <a:extLst>
              <a:ext uri="{FF2B5EF4-FFF2-40B4-BE49-F238E27FC236}">
                <a16:creationId xmlns:a16="http://schemas.microsoft.com/office/drawing/2014/main" id="{FE9249DE-4F83-4987-905F-9FA27293376D}"/>
              </a:ext>
            </a:extLst>
          </p:cNvPr>
          <p:cNvSpPr>
            <a:spLocks noGrp="1"/>
          </p:cNvSpPr>
          <p:nvPr/>
        </p:nvSpPr>
        <p:spPr>
          <a:xfrm>
            <a:off x="10520163" y="3283395"/>
            <a:ext cx="613250" cy="182006"/>
          </a:xfrm>
          <a:prstGeom prst="rect">
            <a:avLst/>
          </a:prstGeom>
          <a:noFill/>
          <a:ln w="0">
            <a:noFill/>
          </a:ln>
        </p:spPr>
        <p:txBody>
          <a:bodyPr wrap="square" lIns="0" tIns="0" rIns="0" bIns="0" anchor="ctr">
            <a:normAutofit fontScale="47500" lnSpcReduction="20000"/>
          </a:bodyPr>
          <a:lstStyle/>
          <a:p>
            <a:endParaRPr/>
          </a:p>
        </p:txBody>
      </p:sp>
      <p:sp>
        <p:nvSpPr>
          <p:cNvPr id="134" name="Rectangle 133">
            <a:extLst>
              <a:ext uri="{FF2B5EF4-FFF2-40B4-BE49-F238E27FC236}">
                <a16:creationId xmlns:a16="http://schemas.microsoft.com/office/drawing/2014/main" id="{6308A58E-BA41-4BE3-94A6-3182ED5E3D9A}"/>
              </a:ext>
            </a:extLst>
          </p:cNvPr>
          <p:cNvSpPr>
            <a:spLocks noGrp="1"/>
          </p:cNvSpPr>
          <p:nvPr/>
        </p:nvSpPr>
        <p:spPr>
          <a:xfrm>
            <a:off x="11148014" y="3268834"/>
            <a:ext cx="481840" cy="211127"/>
          </a:xfrm>
          <a:prstGeom prst="rect">
            <a:avLst/>
          </a:prstGeom>
          <a:solidFill>
            <a:srgbClr val="FFFFFF"/>
          </a:solidFill>
          <a:ln w="5103">
            <a:solidFill>
              <a:srgbClr val="C9CDD1"/>
            </a:solidFill>
            <a:prstDash val="solid"/>
          </a:ln>
        </p:spPr>
        <p:txBody>
          <a:bodyPr/>
          <a:lstStyle/>
          <a:p>
            <a:endParaRPr lang="th-TH"/>
          </a:p>
        </p:txBody>
      </p:sp>
      <p:sp>
        <p:nvSpPr>
          <p:cNvPr id="135" name="Rectangle 134">
            <a:extLst>
              <a:ext uri="{FF2B5EF4-FFF2-40B4-BE49-F238E27FC236}">
                <a16:creationId xmlns:a16="http://schemas.microsoft.com/office/drawing/2014/main" id="{05CE02F6-CA38-4908-94A5-EF457E8331B4}"/>
              </a:ext>
            </a:extLst>
          </p:cNvPr>
          <p:cNvSpPr>
            <a:spLocks noGrp="1"/>
          </p:cNvSpPr>
          <p:nvPr/>
        </p:nvSpPr>
        <p:spPr>
          <a:xfrm>
            <a:off x="11162616" y="3283395"/>
            <a:ext cx="452637" cy="182006"/>
          </a:xfrm>
          <a:prstGeom prst="rect">
            <a:avLst/>
          </a:prstGeom>
          <a:noFill/>
          <a:ln w="0">
            <a:noFill/>
          </a:ln>
        </p:spPr>
        <p:txBody>
          <a:bodyPr wrap="square" lIns="0" tIns="0" rIns="0" bIns="0" anchor="ctr">
            <a:normAutofit fontScale="47500" lnSpcReduction="20000"/>
          </a:bodyPr>
          <a:lstStyle/>
          <a:p>
            <a:endParaRPr/>
          </a:p>
        </p:txBody>
      </p:sp>
      <p:sp>
        <p:nvSpPr>
          <p:cNvPr id="136" name="Rectangle 135">
            <a:extLst>
              <a:ext uri="{FF2B5EF4-FFF2-40B4-BE49-F238E27FC236}">
                <a16:creationId xmlns:a16="http://schemas.microsoft.com/office/drawing/2014/main" id="{15F28C7A-12CA-486E-999C-8555F12DAFE8}"/>
              </a:ext>
            </a:extLst>
          </p:cNvPr>
          <p:cNvSpPr>
            <a:spLocks noGrp="1"/>
          </p:cNvSpPr>
          <p:nvPr/>
        </p:nvSpPr>
        <p:spPr>
          <a:xfrm>
            <a:off x="6256613" y="3479962"/>
            <a:ext cx="226319" cy="211127"/>
          </a:xfrm>
          <a:prstGeom prst="rect">
            <a:avLst/>
          </a:prstGeom>
          <a:solidFill>
            <a:srgbClr val="F5F6F7"/>
          </a:solidFill>
          <a:ln w="5103">
            <a:solidFill>
              <a:srgbClr val="C9CDD1"/>
            </a:solidFill>
            <a:prstDash val="solid"/>
          </a:ln>
        </p:spPr>
        <p:txBody>
          <a:bodyPr/>
          <a:lstStyle/>
          <a:p>
            <a:endParaRPr lang="th-TH"/>
          </a:p>
        </p:txBody>
      </p:sp>
      <p:sp>
        <p:nvSpPr>
          <p:cNvPr id="137" name="Rectangle 136">
            <a:extLst>
              <a:ext uri="{FF2B5EF4-FFF2-40B4-BE49-F238E27FC236}">
                <a16:creationId xmlns:a16="http://schemas.microsoft.com/office/drawing/2014/main" id="{600CED64-E109-4A54-95AA-BC6A517F688C}"/>
              </a:ext>
            </a:extLst>
          </p:cNvPr>
          <p:cNvSpPr>
            <a:spLocks noGrp="1"/>
          </p:cNvSpPr>
          <p:nvPr/>
        </p:nvSpPr>
        <p:spPr>
          <a:xfrm>
            <a:off x="6271214" y="3494522"/>
            <a:ext cx="197116"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6</a:t>
            </a:r>
          </a:p>
        </p:txBody>
      </p:sp>
      <p:sp>
        <p:nvSpPr>
          <p:cNvPr id="138" name="Rectangle 137">
            <a:extLst>
              <a:ext uri="{FF2B5EF4-FFF2-40B4-BE49-F238E27FC236}">
                <a16:creationId xmlns:a16="http://schemas.microsoft.com/office/drawing/2014/main" id="{CD094D02-07E0-4FD7-9A63-ABD2C0CD8499}"/>
              </a:ext>
            </a:extLst>
          </p:cNvPr>
          <p:cNvSpPr>
            <a:spLocks noGrp="1"/>
          </p:cNvSpPr>
          <p:nvPr/>
        </p:nvSpPr>
        <p:spPr>
          <a:xfrm>
            <a:off x="6482932" y="3479962"/>
            <a:ext cx="686256" cy="211127"/>
          </a:xfrm>
          <a:prstGeom prst="rect">
            <a:avLst/>
          </a:prstGeom>
          <a:solidFill>
            <a:srgbClr val="FFFFFF"/>
          </a:solidFill>
          <a:ln w="5103">
            <a:solidFill>
              <a:srgbClr val="C9CDD1"/>
            </a:solidFill>
            <a:prstDash val="solid"/>
          </a:ln>
        </p:spPr>
        <p:txBody>
          <a:bodyPr/>
          <a:lstStyle/>
          <a:p>
            <a:endParaRPr lang="th-TH"/>
          </a:p>
        </p:txBody>
      </p:sp>
      <p:sp>
        <p:nvSpPr>
          <p:cNvPr id="139" name="Rectangle 138">
            <a:extLst>
              <a:ext uri="{FF2B5EF4-FFF2-40B4-BE49-F238E27FC236}">
                <a16:creationId xmlns:a16="http://schemas.microsoft.com/office/drawing/2014/main" id="{C66F6500-FFD8-41A6-9ACA-14CEED1B1D38}"/>
              </a:ext>
            </a:extLst>
          </p:cNvPr>
          <p:cNvSpPr>
            <a:spLocks noGrp="1"/>
          </p:cNvSpPr>
          <p:nvPr/>
        </p:nvSpPr>
        <p:spPr>
          <a:xfrm>
            <a:off x="6497533" y="3494522"/>
            <a:ext cx="657054"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6</a:t>
            </a:r>
          </a:p>
        </p:txBody>
      </p:sp>
      <p:sp>
        <p:nvSpPr>
          <p:cNvPr id="140" name="Rectangle 139">
            <a:extLst>
              <a:ext uri="{FF2B5EF4-FFF2-40B4-BE49-F238E27FC236}">
                <a16:creationId xmlns:a16="http://schemas.microsoft.com/office/drawing/2014/main" id="{5E0E29FC-865A-49CD-84AC-EC010EFC30E0}"/>
              </a:ext>
            </a:extLst>
          </p:cNvPr>
          <p:cNvSpPr>
            <a:spLocks noGrp="1"/>
          </p:cNvSpPr>
          <p:nvPr/>
        </p:nvSpPr>
        <p:spPr>
          <a:xfrm>
            <a:off x="7169188" y="3479962"/>
            <a:ext cx="489140" cy="211127"/>
          </a:xfrm>
          <a:prstGeom prst="rect">
            <a:avLst/>
          </a:prstGeom>
          <a:solidFill>
            <a:srgbClr val="FCE0E1"/>
          </a:solidFill>
          <a:ln w="5103">
            <a:solidFill>
              <a:srgbClr val="C9CDD1"/>
            </a:solidFill>
            <a:prstDash val="solid"/>
          </a:ln>
        </p:spPr>
        <p:txBody>
          <a:bodyPr/>
          <a:lstStyle/>
          <a:p>
            <a:endParaRPr lang="th-TH"/>
          </a:p>
        </p:txBody>
      </p:sp>
      <p:sp>
        <p:nvSpPr>
          <p:cNvPr id="141" name="Rectangle 140">
            <a:extLst>
              <a:ext uri="{FF2B5EF4-FFF2-40B4-BE49-F238E27FC236}">
                <a16:creationId xmlns:a16="http://schemas.microsoft.com/office/drawing/2014/main" id="{F2048E5F-5741-4C40-AF1D-EF21C8D213CF}"/>
              </a:ext>
            </a:extLst>
          </p:cNvPr>
          <p:cNvSpPr>
            <a:spLocks noGrp="1"/>
          </p:cNvSpPr>
          <p:nvPr/>
        </p:nvSpPr>
        <p:spPr>
          <a:xfrm>
            <a:off x="7183789" y="3494522"/>
            <a:ext cx="459938" cy="182006"/>
          </a:xfrm>
          <a:prstGeom prst="rect">
            <a:avLst/>
          </a:prstGeom>
          <a:noFill/>
          <a:ln w="0">
            <a:noFill/>
          </a:ln>
        </p:spPr>
        <p:txBody>
          <a:bodyPr wrap="square" lIns="0" tIns="0" rIns="0" bIns="0" anchor="ctr">
            <a:normAutofit/>
          </a:bodyPr>
          <a:lstStyle/>
          <a:p>
            <a:pPr algn="ctr">
              <a:defRPr sz="804" b="0">
                <a:solidFill>
                  <a:srgbClr val="D12323"/>
                </a:solidFill>
                <a:latin typeface="Arial"/>
                <a:ea typeface="Arial"/>
                <a:cs typeface="Arial"/>
              </a:defRPr>
            </a:pPr>
            <a:r>
              <a:rPr sz="804" b="0">
                <a:solidFill>
                  <a:srgbClr val="D12323"/>
                </a:solidFill>
                <a:latin typeface="Arial"/>
                <a:ea typeface="Arial"/>
                <a:cs typeface="Arial"/>
              </a:rPr>
              <a:t>3.090</a:t>
            </a:r>
          </a:p>
        </p:txBody>
      </p:sp>
      <p:sp>
        <p:nvSpPr>
          <p:cNvPr id="142" name="Rectangle 141">
            <a:extLst>
              <a:ext uri="{FF2B5EF4-FFF2-40B4-BE49-F238E27FC236}">
                <a16:creationId xmlns:a16="http://schemas.microsoft.com/office/drawing/2014/main" id="{3C3662B3-03D7-49A3-9FF7-CA6BC9205F72}"/>
              </a:ext>
            </a:extLst>
          </p:cNvPr>
          <p:cNvSpPr>
            <a:spLocks noGrp="1"/>
          </p:cNvSpPr>
          <p:nvPr/>
        </p:nvSpPr>
        <p:spPr>
          <a:xfrm>
            <a:off x="7658328" y="3479962"/>
            <a:ext cx="511042" cy="211127"/>
          </a:xfrm>
          <a:prstGeom prst="rect">
            <a:avLst/>
          </a:prstGeom>
          <a:solidFill>
            <a:srgbClr val="FCE0E1"/>
          </a:solidFill>
          <a:ln w="5103">
            <a:solidFill>
              <a:srgbClr val="C9CDD1"/>
            </a:solidFill>
            <a:prstDash val="solid"/>
          </a:ln>
        </p:spPr>
        <p:txBody>
          <a:bodyPr/>
          <a:lstStyle/>
          <a:p>
            <a:endParaRPr lang="th-TH"/>
          </a:p>
        </p:txBody>
      </p:sp>
      <p:sp>
        <p:nvSpPr>
          <p:cNvPr id="143" name="Rectangle 142">
            <a:extLst>
              <a:ext uri="{FF2B5EF4-FFF2-40B4-BE49-F238E27FC236}">
                <a16:creationId xmlns:a16="http://schemas.microsoft.com/office/drawing/2014/main" id="{B154834D-5917-43D5-99C6-4594721239BD}"/>
              </a:ext>
            </a:extLst>
          </p:cNvPr>
          <p:cNvSpPr>
            <a:spLocks noGrp="1"/>
          </p:cNvSpPr>
          <p:nvPr/>
        </p:nvSpPr>
        <p:spPr>
          <a:xfrm>
            <a:off x="7672929" y="3494522"/>
            <a:ext cx="481840" cy="182006"/>
          </a:xfrm>
          <a:prstGeom prst="rect">
            <a:avLst/>
          </a:prstGeom>
          <a:noFill/>
          <a:ln w="0">
            <a:noFill/>
          </a:ln>
        </p:spPr>
        <p:txBody>
          <a:bodyPr wrap="square" lIns="0" tIns="0" rIns="0" bIns="0" anchor="ctr">
            <a:normAutofit/>
          </a:bodyPr>
          <a:lstStyle/>
          <a:p>
            <a:pPr algn="ctr">
              <a:defRPr sz="804" b="0">
                <a:solidFill>
                  <a:srgbClr val="D12323"/>
                </a:solidFill>
                <a:latin typeface="Arial"/>
                <a:ea typeface="Arial"/>
                <a:cs typeface="Arial"/>
              </a:defRPr>
            </a:pPr>
            <a:r>
              <a:rPr sz="804" b="0">
                <a:solidFill>
                  <a:srgbClr val="D12323"/>
                </a:solidFill>
                <a:latin typeface="Arial"/>
                <a:ea typeface="Arial"/>
                <a:cs typeface="Arial"/>
              </a:rPr>
              <a:t>3.117</a:t>
            </a:r>
          </a:p>
        </p:txBody>
      </p:sp>
      <p:sp>
        <p:nvSpPr>
          <p:cNvPr id="144" name="Rectangle 143">
            <a:extLst>
              <a:ext uri="{FF2B5EF4-FFF2-40B4-BE49-F238E27FC236}">
                <a16:creationId xmlns:a16="http://schemas.microsoft.com/office/drawing/2014/main" id="{B4F570AF-E6C5-4589-B2A6-3B6EFB9A2D69}"/>
              </a:ext>
            </a:extLst>
          </p:cNvPr>
          <p:cNvSpPr>
            <a:spLocks noGrp="1"/>
          </p:cNvSpPr>
          <p:nvPr/>
        </p:nvSpPr>
        <p:spPr>
          <a:xfrm>
            <a:off x="8169370" y="3479962"/>
            <a:ext cx="985581" cy="211127"/>
          </a:xfrm>
          <a:prstGeom prst="rect">
            <a:avLst/>
          </a:prstGeom>
          <a:solidFill>
            <a:srgbClr val="FFFFFF"/>
          </a:solidFill>
          <a:ln w="5103">
            <a:solidFill>
              <a:srgbClr val="C9CDD1"/>
            </a:solidFill>
            <a:prstDash val="solid"/>
          </a:ln>
        </p:spPr>
        <p:txBody>
          <a:bodyPr/>
          <a:lstStyle/>
          <a:p>
            <a:endParaRPr lang="th-TH"/>
          </a:p>
        </p:txBody>
      </p:sp>
      <p:sp>
        <p:nvSpPr>
          <p:cNvPr id="145" name="Rectangle 144">
            <a:extLst>
              <a:ext uri="{FF2B5EF4-FFF2-40B4-BE49-F238E27FC236}">
                <a16:creationId xmlns:a16="http://schemas.microsoft.com/office/drawing/2014/main" id="{690AA158-3F42-476B-812E-838C99E4AE34}"/>
              </a:ext>
            </a:extLst>
          </p:cNvPr>
          <p:cNvSpPr>
            <a:spLocks noGrp="1"/>
          </p:cNvSpPr>
          <p:nvPr/>
        </p:nvSpPr>
        <p:spPr>
          <a:xfrm>
            <a:off x="8183971" y="3494522"/>
            <a:ext cx="956378"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FAIL</a:t>
            </a:r>
          </a:p>
        </p:txBody>
      </p:sp>
      <p:sp>
        <p:nvSpPr>
          <p:cNvPr id="146" name="Rectangle 145">
            <a:extLst>
              <a:ext uri="{FF2B5EF4-FFF2-40B4-BE49-F238E27FC236}">
                <a16:creationId xmlns:a16="http://schemas.microsoft.com/office/drawing/2014/main" id="{6B65A99E-32E8-426C-91DE-B83A943099F9}"/>
              </a:ext>
            </a:extLst>
          </p:cNvPr>
          <p:cNvSpPr>
            <a:spLocks noGrp="1"/>
          </p:cNvSpPr>
          <p:nvPr/>
        </p:nvSpPr>
        <p:spPr>
          <a:xfrm>
            <a:off x="9154951" y="3479962"/>
            <a:ext cx="1350611" cy="211127"/>
          </a:xfrm>
          <a:prstGeom prst="rect">
            <a:avLst/>
          </a:prstGeom>
          <a:solidFill>
            <a:srgbClr val="FFFFFF"/>
          </a:solidFill>
          <a:ln w="5103">
            <a:solidFill>
              <a:srgbClr val="C9CDD1"/>
            </a:solidFill>
            <a:prstDash val="solid"/>
          </a:ln>
        </p:spPr>
        <p:txBody>
          <a:bodyPr/>
          <a:lstStyle/>
          <a:p>
            <a:endParaRPr lang="th-TH"/>
          </a:p>
        </p:txBody>
      </p:sp>
      <p:sp>
        <p:nvSpPr>
          <p:cNvPr id="147" name="Rectangle 146">
            <a:extLst>
              <a:ext uri="{FF2B5EF4-FFF2-40B4-BE49-F238E27FC236}">
                <a16:creationId xmlns:a16="http://schemas.microsoft.com/office/drawing/2014/main" id="{FE82A6DA-9E4D-4563-A4E0-F70E9FAC4B1D}"/>
              </a:ext>
            </a:extLst>
          </p:cNvPr>
          <p:cNvSpPr>
            <a:spLocks noGrp="1"/>
          </p:cNvSpPr>
          <p:nvPr/>
        </p:nvSpPr>
        <p:spPr>
          <a:xfrm>
            <a:off x="9169552" y="3494522"/>
            <a:ext cx="1321408" cy="182006"/>
          </a:xfrm>
          <a:prstGeom prst="rect">
            <a:avLst/>
          </a:prstGeom>
          <a:noFill/>
          <a:ln w="0">
            <a:noFill/>
          </a:ln>
        </p:spPr>
        <p:txBody>
          <a:bodyPr wrap="square" lIns="0" tIns="0" rIns="0" bIns="0" anchor="ctr">
            <a:normAutofit/>
          </a:bodyPr>
          <a:lstStyle/>
          <a:p>
            <a:pPr algn="ctr">
              <a:defRPr sz="804" b="0">
                <a:solidFill>
                  <a:srgbClr val="4C535A"/>
                </a:solidFill>
                <a:latin typeface="Arial"/>
                <a:ea typeface="Arial"/>
                <a:cs typeface="Arial"/>
              </a:defRPr>
            </a:pPr>
            <a:r>
              <a:rPr sz="804" b="0">
                <a:solidFill>
                  <a:srgbClr val="4C535A"/>
                </a:solidFill>
                <a:latin typeface="Arial"/>
                <a:ea typeface="Arial"/>
                <a:cs typeface="Arial"/>
              </a:rPr>
              <a:t>SAWN</a:t>
            </a:r>
          </a:p>
        </p:txBody>
      </p:sp>
      <p:sp>
        <p:nvSpPr>
          <p:cNvPr id="148" name="Rectangle 147">
            <a:extLst>
              <a:ext uri="{FF2B5EF4-FFF2-40B4-BE49-F238E27FC236}">
                <a16:creationId xmlns:a16="http://schemas.microsoft.com/office/drawing/2014/main" id="{D8A4F88E-58B4-421E-9CF2-5E685CBE492A}"/>
              </a:ext>
            </a:extLst>
          </p:cNvPr>
          <p:cNvSpPr>
            <a:spLocks noGrp="1"/>
          </p:cNvSpPr>
          <p:nvPr/>
        </p:nvSpPr>
        <p:spPr>
          <a:xfrm>
            <a:off x="10505562" y="3479962"/>
            <a:ext cx="642453" cy="211127"/>
          </a:xfrm>
          <a:prstGeom prst="rect">
            <a:avLst/>
          </a:prstGeom>
          <a:solidFill>
            <a:srgbClr val="FFFFFF"/>
          </a:solidFill>
          <a:ln w="5103">
            <a:solidFill>
              <a:srgbClr val="C9CDD1"/>
            </a:solidFill>
            <a:prstDash val="solid"/>
          </a:ln>
        </p:spPr>
        <p:txBody>
          <a:bodyPr/>
          <a:lstStyle/>
          <a:p>
            <a:endParaRPr lang="th-TH"/>
          </a:p>
        </p:txBody>
      </p:sp>
      <p:sp>
        <p:nvSpPr>
          <p:cNvPr id="149" name="Rectangle 148">
            <a:extLst>
              <a:ext uri="{FF2B5EF4-FFF2-40B4-BE49-F238E27FC236}">
                <a16:creationId xmlns:a16="http://schemas.microsoft.com/office/drawing/2014/main" id="{F66D4DBF-4E30-4416-826A-40EDD9DE7A8A}"/>
              </a:ext>
            </a:extLst>
          </p:cNvPr>
          <p:cNvSpPr>
            <a:spLocks noGrp="1"/>
          </p:cNvSpPr>
          <p:nvPr/>
        </p:nvSpPr>
        <p:spPr>
          <a:xfrm>
            <a:off x="10520163" y="3494522"/>
            <a:ext cx="613250" cy="182006"/>
          </a:xfrm>
          <a:prstGeom prst="rect">
            <a:avLst/>
          </a:prstGeom>
          <a:noFill/>
          <a:ln w="0">
            <a:noFill/>
          </a:ln>
        </p:spPr>
        <p:txBody>
          <a:bodyPr wrap="square" lIns="0" tIns="0" rIns="0" bIns="0" anchor="ctr">
            <a:normAutofit fontScale="47500" lnSpcReduction="20000"/>
          </a:bodyPr>
          <a:lstStyle/>
          <a:p>
            <a:endParaRPr/>
          </a:p>
        </p:txBody>
      </p:sp>
      <p:sp>
        <p:nvSpPr>
          <p:cNvPr id="150" name="Rectangle 149">
            <a:extLst>
              <a:ext uri="{FF2B5EF4-FFF2-40B4-BE49-F238E27FC236}">
                <a16:creationId xmlns:a16="http://schemas.microsoft.com/office/drawing/2014/main" id="{450B9FB0-7490-4CEE-A928-D21B9EE2323E}"/>
              </a:ext>
            </a:extLst>
          </p:cNvPr>
          <p:cNvSpPr>
            <a:spLocks noGrp="1"/>
          </p:cNvSpPr>
          <p:nvPr/>
        </p:nvSpPr>
        <p:spPr>
          <a:xfrm>
            <a:off x="11148014" y="3479962"/>
            <a:ext cx="481840" cy="211127"/>
          </a:xfrm>
          <a:prstGeom prst="rect">
            <a:avLst/>
          </a:prstGeom>
          <a:solidFill>
            <a:srgbClr val="FFFFFF"/>
          </a:solidFill>
          <a:ln w="5103">
            <a:solidFill>
              <a:srgbClr val="C9CDD1"/>
            </a:solidFill>
            <a:prstDash val="solid"/>
          </a:ln>
        </p:spPr>
        <p:txBody>
          <a:bodyPr/>
          <a:lstStyle/>
          <a:p>
            <a:endParaRPr lang="th-TH"/>
          </a:p>
        </p:txBody>
      </p:sp>
      <p:sp>
        <p:nvSpPr>
          <p:cNvPr id="151" name="Rectangle 150">
            <a:extLst>
              <a:ext uri="{FF2B5EF4-FFF2-40B4-BE49-F238E27FC236}">
                <a16:creationId xmlns:a16="http://schemas.microsoft.com/office/drawing/2014/main" id="{A2971C3A-84BA-4189-A4C3-9ADCA7125FE6}"/>
              </a:ext>
            </a:extLst>
          </p:cNvPr>
          <p:cNvSpPr>
            <a:spLocks noGrp="1"/>
          </p:cNvSpPr>
          <p:nvPr/>
        </p:nvSpPr>
        <p:spPr>
          <a:xfrm>
            <a:off x="11162616" y="3494522"/>
            <a:ext cx="452637" cy="182006"/>
          </a:xfrm>
          <a:prstGeom prst="rect">
            <a:avLst/>
          </a:prstGeom>
          <a:noFill/>
          <a:ln w="0">
            <a:noFill/>
          </a:ln>
        </p:spPr>
        <p:txBody>
          <a:bodyPr wrap="square" lIns="0" tIns="0" rIns="0" bIns="0" anchor="ctr">
            <a:normAutofit fontScale="47500" lnSpcReduction="20000"/>
          </a:bodyPr>
          <a:lstStyle/>
          <a:p>
            <a:endParaRPr/>
          </a:p>
        </p:txBody>
      </p:sp>
      <p:sp>
        <p:nvSpPr>
          <p:cNvPr id="152" name="Rectangle 151">
            <a:extLst>
              <a:ext uri="{FF2B5EF4-FFF2-40B4-BE49-F238E27FC236}">
                <a16:creationId xmlns:a16="http://schemas.microsoft.com/office/drawing/2014/main" id="{1AFA7F5E-294B-4F6C-86F3-9F5C9264FF87}"/>
              </a:ext>
            </a:extLst>
          </p:cNvPr>
          <p:cNvSpPr>
            <a:spLocks noGrp="1"/>
          </p:cNvSpPr>
          <p:nvPr/>
        </p:nvSpPr>
        <p:spPr>
          <a:xfrm>
            <a:off x="6548637" y="2402484"/>
            <a:ext cx="4708886" cy="232968"/>
          </a:xfrm>
          <a:prstGeom prst="rect">
            <a:avLst/>
          </a:prstGeom>
          <a:noFill/>
          <a:ln w="18955">
            <a:solidFill>
              <a:srgbClr val="EC1717"/>
            </a:solidFill>
            <a:prstDash val="solid"/>
          </a:ln>
        </p:spPr>
        <p:txBody>
          <a:bodyPr/>
          <a:lstStyle/>
          <a:p>
            <a:endParaRPr lang="th-TH"/>
          </a:p>
        </p:txBody>
      </p:sp>
      <p:sp>
        <p:nvSpPr>
          <p:cNvPr id="153" name="Rectangle 152">
            <a:extLst>
              <a:ext uri="{FF2B5EF4-FFF2-40B4-BE49-F238E27FC236}">
                <a16:creationId xmlns:a16="http://schemas.microsoft.com/office/drawing/2014/main" id="{EC4EC424-113E-4EF0-B438-D9D8BFC2E5FF}"/>
              </a:ext>
            </a:extLst>
          </p:cNvPr>
          <p:cNvSpPr>
            <a:spLocks noGrp="1"/>
          </p:cNvSpPr>
          <p:nvPr/>
        </p:nvSpPr>
        <p:spPr>
          <a:xfrm>
            <a:off x="6256613" y="3785732"/>
            <a:ext cx="5504651" cy="254809"/>
          </a:xfrm>
          <a:prstGeom prst="rect">
            <a:avLst/>
          </a:prstGeom>
          <a:solidFill>
            <a:srgbClr val="EDEFF1"/>
          </a:solidFill>
          <a:ln w="5103">
            <a:solidFill>
              <a:srgbClr val="D7DDE2"/>
            </a:solidFill>
            <a:prstDash val="solid"/>
          </a:ln>
        </p:spPr>
        <p:txBody>
          <a:bodyPr/>
          <a:lstStyle/>
          <a:p>
            <a:endParaRPr lang="th-TH"/>
          </a:p>
        </p:txBody>
      </p:sp>
      <p:sp>
        <p:nvSpPr>
          <p:cNvPr id="154" name="Rectangle 153">
            <a:extLst>
              <a:ext uri="{FF2B5EF4-FFF2-40B4-BE49-F238E27FC236}">
                <a16:creationId xmlns:a16="http://schemas.microsoft.com/office/drawing/2014/main" id="{D0CE9F08-38D3-4FD6-989E-ACDCAA754459}"/>
              </a:ext>
            </a:extLst>
          </p:cNvPr>
          <p:cNvSpPr>
            <a:spLocks noGrp="1"/>
          </p:cNvSpPr>
          <p:nvPr/>
        </p:nvSpPr>
        <p:spPr>
          <a:xfrm>
            <a:off x="6351521" y="3800293"/>
            <a:ext cx="532944" cy="218408"/>
          </a:xfrm>
          <a:prstGeom prst="rect">
            <a:avLst/>
          </a:prstGeom>
          <a:noFill/>
          <a:ln w="0">
            <a:noFill/>
          </a:ln>
        </p:spPr>
        <p:txBody>
          <a:bodyPr wrap="square" lIns="0" tIns="0" rIns="0" bIns="0" anchor="ctr">
            <a:normAutofit/>
          </a:bodyPr>
          <a:lstStyle/>
          <a:p>
            <a:pPr algn="l">
              <a:defRPr sz="1033" b="0">
                <a:solidFill>
                  <a:srgbClr val="69737C"/>
                </a:solidFill>
                <a:latin typeface="Arial"/>
                <a:ea typeface="Arial"/>
                <a:cs typeface="Arial"/>
              </a:defRPr>
            </a:pPr>
            <a:r>
              <a:rPr sz="1033" b="0">
                <a:solidFill>
                  <a:srgbClr val="69737C"/>
                </a:solidFill>
                <a:latin typeface="Arial"/>
                <a:ea typeface="Arial"/>
                <a:cs typeface="Arial"/>
              </a:rPr>
              <a:t>‹   ›   ···</a:t>
            </a:r>
          </a:p>
        </p:txBody>
      </p:sp>
      <p:sp>
        <p:nvSpPr>
          <p:cNvPr id="155" name="Rectangle 154">
            <a:extLst>
              <a:ext uri="{FF2B5EF4-FFF2-40B4-BE49-F238E27FC236}">
                <a16:creationId xmlns:a16="http://schemas.microsoft.com/office/drawing/2014/main" id="{E8EDC9AC-AF65-4D45-A43B-2BC8FD92FD87}"/>
              </a:ext>
            </a:extLst>
          </p:cNvPr>
          <p:cNvSpPr>
            <a:spLocks noGrp="1"/>
          </p:cNvSpPr>
          <p:nvPr/>
        </p:nvSpPr>
        <p:spPr>
          <a:xfrm>
            <a:off x="6884465" y="3800293"/>
            <a:ext cx="1562328" cy="218408"/>
          </a:xfrm>
          <a:prstGeom prst="rect">
            <a:avLst/>
          </a:prstGeom>
          <a:noFill/>
          <a:ln w="0">
            <a:noFill/>
          </a:ln>
        </p:spPr>
        <p:txBody>
          <a:bodyPr wrap="square" lIns="0" tIns="0" rIns="0" bIns="0" anchor="ctr">
            <a:normAutofit/>
          </a:bodyPr>
          <a:lstStyle/>
          <a:p>
            <a:pPr algn="ctr">
              <a:defRPr sz="861" b="0">
                <a:solidFill>
                  <a:srgbClr val="253647"/>
                </a:solidFill>
                <a:latin typeface="Arial"/>
                <a:ea typeface="Arial"/>
                <a:cs typeface="Arial"/>
              </a:defRPr>
            </a:pPr>
            <a:r>
              <a:rPr sz="861" b="0">
                <a:solidFill>
                  <a:srgbClr val="253647"/>
                </a:solidFill>
                <a:latin typeface="Arial"/>
                <a:ea typeface="Arial"/>
                <a:cs typeface="Arial"/>
              </a:rPr>
              <a:t>ALPL Dual AE04 3.5x3.75</a:t>
            </a:r>
          </a:p>
        </p:txBody>
      </p:sp>
      <p:sp>
        <p:nvSpPr>
          <p:cNvPr id="156" name="Rectangle 155">
            <a:extLst>
              <a:ext uri="{FF2B5EF4-FFF2-40B4-BE49-F238E27FC236}">
                <a16:creationId xmlns:a16="http://schemas.microsoft.com/office/drawing/2014/main" id="{6EE6C2EC-B272-4D30-B7E9-DE24BE48F804}"/>
              </a:ext>
            </a:extLst>
          </p:cNvPr>
          <p:cNvSpPr>
            <a:spLocks noGrp="1"/>
          </p:cNvSpPr>
          <p:nvPr/>
        </p:nvSpPr>
        <p:spPr>
          <a:xfrm>
            <a:off x="8439492" y="3800293"/>
            <a:ext cx="890673" cy="218408"/>
          </a:xfrm>
          <a:prstGeom prst="rect">
            <a:avLst/>
          </a:prstGeom>
          <a:noFill/>
          <a:ln w="0">
            <a:noFill/>
          </a:ln>
        </p:spPr>
        <p:txBody>
          <a:bodyPr wrap="square" lIns="0" tIns="0" rIns="0" bIns="0" anchor="ctr">
            <a:normAutofit/>
          </a:bodyPr>
          <a:lstStyle/>
          <a:p>
            <a:pPr algn="ctr">
              <a:defRPr sz="861" b="0">
                <a:solidFill>
                  <a:srgbClr val="253647"/>
                </a:solidFill>
                <a:latin typeface="Arial"/>
                <a:ea typeface="Arial"/>
                <a:cs typeface="Arial"/>
              </a:defRPr>
            </a:pPr>
            <a:r>
              <a:rPr sz="861" b="0">
                <a:solidFill>
                  <a:srgbClr val="253647"/>
                </a:solidFill>
                <a:latin typeface="Arial"/>
                <a:ea typeface="Arial"/>
                <a:cs typeface="Arial"/>
              </a:rPr>
              <a:t>ALPL HT 6X6</a:t>
            </a:r>
          </a:p>
        </p:txBody>
      </p:sp>
      <p:sp>
        <p:nvSpPr>
          <p:cNvPr id="157" name="Rectangle 156">
            <a:extLst>
              <a:ext uri="{FF2B5EF4-FFF2-40B4-BE49-F238E27FC236}">
                <a16:creationId xmlns:a16="http://schemas.microsoft.com/office/drawing/2014/main" id="{D9CE0F77-AA38-4346-B41B-42DA1466B712}"/>
              </a:ext>
            </a:extLst>
          </p:cNvPr>
          <p:cNvSpPr>
            <a:spLocks noGrp="1"/>
          </p:cNvSpPr>
          <p:nvPr/>
        </p:nvSpPr>
        <p:spPr>
          <a:xfrm>
            <a:off x="9322865" y="3800293"/>
            <a:ext cx="1007483" cy="218408"/>
          </a:xfrm>
          <a:prstGeom prst="rect">
            <a:avLst/>
          </a:prstGeom>
          <a:noFill/>
          <a:ln w="0">
            <a:noFill/>
          </a:ln>
        </p:spPr>
        <p:txBody>
          <a:bodyPr wrap="square" lIns="0" tIns="0" rIns="0" bIns="0" anchor="ctr">
            <a:normAutofit/>
          </a:bodyPr>
          <a:lstStyle/>
          <a:p>
            <a:pPr algn="ctr">
              <a:defRPr sz="861" b="0">
                <a:solidFill>
                  <a:srgbClr val="253647"/>
                </a:solidFill>
                <a:latin typeface="Arial"/>
                <a:ea typeface="Arial"/>
                <a:cs typeface="Arial"/>
              </a:defRPr>
            </a:pPr>
            <a:r>
              <a:rPr sz="861" b="0">
                <a:solidFill>
                  <a:srgbClr val="253647"/>
                </a:solidFill>
                <a:latin typeface="Arial"/>
                <a:ea typeface="Arial"/>
                <a:cs typeface="Arial"/>
              </a:rPr>
              <a:t>HT 6X6 DEMPLE</a:t>
            </a:r>
          </a:p>
        </p:txBody>
      </p:sp>
      <p:sp>
        <p:nvSpPr>
          <p:cNvPr id="158" name="Rectangle 157">
            <a:extLst>
              <a:ext uri="{FF2B5EF4-FFF2-40B4-BE49-F238E27FC236}">
                <a16:creationId xmlns:a16="http://schemas.microsoft.com/office/drawing/2014/main" id="{B6717F7E-CC42-400D-9A21-78D4B093351D}"/>
              </a:ext>
            </a:extLst>
          </p:cNvPr>
          <p:cNvSpPr>
            <a:spLocks noGrp="1"/>
          </p:cNvSpPr>
          <p:nvPr/>
        </p:nvSpPr>
        <p:spPr>
          <a:xfrm>
            <a:off x="10330347" y="3800293"/>
            <a:ext cx="1387114" cy="218408"/>
          </a:xfrm>
          <a:prstGeom prst="rect">
            <a:avLst/>
          </a:prstGeom>
          <a:noFill/>
          <a:ln w="0">
            <a:noFill/>
          </a:ln>
        </p:spPr>
        <p:txBody>
          <a:bodyPr wrap="square" lIns="0" tIns="0" rIns="0" bIns="0" anchor="ctr">
            <a:normAutofit/>
          </a:bodyPr>
          <a:lstStyle/>
          <a:p>
            <a:pPr algn="ctr">
              <a:defRPr sz="861" b="0">
                <a:solidFill>
                  <a:srgbClr val="253647"/>
                </a:solidFill>
                <a:latin typeface="Arial"/>
                <a:ea typeface="Arial"/>
                <a:cs typeface="Arial"/>
              </a:defRPr>
            </a:pPr>
            <a:r>
              <a:rPr sz="861" b="0">
                <a:solidFill>
                  <a:srgbClr val="253647"/>
                </a:solidFill>
                <a:latin typeface="Arial"/>
                <a:ea typeface="Arial"/>
                <a:cs typeface="Arial"/>
              </a:rPr>
              <a:t>ALPL HT DUAL 3.5X3.75</a:t>
            </a:r>
          </a:p>
        </p:txBody>
      </p:sp>
      <p:sp>
        <p:nvSpPr>
          <p:cNvPr id="159" name="Rectangle 158">
            <a:extLst>
              <a:ext uri="{FF2B5EF4-FFF2-40B4-BE49-F238E27FC236}">
                <a16:creationId xmlns:a16="http://schemas.microsoft.com/office/drawing/2014/main" id="{F03E392B-0577-471F-B9B6-E0D443B211AF}"/>
              </a:ext>
            </a:extLst>
          </p:cNvPr>
          <p:cNvSpPr>
            <a:spLocks noGrp="1"/>
          </p:cNvSpPr>
          <p:nvPr/>
        </p:nvSpPr>
        <p:spPr>
          <a:xfrm>
            <a:off x="6256613" y="3785732"/>
            <a:ext cx="5504651" cy="254809"/>
          </a:xfrm>
          <a:prstGeom prst="rect">
            <a:avLst/>
          </a:prstGeom>
          <a:noFill/>
          <a:ln w="16039">
            <a:solidFill>
              <a:srgbClr val="EC1717"/>
            </a:solidFill>
            <a:prstDash val="solid"/>
          </a:ln>
        </p:spPr>
        <p:txBody>
          <a:bodyPr/>
          <a:lstStyle/>
          <a:p>
            <a:endParaRPr lang="th-TH"/>
          </a:p>
        </p:txBody>
      </p:sp>
      <p:sp>
        <p:nvSpPr>
          <p:cNvPr id="160" name="Rectangle: Rounded Corners 159">
            <a:extLst>
              <a:ext uri="{FF2B5EF4-FFF2-40B4-BE49-F238E27FC236}">
                <a16:creationId xmlns:a16="http://schemas.microsoft.com/office/drawing/2014/main" id="{03E19058-2206-44EE-82EE-BC71031B531C}"/>
              </a:ext>
            </a:extLst>
          </p:cNvPr>
          <p:cNvSpPr>
            <a:spLocks noGrp="1"/>
          </p:cNvSpPr>
          <p:nvPr/>
        </p:nvSpPr>
        <p:spPr>
          <a:xfrm>
            <a:off x="8541701" y="4098783"/>
            <a:ext cx="3241466" cy="269369"/>
          </a:xfrm>
          <a:prstGeom prst="roundRect">
            <a:avLst>
              <a:gd name="adj" fmla="val 16239"/>
            </a:avLst>
          </a:prstGeom>
          <a:solidFill>
            <a:srgbClr val="FAD6D8"/>
          </a:solidFill>
          <a:ln w="0">
            <a:noFill/>
            <a:prstDash val="solid"/>
          </a:ln>
        </p:spPr>
        <p:txBody>
          <a:bodyPr/>
          <a:lstStyle/>
          <a:p>
            <a:endParaRPr lang="th-TH"/>
          </a:p>
        </p:txBody>
      </p:sp>
      <p:sp>
        <p:nvSpPr>
          <p:cNvPr id="161" name="Rectangle 160">
            <a:extLst>
              <a:ext uri="{FF2B5EF4-FFF2-40B4-BE49-F238E27FC236}">
                <a16:creationId xmlns:a16="http://schemas.microsoft.com/office/drawing/2014/main" id="{B7CC1566-1B41-4F97-8BE6-95F22783A61C}"/>
              </a:ext>
            </a:extLst>
          </p:cNvPr>
          <p:cNvSpPr>
            <a:spLocks noGrp="1"/>
          </p:cNvSpPr>
          <p:nvPr/>
        </p:nvSpPr>
        <p:spPr>
          <a:xfrm>
            <a:off x="8629308" y="4135185"/>
            <a:ext cx="3066251" cy="196567"/>
          </a:xfrm>
          <a:prstGeom prst="rect">
            <a:avLst/>
          </a:prstGeom>
          <a:noFill/>
          <a:ln w="0">
            <a:noFill/>
          </a:ln>
        </p:spPr>
        <p:txBody>
          <a:bodyPr wrap="square" lIns="0" tIns="0" rIns="0" bIns="0" anchor="ctr">
            <a:normAutofit fontScale="90365"/>
          </a:bodyPr>
          <a:lstStyle/>
          <a:p>
            <a:pPr algn="l">
              <a:defRPr sz="976" b="1">
                <a:solidFill>
                  <a:srgbClr val="B90000"/>
                </a:solidFill>
                <a:latin typeface="Arial"/>
                <a:ea typeface="Arial"/>
                <a:cs typeface="Arial"/>
              </a:defRPr>
            </a:pPr>
            <a:r>
              <a:rPr sz="976" b="1">
                <a:solidFill>
                  <a:srgbClr val="B90000"/>
                </a:solidFill>
                <a:latin typeface="Arial"/>
                <a:ea typeface="Arial"/>
                <a:cs typeface="Arial"/>
              </a:rPr>
              <a:t>Inconsistent Sheet Naming (No Standardized Format)</a:t>
            </a:r>
          </a:p>
        </p:txBody>
      </p:sp>
      <p:sp>
        <p:nvSpPr>
          <p:cNvPr id="162" name="Straight Connector 161">
            <a:extLst>
              <a:ext uri="{FF2B5EF4-FFF2-40B4-BE49-F238E27FC236}">
                <a16:creationId xmlns:a16="http://schemas.microsoft.com/office/drawing/2014/main" id="{72B4B1A1-E520-4A9B-A7A8-A32E7B08ABCB}"/>
              </a:ext>
            </a:extLst>
          </p:cNvPr>
          <p:cNvSpPr>
            <a:spLocks noGrp="1"/>
          </p:cNvSpPr>
          <p:nvPr/>
        </p:nvSpPr>
        <p:spPr>
          <a:xfrm>
            <a:off x="10542065" y="2118554"/>
            <a:ext cx="0" cy="240248"/>
          </a:xfrm>
          <a:prstGeom prst="line">
            <a:avLst/>
          </a:prstGeom>
          <a:noFill/>
          <a:ln w="14581">
            <a:solidFill>
              <a:srgbClr val="B90000"/>
            </a:solidFill>
            <a:prstDash val="solid"/>
          </a:ln>
        </p:spPr>
        <p:txBody>
          <a:bodyPr/>
          <a:lstStyle/>
          <a:p>
            <a:endParaRPr lang="th-TH"/>
          </a:p>
        </p:txBody>
      </p:sp>
      <p:sp>
        <p:nvSpPr>
          <p:cNvPr id="163" name="Isosceles Triangle 162">
            <a:extLst>
              <a:ext uri="{FF2B5EF4-FFF2-40B4-BE49-F238E27FC236}">
                <a16:creationId xmlns:a16="http://schemas.microsoft.com/office/drawing/2014/main" id="{1B184751-C5E0-4FD2-8308-EF655FFFD91D}"/>
              </a:ext>
            </a:extLst>
          </p:cNvPr>
          <p:cNvSpPr>
            <a:spLocks noGrp="1"/>
          </p:cNvSpPr>
          <p:nvPr/>
        </p:nvSpPr>
        <p:spPr>
          <a:xfrm rot="10800000">
            <a:off x="10498261" y="2329682"/>
            <a:ext cx="87607" cy="87363"/>
          </a:xfrm>
          <a:prstGeom prst="triangle">
            <a:avLst/>
          </a:prstGeom>
          <a:solidFill>
            <a:srgbClr val="B90000"/>
          </a:solidFill>
          <a:ln w="0">
            <a:noFill/>
          </a:ln>
        </p:spPr>
        <p:txBody>
          <a:bodyPr/>
          <a:lstStyle/>
          <a:p>
            <a:endParaRPr lang="th-TH"/>
          </a:p>
        </p:txBody>
      </p:sp>
      <p:sp>
        <p:nvSpPr>
          <p:cNvPr id="164" name="Straight Connector 163">
            <a:extLst>
              <a:ext uri="{FF2B5EF4-FFF2-40B4-BE49-F238E27FC236}">
                <a16:creationId xmlns:a16="http://schemas.microsoft.com/office/drawing/2014/main" id="{57B80698-0B14-4888-A39B-5C74D9ABD3C7}"/>
              </a:ext>
            </a:extLst>
          </p:cNvPr>
          <p:cNvSpPr>
            <a:spLocks noGrp="1"/>
          </p:cNvSpPr>
          <p:nvPr/>
        </p:nvSpPr>
        <p:spPr>
          <a:xfrm>
            <a:off x="8337284" y="4040541"/>
            <a:ext cx="0" cy="203847"/>
          </a:xfrm>
          <a:prstGeom prst="line">
            <a:avLst/>
          </a:prstGeom>
          <a:noFill/>
          <a:ln w="14581">
            <a:solidFill>
              <a:srgbClr val="B90000"/>
            </a:solidFill>
            <a:prstDash val="solid"/>
          </a:ln>
        </p:spPr>
        <p:txBody>
          <a:bodyPr/>
          <a:lstStyle/>
          <a:p>
            <a:endParaRPr lang="th-TH"/>
          </a:p>
        </p:txBody>
      </p:sp>
      <p:sp>
        <p:nvSpPr>
          <p:cNvPr id="165" name="Straight Connector 164">
            <a:extLst>
              <a:ext uri="{FF2B5EF4-FFF2-40B4-BE49-F238E27FC236}">
                <a16:creationId xmlns:a16="http://schemas.microsoft.com/office/drawing/2014/main" id="{A74CAC7F-699F-4E30-AA09-0B7D12990DF7}"/>
              </a:ext>
            </a:extLst>
          </p:cNvPr>
          <p:cNvSpPr>
            <a:spLocks noGrp="1"/>
          </p:cNvSpPr>
          <p:nvPr/>
        </p:nvSpPr>
        <p:spPr>
          <a:xfrm>
            <a:off x="8337284" y="4244389"/>
            <a:ext cx="153313" cy="0"/>
          </a:xfrm>
          <a:prstGeom prst="line">
            <a:avLst/>
          </a:prstGeom>
          <a:noFill/>
          <a:ln w="14581">
            <a:solidFill>
              <a:srgbClr val="B90000"/>
            </a:solidFill>
            <a:prstDash val="solid"/>
          </a:ln>
        </p:spPr>
        <p:txBody>
          <a:bodyPr/>
          <a:lstStyle/>
          <a:p>
            <a:endParaRPr lang="th-TH"/>
          </a:p>
        </p:txBody>
      </p:sp>
      <p:sp>
        <p:nvSpPr>
          <p:cNvPr id="166" name="Isosceles Triangle 165">
            <a:extLst>
              <a:ext uri="{FF2B5EF4-FFF2-40B4-BE49-F238E27FC236}">
                <a16:creationId xmlns:a16="http://schemas.microsoft.com/office/drawing/2014/main" id="{0698F645-D4B1-479F-A25C-CE1A6FC1AA25}"/>
              </a:ext>
            </a:extLst>
          </p:cNvPr>
          <p:cNvSpPr>
            <a:spLocks noGrp="1"/>
          </p:cNvSpPr>
          <p:nvPr/>
        </p:nvSpPr>
        <p:spPr>
          <a:xfrm rot="5400000">
            <a:off x="8461394" y="4200707"/>
            <a:ext cx="94908" cy="94643"/>
          </a:xfrm>
          <a:prstGeom prst="triangle">
            <a:avLst/>
          </a:prstGeom>
          <a:solidFill>
            <a:srgbClr val="B90000"/>
          </a:solidFill>
          <a:ln w="0">
            <a:noFill/>
          </a:ln>
        </p:spPr>
        <p:txBody>
          <a:bodyPr/>
          <a:lstStyle/>
          <a:p>
            <a:endParaRPr lang="th-TH"/>
          </a:p>
        </p:txBody>
      </p:sp>
      <p:sp>
        <p:nvSpPr>
          <p:cNvPr id="167" name="Result entries panel">
            <a:extLst>
              <a:ext uri="{FF2B5EF4-FFF2-40B4-BE49-F238E27FC236}">
                <a16:creationId xmlns:a16="http://schemas.microsoft.com/office/drawing/2014/main" id="{01ABC35C-51F6-4831-B810-EDE1CB02CE45}"/>
              </a:ext>
            </a:extLst>
          </p:cNvPr>
          <p:cNvSpPr>
            <a:spLocks noGrp="1"/>
          </p:cNvSpPr>
          <p:nvPr/>
        </p:nvSpPr>
        <p:spPr>
          <a:xfrm>
            <a:off x="6088699" y="4462796"/>
            <a:ext cx="5818577" cy="2074873"/>
          </a:xfrm>
          <a:prstGeom prst="roundRect">
            <a:avLst>
              <a:gd name="adj" fmla="val 8081"/>
            </a:avLst>
          </a:prstGeom>
          <a:solidFill>
            <a:srgbClr val="EFF7FD"/>
          </a:solidFill>
          <a:ln w="0">
            <a:noFill/>
            <a:prstDash val="solid"/>
          </a:ln>
        </p:spPr>
        <p:txBody>
          <a:bodyPr/>
          <a:lstStyle/>
          <a:p>
            <a:endParaRPr lang="th-TH"/>
          </a:p>
        </p:txBody>
      </p:sp>
      <p:sp>
        <p:nvSpPr>
          <p:cNvPr id="168" name="Oval 167">
            <a:extLst>
              <a:ext uri="{FF2B5EF4-FFF2-40B4-BE49-F238E27FC236}">
                <a16:creationId xmlns:a16="http://schemas.microsoft.com/office/drawing/2014/main" id="{FF04CC2D-5135-40DF-BF4A-CC1214EF6983}"/>
              </a:ext>
            </a:extLst>
          </p:cNvPr>
          <p:cNvSpPr>
            <a:spLocks noGrp="1"/>
          </p:cNvSpPr>
          <p:nvPr/>
        </p:nvSpPr>
        <p:spPr>
          <a:xfrm>
            <a:off x="6139804" y="4477357"/>
            <a:ext cx="372331" cy="371293"/>
          </a:xfrm>
          <a:prstGeom prst="ellipse">
            <a:avLst/>
          </a:prstGeom>
          <a:solidFill>
            <a:srgbClr val="07508D"/>
          </a:solidFill>
          <a:ln w="0">
            <a:noFill/>
          </a:ln>
        </p:spPr>
        <p:txBody>
          <a:bodyPr/>
          <a:lstStyle/>
          <a:p>
            <a:endParaRPr lang="th-TH"/>
          </a:p>
        </p:txBody>
      </p:sp>
      <p:sp>
        <p:nvSpPr>
          <p:cNvPr id="169" name="Rectangle 168">
            <a:extLst>
              <a:ext uri="{FF2B5EF4-FFF2-40B4-BE49-F238E27FC236}">
                <a16:creationId xmlns:a16="http://schemas.microsoft.com/office/drawing/2014/main" id="{28175442-1AFD-4A29-9CD4-F6F16A6DB928}"/>
              </a:ext>
            </a:extLst>
          </p:cNvPr>
          <p:cNvSpPr>
            <a:spLocks noGrp="1"/>
          </p:cNvSpPr>
          <p:nvPr/>
        </p:nvSpPr>
        <p:spPr>
          <a:xfrm>
            <a:off x="6139804" y="4499197"/>
            <a:ext cx="372331" cy="320331"/>
          </a:xfrm>
          <a:prstGeom prst="rect">
            <a:avLst/>
          </a:prstGeom>
          <a:noFill/>
          <a:ln w="0">
            <a:noFill/>
          </a:ln>
        </p:spPr>
        <p:txBody>
          <a:bodyPr wrap="square" lIns="0" tIns="0" rIns="0" bIns="0" anchor="ctr">
            <a:normAutofit/>
          </a:bodyPr>
          <a:lstStyle/>
          <a:p>
            <a:pPr algn="ctr">
              <a:defRPr sz="1780" b="1">
                <a:solidFill>
                  <a:srgbClr val="FFFFFF"/>
                </a:solidFill>
                <a:latin typeface="Arial"/>
                <a:ea typeface="Arial"/>
                <a:cs typeface="Arial"/>
              </a:defRPr>
            </a:pPr>
            <a:r>
              <a:rPr sz="1780" b="1">
                <a:solidFill>
                  <a:srgbClr val="FFFFFF"/>
                </a:solidFill>
                <a:latin typeface="Arial"/>
                <a:ea typeface="Arial"/>
                <a:cs typeface="Arial"/>
              </a:rPr>
              <a:t>2</a:t>
            </a:r>
          </a:p>
        </p:txBody>
      </p:sp>
      <p:sp>
        <p:nvSpPr>
          <p:cNvPr id="170" name="Rectangle 169">
            <a:extLst>
              <a:ext uri="{FF2B5EF4-FFF2-40B4-BE49-F238E27FC236}">
                <a16:creationId xmlns:a16="http://schemas.microsoft.com/office/drawing/2014/main" id="{4E472B0B-D095-4F00-8BE2-C4EBF4951BD7}"/>
              </a:ext>
            </a:extLst>
          </p:cNvPr>
          <p:cNvSpPr>
            <a:spLocks noGrp="1"/>
          </p:cNvSpPr>
          <p:nvPr/>
        </p:nvSpPr>
        <p:spPr>
          <a:xfrm>
            <a:off x="6680048" y="4499197"/>
            <a:ext cx="3358275" cy="313051"/>
          </a:xfrm>
          <a:prstGeom prst="rect">
            <a:avLst/>
          </a:prstGeom>
          <a:noFill/>
          <a:ln w="0">
            <a:noFill/>
          </a:ln>
        </p:spPr>
        <p:txBody>
          <a:bodyPr wrap="square" lIns="0" tIns="0" rIns="0" bIns="0" anchor="ctr">
            <a:normAutofit/>
          </a:bodyPr>
          <a:lstStyle/>
          <a:p>
            <a:pPr algn="l">
              <a:defRPr sz="1435" b="1">
                <a:solidFill>
                  <a:srgbClr val="092B6C"/>
                </a:solidFill>
                <a:latin typeface="Arial"/>
                <a:ea typeface="Arial"/>
                <a:cs typeface="Arial"/>
              </a:defRPr>
            </a:pPr>
            <a:r>
              <a:rPr sz="1435" b="1">
                <a:solidFill>
                  <a:srgbClr val="092B6C"/>
                </a:solidFill>
                <a:latin typeface="Arial"/>
                <a:ea typeface="Arial"/>
                <a:cs typeface="Arial"/>
              </a:rPr>
              <a:t>Inconsistent Result Entries</a:t>
            </a:r>
          </a:p>
        </p:txBody>
      </p:sp>
      <p:sp>
        <p:nvSpPr>
          <p:cNvPr id="171" name="Rectangle 170">
            <a:extLst>
              <a:ext uri="{FF2B5EF4-FFF2-40B4-BE49-F238E27FC236}">
                <a16:creationId xmlns:a16="http://schemas.microsoft.com/office/drawing/2014/main" id="{1C2DEBF3-62BC-4415-BCDE-5366FF13532A}"/>
              </a:ext>
            </a:extLst>
          </p:cNvPr>
          <p:cNvSpPr>
            <a:spLocks noGrp="1"/>
          </p:cNvSpPr>
          <p:nvPr/>
        </p:nvSpPr>
        <p:spPr>
          <a:xfrm>
            <a:off x="6424527" y="4914172"/>
            <a:ext cx="854170" cy="247529"/>
          </a:xfrm>
          <a:prstGeom prst="rect">
            <a:avLst/>
          </a:prstGeom>
          <a:solidFill>
            <a:srgbClr val="CEF3D1"/>
          </a:solidFill>
          <a:ln w="5468">
            <a:solidFill>
              <a:srgbClr val="252B2F"/>
            </a:solidFill>
            <a:prstDash val="solid"/>
          </a:ln>
        </p:spPr>
        <p:txBody>
          <a:bodyPr/>
          <a:lstStyle/>
          <a:p>
            <a:endParaRPr lang="th-TH"/>
          </a:p>
        </p:txBody>
      </p:sp>
      <p:sp>
        <p:nvSpPr>
          <p:cNvPr id="172" name="Rectangle 171">
            <a:extLst>
              <a:ext uri="{FF2B5EF4-FFF2-40B4-BE49-F238E27FC236}">
                <a16:creationId xmlns:a16="http://schemas.microsoft.com/office/drawing/2014/main" id="{3791FA30-F660-4B34-A1E0-2CCC20478856}"/>
              </a:ext>
            </a:extLst>
          </p:cNvPr>
          <p:cNvSpPr>
            <a:spLocks noGrp="1"/>
          </p:cNvSpPr>
          <p:nvPr/>
        </p:nvSpPr>
        <p:spPr>
          <a:xfrm>
            <a:off x="6446429" y="4921452"/>
            <a:ext cx="810366" cy="232968"/>
          </a:xfrm>
          <a:prstGeom prst="rect">
            <a:avLst/>
          </a:prstGeom>
          <a:noFill/>
          <a:ln w="0">
            <a:noFill/>
          </a:ln>
        </p:spPr>
        <p:txBody>
          <a:bodyPr wrap="square" lIns="0" tIns="0" rIns="0" bIns="0" anchor="ctr">
            <a:normAutofit/>
          </a:bodyPr>
          <a:lstStyle/>
          <a:p>
            <a:pPr algn="ctr">
              <a:defRPr sz="1206" b="0">
                <a:solidFill>
                  <a:srgbClr val="008029"/>
                </a:solidFill>
                <a:latin typeface="Arial"/>
                <a:ea typeface="Arial"/>
                <a:cs typeface="Arial"/>
              </a:defRPr>
            </a:pPr>
            <a:r>
              <a:rPr sz="1206" b="0">
                <a:solidFill>
                  <a:srgbClr val="008029"/>
                </a:solidFill>
                <a:latin typeface="Arial"/>
                <a:ea typeface="Arial"/>
                <a:cs typeface="Arial"/>
              </a:rPr>
              <a:t>4.050</a:t>
            </a:r>
          </a:p>
        </p:txBody>
      </p:sp>
      <p:sp>
        <p:nvSpPr>
          <p:cNvPr id="173" name="Rectangle 172">
            <a:extLst>
              <a:ext uri="{FF2B5EF4-FFF2-40B4-BE49-F238E27FC236}">
                <a16:creationId xmlns:a16="http://schemas.microsoft.com/office/drawing/2014/main" id="{1B0A568A-418D-4700-B03A-6CEE07669442}"/>
              </a:ext>
            </a:extLst>
          </p:cNvPr>
          <p:cNvSpPr>
            <a:spLocks noGrp="1"/>
          </p:cNvSpPr>
          <p:nvPr/>
        </p:nvSpPr>
        <p:spPr>
          <a:xfrm>
            <a:off x="7278697" y="4914172"/>
            <a:ext cx="854170" cy="247529"/>
          </a:xfrm>
          <a:prstGeom prst="rect">
            <a:avLst/>
          </a:prstGeom>
          <a:solidFill>
            <a:srgbClr val="F9CBCD"/>
          </a:solidFill>
          <a:ln w="5468">
            <a:solidFill>
              <a:srgbClr val="252B2F"/>
            </a:solidFill>
            <a:prstDash val="solid"/>
          </a:ln>
        </p:spPr>
        <p:txBody>
          <a:bodyPr/>
          <a:lstStyle/>
          <a:p>
            <a:endParaRPr lang="th-TH"/>
          </a:p>
        </p:txBody>
      </p:sp>
      <p:sp>
        <p:nvSpPr>
          <p:cNvPr id="174" name="Rectangle 173">
            <a:extLst>
              <a:ext uri="{FF2B5EF4-FFF2-40B4-BE49-F238E27FC236}">
                <a16:creationId xmlns:a16="http://schemas.microsoft.com/office/drawing/2014/main" id="{77CF2E8F-3D1B-47B6-8B76-DF65857ECD83}"/>
              </a:ext>
            </a:extLst>
          </p:cNvPr>
          <p:cNvSpPr>
            <a:spLocks noGrp="1"/>
          </p:cNvSpPr>
          <p:nvPr/>
        </p:nvSpPr>
        <p:spPr>
          <a:xfrm>
            <a:off x="7300599" y="4921452"/>
            <a:ext cx="810366" cy="232968"/>
          </a:xfrm>
          <a:prstGeom prst="rect">
            <a:avLst/>
          </a:prstGeom>
          <a:noFill/>
          <a:ln w="0">
            <a:noFill/>
          </a:ln>
        </p:spPr>
        <p:txBody>
          <a:bodyPr wrap="square" lIns="0" tIns="0" rIns="0" bIns="0" anchor="ctr">
            <a:normAutofit/>
          </a:bodyPr>
          <a:lstStyle/>
          <a:p>
            <a:pPr algn="ctr">
              <a:defRPr sz="1206" b="0">
                <a:solidFill>
                  <a:srgbClr val="BA0000"/>
                </a:solidFill>
                <a:latin typeface="Arial"/>
                <a:ea typeface="Arial"/>
                <a:cs typeface="Arial"/>
              </a:defRPr>
            </a:pPr>
            <a:r>
              <a:rPr sz="1206" b="0">
                <a:solidFill>
                  <a:srgbClr val="BA0000"/>
                </a:solidFill>
                <a:latin typeface="Arial"/>
                <a:ea typeface="Arial"/>
                <a:cs typeface="Arial"/>
              </a:rPr>
              <a:t>4.036</a:t>
            </a:r>
          </a:p>
        </p:txBody>
      </p:sp>
      <p:sp>
        <p:nvSpPr>
          <p:cNvPr id="175" name="Rectangle 174">
            <a:extLst>
              <a:ext uri="{FF2B5EF4-FFF2-40B4-BE49-F238E27FC236}">
                <a16:creationId xmlns:a16="http://schemas.microsoft.com/office/drawing/2014/main" id="{96E0E971-F947-4FC4-904F-AA3A48B37669}"/>
              </a:ext>
            </a:extLst>
          </p:cNvPr>
          <p:cNvSpPr>
            <a:spLocks noGrp="1"/>
          </p:cNvSpPr>
          <p:nvPr/>
        </p:nvSpPr>
        <p:spPr>
          <a:xfrm>
            <a:off x="8132867" y="4914172"/>
            <a:ext cx="1438218" cy="247529"/>
          </a:xfrm>
          <a:prstGeom prst="rect">
            <a:avLst/>
          </a:prstGeom>
          <a:solidFill>
            <a:srgbClr val="FFFFFF"/>
          </a:solidFill>
          <a:ln w="5468">
            <a:solidFill>
              <a:srgbClr val="252B2F"/>
            </a:solidFill>
            <a:prstDash val="solid"/>
          </a:ln>
        </p:spPr>
        <p:txBody>
          <a:bodyPr/>
          <a:lstStyle/>
          <a:p>
            <a:endParaRPr lang="th-TH"/>
          </a:p>
        </p:txBody>
      </p:sp>
      <p:sp>
        <p:nvSpPr>
          <p:cNvPr id="176" name="Rectangle 175">
            <a:extLst>
              <a:ext uri="{FF2B5EF4-FFF2-40B4-BE49-F238E27FC236}">
                <a16:creationId xmlns:a16="http://schemas.microsoft.com/office/drawing/2014/main" id="{45BCDA6E-7A31-4219-9CC9-7647B6AA4447}"/>
              </a:ext>
            </a:extLst>
          </p:cNvPr>
          <p:cNvSpPr>
            <a:spLocks noGrp="1"/>
          </p:cNvSpPr>
          <p:nvPr/>
        </p:nvSpPr>
        <p:spPr>
          <a:xfrm>
            <a:off x="8154769" y="4921452"/>
            <a:ext cx="1394414" cy="232968"/>
          </a:xfrm>
          <a:prstGeom prst="rect">
            <a:avLst/>
          </a:prstGeom>
          <a:noFill/>
          <a:ln w="0">
            <a:noFill/>
          </a:ln>
        </p:spPr>
        <p:txBody>
          <a:bodyPr wrap="square" lIns="0" tIns="0" rIns="0" bIns="0" anchor="ctr">
            <a:normAutofit/>
          </a:bodyPr>
          <a:lstStyle/>
          <a:p>
            <a:pPr algn="ctr">
              <a:defRPr sz="1206" b="0">
                <a:solidFill>
                  <a:srgbClr val="111111"/>
                </a:solidFill>
                <a:latin typeface="Arial"/>
                <a:ea typeface="Arial"/>
                <a:cs typeface="Arial"/>
              </a:defRPr>
            </a:pPr>
            <a:r>
              <a:rPr sz="1206" b="0">
                <a:solidFill>
                  <a:srgbClr val="111111"/>
                </a:solidFill>
                <a:latin typeface="Arial"/>
                <a:ea typeface="Arial"/>
                <a:cs typeface="Arial"/>
              </a:rPr>
              <a:t>GOOD</a:t>
            </a:r>
          </a:p>
        </p:txBody>
      </p:sp>
      <p:sp>
        <p:nvSpPr>
          <p:cNvPr id="177" name="Rectangle 176">
            <a:extLst>
              <a:ext uri="{FF2B5EF4-FFF2-40B4-BE49-F238E27FC236}">
                <a16:creationId xmlns:a16="http://schemas.microsoft.com/office/drawing/2014/main" id="{E8DDE325-9564-428B-9628-7417E4B2C37A}"/>
              </a:ext>
            </a:extLst>
          </p:cNvPr>
          <p:cNvSpPr>
            <a:spLocks noGrp="1"/>
          </p:cNvSpPr>
          <p:nvPr/>
        </p:nvSpPr>
        <p:spPr>
          <a:xfrm>
            <a:off x="6424527" y="5161701"/>
            <a:ext cx="854170" cy="247529"/>
          </a:xfrm>
          <a:prstGeom prst="rect">
            <a:avLst/>
          </a:prstGeom>
          <a:solidFill>
            <a:srgbClr val="CEF3D1"/>
          </a:solidFill>
          <a:ln w="5468">
            <a:solidFill>
              <a:srgbClr val="252B2F"/>
            </a:solidFill>
            <a:prstDash val="solid"/>
          </a:ln>
        </p:spPr>
        <p:txBody>
          <a:bodyPr/>
          <a:lstStyle/>
          <a:p>
            <a:endParaRPr lang="th-TH"/>
          </a:p>
        </p:txBody>
      </p:sp>
      <p:sp>
        <p:nvSpPr>
          <p:cNvPr id="178" name="Rectangle 177">
            <a:extLst>
              <a:ext uri="{FF2B5EF4-FFF2-40B4-BE49-F238E27FC236}">
                <a16:creationId xmlns:a16="http://schemas.microsoft.com/office/drawing/2014/main" id="{B25946C8-CB8B-4FF9-BB3A-B1EE3B9864F3}"/>
              </a:ext>
            </a:extLst>
          </p:cNvPr>
          <p:cNvSpPr>
            <a:spLocks noGrp="1"/>
          </p:cNvSpPr>
          <p:nvPr/>
        </p:nvSpPr>
        <p:spPr>
          <a:xfrm>
            <a:off x="6446429" y="5168981"/>
            <a:ext cx="810366" cy="232968"/>
          </a:xfrm>
          <a:prstGeom prst="rect">
            <a:avLst/>
          </a:prstGeom>
          <a:noFill/>
          <a:ln w="0">
            <a:noFill/>
          </a:ln>
        </p:spPr>
        <p:txBody>
          <a:bodyPr wrap="square" lIns="0" tIns="0" rIns="0" bIns="0" anchor="ctr">
            <a:normAutofit/>
          </a:bodyPr>
          <a:lstStyle/>
          <a:p>
            <a:pPr algn="ctr">
              <a:defRPr sz="1206" b="0">
                <a:solidFill>
                  <a:srgbClr val="008029"/>
                </a:solidFill>
                <a:latin typeface="Arial"/>
                <a:ea typeface="Arial"/>
                <a:cs typeface="Arial"/>
              </a:defRPr>
            </a:pPr>
            <a:r>
              <a:rPr sz="1206" b="0">
                <a:solidFill>
                  <a:srgbClr val="008029"/>
                </a:solidFill>
                <a:latin typeface="Arial"/>
                <a:ea typeface="Arial"/>
                <a:cs typeface="Arial"/>
              </a:rPr>
              <a:t>4.049</a:t>
            </a:r>
          </a:p>
        </p:txBody>
      </p:sp>
      <p:sp>
        <p:nvSpPr>
          <p:cNvPr id="179" name="Rectangle 178">
            <a:extLst>
              <a:ext uri="{FF2B5EF4-FFF2-40B4-BE49-F238E27FC236}">
                <a16:creationId xmlns:a16="http://schemas.microsoft.com/office/drawing/2014/main" id="{39120897-C573-4896-AB15-A8B16C9C323E}"/>
              </a:ext>
            </a:extLst>
          </p:cNvPr>
          <p:cNvSpPr>
            <a:spLocks noGrp="1"/>
          </p:cNvSpPr>
          <p:nvPr/>
        </p:nvSpPr>
        <p:spPr>
          <a:xfrm>
            <a:off x="7278697" y="5161701"/>
            <a:ext cx="854170" cy="247529"/>
          </a:xfrm>
          <a:prstGeom prst="rect">
            <a:avLst/>
          </a:prstGeom>
          <a:solidFill>
            <a:srgbClr val="CEF3D1"/>
          </a:solidFill>
          <a:ln w="5468">
            <a:solidFill>
              <a:srgbClr val="252B2F"/>
            </a:solidFill>
            <a:prstDash val="solid"/>
          </a:ln>
        </p:spPr>
        <p:txBody>
          <a:bodyPr/>
          <a:lstStyle/>
          <a:p>
            <a:endParaRPr lang="th-TH"/>
          </a:p>
        </p:txBody>
      </p:sp>
      <p:sp>
        <p:nvSpPr>
          <p:cNvPr id="180" name="Rectangle 179">
            <a:extLst>
              <a:ext uri="{FF2B5EF4-FFF2-40B4-BE49-F238E27FC236}">
                <a16:creationId xmlns:a16="http://schemas.microsoft.com/office/drawing/2014/main" id="{D20CF488-E343-405C-8C95-08973B225160}"/>
              </a:ext>
            </a:extLst>
          </p:cNvPr>
          <p:cNvSpPr>
            <a:spLocks noGrp="1"/>
          </p:cNvSpPr>
          <p:nvPr/>
        </p:nvSpPr>
        <p:spPr>
          <a:xfrm>
            <a:off x="7300599" y="5168981"/>
            <a:ext cx="810366" cy="232968"/>
          </a:xfrm>
          <a:prstGeom prst="rect">
            <a:avLst/>
          </a:prstGeom>
          <a:noFill/>
          <a:ln w="0">
            <a:noFill/>
          </a:ln>
        </p:spPr>
        <p:txBody>
          <a:bodyPr wrap="square" lIns="0" tIns="0" rIns="0" bIns="0" anchor="ctr">
            <a:normAutofit/>
          </a:bodyPr>
          <a:lstStyle/>
          <a:p>
            <a:pPr algn="ctr">
              <a:defRPr sz="1206" b="0">
                <a:solidFill>
                  <a:srgbClr val="008029"/>
                </a:solidFill>
                <a:latin typeface="Arial"/>
                <a:ea typeface="Arial"/>
                <a:cs typeface="Arial"/>
              </a:defRPr>
            </a:pPr>
            <a:r>
              <a:rPr sz="1206" b="0">
                <a:solidFill>
                  <a:srgbClr val="008029"/>
                </a:solidFill>
                <a:latin typeface="Arial"/>
                <a:ea typeface="Arial"/>
                <a:cs typeface="Arial"/>
              </a:rPr>
              <a:t>4.056</a:t>
            </a:r>
          </a:p>
        </p:txBody>
      </p:sp>
      <p:sp>
        <p:nvSpPr>
          <p:cNvPr id="181" name="Rectangle 180">
            <a:extLst>
              <a:ext uri="{FF2B5EF4-FFF2-40B4-BE49-F238E27FC236}">
                <a16:creationId xmlns:a16="http://schemas.microsoft.com/office/drawing/2014/main" id="{0F79BC10-8E9D-4466-8A72-6CC8E2E32AC7}"/>
              </a:ext>
            </a:extLst>
          </p:cNvPr>
          <p:cNvSpPr>
            <a:spLocks noGrp="1"/>
          </p:cNvSpPr>
          <p:nvPr/>
        </p:nvSpPr>
        <p:spPr>
          <a:xfrm>
            <a:off x="8132867" y="5161701"/>
            <a:ext cx="1438218" cy="247529"/>
          </a:xfrm>
          <a:prstGeom prst="rect">
            <a:avLst/>
          </a:prstGeom>
          <a:solidFill>
            <a:srgbClr val="FFFFFF"/>
          </a:solidFill>
          <a:ln w="5468">
            <a:solidFill>
              <a:srgbClr val="252B2F"/>
            </a:solidFill>
            <a:prstDash val="solid"/>
          </a:ln>
        </p:spPr>
        <p:txBody>
          <a:bodyPr/>
          <a:lstStyle/>
          <a:p>
            <a:endParaRPr lang="th-TH"/>
          </a:p>
        </p:txBody>
      </p:sp>
      <p:sp>
        <p:nvSpPr>
          <p:cNvPr id="182" name="Rectangle 181">
            <a:extLst>
              <a:ext uri="{FF2B5EF4-FFF2-40B4-BE49-F238E27FC236}">
                <a16:creationId xmlns:a16="http://schemas.microsoft.com/office/drawing/2014/main" id="{D881F9E7-8666-4581-B800-5D85245792AE}"/>
              </a:ext>
            </a:extLst>
          </p:cNvPr>
          <p:cNvSpPr>
            <a:spLocks noGrp="1"/>
          </p:cNvSpPr>
          <p:nvPr/>
        </p:nvSpPr>
        <p:spPr>
          <a:xfrm>
            <a:off x="8154769" y="5168981"/>
            <a:ext cx="1394414" cy="232968"/>
          </a:xfrm>
          <a:prstGeom prst="rect">
            <a:avLst/>
          </a:prstGeom>
          <a:noFill/>
          <a:ln w="0">
            <a:noFill/>
          </a:ln>
        </p:spPr>
        <p:txBody>
          <a:bodyPr wrap="square" lIns="0" tIns="0" rIns="0" bIns="0" anchor="ctr">
            <a:normAutofit/>
          </a:bodyPr>
          <a:lstStyle/>
          <a:p>
            <a:pPr algn="ctr">
              <a:defRPr sz="1206" b="0">
                <a:solidFill>
                  <a:srgbClr val="111111"/>
                </a:solidFill>
                <a:latin typeface="Arial"/>
                <a:ea typeface="Arial"/>
                <a:cs typeface="Arial"/>
              </a:defRPr>
            </a:pPr>
            <a:r>
              <a:rPr sz="1206" b="0">
                <a:solidFill>
                  <a:srgbClr val="111111"/>
                </a:solidFill>
                <a:latin typeface="Arial"/>
                <a:ea typeface="Arial"/>
                <a:cs typeface="Arial"/>
              </a:rPr>
              <a:t>FAIL</a:t>
            </a:r>
          </a:p>
        </p:txBody>
      </p:sp>
      <p:sp>
        <p:nvSpPr>
          <p:cNvPr id="183" name="Rectangle 182">
            <a:extLst>
              <a:ext uri="{FF2B5EF4-FFF2-40B4-BE49-F238E27FC236}">
                <a16:creationId xmlns:a16="http://schemas.microsoft.com/office/drawing/2014/main" id="{94DE9730-5EA5-422F-AC04-AAEC9C2F1C95}"/>
              </a:ext>
            </a:extLst>
          </p:cNvPr>
          <p:cNvSpPr>
            <a:spLocks noGrp="1"/>
          </p:cNvSpPr>
          <p:nvPr/>
        </p:nvSpPr>
        <p:spPr>
          <a:xfrm>
            <a:off x="6424527" y="5409229"/>
            <a:ext cx="854170" cy="247529"/>
          </a:xfrm>
          <a:prstGeom prst="rect">
            <a:avLst/>
          </a:prstGeom>
          <a:solidFill>
            <a:srgbClr val="CEF3D1"/>
          </a:solidFill>
          <a:ln w="5468">
            <a:solidFill>
              <a:srgbClr val="252B2F"/>
            </a:solidFill>
            <a:prstDash val="solid"/>
          </a:ln>
        </p:spPr>
        <p:txBody>
          <a:bodyPr/>
          <a:lstStyle/>
          <a:p>
            <a:endParaRPr lang="th-TH"/>
          </a:p>
        </p:txBody>
      </p:sp>
      <p:sp>
        <p:nvSpPr>
          <p:cNvPr id="184" name="Rectangle 183">
            <a:extLst>
              <a:ext uri="{FF2B5EF4-FFF2-40B4-BE49-F238E27FC236}">
                <a16:creationId xmlns:a16="http://schemas.microsoft.com/office/drawing/2014/main" id="{CD684DBA-687B-443A-9339-EA80BBA606FB}"/>
              </a:ext>
            </a:extLst>
          </p:cNvPr>
          <p:cNvSpPr>
            <a:spLocks noGrp="1"/>
          </p:cNvSpPr>
          <p:nvPr/>
        </p:nvSpPr>
        <p:spPr>
          <a:xfrm>
            <a:off x="6446429" y="5416510"/>
            <a:ext cx="810366" cy="232968"/>
          </a:xfrm>
          <a:prstGeom prst="rect">
            <a:avLst/>
          </a:prstGeom>
          <a:noFill/>
          <a:ln w="0">
            <a:noFill/>
          </a:ln>
        </p:spPr>
        <p:txBody>
          <a:bodyPr wrap="square" lIns="0" tIns="0" rIns="0" bIns="0" anchor="ctr">
            <a:normAutofit/>
          </a:bodyPr>
          <a:lstStyle/>
          <a:p>
            <a:pPr algn="ctr">
              <a:defRPr sz="1206" b="0">
                <a:solidFill>
                  <a:srgbClr val="008029"/>
                </a:solidFill>
                <a:latin typeface="Arial"/>
                <a:ea typeface="Arial"/>
                <a:cs typeface="Arial"/>
              </a:defRPr>
            </a:pPr>
            <a:r>
              <a:rPr sz="1206" b="0">
                <a:solidFill>
                  <a:srgbClr val="008029"/>
                </a:solidFill>
                <a:latin typeface="Arial"/>
                <a:ea typeface="Arial"/>
                <a:cs typeface="Arial"/>
              </a:rPr>
              <a:t>4.044</a:t>
            </a:r>
          </a:p>
        </p:txBody>
      </p:sp>
      <p:sp>
        <p:nvSpPr>
          <p:cNvPr id="185" name="Rectangle 184">
            <a:extLst>
              <a:ext uri="{FF2B5EF4-FFF2-40B4-BE49-F238E27FC236}">
                <a16:creationId xmlns:a16="http://schemas.microsoft.com/office/drawing/2014/main" id="{17F6893D-D07A-4CAC-A1C9-D8E98ADAC06B}"/>
              </a:ext>
            </a:extLst>
          </p:cNvPr>
          <p:cNvSpPr>
            <a:spLocks noGrp="1"/>
          </p:cNvSpPr>
          <p:nvPr/>
        </p:nvSpPr>
        <p:spPr>
          <a:xfrm>
            <a:off x="7278697" y="5409229"/>
            <a:ext cx="854170" cy="247529"/>
          </a:xfrm>
          <a:prstGeom prst="rect">
            <a:avLst/>
          </a:prstGeom>
          <a:solidFill>
            <a:srgbClr val="CEF3D1"/>
          </a:solidFill>
          <a:ln w="5468">
            <a:solidFill>
              <a:srgbClr val="252B2F"/>
            </a:solidFill>
            <a:prstDash val="solid"/>
          </a:ln>
        </p:spPr>
        <p:txBody>
          <a:bodyPr/>
          <a:lstStyle/>
          <a:p>
            <a:endParaRPr lang="th-TH"/>
          </a:p>
        </p:txBody>
      </p:sp>
      <p:sp>
        <p:nvSpPr>
          <p:cNvPr id="186" name="Rectangle 185">
            <a:extLst>
              <a:ext uri="{FF2B5EF4-FFF2-40B4-BE49-F238E27FC236}">
                <a16:creationId xmlns:a16="http://schemas.microsoft.com/office/drawing/2014/main" id="{E08F9033-014F-45C3-AD92-B3761F568440}"/>
              </a:ext>
            </a:extLst>
          </p:cNvPr>
          <p:cNvSpPr>
            <a:spLocks noGrp="1"/>
          </p:cNvSpPr>
          <p:nvPr/>
        </p:nvSpPr>
        <p:spPr>
          <a:xfrm>
            <a:off x="7300599" y="5416510"/>
            <a:ext cx="810366" cy="232968"/>
          </a:xfrm>
          <a:prstGeom prst="rect">
            <a:avLst/>
          </a:prstGeom>
          <a:noFill/>
          <a:ln w="0">
            <a:noFill/>
          </a:ln>
        </p:spPr>
        <p:txBody>
          <a:bodyPr wrap="square" lIns="0" tIns="0" rIns="0" bIns="0" anchor="ctr">
            <a:normAutofit/>
          </a:bodyPr>
          <a:lstStyle/>
          <a:p>
            <a:pPr algn="ctr">
              <a:defRPr sz="1206" b="0">
                <a:solidFill>
                  <a:srgbClr val="008029"/>
                </a:solidFill>
                <a:latin typeface="Arial"/>
                <a:ea typeface="Arial"/>
                <a:cs typeface="Arial"/>
              </a:defRPr>
            </a:pPr>
            <a:r>
              <a:rPr sz="1206" b="0">
                <a:solidFill>
                  <a:srgbClr val="008029"/>
                </a:solidFill>
                <a:latin typeface="Arial"/>
                <a:ea typeface="Arial"/>
                <a:cs typeface="Arial"/>
              </a:rPr>
              <a:t>4.049</a:t>
            </a:r>
          </a:p>
        </p:txBody>
      </p:sp>
      <p:sp>
        <p:nvSpPr>
          <p:cNvPr id="187" name="Rectangle 186">
            <a:extLst>
              <a:ext uri="{FF2B5EF4-FFF2-40B4-BE49-F238E27FC236}">
                <a16:creationId xmlns:a16="http://schemas.microsoft.com/office/drawing/2014/main" id="{091CF627-FA38-4697-9A25-15A418FB7FBC}"/>
              </a:ext>
            </a:extLst>
          </p:cNvPr>
          <p:cNvSpPr>
            <a:spLocks noGrp="1"/>
          </p:cNvSpPr>
          <p:nvPr/>
        </p:nvSpPr>
        <p:spPr>
          <a:xfrm>
            <a:off x="8132867" y="5409229"/>
            <a:ext cx="1438218" cy="247529"/>
          </a:xfrm>
          <a:prstGeom prst="rect">
            <a:avLst/>
          </a:prstGeom>
          <a:solidFill>
            <a:srgbClr val="FFFFFF"/>
          </a:solidFill>
          <a:ln w="5468">
            <a:solidFill>
              <a:srgbClr val="252B2F"/>
            </a:solidFill>
            <a:prstDash val="solid"/>
          </a:ln>
        </p:spPr>
        <p:txBody>
          <a:bodyPr/>
          <a:lstStyle/>
          <a:p>
            <a:endParaRPr lang="th-TH"/>
          </a:p>
        </p:txBody>
      </p:sp>
      <p:sp>
        <p:nvSpPr>
          <p:cNvPr id="188" name="Rectangle 187">
            <a:extLst>
              <a:ext uri="{FF2B5EF4-FFF2-40B4-BE49-F238E27FC236}">
                <a16:creationId xmlns:a16="http://schemas.microsoft.com/office/drawing/2014/main" id="{C4EA3C7C-90EB-4983-B028-6A1DB9406D7D}"/>
              </a:ext>
            </a:extLst>
          </p:cNvPr>
          <p:cNvSpPr>
            <a:spLocks noGrp="1"/>
          </p:cNvSpPr>
          <p:nvPr/>
        </p:nvSpPr>
        <p:spPr>
          <a:xfrm>
            <a:off x="8154769" y="5416510"/>
            <a:ext cx="1394414" cy="232968"/>
          </a:xfrm>
          <a:prstGeom prst="rect">
            <a:avLst/>
          </a:prstGeom>
          <a:noFill/>
          <a:ln w="0">
            <a:noFill/>
          </a:ln>
        </p:spPr>
        <p:txBody>
          <a:bodyPr wrap="square" lIns="0" tIns="0" rIns="0" bIns="0" anchor="ctr">
            <a:normAutofit/>
          </a:bodyPr>
          <a:lstStyle/>
          <a:p>
            <a:pPr algn="ctr">
              <a:defRPr sz="1206" b="0">
                <a:solidFill>
                  <a:srgbClr val="111111"/>
                </a:solidFill>
                <a:latin typeface="Arial"/>
                <a:ea typeface="Arial"/>
                <a:cs typeface="Arial"/>
              </a:defRPr>
            </a:pPr>
            <a:r>
              <a:rPr sz="1206" b="0">
                <a:solidFill>
                  <a:srgbClr val="111111"/>
                </a:solidFill>
                <a:latin typeface="Arial"/>
                <a:ea typeface="Arial"/>
                <a:cs typeface="Arial"/>
              </a:rPr>
              <a:t>GOOD</a:t>
            </a:r>
          </a:p>
        </p:txBody>
      </p:sp>
      <p:sp>
        <p:nvSpPr>
          <p:cNvPr id="189" name="Rectangle 188">
            <a:extLst>
              <a:ext uri="{FF2B5EF4-FFF2-40B4-BE49-F238E27FC236}">
                <a16:creationId xmlns:a16="http://schemas.microsoft.com/office/drawing/2014/main" id="{05BE5AB5-A809-4BED-AD8F-6B2E9D48C120}"/>
              </a:ext>
            </a:extLst>
          </p:cNvPr>
          <p:cNvSpPr>
            <a:spLocks noGrp="1"/>
          </p:cNvSpPr>
          <p:nvPr/>
        </p:nvSpPr>
        <p:spPr>
          <a:xfrm>
            <a:off x="6424527" y="5656758"/>
            <a:ext cx="854170" cy="247529"/>
          </a:xfrm>
          <a:prstGeom prst="rect">
            <a:avLst/>
          </a:prstGeom>
          <a:solidFill>
            <a:srgbClr val="F9CBCD"/>
          </a:solidFill>
          <a:ln w="5468">
            <a:solidFill>
              <a:srgbClr val="252B2F"/>
            </a:solidFill>
            <a:prstDash val="solid"/>
          </a:ln>
        </p:spPr>
        <p:txBody>
          <a:bodyPr/>
          <a:lstStyle/>
          <a:p>
            <a:endParaRPr lang="th-TH"/>
          </a:p>
        </p:txBody>
      </p:sp>
      <p:sp>
        <p:nvSpPr>
          <p:cNvPr id="190" name="Rectangle 189">
            <a:extLst>
              <a:ext uri="{FF2B5EF4-FFF2-40B4-BE49-F238E27FC236}">
                <a16:creationId xmlns:a16="http://schemas.microsoft.com/office/drawing/2014/main" id="{708DB25F-B38F-4D45-AF6E-0916F5F4EB26}"/>
              </a:ext>
            </a:extLst>
          </p:cNvPr>
          <p:cNvSpPr>
            <a:spLocks noGrp="1"/>
          </p:cNvSpPr>
          <p:nvPr/>
        </p:nvSpPr>
        <p:spPr>
          <a:xfrm>
            <a:off x="6446429" y="5664038"/>
            <a:ext cx="810366" cy="232968"/>
          </a:xfrm>
          <a:prstGeom prst="rect">
            <a:avLst/>
          </a:prstGeom>
          <a:noFill/>
          <a:ln w="0">
            <a:noFill/>
          </a:ln>
        </p:spPr>
        <p:txBody>
          <a:bodyPr wrap="square" lIns="0" tIns="0" rIns="0" bIns="0" anchor="ctr">
            <a:normAutofit/>
          </a:bodyPr>
          <a:lstStyle/>
          <a:p>
            <a:pPr algn="ctr">
              <a:defRPr sz="1206" b="0">
                <a:solidFill>
                  <a:srgbClr val="BA0000"/>
                </a:solidFill>
                <a:latin typeface="Arial"/>
                <a:ea typeface="Arial"/>
                <a:cs typeface="Arial"/>
              </a:defRPr>
            </a:pPr>
            <a:r>
              <a:rPr sz="1206" b="0">
                <a:solidFill>
                  <a:srgbClr val="BA0000"/>
                </a:solidFill>
                <a:latin typeface="Arial"/>
                <a:ea typeface="Arial"/>
                <a:cs typeface="Arial"/>
              </a:rPr>
              <a:t>4.133</a:t>
            </a:r>
          </a:p>
        </p:txBody>
      </p:sp>
      <p:sp>
        <p:nvSpPr>
          <p:cNvPr id="191" name="Rectangle 190">
            <a:extLst>
              <a:ext uri="{FF2B5EF4-FFF2-40B4-BE49-F238E27FC236}">
                <a16:creationId xmlns:a16="http://schemas.microsoft.com/office/drawing/2014/main" id="{00668072-1F7B-42D9-BCBC-FC57F7D5E9C8}"/>
              </a:ext>
            </a:extLst>
          </p:cNvPr>
          <p:cNvSpPr>
            <a:spLocks noGrp="1"/>
          </p:cNvSpPr>
          <p:nvPr/>
        </p:nvSpPr>
        <p:spPr>
          <a:xfrm>
            <a:off x="7278697" y="5656758"/>
            <a:ext cx="854170" cy="247529"/>
          </a:xfrm>
          <a:prstGeom prst="rect">
            <a:avLst/>
          </a:prstGeom>
          <a:solidFill>
            <a:srgbClr val="F9CBCD"/>
          </a:solidFill>
          <a:ln w="5468">
            <a:solidFill>
              <a:srgbClr val="252B2F"/>
            </a:solidFill>
            <a:prstDash val="solid"/>
          </a:ln>
        </p:spPr>
        <p:txBody>
          <a:bodyPr/>
          <a:lstStyle/>
          <a:p>
            <a:endParaRPr lang="th-TH"/>
          </a:p>
        </p:txBody>
      </p:sp>
      <p:sp>
        <p:nvSpPr>
          <p:cNvPr id="192" name="Rectangle 191">
            <a:extLst>
              <a:ext uri="{FF2B5EF4-FFF2-40B4-BE49-F238E27FC236}">
                <a16:creationId xmlns:a16="http://schemas.microsoft.com/office/drawing/2014/main" id="{2AF48E4F-FDD0-46A3-8AC5-88FC4B499809}"/>
              </a:ext>
            </a:extLst>
          </p:cNvPr>
          <p:cNvSpPr>
            <a:spLocks noGrp="1"/>
          </p:cNvSpPr>
          <p:nvPr/>
        </p:nvSpPr>
        <p:spPr>
          <a:xfrm>
            <a:off x="7300599" y="5664038"/>
            <a:ext cx="810366" cy="232968"/>
          </a:xfrm>
          <a:prstGeom prst="rect">
            <a:avLst/>
          </a:prstGeom>
          <a:noFill/>
          <a:ln w="0">
            <a:noFill/>
          </a:ln>
        </p:spPr>
        <p:txBody>
          <a:bodyPr wrap="square" lIns="0" tIns="0" rIns="0" bIns="0" anchor="ctr">
            <a:normAutofit/>
          </a:bodyPr>
          <a:lstStyle/>
          <a:p>
            <a:pPr algn="ctr">
              <a:defRPr sz="1206" b="0">
                <a:solidFill>
                  <a:srgbClr val="BA0000"/>
                </a:solidFill>
                <a:latin typeface="Arial"/>
                <a:ea typeface="Arial"/>
                <a:cs typeface="Arial"/>
              </a:defRPr>
            </a:pPr>
            <a:r>
              <a:rPr sz="1206" b="0">
                <a:solidFill>
                  <a:srgbClr val="BA0000"/>
                </a:solidFill>
                <a:latin typeface="Arial"/>
                <a:ea typeface="Arial"/>
                <a:cs typeface="Arial"/>
              </a:rPr>
              <a:t>4.160</a:t>
            </a:r>
          </a:p>
        </p:txBody>
      </p:sp>
      <p:sp>
        <p:nvSpPr>
          <p:cNvPr id="193" name="Rectangle 192">
            <a:extLst>
              <a:ext uri="{FF2B5EF4-FFF2-40B4-BE49-F238E27FC236}">
                <a16:creationId xmlns:a16="http://schemas.microsoft.com/office/drawing/2014/main" id="{EFA93FBB-4AA1-42C7-A487-7C5BB453FD8B}"/>
              </a:ext>
            </a:extLst>
          </p:cNvPr>
          <p:cNvSpPr>
            <a:spLocks noGrp="1"/>
          </p:cNvSpPr>
          <p:nvPr/>
        </p:nvSpPr>
        <p:spPr>
          <a:xfrm>
            <a:off x="8132867" y="5656758"/>
            <a:ext cx="1438218" cy="247529"/>
          </a:xfrm>
          <a:prstGeom prst="rect">
            <a:avLst/>
          </a:prstGeom>
          <a:solidFill>
            <a:srgbClr val="FFFFFF"/>
          </a:solidFill>
          <a:ln w="5468">
            <a:solidFill>
              <a:srgbClr val="252B2F"/>
            </a:solidFill>
            <a:prstDash val="solid"/>
          </a:ln>
        </p:spPr>
        <p:txBody>
          <a:bodyPr/>
          <a:lstStyle/>
          <a:p>
            <a:endParaRPr lang="th-TH"/>
          </a:p>
        </p:txBody>
      </p:sp>
      <p:sp>
        <p:nvSpPr>
          <p:cNvPr id="194" name="Rectangle 193">
            <a:extLst>
              <a:ext uri="{FF2B5EF4-FFF2-40B4-BE49-F238E27FC236}">
                <a16:creationId xmlns:a16="http://schemas.microsoft.com/office/drawing/2014/main" id="{BDF4D088-5940-4C6D-9B37-F4AB4522AF55}"/>
              </a:ext>
            </a:extLst>
          </p:cNvPr>
          <p:cNvSpPr>
            <a:spLocks noGrp="1"/>
          </p:cNvSpPr>
          <p:nvPr/>
        </p:nvSpPr>
        <p:spPr>
          <a:xfrm>
            <a:off x="8154769" y="5664038"/>
            <a:ext cx="1394414" cy="232968"/>
          </a:xfrm>
          <a:prstGeom prst="rect">
            <a:avLst/>
          </a:prstGeom>
          <a:noFill/>
          <a:ln w="0">
            <a:noFill/>
          </a:ln>
        </p:spPr>
        <p:txBody>
          <a:bodyPr wrap="square" lIns="0" tIns="0" rIns="0" bIns="0" anchor="ctr">
            <a:normAutofit/>
          </a:bodyPr>
          <a:lstStyle/>
          <a:p>
            <a:pPr algn="ctr">
              <a:defRPr sz="1206" b="0">
                <a:solidFill>
                  <a:srgbClr val="111111"/>
                </a:solidFill>
                <a:latin typeface="Arial"/>
                <a:ea typeface="Arial"/>
                <a:cs typeface="Arial"/>
              </a:defRPr>
            </a:pPr>
            <a:r>
              <a:rPr sz="1206" b="0">
                <a:solidFill>
                  <a:srgbClr val="111111"/>
                </a:solidFill>
                <a:latin typeface="Arial"/>
                <a:ea typeface="Arial"/>
                <a:cs typeface="Arial"/>
              </a:rPr>
              <a:t>FAIL</a:t>
            </a:r>
          </a:p>
        </p:txBody>
      </p:sp>
      <p:sp>
        <p:nvSpPr>
          <p:cNvPr id="195" name="Rectangle 194">
            <a:extLst>
              <a:ext uri="{FF2B5EF4-FFF2-40B4-BE49-F238E27FC236}">
                <a16:creationId xmlns:a16="http://schemas.microsoft.com/office/drawing/2014/main" id="{4B2A9E07-4FEF-41BE-9C20-F90EB6EA278C}"/>
              </a:ext>
            </a:extLst>
          </p:cNvPr>
          <p:cNvSpPr>
            <a:spLocks noGrp="1"/>
          </p:cNvSpPr>
          <p:nvPr/>
        </p:nvSpPr>
        <p:spPr>
          <a:xfrm>
            <a:off x="6424527" y="5904287"/>
            <a:ext cx="854170" cy="247529"/>
          </a:xfrm>
          <a:prstGeom prst="rect">
            <a:avLst/>
          </a:prstGeom>
          <a:solidFill>
            <a:srgbClr val="F9CBCD"/>
          </a:solidFill>
          <a:ln w="5468">
            <a:solidFill>
              <a:srgbClr val="252B2F"/>
            </a:solidFill>
            <a:prstDash val="solid"/>
          </a:ln>
        </p:spPr>
        <p:txBody>
          <a:bodyPr/>
          <a:lstStyle/>
          <a:p>
            <a:endParaRPr lang="th-TH"/>
          </a:p>
        </p:txBody>
      </p:sp>
      <p:sp>
        <p:nvSpPr>
          <p:cNvPr id="196" name="Rectangle 195">
            <a:extLst>
              <a:ext uri="{FF2B5EF4-FFF2-40B4-BE49-F238E27FC236}">
                <a16:creationId xmlns:a16="http://schemas.microsoft.com/office/drawing/2014/main" id="{DD27EFC3-6225-4978-BABB-95B67BF8F0BE}"/>
              </a:ext>
            </a:extLst>
          </p:cNvPr>
          <p:cNvSpPr>
            <a:spLocks noGrp="1"/>
          </p:cNvSpPr>
          <p:nvPr/>
        </p:nvSpPr>
        <p:spPr>
          <a:xfrm>
            <a:off x="6446429" y="5911567"/>
            <a:ext cx="810366" cy="232968"/>
          </a:xfrm>
          <a:prstGeom prst="rect">
            <a:avLst/>
          </a:prstGeom>
          <a:noFill/>
          <a:ln w="0">
            <a:noFill/>
          </a:ln>
        </p:spPr>
        <p:txBody>
          <a:bodyPr wrap="square" lIns="0" tIns="0" rIns="0" bIns="0" anchor="ctr">
            <a:normAutofit/>
          </a:bodyPr>
          <a:lstStyle/>
          <a:p>
            <a:pPr algn="ctr">
              <a:defRPr sz="1206" b="0">
                <a:solidFill>
                  <a:srgbClr val="BA0000"/>
                </a:solidFill>
                <a:latin typeface="Arial"/>
                <a:ea typeface="Arial"/>
                <a:cs typeface="Arial"/>
              </a:defRPr>
            </a:pPr>
            <a:r>
              <a:rPr sz="1206" b="0">
                <a:solidFill>
                  <a:srgbClr val="BA0000"/>
                </a:solidFill>
                <a:latin typeface="Arial"/>
                <a:ea typeface="Arial"/>
                <a:cs typeface="Arial"/>
              </a:rPr>
              <a:t>4.152</a:t>
            </a:r>
          </a:p>
        </p:txBody>
      </p:sp>
      <p:sp>
        <p:nvSpPr>
          <p:cNvPr id="197" name="Rectangle 196">
            <a:extLst>
              <a:ext uri="{FF2B5EF4-FFF2-40B4-BE49-F238E27FC236}">
                <a16:creationId xmlns:a16="http://schemas.microsoft.com/office/drawing/2014/main" id="{67B20BA3-ABD2-4EE8-89D4-8B5D7D61FEC9}"/>
              </a:ext>
            </a:extLst>
          </p:cNvPr>
          <p:cNvSpPr>
            <a:spLocks noGrp="1"/>
          </p:cNvSpPr>
          <p:nvPr/>
        </p:nvSpPr>
        <p:spPr>
          <a:xfrm>
            <a:off x="7278697" y="5904287"/>
            <a:ext cx="854170" cy="247529"/>
          </a:xfrm>
          <a:prstGeom prst="rect">
            <a:avLst/>
          </a:prstGeom>
          <a:solidFill>
            <a:srgbClr val="F9CBCD"/>
          </a:solidFill>
          <a:ln w="5468">
            <a:solidFill>
              <a:srgbClr val="252B2F"/>
            </a:solidFill>
            <a:prstDash val="solid"/>
          </a:ln>
        </p:spPr>
        <p:txBody>
          <a:bodyPr/>
          <a:lstStyle/>
          <a:p>
            <a:endParaRPr lang="th-TH"/>
          </a:p>
        </p:txBody>
      </p:sp>
      <p:sp>
        <p:nvSpPr>
          <p:cNvPr id="198" name="Rectangle 197">
            <a:extLst>
              <a:ext uri="{FF2B5EF4-FFF2-40B4-BE49-F238E27FC236}">
                <a16:creationId xmlns:a16="http://schemas.microsoft.com/office/drawing/2014/main" id="{0B8043A9-76B3-41AD-B2CF-50086DE9757E}"/>
              </a:ext>
            </a:extLst>
          </p:cNvPr>
          <p:cNvSpPr>
            <a:spLocks noGrp="1"/>
          </p:cNvSpPr>
          <p:nvPr/>
        </p:nvSpPr>
        <p:spPr>
          <a:xfrm>
            <a:off x="7300599" y="5911567"/>
            <a:ext cx="810366" cy="232968"/>
          </a:xfrm>
          <a:prstGeom prst="rect">
            <a:avLst/>
          </a:prstGeom>
          <a:noFill/>
          <a:ln w="0">
            <a:noFill/>
          </a:ln>
        </p:spPr>
        <p:txBody>
          <a:bodyPr wrap="square" lIns="0" tIns="0" rIns="0" bIns="0" anchor="ctr">
            <a:normAutofit/>
          </a:bodyPr>
          <a:lstStyle/>
          <a:p>
            <a:pPr algn="ctr">
              <a:defRPr sz="1206" b="0">
                <a:solidFill>
                  <a:srgbClr val="BA0000"/>
                </a:solidFill>
                <a:latin typeface="Arial"/>
                <a:ea typeface="Arial"/>
                <a:cs typeface="Arial"/>
              </a:defRPr>
            </a:pPr>
            <a:r>
              <a:rPr sz="1206" b="0">
                <a:solidFill>
                  <a:srgbClr val="BA0000"/>
                </a:solidFill>
                <a:latin typeface="Arial"/>
                <a:ea typeface="Arial"/>
                <a:cs typeface="Arial"/>
              </a:rPr>
              <a:t>4.167</a:t>
            </a:r>
          </a:p>
        </p:txBody>
      </p:sp>
      <p:sp>
        <p:nvSpPr>
          <p:cNvPr id="199" name="Rectangle 198">
            <a:extLst>
              <a:ext uri="{FF2B5EF4-FFF2-40B4-BE49-F238E27FC236}">
                <a16:creationId xmlns:a16="http://schemas.microsoft.com/office/drawing/2014/main" id="{B7CE67DF-531D-4987-9B5D-2FE23F20112B}"/>
              </a:ext>
            </a:extLst>
          </p:cNvPr>
          <p:cNvSpPr>
            <a:spLocks noGrp="1"/>
          </p:cNvSpPr>
          <p:nvPr/>
        </p:nvSpPr>
        <p:spPr>
          <a:xfrm>
            <a:off x="8132867" y="5904287"/>
            <a:ext cx="1438218" cy="247529"/>
          </a:xfrm>
          <a:prstGeom prst="rect">
            <a:avLst/>
          </a:prstGeom>
          <a:solidFill>
            <a:srgbClr val="FFFFFF"/>
          </a:solidFill>
          <a:ln w="5468">
            <a:solidFill>
              <a:srgbClr val="252B2F"/>
            </a:solidFill>
            <a:prstDash val="solid"/>
          </a:ln>
        </p:spPr>
        <p:txBody>
          <a:bodyPr/>
          <a:lstStyle/>
          <a:p>
            <a:endParaRPr lang="th-TH"/>
          </a:p>
        </p:txBody>
      </p:sp>
      <p:sp>
        <p:nvSpPr>
          <p:cNvPr id="200" name="Rectangle 199">
            <a:extLst>
              <a:ext uri="{FF2B5EF4-FFF2-40B4-BE49-F238E27FC236}">
                <a16:creationId xmlns:a16="http://schemas.microsoft.com/office/drawing/2014/main" id="{59D1C547-DEC3-4AB8-980D-05F9C67A2A65}"/>
              </a:ext>
            </a:extLst>
          </p:cNvPr>
          <p:cNvSpPr>
            <a:spLocks noGrp="1"/>
          </p:cNvSpPr>
          <p:nvPr/>
        </p:nvSpPr>
        <p:spPr>
          <a:xfrm>
            <a:off x="8154769" y="5911567"/>
            <a:ext cx="1394414" cy="232968"/>
          </a:xfrm>
          <a:prstGeom prst="rect">
            <a:avLst/>
          </a:prstGeom>
          <a:noFill/>
          <a:ln w="0">
            <a:noFill/>
          </a:ln>
        </p:spPr>
        <p:txBody>
          <a:bodyPr wrap="square" lIns="0" tIns="0" rIns="0" bIns="0" anchor="ctr">
            <a:normAutofit/>
          </a:bodyPr>
          <a:lstStyle/>
          <a:p>
            <a:pPr algn="ctr">
              <a:defRPr sz="1206" b="0">
                <a:solidFill>
                  <a:srgbClr val="111111"/>
                </a:solidFill>
                <a:latin typeface="Arial"/>
                <a:ea typeface="Arial"/>
                <a:cs typeface="Arial"/>
              </a:defRPr>
            </a:pPr>
            <a:r>
              <a:rPr sz="1206" b="0">
                <a:solidFill>
                  <a:srgbClr val="111111"/>
                </a:solidFill>
                <a:latin typeface="Arial"/>
                <a:ea typeface="Arial"/>
                <a:cs typeface="Arial"/>
              </a:rPr>
              <a:t>FAIL</a:t>
            </a:r>
          </a:p>
        </p:txBody>
      </p:sp>
      <p:sp>
        <p:nvSpPr>
          <p:cNvPr id="201" name="Rectangle 200">
            <a:extLst>
              <a:ext uri="{FF2B5EF4-FFF2-40B4-BE49-F238E27FC236}">
                <a16:creationId xmlns:a16="http://schemas.microsoft.com/office/drawing/2014/main" id="{356DCA1B-BD3F-47BC-9FCD-62335E79F02D}"/>
              </a:ext>
            </a:extLst>
          </p:cNvPr>
          <p:cNvSpPr>
            <a:spLocks noGrp="1"/>
          </p:cNvSpPr>
          <p:nvPr/>
        </p:nvSpPr>
        <p:spPr>
          <a:xfrm>
            <a:off x="6424527" y="6151815"/>
            <a:ext cx="854170" cy="247529"/>
          </a:xfrm>
          <a:prstGeom prst="rect">
            <a:avLst/>
          </a:prstGeom>
          <a:solidFill>
            <a:srgbClr val="CEF3D1"/>
          </a:solidFill>
          <a:ln w="5468">
            <a:solidFill>
              <a:srgbClr val="252B2F"/>
            </a:solidFill>
            <a:prstDash val="solid"/>
          </a:ln>
        </p:spPr>
        <p:txBody>
          <a:bodyPr/>
          <a:lstStyle/>
          <a:p>
            <a:endParaRPr lang="th-TH"/>
          </a:p>
        </p:txBody>
      </p:sp>
      <p:sp>
        <p:nvSpPr>
          <p:cNvPr id="202" name="Rectangle 201">
            <a:extLst>
              <a:ext uri="{FF2B5EF4-FFF2-40B4-BE49-F238E27FC236}">
                <a16:creationId xmlns:a16="http://schemas.microsoft.com/office/drawing/2014/main" id="{B5192089-E4CA-4C23-9E7D-5B7EBBCED683}"/>
              </a:ext>
            </a:extLst>
          </p:cNvPr>
          <p:cNvSpPr>
            <a:spLocks noGrp="1"/>
          </p:cNvSpPr>
          <p:nvPr/>
        </p:nvSpPr>
        <p:spPr>
          <a:xfrm>
            <a:off x="6446429" y="6159096"/>
            <a:ext cx="810366" cy="232968"/>
          </a:xfrm>
          <a:prstGeom prst="rect">
            <a:avLst/>
          </a:prstGeom>
          <a:noFill/>
          <a:ln w="0">
            <a:noFill/>
          </a:ln>
        </p:spPr>
        <p:txBody>
          <a:bodyPr wrap="square" lIns="0" tIns="0" rIns="0" bIns="0" anchor="ctr">
            <a:normAutofit/>
          </a:bodyPr>
          <a:lstStyle/>
          <a:p>
            <a:pPr algn="ctr">
              <a:defRPr sz="1206" b="0">
                <a:solidFill>
                  <a:srgbClr val="008029"/>
                </a:solidFill>
                <a:latin typeface="Arial"/>
                <a:ea typeface="Arial"/>
                <a:cs typeface="Arial"/>
              </a:defRPr>
            </a:pPr>
            <a:r>
              <a:rPr sz="1206" b="0">
                <a:solidFill>
                  <a:srgbClr val="008029"/>
                </a:solidFill>
                <a:latin typeface="Arial"/>
                <a:ea typeface="Arial"/>
                <a:cs typeface="Arial"/>
              </a:rPr>
              <a:t>4.057</a:t>
            </a:r>
          </a:p>
        </p:txBody>
      </p:sp>
      <p:sp>
        <p:nvSpPr>
          <p:cNvPr id="203" name="Rectangle 202">
            <a:extLst>
              <a:ext uri="{FF2B5EF4-FFF2-40B4-BE49-F238E27FC236}">
                <a16:creationId xmlns:a16="http://schemas.microsoft.com/office/drawing/2014/main" id="{BA005998-2701-4EDF-A7D2-803904BADB21}"/>
              </a:ext>
            </a:extLst>
          </p:cNvPr>
          <p:cNvSpPr>
            <a:spLocks noGrp="1"/>
          </p:cNvSpPr>
          <p:nvPr/>
        </p:nvSpPr>
        <p:spPr>
          <a:xfrm>
            <a:off x="7278697" y="6151815"/>
            <a:ext cx="854170" cy="247529"/>
          </a:xfrm>
          <a:prstGeom prst="rect">
            <a:avLst/>
          </a:prstGeom>
          <a:solidFill>
            <a:srgbClr val="CEF3D1"/>
          </a:solidFill>
          <a:ln w="5468">
            <a:solidFill>
              <a:srgbClr val="252B2F"/>
            </a:solidFill>
            <a:prstDash val="solid"/>
          </a:ln>
        </p:spPr>
        <p:txBody>
          <a:bodyPr/>
          <a:lstStyle/>
          <a:p>
            <a:endParaRPr lang="th-TH"/>
          </a:p>
        </p:txBody>
      </p:sp>
      <p:sp>
        <p:nvSpPr>
          <p:cNvPr id="204" name="Rectangle 203">
            <a:extLst>
              <a:ext uri="{FF2B5EF4-FFF2-40B4-BE49-F238E27FC236}">
                <a16:creationId xmlns:a16="http://schemas.microsoft.com/office/drawing/2014/main" id="{B954CC0C-C608-4A00-B0D3-DD38EF1C6487}"/>
              </a:ext>
            </a:extLst>
          </p:cNvPr>
          <p:cNvSpPr>
            <a:spLocks noGrp="1"/>
          </p:cNvSpPr>
          <p:nvPr/>
        </p:nvSpPr>
        <p:spPr>
          <a:xfrm>
            <a:off x="7300599" y="6159096"/>
            <a:ext cx="810366" cy="232968"/>
          </a:xfrm>
          <a:prstGeom prst="rect">
            <a:avLst/>
          </a:prstGeom>
          <a:noFill/>
          <a:ln w="0">
            <a:noFill/>
          </a:ln>
        </p:spPr>
        <p:txBody>
          <a:bodyPr wrap="square" lIns="0" tIns="0" rIns="0" bIns="0" anchor="ctr">
            <a:normAutofit/>
          </a:bodyPr>
          <a:lstStyle/>
          <a:p>
            <a:pPr algn="ctr">
              <a:defRPr sz="1206" b="0">
                <a:solidFill>
                  <a:srgbClr val="008029"/>
                </a:solidFill>
                <a:latin typeface="Arial"/>
                <a:ea typeface="Arial"/>
                <a:cs typeface="Arial"/>
              </a:defRPr>
            </a:pPr>
            <a:r>
              <a:rPr sz="1206" b="0">
                <a:solidFill>
                  <a:srgbClr val="008029"/>
                </a:solidFill>
                <a:latin typeface="Arial"/>
                <a:ea typeface="Arial"/>
                <a:cs typeface="Arial"/>
              </a:rPr>
              <a:t>4.060</a:t>
            </a:r>
          </a:p>
        </p:txBody>
      </p:sp>
      <p:sp>
        <p:nvSpPr>
          <p:cNvPr id="205" name="Rectangle 204">
            <a:extLst>
              <a:ext uri="{FF2B5EF4-FFF2-40B4-BE49-F238E27FC236}">
                <a16:creationId xmlns:a16="http://schemas.microsoft.com/office/drawing/2014/main" id="{394439CD-692C-4CC1-A74B-7DA6D096B3E2}"/>
              </a:ext>
            </a:extLst>
          </p:cNvPr>
          <p:cNvSpPr>
            <a:spLocks noGrp="1"/>
          </p:cNvSpPr>
          <p:nvPr/>
        </p:nvSpPr>
        <p:spPr>
          <a:xfrm>
            <a:off x="8132867" y="6151815"/>
            <a:ext cx="1438218" cy="247529"/>
          </a:xfrm>
          <a:prstGeom prst="rect">
            <a:avLst/>
          </a:prstGeom>
          <a:solidFill>
            <a:srgbClr val="FFFFFF"/>
          </a:solidFill>
          <a:ln w="5468">
            <a:solidFill>
              <a:srgbClr val="252B2F"/>
            </a:solidFill>
            <a:prstDash val="solid"/>
          </a:ln>
        </p:spPr>
        <p:txBody>
          <a:bodyPr/>
          <a:lstStyle/>
          <a:p>
            <a:endParaRPr lang="th-TH"/>
          </a:p>
        </p:txBody>
      </p:sp>
      <p:sp>
        <p:nvSpPr>
          <p:cNvPr id="206" name="Rectangle 205">
            <a:extLst>
              <a:ext uri="{FF2B5EF4-FFF2-40B4-BE49-F238E27FC236}">
                <a16:creationId xmlns:a16="http://schemas.microsoft.com/office/drawing/2014/main" id="{17996530-D5C5-4665-8449-D58559DFC1D1}"/>
              </a:ext>
            </a:extLst>
          </p:cNvPr>
          <p:cNvSpPr>
            <a:spLocks noGrp="1"/>
          </p:cNvSpPr>
          <p:nvPr/>
        </p:nvSpPr>
        <p:spPr>
          <a:xfrm>
            <a:off x="8154769" y="6159096"/>
            <a:ext cx="1394414" cy="232968"/>
          </a:xfrm>
          <a:prstGeom prst="rect">
            <a:avLst/>
          </a:prstGeom>
          <a:noFill/>
          <a:ln w="0">
            <a:noFill/>
          </a:ln>
        </p:spPr>
        <p:txBody>
          <a:bodyPr wrap="square" lIns="0" tIns="0" rIns="0" bIns="0" anchor="ctr">
            <a:normAutofit/>
          </a:bodyPr>
          <a:lstStyle/>
          <a:p>
            <a:pPr algn="ctr">
              <a:defRPr sz="1206" b="0">
                <a:solidFill>
                  <a:srgbClr val="111111"/>
                </a:solidFill>
                <a:latin typeface="Arial"/>
                <a:ea typeface="Arial"/>
                <a:cs typeface="Arial"/>
              </a:defRPr>
            </a:pPr>
            <a:r>
              <a:rPr sz="1206" b="0">
                <a:solidFill>
                  <a:srgbClr val="111111"/>
                </a:solidFill>
                <a:latin typeface="Arial"/>
                <a:ea typeface="Arial"/>
                <a:cs typeface="Arial"/>
              </a:rPr>
              <a:t>FAIL</a:t>
            </a:r>
          </a:p>
        </p:txBody>
      </p:sp>
      <p:sp>
        <p:nvSpPr>
          <p:cNvPr id="207" name="Rectangle 206">
            <a:extLst>
              <a:ext uri="{FF2B5EF4-FFF2-40B4-BE49-F238E27FC236}">
                <a16:creationId xmlns:a16="http://schemas.microsoft.com/office/drawing/2014/main" id="{FB82977E-EEEC-4D90-8731-02B3261FA282}"/>
              </a:ext>
            </a:extLst>
          </p:cNvPr>
          <p:cNvSpPr>
            <a:spLocks noGrp="1"/>
          </p:cNvSpPr>
          <p:nvPr/>
        </p:nvSpPr>
        <p:spPr>
          <a:xfrm>
            <a:off x="6424527" y="5161701"/>
            <a:ext cx="3146558" cy="247529"/>
          </a:xfrm>
          <a:prstGeom prst="rect">
            <a:avLst/>
          </a:prstGeom>
          <a:noFill/>
          <a:ln w="18226">
            <a:solidFill>
              <a:srgbClr val="EA1010"/>
            </a:solidFill>
            <a:prstDash val="solid"/>
          </a:ln>
        </p:spPr>
        <p:txBody>
          <a:bodyPr/>
          <a:lstStyle/>
          <a:p>
            <a:endParaRPr lang="th-TH"/>
          </a:p>
        </p:txBody>
      </p:sp>
      <p:sp>
        <p:nvSpPr>
          <p:cNvPr id="208" name="Rectangle 207">
            <a:extLst>
              <a:ext uri="{FF2B5EF4-FFF2-40B4-BE49-F238E27FC236}">
                <a16:creationId xmlns:a16="http://schemas.microsoft.com/office/drawing/2014/main" id="{7B8BE2D3-DCE9-402F-9E98-B192E6F30275}"/>
              </a:ext>
            </a:extLst>
          </p:cNvPr>
          <p:cNvSpPr>
            <a:spLocks noGrp="1"/>
          </p:cNvSpPr>
          <p:nvPr/>
        </p:nvSpPr>
        <p:spPr>
          <a:xfrm>
            <a:off x="6424527" y="6151815"/>
            <a:ext cx="3146558" cy="247529"/>
          </a:xfrm>
          <a:prstGeom prst="rect">
            <a:avLst/>
          </a:prstGeom>
          <a:noFill/>
          <a:ln w="18226">
            <a:solidFill>
              <a:srgbClr val="EA1010"/>
            </a:solidFill>
            <a:prstDash val="solid"/>
          </a:ln>
        </p:spPr>
        <p:txBody>
          <a:bodyPr/>
          <a:lstStyle/>
          <a:p>
            <a:endParaRPr lang="th-TH"/>
          </a:p>
        </p:txBody>
      </p:sp>
      <p:sp>
        <p:nvSpPr>
          <p:cNvPr id="209" name="Rectangle: Rounded Corners 208">
            <a:extLst>
              <a:ext uri="{FF2B5EF4-FFF2-40B4-BE49-F238E27FC236}">
                <a16:creationId xmlns:a16="http://schemas.microsoft.com/office/drawing/2014/main" id="{A73B2D13-BAF3-4363-ADDA-2DCC9FC2B9E5}"/>
              </a:ext>
            </a:extLst>
          </p:cNvPr>
          <p:cNvSpPr>
            <a:spLocks noGrp="1"/>
          </p:cNvSpPr>
          <p:nvPr/>
        </p:nvSpPr>
        <p:spPr>
          <a:xfrm>
            <a:off x="9987219" y="4921452"/>
            <a:ext cx="1715641" cy="582420"/>
          </a:xfrm>
          <a:prstGeom prst="roundRect">
            <a:avLst>
              <a:gd name="adj" fmla="val 8762"/>
            </a:avLst>
          </a:prstGeom>
          <a:solidFill>
            <a:srgbClr val="FAD5D7"/>
          </a:solidFill>
          <a:ln w="0">
            <a:noFill/>
            <a:prstDash val="solid"/>
          </a:ln>
        </p:spPr>
        <p:txBody>
          <a:bodyPr/>
          <a:lstStyle/>
          <a:p>
            <a:endParaRPr lang="th-TH"/>
          </a:p>
        </p:txBody>
      </p:sp>
      <p:sp>
        <p:nvSpPr>
          <p:cNvPr id="210" name="Rectangle 209">
            <a:extLst>
              <a:ext uri="{FF2B5EF4-FFF2-40B4-BE49-F238E27FC236}">
                <a16:creationId xmlns:a16="http://schemas.microsoft.com/office/drawing/2014/main" id="{C4DC4A5C-5712-4B1C-8159-306A93739AAA}"/>
              </a:ext>
            </a:extLst>
          </p:cNvPr>
          <p:cNvSpPr>
            <a:spLocks noGrp="1"/>
          </p:cNvSpPr>
          <p:nvPr/>
        </p:nvSpPr>
        <p:spPr>
          <a:xfrm>
            <a:off x="10118630" y="4979694"/>
            <a:ext cx="1533126" cy="473217"/>
          </a:xfrm>
          <a:prstGeom prst="rect">
            <a:avLst/>
          </a:prstGeom>
          <a:noFill/>
          <a:ln w="0">
            <a:noFill/>
          </a:ln>
        </p:spPr>
        <p:txBody>
          <a:bodyPr wrap="square" lIns="0" tIns="0" rIns="0" bIns="0" anchor="t">
            <a:normAutofit fontScale="94870"/>
          </a:bodyPr>
          <a:lstStyle/>
          <a:p>
            <a:pPr algn="l">
              <a:defRPr sz="1091" b="0">
                <a:solidFill>
                  <a:srgbClr val="B90000"/>
                </a:solidFill>
                <a:latin typeface="Arial"/>
                <a:ea typeface="Arial"/>
                <a:cs typeface="Arial"/>
              </a:defRPr>
            </a:pPr>
            <a:r>
              <a:rPr sz="1091" b="0">
                <a:solidFill>
                  <a:srgbClr val="B90000"/>
                </a:solidFill>
                <a:latin typeface="Arial"/>
                <a:ea typeface="Arial"/>
                <a:cs typeface="Arial"/>
              </a:rPr>
              <a:t>Result recorded as FAIL</a:t>
            </a:r>
          </a:p>
          <a:p>
            <a:pPr algn="l">
              <a:defRPr sz="1091" b="0">
                <a:solidFill>
                  <a:srgbClr val="B90000"/>
                </a:solidFill>
                <a:latin typeface="Arial"/>
                <a:ea typeface="Arial"/>
                <a:cs typeface="Arial"/>
              </a:defRPr>
            </a:pPr>
            <a:r>
              <a:rPr sz="1091" b="0">
                <a:solidFill>
                  <a:srgbClr val="B90000"/>
                </a:solidFill>
                <a:latin typeface="Arial"/>
                <a:ea typeface="Arial"/>
                <a:cs typeface="Arial"/>
              </a:rPr>
              <a:t>even though the value</a:t>
            </a:r>
          </a:p>
          <a:p>
            <a:pPr algn="l">
              <a:defRPr sz="1091" b="0">
                <a:solidFill>
                  <a:srgbClr val="B90000"/>
                </a:solidFill>
                <a:latin typeface="Arial"/>
                <a:ea typeface="Arial"/>
                <a:cs typeface="Arial"/>
              </a:defRPr>
            </a:pPr>
            <a:r>
              <a:rPr sz="1091" b="0">
                <a:solidFill>
                  <a:srgbClr val="B90000"/>
                </a:solidFill>
                <a:latin typeface="Arial"/>
                <a:ea typeface="Arial"/>
                <a:cs typeface="Arial"/>
              </a:rPr>
              <a:t>is within range</a:t>
            </a:r>
          </a:p>
        </p:txBody>
      </p:sp>
      <p:sp>
        <p:nvSpPr>
          <p:cNvPr id="211" name="Rectangle: Rounded Corners 210">
            <a:extLst>
              <a:ext uri="{FF2B5EF4-FFF2-40B4-BE49-F238E27FC236}">
                <a16:creationId xmlns:a16="http://schemas.microsoft.com/office/drawing/2014/main" id="{3D7F9241-FBB9-4F95-ACD7-D70900D5D76C}"/>
              </a:ext>
            </a:extLst>
          </p:cNvPr>
          <p:cNvSpPr>
            <a:spLocks noGrp="1"/>
          </p:cNvSpPr>
          <p:nvPr/>
        </p:nvSpPr>
        <p:spPr>
          <a:xfrm>
            <a:off x="9987219" y="5816924"/>
            <a:ext cx="1715641" cy="589701"/>
          </a:xfrm>
          <a:prstGeom prst="roundRect">
            <a:avLst>
              <a:gd name="adj" fmla="val 8654"/>
            </a:avLst>
          </a:prstGeom>
          <a:solidFill>
            <a:srgbClr val="FAD5D7"/>
          </a:solidFill>
          <a:ln w="0">
            <a:noFill/>
            <a:prstDash val="solid"/>
          </a:ln>
        </p:spPr>
        <p:txBody>
          <a:bodyPr/>
          <a:lstStyle/>
          <a:p>
            <a:endParaRPr lang="th-TH"/>
          </a:p>
        </p:txBody>
      </p:sp>
      <p:sp>
        <p:nvSpPr>
          <p:cNvPr id="212" name="Rectangle 211">
            <a:extLst>
              <a:ext uri="{FF2B5EF4-FFF2-40B4-BE49-F238E27FC236}">
                <a16:creationId xmlns:a16="http://schemas.microsoft.com/office/drawing/2014/main" id="{75919092-F9C2-461E-BCB2-BA7F4CB484DE}"/>
              </a:ext>
            </a:extLst>
          </p:cNvPr>
          <p:cNvSpPr>
            <a:spLocks noGrp="1"/>
          </p:cNvSpPr>
          <p:nvPr/>
        </p:nvSpPr>
        <p:spPr>
          <a:xfrm>
            <a:off x="10118630" y="5875166"/>
            <a:ext cx="1533126" cy="473217"/>
          </a:xfrm>
          <a:prstGeom prst="rect">
            <a:avLst/>
          </a:prstGeom>
          <a:noFill/>
          <a:ln w="0">
            <a:noFill/>
          </a:ln>
        </p:spPr>
        <p:txBody>
          <a:bodyPr wrap="square" lIns="0" tIns="0" rIns="0" bIns="0" anchor="t">
            <a:normAutofit fontScale="94870"/>
          </a:bodyPr>
          <a:lstStyle/>
          <a:p>
            <a:pPr algn="l">
              <a:defRPr sz="1091" b="0">
                <a:solidFill>
                  <a:srgbClr val="B90000"/>
                </a:solidFill>
                <a:latin typeface="Arial"/>
                <a:ea typeface="Arial"/>
                <a:cs typeface="Arial"/>
              </a:defRPr>
            </a:pPr>
            <a:r>
              <a:rPr sz="1091" b="0">
                <a:solidFill>
                  <a:srgbClr val="B90000"/>
                </a:solidFill>
                <a:latin typeface="Arial"/>
                <a:ea typeface="Arial"/>
                <a:cs typeface="Arial"/>
              </a:rPr>
              <a:t>Result recorded as FAIL</a:t>
            </a:r>
          </a:p>
          <a:p>
            <a:pPr algn="l">
              <a:defRPr sz="1091" b="0">
                <a:solidFill>
                  <a:srgbClr val="B90000"/>
                </a:solidFill>
                <a:latin typeface="Arial"/>
                <a:ea typeface="Arial"/>
                <a:cs typeface="Arial"/>
              </a:defRPr>
            </a:pPr>
            <a:r>
              <a:rPr sz="1091" b="0">
                <a:solidFill>
                  <a:srgbClr val="B90000"/>
                </a:solidFill>
                <a:latin typeface="Arial"/>
                <a:ea typeface="Arial"/>
                <a:cs typeface="Arial"/>
              </a:rPr>
              <a:t>even though the value</a:t>
            </a:r>
          </a:p>
          <a:p>
            <a:pPr algn="l">
              <a:defRPr sz="1091" b="0">
                <a:solidFill>
                  <a:srgbClr val="B90000"/>
                </a:solidFill>
                <a:latin typeface="Arial"/>
                <a:ea typeface="Arial"/>
                <a:cs typeface="Arial"/>
              </a:defRPr>
            </a:pPr>
            <a:r>
              <a:rPr sz="1091" b="0">
                <a:solidFill>
                  <a:srgbClr val="B90000"/>
                </a:solidFill>
                <a:latin typeface="Arial"/>
                <a:ea typeface="Arial"/>
                <a:cs typeface="Arial"/>
              </a:rPr>
              <a:t>is within range</a:t>
            </a:r>
          </a:p>
        </p:txBody>
      </p:sp>
      <p:sp>
        <p:nvSpPr>
          <p:cNvPr id="213" name="Straight Connector 212">
            <a:extLst>
              <a:ext uri="{FF2B5EF4-FFF2-40B4-BE49-F238E27FC236}">
                <a16:creationId xmlns:a16="http://schemas.microsoft.com/office/drawing/2014/main" id="{636C6AB6-BD71-43B5-8BDC-CC0299427E26}"/>
              </a:ext>
            </a:extLst>
          </p:cNvPr>
          <p:cNvSpPr>
            <a:spLocks noGrp="1"/>
          </p:cNvSpPr>
          <p:nvPr/>
        </p:nvSpPr>
        <p:spPr>
          <a:xfrm flipH="1">
            <a:off x="9636790" y="5190822"/>
            <a:ext cx="343128" cy="87363"/>
          </a:xfrm>
          <a:prstGeom prst="line">
            <a:avLst/>
          </a:prstGeom>
          <a:noFill/>
          <a:ln w="14581">
            <a:solidFill>
              <a:srgbClr val="B90000"/>
            </a:solidFill>
            <a:prstDash val="solid"/>
          </a:ln>
        </p:spPr>
        <p:txBody>
          <a:bodyPr/>
          <a:lstStyle/>
          <a:p>
            <a:endParaRPr lang="th-TH"/>
          </a:p>
        </p:txBody>
      </p:sp>
      <p:sp>
        <p:nvSpPr>
          <p:cNvPr id="214" name="Isosceles Triangle 213">
            <a:extLst>
              <a:ext uri="{FF2B5EF4-FFF2-40B4-BE49-F238E27FC236}">
                <a16:creationId xmlns:a16="http://schemas.microsoft.com/office/drawing/2014/main" id="{BBD858EB-A217-4250-8547-F5F854750C99}"/>
              </a:ext>
            </a:extLst>
          </p:cNvPr>
          <p:cNvSpPr>
            <a:spLocks noGrp="1"/>
          </p:cNvSpPr>
          <p:nvPr/>
        </p:nvSpPr>
        <p:spPr>
          <a:xfrm rot="16200000">
            <a:off x="9578386" y="5234503"/>
            <a:ext cx="94908" cy="94643"/>
          </a:xfrm>
          <a:prstGeom prst="triangle">
            <a:avLst/>
          </a:prstGeom>
          <a:solidFill>
            <a:srgbClr val="B90000"/>
          </a:solidFill>
          <a:ln w="0">
            <a:noFill/>
          </a:ln>
        </p:spPr>
        <p:txBody>
          <a:bodyPr/>
          <a:lstStyle/>
          <a:p>
            <a:endParaRPr lang="th-TH"/>
          </a:p>
        </p:txBody>
      </p:sp>
      <p:sp>
        <p:nvSpPr>
          <p:cNvPr id="215" name="Straight Connector 214">
            <a:extLst>
              <a:ext uri="{FF2B5EF4-FFF2-40B4-BE49-F238E27FC236}">
                <a16:creationId xmlns:a16="http://schemas.microsoft.com/office/drawing/2014/main" id="{1D291373-C95A-4578-A2EE-2665CDCEC7E8}"/>
              </a:ext>
            </a:extLst>
          </p:cNvPr>
          <p:cNvSpPr>
            <a:spLocks noGrp="1"/>
          </p:cNvSpPr>
          <p:nvPr/>
        </p:nvSpPr>
        <p:spPr>
          <a:xfrm flipH="1">
            <a:off x="9636790" y="6093573"/>
            <a:ext cx="343128" cy="123764"/>
          </a:xfrm>
          <a:prstGeom prst="line">
            <a:avLst/>
          </a:prstGeom>
          <a:noFill/>
          <a:ln w="14581">
            <a:solidFill>
              <a:srgbClr val="B90000"/>
            </a:solidFill>
            <a:prstDash val="solid"/>
          </a:ln>
        </p:spPr>
        <p:txBody>
          <a:bodyPr/>
          <a:lstStyle/>
          <a:p>
            <a:endParaRPr lang="th-TH"/>
          </a:p>
        </p:txBody>
      </p:sp>
      <p:sp>
        <p:nvSpPr>
          <p:cNvPr id="216" name="Isosceles Triangle 215">
            <a:extLst>
              <a:ext uri="{FF2B5EF4-FFF2-40B4-BE49-F238E27FC236}">
                <a16:creationId xmlns:a16="http://schemas.microsoft.com/office/drawing/2014/main" id="{59A89DC3-17EE-4359-959A-6BC99E22B790}"/>
              </a:ext>
            </a:extLst>
          </p:cNvPr>
          <p:cNvSpPr>
            <a:spLocks noGrp="1"/>
          </p:cNvSpPr>
          <p:nvPr/>
        </p:nvSpPr>
        <p:spPr>
          <a:xfrm rot="16200000">
            <a:off x="9578386" y="6173656"/>
            <a:ext cx="94908" cy="94643"/>
          </a:xfrm>
          <a:prstGeom prst="triangle">
            <a:avLst/>
          </a:prstGeom>
          <a:solidFill>
            <a:srgbClr val="B90000"/>
          </a:solidFill>
          <a:ln w="0">
            <a:noFill/>
          </a:ln>
        </p:spPr>
        <p:txBody>
          <a:bodyPr/>
          <a:lstStyle/>
          <a:p>
            <a:endParaRPr lang="th-TH"/>
          </a:p>
        </p:txBody>
      </p:sp>
      <p:sp>
        <p:nvSpPr>
          <p:cNvPr id="217" name="Rectangle 216">
            <a:extLst>
              <a:ext uri="{FF2B5EF4-FFF2-40B4-BE49-F238E27FC236}">
                <a16:creationId xmlns:a16="http://schemas.microsoft.com/office/drawing/2014/main" id="{BDFB75FF-3D8E-4992-B64F-DCC20CECAA9A}"/>
              </a:ext>
            </a:extLst>
          </p:cNvPr>
          <p:cNvSpPr>
            <a:spLocks noGrp="1"/>
          </p:cNvSpPr>
          <p:nvPr/>
        </p:nvSpPr>
        <p:spPr>
          <a:xfrm>
            <a:off x="0" y="6683274"/>
            <a:ext cx="12192000" cy="174726"/>
          </a:xfrm>
          <a:prstGeom prst="rect">
            <a:avLst/>
          </a:prstGeom>
          <a:solidFill>
            <a:srgbClr val="0A64A8"/>
          </a:solidFill>
          <a:ln w="0">
            <a:noFill/>
            <a:prstDash val="solid"/>
          </a:ln>
        </p:spPr>
        <p:txBody>
          <a:bodyPr/>
          <a:lstStyle/>
          <a:p>
            <a:endParaRPr lang="th-TH"/>
          </a:p>
        </p:txBody>
      </p:sp>
      <p:pic>
        <p:nvPicPr>
          <p:cNvPr id="6" name="Picture 2" descr="Analog Devices | Disruptive Technology for Clinical Trials">
            <a:extLst>
              <a:ext uri="{FF2B5EF4-FFF2-40B4-BE49-F238E27FC236}">
                <a16:creationId xmlns:a16="http://schemas.microsoft.com/office/drawing/2014/main" id="{8E5DDC7A-6D9A-E20C-C638-F1ADB5D263C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4" name="Picture 2" descr="LOGO_ENkku_color – Faculty of Engineering , Khon Kaen University">
            <a:extLst>
              <a:ext uri="{FF2B5EF4-FFF2-40B4-BE49-F238E27FC236}">
                <a16:creationId xmlns:a16="http://schemas.microsoft.com/office/drawing/2014/main" id="{B40286F0-7911-176E-CF35-E2D98F02037E}"/>
              </a:ext>
            </a:extLst>
          </p:cNvPr>
          <p:cNvPicPr>
            <a:picLocks noChangeAspect="1"/>
          </p:cNvPicPr>
          <p:nvPr/>
        </p:nvPicPr>
        <p:blipFill rotWithShape="1">
          <a:blip r:embed="rId9">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0415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6777159-0DFB-F160-9FE0-087FB8DA7FEA}"/>
            </a:ext>
          </a:extLst>
        </p:cNvPr>
        <p:cNvGrpSpPr/>
        <p:nvPr/>
      </p:nvGrpSpPr>
      <p:grpSpPr>
        <a:xfrm>
          <a:off x="0" y="0"/>
          <a:ext cx="0" cy="0"/>
          <a:chOff x="0" y="0"/>
          <a:chExt cx="0" cy="0"/>
        </a:xfrm>
      </p:grpSpPr>
      <p:sp>
        <p:nvSpPr>
          <p:cNvPr id="23" name="สี่เหลี่ยมผืนผ้า 22">
            <a:extLst>
              <a:ext uri="{FF2B5EF4-FFF2-40B4-BE49-F238E27FC236}">
                <a16:creationId xmlns:a16="http://schemas.microsoft.com/office/drawing/2014/main" id="{F4F915B6-7171-A8AF-D784-3EEEDE0F08A2}"/>
              </a:ext>
            </a:extLst>
          </p:cNvPr>
          <p:cNvSpPr/>
          <p:nvPr/>
        </p:nvSpPr>
        <p:spPr>
          <a:xfrm>
            <a:off x="761999" y="2478932"/>
            <a:ext cx="5447415" cy="668555"/>
          </a:xfrm>
          <a:prstGeom prst="rect">
            <a:avLst/>
          </a:prstGeom>
          <a:solidFill>
            <a:srgbClr val="FBE3D6">
              <a:alpha val="1803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1" name="กล่องข้อความ 20">
            <a:extLst>
              <a:ext uri="{FF2B5EF4-FFF2-40B4-BE49-F238E27FC236}">
                <a16:creationId xmlns:a16="http://schemas.microsoft.com/office/drawing/2014/main" id="{2983A760-450D-51A0-9732-7E90FCC305D8}"/>
              </a:ext>
            </a:extLst>
          </p:cNvPr>
          <p:cNvSpPr txBox="1"/>
          <p:nvPr/>
        </p:nvSpPr>
        <p:spPr>
          <a:xfrm>
            <a:off x="761999" y="1873275"/>
            <a:ext cx="5939743" cy="461665"/>
          </a:xfrm>
          <a:prstGeom prst="rect">
            <a:avLst/>
          </a:prstGeom>
          <a:noFill/>
        </p:spPr>
        <p:txBody>
          <a:bodyPr wrap="square">
            <a:spAutoFit/>
          </a:bodyPr>
          <a:lstStyle/>
          <a:p>
            <a:r>
              <a:rPr lang="en-US" sz="2400" b="1" dirty="0">
                <a:solidFill>
                  <a:schemeClr val="accent3"/>
                </a:solidFill>
                <a:latin typeface="Helvetica" panose="020B0604020202020204" pitchFamily="34" charset="0"/>
              </a:rPr>
              <a:t>Data Management</a:t>
            </a:r>
            <a:endParaRPr lang="th-TH" sz="2400" b="1" dirty="0">
              <a:solidFill>
                <a:schemeClr val="accent3"/>
              </a:solidFill>
              <a:latin typeface="Helvetica" panose="020B0604020202020204" pitchFamily="34" charset="0"/>
            </a:endParaRPr>
          </a:p>
        </p:txBody>
      </p:sp>
      <p:pic>
        <p:nvPicPr>
          <p:cNvPr id="3" name="รูปภาพ 2">
            <a:extLst>
              <a:ext uri="{FF2B5EF4-FFF2-40B4-BE49-F238E27FC236}">
                <a16:creationId xmlns:a16="http://schemas.microsoft.com/office/drawing/2014/main" id="{A28FDBFF-874E-0BA7-F96F-28E016F6DC22}"/>
              </a:ext>
            </a:extLst>
          </p:cNvPr>
          <p:cNvPicPr>
            <a:picLocks noChangeAspect="1"/>
          </p:cNvPicPr>
          <p:nvPr/>
        </p:nvPicPr>
        <p:blipFill>
          <a:blip r:embed="rId3"/>
          <a:srcRect r="19253"/>
          <a:stretch>
            <a:fillRect/>
          </a:stretch>
        </p:blipFill>
        <p:spPr>
          <a:xfrm>
            <a:off x="6701742" y="1895510"/>
            <a:ext cx="4592256" cy="3486718"/>
          </a:xfrm>
          <a:prstGeom prst="rect">
            <a:avLst/>
          </a:prstGeom>
        </p:spPr>
      </p:pic>
      <p:sp>
        <p:nvSpPr>
          <p:cNvPr id="6" name="สี่เหลี่ยมผืนผ้า 5">
            <a:extLst>
              <a:ext uri="{FF2B5EF4-FFF2-40B4-BE49-F238E27FC236}">
                <a16:creationId xmlns:a16="http://schemas.microsoft.com/office/drawing/2014/main" id="{6A70F70B-E1AE-508A-783C-B6B33A7B1962}"/>
              </a:ext>
            </a:extLst>
          </p:cNvPr>
          <p:cNvSpPr/>
          <p:nvPr/>
        </p:nvSpPr>
        <p:spPr>
          <a:xfrm>
            <a:off x="7366946" y="5177545"/>
            <a:ext cx="3927052" cy="275303"/>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8" name="สี่เหลี่ยมผืนผ้า 7">
            <a:extLst>
              <a:ext uri="{FF2B5EF4-FFF2-40B4-BE49-F238E27FC236}">
                <a16:creationId xmlns:a16="http://schemas.microsoft.com/office/drawing/2014/main" id="{9F724738-5CFA-B560-822A-10A05F1F6291}"/>
              </a:ext>
            </a:extLst>
          </p:cNvPr>
          <p:cNvSpPr/>
          <p:nvPr/>
        </p:nvSpPr>
        <p:spPr>
          <a:xfrm>
            <a:off x="6959840" y="2088577"/>
            <a:ext cx="4050889" cy="21999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6" name="กล่องข้อความ 15">
            <a:extLst>
              <a:ext uri="{FF2B5EF4-FFF2-40B4-BE49-F238E27FC236}">
                <a16:creationId xmlns:a16="http://schemas.microsoft.com/office/drawing/2014/main" id="{789C5771-B566-9E42-A79B-2C68297D69A0}"/>
              </a:ext>
            </a:extLst>
          </p:cNvPr>
          <p:cNvSpPr txBox="1">
            <a:spLocks/>
          </p:cNvSpPr>
          <p:nvPr/>
        </p:nvSpPr>
        <p:spPr>
          <a:xfrm>
            <a:off x="761999" y="597115"/>
            <a:ext cx="3653733" cy="523220"/>
          </a:xfrm>
          <a:prstGeom prst="rect">
            <a:avLst/>
          </a:prstGeom>
          <a:noFill/>
        </p:spPr>
        <p:txBody>
          <a:bodyPr wrap="square" rtlCol="0">
            <a:spAutoFit/>
          </a:bodyPr>
          <a:lstStyle/>
          <a:p>
            <a:r>
              <a:rPr lang="en-US" b="1" dirty="0">
                <a:solidFill>
                  <a:srgbClr val="002060"/>
                </a:solidFill>
                <a:latin typeface="Helvetica" panose="020B0604020202020204" pitchFamily="34" charset="0"/>
                <a:cs typeface="Helvetica" panose="020B0604020202020204" pitchFamily="34" charset="0"/>
              </a:rPr>
              <a:t>Problem Statements</a:t>
            </a:r>
            <a:endParaRPr lang="th-TH" b="1" dirty="0">
              <a:solidFill>
                <a:srgbClr val="002060"/>
              </a:solidFill>
              <a:latin typeface="Helvetica" panose="020B0604020202020204" pitchFamily="34" charset="0"/>
              <a:cs typeface="Mitr" panose="00000500000000000000" pitchFamily="2" charset="-34"/>
            </a:endParaRPr>
          </a:p>
        </p:txBody>
      </p:sp>
      <p:pic>
        <p:nvPicPr>
          <p:cNvPr id="20" name="Picture 2" descr="Analog Devices | Disruptive Technology for Clinical Trials">
            <a:extLst>
              <a:ext uri="{FF2B5EF4-FFF2-40B4-BE49-F238E27FC236}">
                <a16:creationId xmlns:a16="http://schemas.microsoft.com/office/drawing/2014/main" id="{1AD4F5AD-635C-F519-73DA-F555BD01ED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4" name="Picture 2" descr="LOGO_ENkku_color – Faculty of Engineering , Khon Kaen University">
            <a:extLst>
              <a:ext uri="{FF2B5EF4-FFF2-40B4-BE49-F238E27FC236}">
                <a16:creationId xmlns:a16="http://schemas.microsoft.com/office/drawing/2014/main" id="{41F286A8-5BB5-9CE5-536B-A576D85AB39A}"/>
              </a:ext>
            </a:extLst>
          </p:cNvPr>
          <p:cNvPicPr>
            <a:picLocks noChangeAspect="1"/>
          </p:cNvPicPr>
          <p:nvPr/>
        </p:nvPicPr>
        <p:blipFill rotWithShape="1">
          <a:blip r:embed="rId5">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28" name="กล่องข้อความ 27">
            <a:extLst>
              <a:ext uri="{FF2B5EF4-FFF2-40B4-BE49-F238E27FC236}">
                <a16:creationId xmlns:a16="http://schemas.microsoft.com/office/drawing/2014/main" id="{A94E6257-CAF0-3BF7-D89B-CF8A5562AD42}"/>
              </a:ext>
            </a:extLst>
          </p:cNvPr>
          <p:cNvSpPr txBox="1"/>
          <p:nvPr/>
        </p:nvSpPr>
        <p:spPr>
          <a:xfrm>
            <a:off x="6701742" y="1555302"/>
            <a:ext cx="3061913" cy="338554"/>
          </a:xfrm>
          <a:prstGeom prst="rect">
            <a:avLst/>
          </a:prstGeom>
          <a:noFill/>
        </p:spPr>
        <p:txBody>
          <a:bodyPr wrap="square">
            <a:spAutoFit/>
          </a:bodyPr>
          <a:lstStyle/>
          <a:p>
            <a:pPr algn="ctr"/>
            <a:r>
              <a:rPr lang="en-US" sz="1600" b="1" dirty="0">
                <a:solidFill>
                  <a:srgbClr val="C00000"/>
                </a:solidFill>
                <a:latin typeface="Helvetica" panose="020B0604020202020204" pitchFamily="34" charset="0"/>
                <a:cs typeface="Helvetica" panose="020B0604020202020204" pitchFamily="34" charset="0"/>
              </a:rPr>
              <a:t>Missing Column Headers</a:t>
            </a:r>
            <a:endParaRPr lang="en-US" sz="1600" dirty="0">
              <a:solidFill>
                <a:srgbClr val="C00000"/>
              </a:solidFill>
              <a:latin typeface="Helvetica" panose="020B0604020202020204" pitchFamily="34" charset="0"/>
              <a:cs typeface="Helvetica" panose="020B0604020202020204" pitchFamily="34" charset="0"/>
            </a:endParaRPr>
          </a:p>
        </p:txBody>
      </p:sp>
      <p:sp>
        <p:nvSpPr>
          <p:cNvPr id="30" name="กล่องข้อความ 29">
            <a:extLst>
              <a:ext uri="{FF2B5EF4-FFF2-40B4-BE49-F238E27FC236}">
                <a16:creationId xmlns:a16="http://schemas.microsoft.com/office/drawing/2014/main" id="{EA3FEBF6-4620-DDEF-548D-F400AC5ED6E9}"/>
              </a:ext>
            </a:extLst>
          </p:cNvPr>
          <p:cNvSpPr txBox="1"/>
          <p:nvPr/>
        </p:nvSpPr>
        <p:spPr>
          <a:xfrm>
            <a:off x="6630085" y="5639639"/>
            <a:ext cx="4224605" cy="338554"/>
          </a:xfrm>
          <a:prstGeom prst="rect">
            <a:avLst/>
          </a:prstGeom>
          <a:noFill/>
        </p:spPr>
        <p:txBody>
          <a:bodyPr wrap="square">
            <a:spAutoFit/>
          </a:bodyPr>
          <a:lstStyle/>
          <a:p>
            <a:r>
              <a:rPr lang="en-US" sz="1600" b="1" dirty="0">
                <a:solidFill>
                  <a:srgbClr val="C00000"/>
                </a:solidFill>
                <a:latin typeface="Helvetica" panose="020B0604020202020204" pitchFamily="34" charset="0"/>
                <a:cs typeface="Helvetica" panose="020B0604020202020204" pitchFamily="34" charset="0"/>
              </a:rPr>
              <a:t>Sheet Naming — No Standardized Format</a:t>
            </a:r>
            <a:endParaRPr lang="en-US" sz="1600" dirty="0">
              <a:solidFill>
                <a:srgbClr val="C00000"/>
              </a:solidFill>
              <a:latin typeface="Helvetica" panose="020B0604020202020204" pitchFamily="34" charset="0"/>
              <a:cs typeface="Helvetica" panose="020B0604020202020204" pitchFamily="34" charset="0"/>
            </a:endParaRPr>
          </a:p>
        </p:txBody>
      </p:sp>
      <p:cxnSp>
        <p:nvCxnSpPr>
          <p:cNvPr id="35" name="ตัวเชื่อมต่อ: หักมุม 34">
            <a:extLst>
              <a:ext uri="{FF2B5EF4-FFF2-40B4-BE49-F238E27FC236}">
                <a16:creationId xmlns:a16="http://schemas.microsoft.com/office/drawing/2014/main" id="{F3755B98-5E23-FDCD-EF7F-D71EB5891B5C}"/>
              </a:ext>
            </a:extLst>
          </p:cNvPr>
          <p:cNvCxnSpPr>
            <a:cxnSpLocks/>
          </p:cNvCxnSpPr>
          <p:nvPr/>
        </p:nvCxnSpPr>
        <p:spPr>
          <a:xfrm>
            <a:off x="9565535" y="1724579"/>
            <a:ext cx="330305" cy="363998"/>
          </a:xfrm>
          <a:prstGeom prst="bent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38" name="ตัวเชื่อมต่อ: หักมุม 37">
            <a:extLst>
              <a:ext uri="{FF2B5EF4-FFF2-40B4-BE49-F238E27FC236}">
                <a16:creationId xmlns:a16="http://schemas.microsoft.com/office/drawing/2014/main" id="{F63C96AF-9AF1-38BE-C764-0FEC14BACF78}"/>
              </a:ext>
            </a:extLst>
          </p:cNvPr>
          <p:cNvCxnSpPr>
            <a:cxnSpLocks/>
            <a:stCxn id="30" idx="3"/>
          </p:cNvCxnSpPr>
          <p:nvPr/>
        </p:nvCxnSpPr>
        <p:spPr>
          <a:xfrm flipV="1">
            <a:off x="10854690" y="5452848"/>
            <a:ext cx="293370" cy="356068"/>
          </a:xfrm>
          <a:prstGeom prst="bent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2">
            <a:extLst>
              <a:ext uri="{FF2B5EF4-FFF2-40B4-BE49-F238E27FC236}">
                <a16:creationId xmlns:a16="http://schemas.microsoft.com/office/drawing/2014/main" id="{15AD66BD-33BD-28F5-08CB-278B6346785E}"/>
              </a:ext>
            </a:extLst>
          </p:cNvPr>
          <p:cNvSpPr txBox="1"/>
          <p:nvPr/>
        </p:nvSpPr>
        <p:spPr>
          <a:xfrm>
            <a:off x="983686" y="2545365"/>
            <a:ext cx="5167178" cy="523220"/>
          </a:xfrm>
          <a:prstGeom prst="rect">
            <a:avLst/>
          </a:prstGeom>
          <a:noFill/>
        </p:spPr>
        <p:txBody>
          <a:bodyPr wrap="square">
            <a:spAutoFit/>
          </a:bodyPr>
          <a:lstStyle/>
          <a:p>
            <a:r>
              <a:rPr lang="en-US" sz="1400" dirty="0">
                <a:solidFill>
                  <a:srgbClr val="002060"/>
                </a:solidFill>
                <a:latin typeface="Helvetica" panose="020B0604020202020204" pitchFamily="34" charset="0"/>
                <a:cs typeface="Helvetica" panose="020B0604020202020204" pitchFamily="34" charset="0"/>
              </a:rPr>
              <a:t>Operator records are kept in Excel, split into separate sheets by part size — HT9046 and MX9046 alone span up to x sheets</a:t>
            </a:r>
          </a:p>
        </p:txBody>
      </p:sp>
      <p:sp>
        <p:nvSpPr>
          <p:cNvPr id="50" name="สี่เหลี่ยมผืนผ้า 49">
            <a:extLst>
              <a:ext uri="{FF2B5EF4-FFF2-40B4-BE49-F238E27FC236}">
                <a16:creationId xmlns:a16="http://schemas.microsoft.com/office/drawing/2014/main" id="{3E796BB7-6A95-D575-3259-A420C352F3A9}"/>
              </a:ext>
            </a:extLst>
          </p:cNvPr>
          <p:cNvSpPr/>
          <p:nvPr/>
        </p:nvSpPr>
        <p:spPr>
          <a:xfrm>
            <a:off x="761999" y="3322136"/>
            <a:ext cx="5447415" cy="477416"/>
          </a:xfrm>
          <a:prstGeom prst="rect">
            <a:avLst/>
          </a:prstGeom>
          <a:solidFill>
            <a:srgbClr val="FBE3D6">
              <a:alpha val="1803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54" name="TextBox 2">
            <a:extLst>
              <a:ext uri="{FF2B5EF4-FFF2-40B4-BE49-F238E27FC236}">
                <a16:creationId xmlns:a16="http://schemas.microsoft.com/office/drawing/2014/main" id="{F619279E-AC86-A0C0-6468-84370331895A}"/>
              </a:ext>
            </a:extLst>
          </p:cNvPr>
          <p:cNvSpPr txBox="1"/>
          <p:nvPr/>
        </p:nvSpPr>
        <p:spPr>
          <a:xfrm>
            <a:off x="983686" y="3388568"/>
            <a:ext cx="5167178" cy="307777"/>
          </a:xfrm>
          <a:prstGeom prst="rect">
            <a:avLst/>
          </a:prstGeom>
          <a:noFill/>
        </p:spPr>
        <p:txBody>
          <a:bodyPr wrap="square">
            <a:spAutoFit/>
          </a:bodyPr>
          <a:lstStyle/>
          <a:p>
            <a:r>
              <a:rPr lang="en-US" sz="1400" dirty="0">
                <a:solidFill>
                  <a:srgbClr val="002060"/>
                </a:solidFill>
                <a:latin typeface="Helvetica" panose="020B0604020202020204" pitchFamily="34" charset="0"/>
                <a:cs typeface="Helvetica" panose="020B0604020202020204" pitchFamily="34" charset="0"/>
              </a:rPr>
              <a:t>ALPL specifications are not centrally stored anywhere</a:t>
            </a:r>
          </a:p>
        </p:txBody>
      </p:sp>
      <p:sp>
        <p:nvSpPr>
          <p:cNvPr id="56" name="สี่เหลี่ยมผืนผ้า 55">
            <a:extLst>
              <a:ext uri="{FF2B5EF4-FFF2-40B4-BE49-F238E27FC236}">
                <a16:creationId xmlns:a16="http://schemas.microsoft.com/office/drawing/2014/main" id="{28DCF6FF-C5B6-D751-1C71-BA4A7B70109D}"/>
              </a:ext>
            </a:extLst>
          </p:cNvPr>
          <p:cNvSpPr/>
          <p:nvPr/>
        </p:nvSpPr>
        <p:spPr>
          <a:xfrm>
            <a:off x="761999" y="3974201"/>
            <a:ext cx="5447415" cy="618041"/>
          </a:xfrm>
          <a:prstGeom prst="rect">
            <a:avLst/>
          </a:prstGeom>
          <a:solidFill>
            <a:srgbClr val="FBE3D6">
              <a:alpha val="1803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60" name="TextBox 2">
            <a:extLst>
              <a:ext uri="{FF2B5EF4-FFF2-40B4-BE49-F238E27FC236}">
                <a16:creationId xmlns:a16="http://schemas.microsoft.com/office/drawing/2014/main" id="{14BF7D49-6249-14E2-0211-9F55545437AA}"/>
              </a:ext>
            </a:extLst>
          </p:cNvPr>
          <p:cNvSpPr txBox="1"/>
          <p:nvPr/>
        </p:nvSpPr>
        <p:spPr>
          <a:xfrm>
            <a:off x="983686" y="4040634"/>
            <a:ext cx="5167178" cy="523220"/>
          </a:xfrm>
          <a:prstGeom prst="rect">
            <a:avLst/>
          </a:prstGeom>
          <a:noFill/>
        </p:spPr>
        <p:txBody>
          <a:bodyPr wrap="square">
            <a:spAutoFit/>
          </a:bodyPr>
          <a:lstStyle/>
          <a:p>
            <a:r>
              <a:rPr lang="en-US" sz="1400" dirty="0">
                <a:solidFill>
                  <a:srgbClr val="002060"/>
                </a:solidFill>
                <a:latin typeface="Helvetica" panose="020B0604020202020204" pitchFamily="34" charset="0"/>
                <a:cs typeface="Helvetica" panose="020B0604020202020204" pitchFamily="34" charset="0"/>
              </a:rPr>
              <a:t>Accessing ALPL data requires contacting the Operator at the PM Kit room; no direct/immediate access</a:t>
            </a:r>
          </a:p>
        </p:txBody>
      </p:sp>
      <p:sp>
        <p:nvSpPr>
          <p:cNvPr id="62" name="สี่เหลี่ยมผืนผ้า 61">
            <a:extLst>
              <a:ext uri="{FF2B5EF4-FFF2-40B4-BE49-F238E27FC236}">
                <a16:creationId xmlns:a16="http://schemas.microsoft.com/office/drawing/2014/main" id="{AB300C64-301A-618D-A4AF-80384C2A642D}"/>
              </a:ext>
            </a:extLst>
          </p:cNvPr>
          <p:cNvSpPr/>
          <p:nvPr/>
        </p:nvSpPr>
        <p:spPr>
          <a:xfrm>
            <a:off x="761999" y="4780341"/>
            <a:ext cx="5447415" cy="682172"/>
          </a:xfrm>
          <a:prstGeom prst="rect">
            <a:avLst/>
          </a:prstGeom>
          <a:solidFill>
            <a:srgbClr val="FBE3D6">
              <a:alpha val="1803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66" name="TextBox 2">
            <a:extLst>
              <a:ext uri="{FF2B5EF4-FFF2-40B4-BE49-F238E27FC236}">
                <a16:creationId xmlns:a16="http://schemas.microsoft.com/office/drawing/2014/main" id="{E5CBE13E-78EF-5C78-D44D-A4CC3980625F}"/>
              </a:ext>
            </a:extLst>
          </p:cNvPr>
          <p:cNvSpPr txBox="1"/>
          <p:nvPr/>
        </p:nvSpPr>
        <p:spPr>
          <a:xfrm>
            <a:off x="983686" y="4846773"/>
            <a:ext cx="5167178" cy="523220"/>
          </a:xfrm>
          <a:prstGeom prst="rect">
            <a:avLst/>
          </a:prstGeom>
          <a:noFill/>
        </p:spPr>
        <p:txBody>
          <a:bodyPr wrap="square">
            <a:spAutoFit/>
          </a:bodyPr>
          <a:lstStyle/>
          <a:p>
            <a:r>
              <a:rPr lang="en-US" sz="1400" dirty="0">
                <a:solidFill>
                  <a:srgbClr val="002060"/>
                </a:solidFill>
                <a:latin typeface="Helvetica" panose="020B0604020202020204" pitchFamily="34" charset="0"/>
                <a:cs typeface="Helvetica" panose="020B0604020202020204" pitchFamily="34" charset="0"/>
              </a:rPr>
              <a:t>No record of measurement time or operator identity — when a result is questioned, root cause cannot be traced</a:t>
            </a:r>
          </a:p>
        </p:txBody>
      </p:sp>
      <p:sp>
        <p:nvSpPr>
          <p:cNvPr id="4" name="สี่เหลี่ยมผืนผ้า: มุมมน 3">
            <a:extLst>
              <a:ext uri="{FF2B5EF4-FFF2-40B4-BE49-F238E27FC236}">
                <a16:creationId xmlns:a16="http://schemas.microsoft.com/office/drawing/2014/main" id="{96A8A434-14F7-9C00-EF87-0C90DDCE9423}"/>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Tree>
    <p:extLst>
      <p:ext uri="{BB962C8B-B14F-4D97-AF65-F5344CB8AC3E}">
        <p14:creationId xmlns:p14="http://schemas.microsoft.com/office/powerpoint/2010/main" val="3331677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FB5D534-1206-2263-95BB-E1A219661FCB}"/>
            </a:ext>
          </a:extLst>
        </p:cNvPr>
        <p:cNvGrpSpPr/>
        <p:nvPr/>
      </p:nvGrpSpPr>
      <p:grpSpPr>
        <a:xfrm>
          <a:off x="0" y="0"/>
          <a:ext cx="0" cy="0"/>
          <a:chOff x="0" y="0"/>
          <a:chExt cx="0" cy="0"/>
        </a:xfrm>
      </p:grpSpPr>
      <p:sp>
        <p:nvSpPr>
          <p:cNvPr id="23" name="สี่เหลี่ยมผืนผ้า 22">
            <a:extLst>
              <a:ext uri="{FF2B5EF4-FFF2-40B4-BE49-F238E27FC236}">
                <a16:creationId xmlns:a16="http://schemas.microsoft.com/office/drawing/2014/main" id="{18A9E0CB-FDE1-C2B1-A338-A4F7A3E87FFA}"/>
              </a:ext>
            </a:extLst>
          </p:cNvPr>
          <p:cNvSpPr/>
          <p:nvPr/>
        </p:nvSpPr>
        <p:spPr>
          <a:xfrm>
            <a:off x="761999" y="2570132"/>
            <a:ext cx="5129515" cy="2505523"/>
          </a:xfrm>
          <a:prstGeom prst="rect">
            <a:avLst/>
          </a:prstGeom>
          <a:solidFill>
            <a:srgbClr val="FBE3D6">
              <a:alpha val="1803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1" name="กล่องข้อความ 20">
            <a:extLst>
              <a:ext uri="{FF2B5EF4-FFF2-40B4-BE49-F238E27FC236}">
                <a16:creationId xmlns:a16="http://schemas.microsoft.com/office/drawing/2014/main" id="{08D1C229-9C10-8CDA-724C-BC370B868E7D}"/>
              </a:ext>
            </a:extLst>
          </p:cNvPr>
          <p:cNvSpPr txBox="1"/>
          <p:nvPr/>
        </p:nvSpPr>
        <p:spPr>
          <a:xfrm>
            <a:off x="761999" y="1964476"/>
            <a:ext cx="5939743" cy="461665"/>
          </a:xfrm>
          <a:prstGeom prst="rect">
            <a:avLst/>
          </a:prstGeom>
          <a:noFill/>
        </p:spPr>
        <p:txBody>
          <a:bodyPr wrap="square">
            <a:spAutoFit/>
          </a:bodyPr>
          <a:lstStyle/>
          <a:p>
            <a:r>
              <a:rPr lang="en-US" sz="2400" b="1" dirty="0">
                <a:solidFill>
                  <a:schemeClr val="accent3"/>
                </a:solidFill>
                <a:latin typeface="Helvetica" panose="020B0604020202020204" pitchFamily="34" charset="0"/>
              </a:rPr>
              <a:t>Data Reliability</a:t>
            </a:r>
            <a:endParaRPr lang="th-TH" sz="2400" b="1" dirty="0">
              <a:solidFill>
                <a:schemeClr val="accent3"/>
              </a:solidFill>
              <a:latin typeface="Helvetica" panose="020B0604020202020204" pitchFamily="34" charset="0"/>
            </a:endParaRPr>
          </a:p>
        </p:txBody>
      </p:sp>
      <p:sp>
        <p:nvSpPr>
          <p:cNvPr id="16" name="กล่องข้อความ 15">
            <a:extLst>
              <a:ext uri="{FF2B5EF4-FFF2-40B4-BE49-F238E27FC236}">
                <a16:creationId xmlns:a16="http://schemas.microsoft.com/office/drawing/2014/main" id="{4987126F-821F-E66D-D344-A62A22A68AA1}"/>
              </a:ext>
            </a:extLst>
          </p:cNvPr>
          <p:cNvSpPr txBox="1">
            <a:spLocks/>
          </p:cNvSpPr>
          <p:nvPr/>
        </p:nvSpPr>
        <p:spPr>
          <a:xfrm>
            <a:off x="761999" y="597115"/>
            <a:ext cx="3653733" cy="523220"/>
          </a:xfrm>
          <a:prstGeom prst="rect">
            <a:avLst/>
          </a:prstGeom>
          <a:noFill/>
        </p:spPr>
        <p:txBody>
          <a:bodyPr wrap="square" rtlCol="0">
            <a:spAutoFit/>
          </a:bodyPr>
          <a:lstStyle/>
          <a:p>
            <a:r>
              <a:rPr lang="en-US" b="1" dirty="0">
                <a:solidFill>
                  <a:srgbClr val="002060"/>
                </a:solidFill>
                <a:latin typeface="Helvetica" panose="020B0604020202020204" pitchFamily="34" charset="0"/>
                <a:cs typeface="Helvetica" panose="020B0604020202020204" pitchFamily="34" charset="0"/>
              </a:rPr>
              <a:t>Problem Statements</a:t>
            </a:r>
            <a:endParaRPr lang="th-TH" b="1" dirty="0">
              <a:solidFill>
                <a:srgbClr val="002060"/>
              </a:solidFill>
              <a:latin typeface="Helvetica" panose="020B0604020202020204" pitchFamily="34" charset="0"/>
              <a:cs typeface="Mitr" panose="00000500000000000000" pitchFamily="2" charset="-34"/>
            </a:endParaRPr>
          </a:p>
        </p:txBody>
      </p:sp>
      <p:pic>
        <p:nvPicPr>
          <p:cNvPr id="20" name="Picture 2" descr="Analog Devices | Disruptive Technology for Clinical Trials">
            <a:extLst>
              <a:ext uri="{FF2B5EF4-FFF2-40B4-BE49-F238E27FC236}">
                <a16:creationId xmlns:a16="http://schemas.microsoft.com/office/drawing/2014/main" id="{544E52A9-F676-0E64-88C6-52053D6C39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4" name="Picture 2" descr="LOGO_ENkku_color – Faculty of Engineering , Khon Kaen University">
            <a:extLst>
              <a:ext uri="{FF2B5EF4-FFF2-40B4-BE49-F238E27FC236}">
                <a16:creationId xmlns:a16="http://schemas.microsoft.com/office/drawing/2014/main" id="{D54955D5-6E84-A5D1-A172-F11E171CF0DA}"/>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2">
            <a:extLst>
              <a:ext uri="{FF2B5EF4-FFF2-40B4-BE49-F238E27FC236}">
                <a16:creationId xmlns:a16="http://schemas.microsoft.com/office/drawing/2014/main" id="{3CB66E9B-5E8C-A8DB-4942-EFB7FBDAB5C4}"/>
              </a:ext>
            </a:extLst>
          </p:cNvPr>
          <p:cNvSpPr txBox="1"/>
          <p:nvPr/>
        </p:nvSpPr>
        <p:spPr>
          <a:xfrm>
            <a:off x="983686" y="2636566"/>
            <a:ext cx="4907828" cy="1815882"/>
          </a:xfrm>
          <a:prstGeom prst="rect">
            <a:avLst/>
          </a:prstGeom>
          <a:noFill/>
        </p:spPr>
        <p:txBody>
          <a:bodyPr wrap="square">
            <a:spAutoFit/>
          </a:bodyPr>
          <a:lstStyle/>
          <a:p>
            <a:r>
              <a:rPr lang="en-US" sz="1400" dirty="0">
                <a:solidFill>
                  <a:srgbClr val="002060"/>
                </a:solidFill>
                <a:latin typeface="Helvetica" panose="020B0604020202020204" pitchFamily="34" charset="0"/>
                <a:cs typeface="Helvetica" panose="020B0604020202020204" pitchFamily="34" charset="0"/>
              </a:rPr>
              <a:t>ALPL measurements are still recorded manually, causing frequent human error</a:t>
            </a:r>
          </a:p>
          <a:p>
            <a:endParaRPr lang="en-US" sz="1400" dirty="0">
              <a:solidFill>
                <a:srgbClr val="002060"/>
              </a:solidFill>
              <a:latin typeface="Helvetica" panose="020B0604020202020204" pitchFamily="34" charset="0"/>
              <a:cs typeface="Helvetica" panose="020B0604020202020204" pitchFamily="34" charset="0"/>
            </a:endParaRPr>
          </a:p>
          <a:p>
            <a:r>
              <a:rPr lang="en-US" sz="1400" dirty="0">
                <a:solidFill>
                  <a:srgbClr val="002060"/>
                </a:solidFill>
                <a:latin typeface="Helvetica" panose="020B0604020202020204" pitchFamily="34" charset="0"/>
                <a:cs typeface="Helvetica" panose="020B0604020202020204" pitchFamily="34" charset="0"/>
              </a:rPr>
              <a:t>a survey of the HT9046/HT9046MX Excel logs found </a:t>
            </a:r>
          </a:p>
          <a:p>
            <a:endParaRPr lang="en-US" sz="1400" dirty="0">
              <a:solidFill>
                <a:srgbClr val="002060"/>
              </a:solidFill>
              <a:latin typeface="Helvetica" panose="020B0604020202020204" pitchFamily="34" charset="0"/>
              <a:cs typeface="Helvetica" panose="020B0604020202020204" pitchFamily="34" charset="0"/>
            </a:endParaRPr>
          </a:p>
          <a:p>
            <a:endParaRPr lang="en-US" sz="1400" dirty="0">
              <a:solidFill>
                <a:srgbClr val="002060"/>
              </a:solidFill>
              <a:latin typeface="Helvetica" panose="020B0604020202020204" pitchFamily="34" charset="0"/>
              <a:cs typeface="Helvetica" panose="020B0604020202020204" pitchFamily="34" charset="0"/>
            </a:endParaRPr>
          </a:p>
          <a:p>
            <a:endParaRPr lang="en-US" sz="1400" dirty="0">
              <a:solidFill>
                <a:srgbClr val="002060"/>
              </a:solidFill>
              <a:latin typeface="Helvetica" panose="020B0604020202020204" pitchFamily="34" charset="0"/>
              <a:cs typeface="Helvetica" panose="020B0604020202020204" pitchFamily="34" charset="0"/>
            </a:endParaRPr>
          </a:p>
          <a:p>
            <a:r>
              <a:rPr lang="en-US" sz="1400" dirty="0">
                <a:solidFill>
                  <a:srgbClr val="002060"/>
                </a:solidFill>
                <a:latin typeface="Helvetica" panose="020B0604020202020204" pitchFamily="34" charset="0"/>
                <a:cs typeface="Helvetica" panose="020B0604020202020204" pitchFamily="34" charset="0"/>
              </a:rPr>
              <a:t>had incorrect Result entries, or </a:t>
            </a:r>
          </a:p>
        </p:txBody>
      </p:sp>
      <p:pic>
        <p:nvPicPr>
          <p:cNvPr id="18" name="รูปภาพ 17">
            <a:extLst>
              <a:ext uri="{FF2B5EF4-FFF2-40B4-BE49-F238E27FC236}">
                <a16:creationId xmlns:a16="http://schemas.microsoft.com/office/drawing/2014/main" id="{3408D55B-602F-20E4-1CC8-5204A04F4837}"/>
              </a:ext>
            </a:extLst>
          </p:cNvPr>
          <p:cNvPicPr>
            <a:picLocks noChangeAspect="1"/>
          </p:cNvPicPr>
          <p:nvPr/>
        </p:nvPicPr>
        <p:blipFill>
          <a:blip r:embed="rId5">
            <a:extLst>
              <a:ext uri="{28A0092B-C50C-407E-A947-70E740481C1C}">
                <a14:useLocalDpi xmlns:a14="http://schemas.microsoft.com/office/drawing/2010/main" val="0"/>
              </a:ext>
            </a:extLst>
          </a:blip>
          <a:srcRect l="9969" t="5840" r="4376" b="1795"/>
          <a:stretch>
            <a:fillRect/>
          </a:stretch>
        </p:blipFill>
        <p:spPr>
          <a:xfrm>
            <a:off x="6386009" y="2195308"/>
            <a:ext cx="4946539" cy="2727704"/>
          </a:xfrm>
          <a:prstGeom prst="rect">
            <a:avLst/>
          </a:prstGeom>
        </p:spPr>
      </p:pic>
      <p:sp>
        <p:nvSpPr>
          <p:cNvPr id="22" name="กล่องข้อความ 21">
            <a:extLst>
              <a:ext uri="{FF2B5EF4-FFF2-40B4-BE49-F238E27FC236}">
                <a16:creationId xmlns:a16="http://schemas.microsoft.com/office/drawing/2014/main" id="{3BDD7DE1-347A-410F-695D-69578A81BDD0}"/>
              </a:ext>
            </a:extLst>
          </p:cNvPr>
          <p:cNvSpPr txBox="1"/>
          <p:nvPr/>
        </p:nvSpPr>
        <p:spPr>
          <a:xfrm>
            <a:off x="1890033" y="3704470"/>
            <a:ext cx="2873446" cy="369332"/>
          </a:xfrm>
          <a:prstGeom prst="rect">
            <a:avLst/>
          </a:prstGeom>
          <a:noFill/>
        </p:spPr>
        <p:txBody>
          <a:bodyPr wrap="square">
            <a:spAutoFit/>
          </a:bodyPr>
          <a:lstStyle/>
          <a:p>
            <a:pPr algn="ctr"/>
            <a:r>
              <a:rPr lang="en-US" sz="1800" b="1" dirty="0">
                <a:solidFill>
                  <a:srgbClr val="C00000"/>
                </a:solidFill>
                <a:latin typeface="Helvetica" panose="020B0604020202020204" pitchFamily="34" charset="0"/>
                <a:cs typeface="Helvetica" panose="020B0604020202020204" pitchFamily="34" charset="0"/>
              </a:rPr>
              <a:t>700 out of 1,978 parts </a:t>
            </a:r>
          </a:p>
        </p:txBody>
      </p:sp>
      <p:sp>
        <p:nvSpPr>
          <p:cNvPr id="27" name="กล่องข้อความ 26">
            <a:extLst>
              <a:ext uri="{FF2B5EF4-FFF2-40B4-BE49-F238E27FC236}">
                <a16:creationId xmlns:a16="http://schemas.microsoft.com/office/drawing/2014/main" id="{05661D4E-6275-32E6-974B-D8BDDE510D3F}"/>
              </a:ext>
            </a:extLst>
          </p:cNvPr>
          <p:cNvSpPr txBox="1"/>
          <p:nvPr/>
        </p:nvSpPr>
        <p:spPr>
          <a:xfrm>
            <a:off x="1722938" y="4553680"/>
            <a:ext cx="2873446" cy="369332"/>
          </a:xfrm>
          <a:prstGeom prst="rect">
            <a:avLst/>
          </a:prstGeom>
          <a:noFill/>
        </p:spPr>
        <p:txBody>
          <a:bodyPr wrap="square">
            <a:spAutoFit/>
          </a:bodyPr>
          <a:lstStyle/>
          <a:p>
            <a:pPr algn="ctr"/>
            <a:r>
              <a:rPr lang="en-US" sz="1800" b="1" dirty="0">
                <a:solidFill>
                  <a:srgbClr val="C00000"/>
                </a:solidFill>
                <a:latin typeface="Helvetica" panose="020B0604020202020204" pitchFamily="34" charset="0"/>
                <a:cs typeface="Helvetica" panose="020B0604020202020204" pitchFamily="34" charset="0"/>
              </a:rPr>
              <a:t>35.39%</a:t>
            </a:r>
          </a:p>
        </p:txBody>
      </p:sp>
      <p:sp>
        <p:nvSpPr>
          <p:cNvPr id="2" name="Rectangle 1">
            <a:extLst>
              <a:ext uri="{FF2B5EF4-FFF2-40B4-BE49-F238E27FC236}">
                <a16:creationId xmlns:a16="http://schemas.microsoft.com/office/drawing/2014/main" id="{E8AD7DCB-665C-C832-65D7-BC40FE50811B}"/>
              </a:ext>
            </a:extLst>
          </p:cNvPr>
          <p:cNvSpPr/>
          <p:nvPr/>
        </p:nvSpPr>
        <p:spPr>
          <a:xfrm>
            <a:off x="6294520" y="2558462"/>
            <a:ext cx="5129515" cy="54863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4" name="Rectangle 3">
            <a:extLst>
              <a:ext uri="{FF2B5EF4-FFF2-40B4-BE49-F238E27FC236}">
                <a16:creationId xmlns:a16="http://schemas.microsoft.com/office/drawing/2014/main" id="{0DD44BE1-B841-2E74-B4A6-E99B8699AD9D}"/>
              </a:ext>
            </a:extLst>
          </p:cNvPr>
          <p:cNvSpPr/>
          <p:nvPr/>
        </p:nvSpPr>
        <p:spPr>
          <a:xfrm>
            <a:off x="6294521" y="2111480"/>
            <a:ext cx="5129513" cy="44698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7" name="Rectangle 6">
            <a:extLst>
              <a:ext uri="{FF2B5EF4-FFF2-40B4-BE49-F238E27FC236}">
                <a16:creationId xmlns:a16="http://schemas.microsoft.com/office/drawing/2014/main" id="{FAA00F07-59A8-825B-FF8E-C0A00A86C2E5}"/>
              </a:ext>
            </a:extLst>
          </p:cNvPr>
          <p:cNvSpPr/>
          <p:nvPr/>
        </p:nvSpPr>
        <p:spPr>
          <a:xfrm>
            <a:off x="6294521" y="4483443"/>
            <a:ext cx="5129513" cy="41987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6" name="TextBox 2">
            <a:extLst>
              <a:ext uri="{FF2B5EF4-FFF2-40B4-BE49-F238E27FC236}">
                <a16:creationId xmlns:a16="http://schemas.microsoft.com/office/drawing/2014/main" id="{FCD656E1-259F-EB87-7DD9-C03795AB4573}"/>
              </a:ext>
            </a:extLst>
          </p:cNvPr>
          <p:cNvSpPr txBox="1"/>
          <p:nvPr/>
        </p:nvSpPr>
        <p:spPr>
          <a:xfrm>
            <a:off x="6294520" y="5200296"/>
            <a:ext cx="4907828" cy="523220"/>
          </a:xfrm>
          <a:prstGeom prst="rect">
            <a:avLst/>
          </a:prstGeom>
          <a:noFill/>
        </p:spPr>
        <p:txBody>
          <a:bodyPr wrap="square">
            <a:spAutoFit/>
          </a:bodyPr>
          <a:lstStyle/>
          <a:p>
            <a:r>
              <a:rPr lang="en-US" sz="1400" dirty="0">
                <a:solidFill>
                  <a:srgbClr val="002060"/>
                </a:solidFill>
                <a:latin typeface="Helvetica" panose="020B0604020202020204" pitchFamily="34" charset="0"/>
                <a:cs typeface="Helvetica" panose="020B0604020202020204" pitchFamily="34" charset="0"/>
              </a:rPr>
              <a:t>The result is in the range but operator record it fail or out of range but record it good</a:t>
            </a:r>
          </a:p>
        </p:txBody>
      </p:sp>
      <p:sp>
        <p:nvSpPr>
          <p:cNvPr id="5" name="สี่เหลี่ยมผืนผ้า: มุมมน 4">
            <a:extLst>
              <a:ext uri="{FF2B5EF4-FFF2-40B4-BE49-F238E27FC236}">
                <a16:creationId xmlns:a16="http://schemas.microsoft.com/office/drawing/2014/main" id="{980588D5-88ED-E605-9310-F338B6F3F45F}"/>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Tree>
    <p:extLst>
      <p:ext uri="{BB962C8B-B14F-4D97-AF65-F5344CB8AC3E}">
        <p14:creationId xmlns:p14="http://schemas.microsoft.com/office/powerpoint/2010/main" val="1442603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F06AB32-5CF0-37C6-2ED9-0F8ABD982F34}"/>
            </a:ext>
          </a:extLst>
        </p:cNvPr>
        <p:cNvGrpSpPr/>
        <p:nvPr/>
      </p:nvGrpSpPr>
      <p:grpSpPr>
        <a:xfrm>
          <a:off x="0" y="0"/>
          <a:ext cx="0" cy="0"/>
          <a:chOff x="0" y="0"/>
          <a:chExt cx="0" cy="0"/>
        </a:xfrm>
      </p:grpSpPr>
      <p:pic>
        <p:nvPicPr>
          <p:cNvPr id="3" name="รูปภาพ 2">
            <a:extLst>
              <a:ext uri="{FF2B5EF4-FFF2-40B4-BE49-F238E27FC236}">
                <a16:creationId xmlns:a16="http://schemas.microsoft.com/office/drawing/2014/main" id="{0A243DB7-0540-7505-4591-0DC67ECF2AF5}"/>
              </a:ext>
            </a:extLst>
          </p:cNvPr>
          <p:cNvPicPr>
            <a:picLocks noChangeAspect="1"/>
          </p:cNvPicPr>
          <p:nvPr/>
        </p:nvPicPr>
        <p:blipFill>
          <a:blip r:embed="rId3"/>
          <a:stretch>
            <a:fillRect/>
          </a:stretch>
        </p:blipFill>
        <p:spPr>
          <a:xfrm>
            <a:off x="790311" y="740084"/>
            <a:ext cx="10611378" cy="5271311"/>
          </a:xfrm>
          <a:prstGeom prst="rect">
            <a:avLst/>
          </a:prstGeom>
        </p:spPr>
      </p:pic>
      <p:pic>
        <p:nvPicPr>
          <p:cNvPr id="6" name="Picture 2" descr="Analog Devices | Disruptive Technology for Clinical Trials">
            <a:extLst>
              <a:ext uri="{FF2B5EF4-FFF2-40B4-BE49-F238E27FC236}">
                <a16:creationId xmlns:a16="http://schemas.microsoft.com/office/drawing/2014/main" id="{410EA55C-6996-8C88-9414-D72C0F9271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 name="Picture 2" descr="LOGO_ENkku_color – Faculty of Engineering , Khon Kaen University">
            <a:extLst>
              <a:ext uri="{FF2B5EF4-FFF2-40B4-BE49-F238E27FC236}">
                <a16:creationId xmlns:a16="http://schemas.microsoft.com/office/drawing/2014/main" id="{42B62BDF-98F7-B58F-3020-221D86CBA0B7}"/>
              </a:ext>
            </a:extLst>
          </p:cNvPr>
          <p:cNvPicPr>
            <a:picLocks noChangeAspect="1"/>
          </p:cNvPicPr>
          <p:nvPr/>
        </p:nvPicPr>
        <p:blipFill rotWithShape="1">
          <a:blip r:embed="rId5">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77E2F9B-E024-8225-7D84-AE378B4CF2C1}"/>
              </a:ext>
            </a:extLst>
          </p:cNvPr>
          <p:cNvSpPr/>
          <p:nvPr/>
        </p:nvSpPr>
        <p:spPr>
          <a:xfrm>
            <a:off x="1714500" y="5088988"/>
            <a:ext cx="441960" cy="2819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0" name="Rectangle 9">
            <a:extLst>
              <a:ext uri="{FF2B5EF4-FFF2-40B4-BE49-F238E27FC236}">
                <a16:creationId xmlns:a16="http://schemas.microsoft.com/office/drawing/2014/main" id="{32518D59-BC39-F781-5E9C-65945272AAF2}"/>
              </a:ext>
            </a:extLst>
          </p:cNvPr>
          <p:cNvSpPr/>
          <p:nvPr/>
        </p:nvSpPr>
        <p:spPr>
          <a:xfrm>
            <a:off x="6019800" y="5088988"/>
            <a:ext cx="441960" cy="2819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5" name="สี่เหลี่ยมผืนผ้า: มุมมน 4">
            <a:extLst>
              <a:ext uri="{FF2B5EF4-FFF2-40B4-BE49-F238E27FC236}">
                <a16:creationId xmlns:a16="http://schemas.microsoft.com/office/drawing/2014/main" id="{BEE2CC7A-9107-9F1D-7DAD-9318E3739BE1}"/>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Tree>
    <p:extLst>
      <p:ext uri="{BB962C8B-B14F-4D97-AF65-F5344CB8AC3E}">
        <p14:creationId xmlns:p14="http://schemas.microsoft.com/office/powerpoint/2010/main" val="3640351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17824-30ED-208A-3663-41A844935EFF}"/>
            </a:ext>
          </a:extLst>
        </p:cNvPr>
        <p:cNvGrpSpPr/>
        <p:nvPr/>
      </p:nvGrpSpPr>
      <p:grpSpPr>
        <a:xfrm>
          <a:off x="0" y="0"/>
          <a:ext cx="0" cy="0"/>
          <a:chOff x="0" y="0"/>
          <a:chExt cx="0" cy="0"/>
        </a:xfrm>
      </p:grpSpPr>
      <p:sp>
        <p:nvSpPr>
          <p:cNvPr id="5" name="สี่เหลี่ยมผืนผ้า: มุมมน 4">
            <a:extLst>
              <a:ext uri="{FF2B5EF4-FFF2-40B4-BE49-F238E27FC236}">
                <a16:creationId xmlns:a16="http://schemas.microsoft.com/office/drawing/2014/main" id="{9167513A-29E8-7B96-BCE8-C68EB027E3BA}"/>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
        <p:nvSpPr>
          <p:cNvPr id="21" name="กล่องข้อความ 20">
            <a:extLst>
              <a:ext uri="{FF2B5EF4-FFF2-40B4-BE49-F238E27FC236}">
                <a16:creationId xmlns:a16="http://schemas.microsoft.com/office/drawing/2014/main" id="{897E6F6F-F1AA-F45C-FC14-41F41F00FF89}"/>
              </a:ext>
            </a:extLst>
          </p:cNvPr>
          <p:cNvSpPr txBox="1"/>
          <p:nvPr/>
        </p:nvSpPr>
        <p:spPr>
          <a:xfrm>
            <a:off x="830825" y="1217661"/>
            <a:ext cx="4754301" cy="400110"/>
          </a:xfrm>
          <a:prstGeom prst="rect">
            <a:avLst/>
          </a:prstGeom>
          <a:noFill/>
        </p:spPr>
        <p:txBody>
          <a:bodyPr wrap="square">
            <a:spAutoFit/>
          </a:bodyPr>
          <a:lstStyle/>
          <a:p>
            <a:r>
              <a:rPr lang="en-US" sz="2000" b="1" dirty="0">
                <a:solidFill>
                  <a:schemeClr val="accent3"/>
                </a:solidFill>
                <a:latin typeface="Helvetica" panose="020B0604020202020204" pitchFamily="34" charset="0"/>
              </a:rPr>
              <a:t>Instability in Part Alignment</a:t>
            </a:r>
            <a:endParaRPr lang="th-TH" sz="2000" b="1" dirty="0">
              <a:solidFill>
                <a:schemeClr val="accent3"/>
              </a:solidFill>
              <a:latin typeface="Helvetica" panose="020B0604020202020204" pitchFamily="34" charset="0"/>
            </a:endParaRPr>
          </a:p>
        </p:txBody>
      </p:sp>
      <p:pic>
        <p:nvPicPr>
          <p:cNvPr id="29" name="Picture 2" descr="Analog Devices | Disruptive Technology for Clinical Trials">
            <a:extLst>
              <a:ext uri="{FF2B5EF4-FFF2-40B4-BE49-F238E27FC236}">
                <a16:creationId xmlns:a16="http://schemas.microsoft.com/office/drawing/2014/main" id="{6E98F01C-2F6C-B01C-525C-F09872956C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1" name="Picture 2" descr="LOGO_ENkku_color – Faculty of Engineering , Khon Kaen University">
            <a:extLst>
              <a:ext uri="{FF2B5EF4-FFF2-40B4-BE49-F238E27FC236}">
                <a16:creationId xmlns:a16="http://schemas.microsoft.com/office/drawing/2014/main" id="{0EA7DF45-27C3-CB98-CC48-FB4C3568FB13}"/>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11" name="กล่องข้อความ 10">
            <a:extLst>
              <a:ext uri="{FF2B5EF4-FFF2-40B4-BE49-F238E27FC236}">
                <a16:creationId xmlns:a16="http://schemas.microsoft.com/office/drawing/2014/main" id="{927FCD68-58C5-052A-B975-389749BDAEE2}"/>
              </a:ext>
            </a:extLst>
          </p:cNvPr>
          <p:cNvSpPr txBox="1"/>
          <p:nvPr/>
        </p:nvSpPr>
        <p:spPr>
          <a:xfrm>
            <a:off x="830825" y="1816169"/>
            <a:ext cx="6051756" cy="954107"/>
          </a:xfrm>
          <a:prstGeom prst="rect">
            <a:avLst/>
          </a:prstGeom>
          <a:noFill/>
        </p:spPr>
        <p:txBody>
          <a:bodyPr wrap="square">
            <a:spAutoFit/>
          </a:bodyPr>
          <a:lstStyle/>
          <a:p>
            <a:r>
              <a:rPr lang="en-US" sz="1400" b="1" dirty="0">
                <a:solidFill>
                  <a:srgbClr val="002060"/>
                </a:solidFill>
                <a:latin typeface="Helvetica" panose="020B0604020202020204" pitchFamily="34" charset="0"/>
                <a:cs typeface="Helvetica" panose="020B0604020202020204" pitchFamily="34" charset="0"/>
              </a:rPr>
              <a:t>Lack of Fixturing Mechanism: </a:t>
            </a:r>
            <a:r>
              <a:rPr lang="en-US" sz="1400" dirty="0">
                <a:solidFill>
                  <a:srgbClr val="002060"/>
                </a:solidFill>
                <a:latin typeface="Helvetica" panose="020B0604020202020204" pitchFamily="34" charset="0"/>
                <a:cs typeface="Helvetica" panose="020B0604020202020204" pitchFamily="34" charset="0"/>
              </a:rPr>
              <a:t>The workpiece is currently placed directly on bare glass without a securing jig, meaning the placement angle depends entirely on the operator's manual handling.</a:t>
            </a:r>
          </a:p>
          <a:p>
            <a:endParaRPr lang="th-TH" sz="1400" dirty="0">
              <a:solidFill>
                <a:srgbClr val="002060"/>
              </a:solidFill>
              <a:latin typeface="Helvetica" panose="020B0604020202020204" pitchFamily="34" charset="0"/>
            </a:endParaRPr>
          </a:p>
        </p:txBody>
      </p:sp>
      <p:sp>
        <p:nvSpPr>
          <p:cNvPr id="16" name="กล่องข้อความ 15">
            <a:extLst>
              <a:ext uri="{FF2B5EF4-FFF2-40B4-BE49-F238E27FC236}">
                <a16:creationId xmlns:a16="http://schemas.microsoft.com/office/drawing/2014/main" id="{BFE0494D-6381-7D23-FC93-F5F4FD658A7E}"/>
              </a:ext>
            </a:extLst>
          </p:cNvPr>
          <p:cNvSpPr txBox="1"/>
          <p:nvPr/>
        </p:nvSpPr>
        <p:spPr>
          <a:xfrm>
            <a:off x="830825" y="3789323"/>
            <a:ext cx="5571519" cy="738664"/>
          </a:xfrm>
          <a:prstGeom prst="rect">
            <a:avLst/>
          </a:prstGeom>
          <a:noFill/>
        </p:spPr>
        <p:txBody>
          <a:bodyPr wrap="square">
            <a:spAutoFit/>
          </a:bodyPr>
          <a:lstStyle/>
          <a:p>
            <a:r>
              <a:rPr lang="en-US" sz="1400" b="1" dirty="0">
                <a:solidFill>
                  <a:srgbClr val="002060"/>
                </a:solidFill>
                <a:latin typeface="Helvetica" panose="020B0604020202020204" pitchFamily="34" charset="0"/>
                <a:cs typeface="Helvetica" panose="020B0604020202020204" pitchFamily="34" charset="0"/>
              </a:rPr>
              <a:t>Inconsistent Cycle Time: </a:t>
            </a:r>
            <a:r>
              <a:rPr lang="en-US" sz="1400" dirty="0">
                <a:solidFill>
                  <a:srgbClr val="002060"/>
                </a:solidFill>
                <a:latin typeface="Helvetica" panose="020B0604020202020204" pitchFamily="34" charset="0"/>
                <a:cs typeface="Helvetica" panose="020B0604020202020204" pitchFamily="34" charset="0"/>
              </a:rPr>
              <a:t>Because alignment must be done manually, the processing time per unit varies significantly based on individual operator proficiency.</a:t>
            </a:r>
            <a:endParaRPr lang="th-TH" sz="1400" dirty="0">
              <a:solidFill>
                <a:srgbClr val="002060"/>
              </a:solidFill>
              <a:latin typeface="Helvetica" panose="020B0604020202020204" pitchFamily="34" charset="0"/>
            </a:endParaRPr>
          </a:p>
        </p:txBody>
      </p:sp>
      <p:sp>
        <p:nvSpPr>
          <p:cNvPr id="6" name="กล่องข้อความ 5">
            <a:extLst>
              <a:ext uri="{FF2B5EF4-FFF2-40B4-BE49-F238E27FC236}">
                <a16:creationId xmlns:a16="http://schemas.microsoft.com/office/drawing/2014/main" id="{2CE851FB-91CC-130A-A123-6B74F2AA9A9C}"/>
              </a:ext>
            </a:extLst>
          </p:cNvPr>
          <p:cNvSpPr txBox="1"/>
          <p:nvPr/>
        </p:nvSpPr>
        <p:spPr>
          <a:xfrm>
            <a:off x="830825" y="2723341"/>
            <a:ext cx="6051756" cy="954107"/>
          </a:xfrm>
          <a:prstGeom prst="rect">
            <a:avLst/>
          </a:prstGeom>
          <a:noFill/>
        </p:spPr>
        <p:txBody>
          <a:bodyPr wrap="square">
            <a:spAutoFit/>
          </a:bodyPr>
          <a:lstStyle/>
          <a:p>
            <a:r>
              <a:rPr lang="en-US" sz="1400" b="1" dirty="0">
                <a:solidFill>
                  <a:srgbClr val="002060"/>
                </a:solidFill>
                <a:latin typeface="Helvetica" panose="020B0604020202020204" pitchFamily="34" charset="0"/>
                <a:cs typeface="Helvetica" panose="020B0604020202020204" pitchFamily="34" charset="0"/>
              </a:rPr>
              <a:t>Inconsistent Measurements: </a:t>
            </a:r>
            <a:r>
              <a:rPr lang="en-US" sz="1400" dirty="0">
                <a:solidFill>
                  <a:srgbClr val="002060"/>
                </a:solidFill>
                <a:latin typeface="Helvetica" panose="020B0604020202020204" pitchFamily="34" charset="0"/>
                <a:cs typeface="Helvetica" panose="020B0604020202020204" pitchFamily="34" charset="0"/>
              </a:rPr>
              <a:t>The physical shape of the workpiece makes it difficult to lay perfectly flat, introducing a slight tilt that causes measurement deviations when the exact same part is measured multiple times.</a:t>
            </a:r>
            <a:endParaRPr lang="th-TH" sz="1400" dirty="0">
              <a:solidFill>
                <a:srgbClr val="002060"/>
              </a:solidFill>
              <a:latin typeface="Helvetica" panose="020B0604020202020204" pitchFamily="34" charset="0"/>
            </a:endParaRPr>
          </a:p>
        </p:txBody>
      </p:sp>
      <p:pic>
        <p:nvPicPr>
          <p:cNvPr id="4" name="รูปภาพ 3">
            <a:extLst>
              <a:ext uri="{FF2B5EF4-FFF2-40B4-BE49-F238E27FC236}">
                <a16:creationId xmlns:a16="http://schemas.microsoft.com/office/drawing/2014/main" id="{39669342-82CB-AD6E-6EC6-EA4477047937}"/>
              </a:ext>
            </a:extLst>
          </p:cNvPr>
          <p:cNvPicPr>
            <a:picLocks noChangeAspect="1"/>
          </p:cNvPicPr>
          <p:nvPr/>
        </p:nvPicPr>
        <p:blipFill rotWithShape="1">
          <a:blip r:embed="rId5">
            <a:extLst>
              <a:ext uri="{28A0092B-C50C-407E-A947-70E740481C1C}">
                <a14:useLocalDpi xmlns:a14="http://schemas.microsoft.com/office/drawing/2010/main" val="0"/>
              </a:ext>
            </a:extLst>
          </a:blip>
          <a:srcRect l="12500" r="12500"/>
          <a:stretch>
            <a:fillRect/>
          </a:stretch>
        </p:blipFill>
        <p:spPr>
          <a:xfrm rot="5400000">
            <a:off x="7385558" y="1899579"/>
            <a:ext cx="4176261" cy="4176261"/>
          </a:xfrm>
          <a:prstGeom prst="rect">
            <a:avLst/>
          </a:prstGeom>
        </p:spPr>
      </p:pic>
      <p:sp>
        <p:nvSpPr>
          <p:cNvPr id="3" name="สี่เหลี่ยมผืนผ้า 2">
            <a:extLst>
              <a:ext uri="{FF2B5EF4-FFF2-40B4-BE49-F238E27FC236}">
                <a16:creationId xmlns:a16="http://schemas.microsoft.com/office/drawing/2014/main" id="{03A48C9B-C542-FC95-CAE2-50C1A391EEE3}"/>
              </a:ext>
            </a:extLst>
          </p:cNvPr>
          <p:cNvSpPr/>
          <p:nvPr/>
        </p:nvSpPr>
        <p:spPr>
          <a:xfrm>
            <a:off x="432246" y="533609"/>
            <a:ext cx="3108514" cy="485654"/>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8" name="สี่เหลี่ยมผืนผ้า 7">
            <a:extLst>
              <a:ext uri="{FF2B5EF4-FFF2-40B4-BE49-F238E27FC236}">
                <a16:creationId xmlns:a16="http://schemas.microsoft.com/office/drawing/2014/main" id="{F242FF33-6B51-A468-F635-1AE4C5B475A1}"/>
              </a:ext>
            </a:extLst>
          </p:cNvPr>
          <p:cNvSpPr/>
          <p:nvPr/>
        </p:nvSpPr>
        <p:spPr>
          <a:xfrm>
            <a:off x="432246" y="533609"/>
            <a:ext cx="132080" cy="485654"/>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0" name="กล่องข้อความ 9">
            <a:extLst>
              <a:ext uri="{FF2B5EF4-FFF2-40B4-BE49-F238E27FC236}">
                <a16:creationId xmlns:a16="http://schemas.microsoft.com/office/drawing/2014/main" id="{060AA5AF-83EB-FC5E-EF7A-2014E531C662}"/>
              </a:ext>
            </a:extLst>
          </p:cNvPr>
          <p:cNvSpPr txBox="1">
            <a:spLocks/>
          </p:cNvSpPr>
          <p:nvPr/>
        </p:nvSpPr>
        <p:spPr>
          <a:xfrm>
            <a:off x="698996" y="593962"/>
            <a:ext cx="2727498" cy="400110"/>
          </a:xfrm>
          <a:prstGeom prst="rect">
            <a:avLst/>
          </a:prstGeom>
          <a:noFill/>
        </p:spPr>
        <p:txBody>
          <a:bodyPr wrap="square" rtlCol="0">
            <a:spAutoFit/>
          </a:bodyPr>
          <a:lstStyle/>
          <a:p>
            <a:r>
              <a:rPr lang="en-US" sz="2000" b="1" dirty="0">
                <a:solidFill>
                  <a:srgbClr val="002060"/>
                </a:solidFill>
                <a:latin typeface="Helvetica" panose="020B0604020202020204" pitchFamily="34" charset="0"/>
                <a:cs typeface="Helvetica" panose="020B0604020202020204" pitchFamily="34" charset="0"/>
              </a:rPr>
              <a:t>Problem Statements</a:t>
            </a:r>
            <a:endParaRPr lang="th-TH" sz="2000" b="1" dirty="0">
              <a:solidFill>
                <a:srgbClr val="002060"/>
              </a:solidFill>
              <a:latin typeface="Helvetica" panose="020B0604020202020204" pitchFamily="34" charset="0"/>
              <a:cs typeface="Mitr" panose="00000500000000000000" pitchFamily="2" charset="-34"/>
            </a:endParaRPr>
          </a:p>
        </p:txBody>
      </p:sp>
    </p:spTree>
    <p:extLst>
      <p:ext uri="{BB962C8B-B14F-4D97-AF65-F5344CB8AC3E}">
        <p14:creationId xmlns:p14="http://schemas.microsoft.com/office/powerpoint/2010/main" val="338280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43695-E313-4EF2-8F3E-53C9C618C682}"/>
            </a:ext>
          </a:extLst>
        </p:cNvPr>
        <p:cNvGrpSpPr/>
        <p:nvPr/>
      </p:nvGrpSpPr>
      <p:grpSpPr>
        <a:xfrm>
          <a:off x="0" y="0"/>
          <a:ext cx="0" cy="0"/>
          <a:chOff x="0" y="0"/>
          <a:chExt cx="0" cy="0"/>
        </a:xfrm>
      </p:grpSpPr>
      <p:sp>
        <p:nvSpPr>
          <p:cNvPr id="39" name="สี่เหลี่ยมผืนผ้า 38">
            <a:extLst>
              <a:ext uri="{FF2B5EF4-FFF2-40B4-BE49-F238E27FC236}">
                <a16:creationId xmlns:a16="http://schemas.microsoft.com/office/drawing/2014/main" id="{CAB93DEF-88FB-B3D9-C991-E34246DC2EFF}"/>
              </a:ext>
            </a:extLst>
          </p:cNvPr>
          <p:cNvSpPr/>
          <p:nvPr/>
        </p:nvSpPr>
        <p:spPr>
          <a:xfrm>
            <a:off x="840657" y="2991117"/>
            <a:ext cx="6002595" cy="996593"/>
          </a:xfrm>
          <a:prstGeom prst="rect">
            <a:avLst/>
          </a:prstGeom>
          <a:solidFill>
            <a:srgbClr val="FBE3D6">
              <a:alpha val="3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5" name="สี่เหลี่ยมผืนผ้า: มุมมน 4">
            <a:extLst>
              <a:ext uri="{FF2B5EF4-FFF2-40B4-BE49-F238E27FC236}">
                <a16:creationId xmlns:a16="http://schemas.microsoft.com/office/drawing/2014/main" id="{E7D7E97A-E215-A002-442F-32A67F11490C}"/>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29" name="Picture 2" descr="Analog Devices | Disruptive Technology for Clinical Trials">
            <a:extLst>
              <a:ext uri="{FF2B5EF4-FFF2-40B4-BE49-F238E27FC236}">
                <a16:creationId xmlns:a16="http://schemas.microsoft.com/office/drawing/2014/main" id="{23E3B1A3-1F82-F187-558F-AED73AB562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1" name="Picture 2" descr="LOGO_ENkku_color – Faculty of Engineering , Khon Kaen University">
            <a:extLst>
              <a:ext uri="{FF2B5EF4-FFF2-40B4-BE49-F238E27FC236}">
                <a16:creationId xmlns:a16="http://schemas.microsoft.com/office/drawing/2014/main" id="{9B2078CB-1F30-1CCF-A152-C378AB19E470}"/>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12" name="กล่องข้อความ 11">
            <a:extLst>
              <a:ext uri="{FF2B5EF4-FFF2-40B4-BE49-F238E27FC236}">
                <a16:creationId xmlns:a16="http://schemas.microsoft.com/office/drawing/2014/main" id="{8303173F-CF16-968F-B124-3526C1289108}"/>
              </a:ext>
            </a:extLst>
          </p:cNvPr>
          <p:cNvSpPr txBox="1"/>
          <p:nvPr/>
        </p:nvSpPr>
        <p:spPr>
          <a:xfrm>
            <a:off x="840657" y="2144760"/>
            <a:ext cx="5447415" cy="307777"/>
          </a:xfrm>
          <a:prstGeom prst="rect">
            <a:avLst/>
          </a:prstGeom>
          <a:noFill/>
        </p:spPr>
        <p:txBody>
          <a:bodyPr wrap="square">
            <a:spAutoFit/>
          </a:bodyPr>
          <a:lstStyle/>
          <a:p>
            <a:r>
              <a:rPr lang="en-US" sz="1400" dirty="0">
                <a:solidFill>
                  <a:srgbClr val="002060"/>
                </a:solidFill>
                <a:latin typeface="Helvetica" panose="020B0604020202020204" pitchFamily="34" charset="0"/>
                <a:cs typeface="Helvetica" panose="020B0604020202020204" pitchFamily="34" charset="0"/>
              </a:rPr>
              <a:t>	</a:t>
            </a:r>
            <a:endParaRPr lang="th-TH" sz="1400" dirty="0">
              <a:solidFill>
                <a:srgbClr val="002060"/>
              </a:solidFill>
              <a:latin typeface="Helvetica" panose="020B0604020202020204" pitchFamily="34" charset="0"/>
            </a:endParaRPr>
          </a:p>
        </p:txBody>
      </p:sp>
      <p:sp>
        <p:nvSpPr>
          <p:cNvPr id="16" name="กล่องข้อความ 15">
            <a:extLst>
              <a:ext uri="{FF2B5EF4-FFF2-40B4-BE49-F238E27FC236}">
                <a16:creationId xmlns:a16="http://schemas.microsoft.com/office/drawing/2014/main" id="{3F3F0D32-B9D5-6C20-724F-4EF2C17E35D0}"/>
              </a:ext>
            </a:extLst>
          </p:cNvPr>
          <p:cNvSpPr txBox="1"/>
          <p:nvPr/>
        </p:nvSpPr>
        <p:spPr>
          <a:xfrm>
            <a:off x="840657" y="1609857"/>
            <a:ext cx="4754301" cy="461665"/>
          </a:xfrm>
          <a:prstGeom prst="rect">
            <a:avLst/>
          </a:prstGeom>
          <a:noFill/>
        </p:spPr>
        <p:txBody>
          <a:bodyPr wrap="square">
            <a:spAutoFit/>
          </a:bodyPr>
          <a:lstStyle/>
          <a:p>
            <a:r>
              <a:rPr lang="en-US" sz="2400" b="1" dirty="0">
                <a:solidFill>
                  <a:schemeClr val="accent3"/>
                </a:solidFill>
                <a:latin typeface="Helvetica" panose="020B0604020202020204" pitchFamily="34" charset="0"/>
              </a:rPr>
              <a:t>Risks in Manual Defect Sorting</a:t>
            </a:r>
            <a:endParaRPr lang="th-TH" sz="2400" b="1" dirty="0">
              <a:solidFill>
                <a:schemeClr val="accent3"/>
              </a:solidFill>
              <a:latin typeface="Helvetica" panose="020B0604020202020204" pitchFamily="34" charset="0"/>
            </a:endParaRPr>
          </a:p>
        </p:txBody>
      </p:sp>
      <p:sp>
        <p:nvSpPr>
          <p:cNvPr id="19" name="สี่เหลี่ยมผืนผ้า 18">
            <a:extLst>
              <a:ext uri="{FF2B5EF4-FFF2-40B4-BE49-F238E27FC236}">
                <a16:creationId xmlns:a16="http://schemas.microsoft.com/office/drawing/2014/main" id="{CBC70180-2690-1C93-286D-59B3CD3A5A94}"/>
              </a:ext>
            </a:extLst>
          </p:cNvPr>
          <p:cNvSpPr/>
          <p:nvPr/>
        </p:nvSpPr>
        <p:spPr>
          <a:xfrm>
            <a:off x="840658" y="2991117"/>
            <a:ext cx="132080" cy="996593"/>
          </a:xfrm>
          <a:prstGeom prst="rect">
            <a:avLst/>
          </a:prstGeom>
          <a:solidFill>
            <a:srgbClr val="C2F1C8">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22" name="กล่องข้อความ 21">
            <a:extLst>
              <a:ext uri="{FF2B5EF4-FFF2-40B4-BE49-F238E27FC236}">
                <a16:creationId xmlns:a16="http://schemas.microsoft.com/office/drawing/2014/main" id="{4102517B-3A52-89E3-2B31-70B7C2465A0E}"/>
              </a:ext>
            </a:extLst>
          </p:cNvPr>
          <p:cNvSpPr txBox="1"/>
          <p:nvPr/>
        </p:nvSpPr>
        <p:spPr>
          <a:xfrm>
            <a:off x="1122234" y="4371432"/>
            <a:ext cx="5571519" cy="738664"/>
          </a:xfrm>
          <a:prstGeom prst="rect">
            <a:avLst/>
          </a:prstGeom>
          <a:noFill/>
        </p:spPr>
        <p:txBody>
          <a:bodyPr wrap="square">
            <a:spAutoFit/>
          </a:bodyPr>
          <a:lstStyle/>
          <a:p>
            <a:r>
              <a:rPr lang="en-US" sz="1400" b="1" dirty="0">
                <a:solidFill>
                  <a:srgbClr val="002060"/>
                </a:solidFill>
                <a:latin typeface="Helvetica" panose="020B0604020202020204" pitchFamily="34" charset="0"/>
                <a:cs typeface="Helvetica" panose="020B0604020202020204" pitchFamily="34" charset="0"/>
              </a:rPr>
              <a:t>Risk of Sorting Errors: </a:t>
            </a:r>
            <a:r>
              <a:rPr lang="en-US" sz="1400" dirty="0">
                <a:solidFill>
                  <a:srgbClr val="002060"/>
                </a:solidFill>
                <a:latin typeface="Helvetica" panose="020B0604020202020204" pitchFamily="34" charset="0"/>
                <a:cs typeface="Helvetica" panose="020B0604020202020204" pitchFamily="34" charset="0"/>
              </a:rPr>
              <a:t>This lack of system control introduces a significant risk of operators confusing and misplacing parts immediately post-measurement.</a:t>
            </a:r>
          </a:p>
        </p:txBody>
      </p:sp>
      <p:sp>
        <p:nvSpPr>
          <p:cNvPr id="25" name="สี่เหลี่ยมผืนผ้า 24">
            <a:extLst>
              <a:ext uri="{FF2B5EF4-FFF2-40B4-BE49-F238E27FC236}">
                <a16:creationId xmlns:a16="http://schemas.microsoft.com/office/drawing/2014/main" id="{C1DB3012-2CA3-9306-9370-99181DD111C8}"/>
              </a:ext>
            </a:extLst>
          </p:cNvPr>
          <p:cNvSpPr/>
          <p:nvPr/>
        </p:nvSpPr>
        <p:spPr>
          <a:xfrm>
            <a:off x="840658" y="4242468"/>
            <a:ext cx="132080" cy="996593"/>
          </a:xfrm>
          <a:prstGeom prst="rect">
            <a:avLst/>
          </a:prstGeom>
          <a:solidFill>
            <a:srgbClr val="C2F1C8">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27" name="สี่เหลี่ยมผืนผ้า 26">
            <a:extLst>
              <a:ext uri="{FF2B5EF4-FFF2-40B4-BE49-F238E27FC236}">
                <a16:creationId xmlns:a16="http://schemas.microsoft.com/office/drawing/2014/main" id="{093E3DBA-5F77-86F2-F5B2-3E326F2631C4}"/>
              </a:ext>
            </a:extLst>
          </p:cNvPr>
          <p:cNvSpPr/>
          <p:nvPr/>
        </p:nvSpPr>
        <p:spPr>
          <a:xfrm>
            <a:off x="840658" y="5493819"/>
            <a:ext cx="132080" cy="996593"/>
          </a:xfrm>
          <a:prstGeom prst="rect">
            <a:avLst/>
          </a:prstGeom>
          <a:solidFill>
            <a:srgbClr val="C2F1C8">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30" name="กล่องข้อความ 29">
            <a:extLst>
              <a:ext uri="{FF2B5EF4-FFF2-40B4-BE49-F238E27FC236}">
                <a16:creationId xmlns:a16="http://schemas.microsoft.com/office/drawing/2014/main" id="{D9C013A9-F2D4-B49D-70ED-CE6774FFEC73}"/>
              </a:ext>
            </a:extLst>
          </p:cNvPr>
          <p:cNvSpPr txBox="1"/>
          <p:nvPr/>
        </p:nvSpPr>
        <p:spPr>
          <a:xfrm>
            <a:off x="1122234" y="3012360"/>
            <a:ext cx="5571519" cy="954107"/>
          </a:xfrm>
          <a:prstGeom prst="rect">
            <a:avLst/>
          </a:prstGeom>
          <a:noFill/>
        </p:spPr>
        <p:txBody>
          <a:bodyPr wrap="square">
            <a:spAutoFit/>
          </a:bodyPr>
          <a:lstStyle/>
          <a:p>
            <a:r>
              <a:rPr lang="en-US" sz="1400" b="1" dirty="0">
                <a:solidFill>
                  <a:srgbClr val="002060"/>
                </a:solidFill>
                <a:latin typeface="Helvetica" panose="020B0604020202020204" pitchFamily="34" charset="0"/>
                <a:cs typeface="Helvetica" panose="020B0604020202020204" pitchFamily="34" charset="0"/>
              </a:rPr>
              <a:t>No Physical Enforcement: </a:t>
            </a:r>
            <a:r>
              <a:rPr lang="en-US" sz="1400" dirty="0">
                <a:solidFill>
                  <a:srgbClr val="002060"/>
                </a:solidFill>
                <a:latin typeface="Helvetica" panose="020B0604020202020204" pitchFamily="34" charset="0"/>
                <a:cs typeface="Helvetica" panose="020B0604020202020204" pitchFamily="34" charset="0"/>
              </a:rPr>
              <a:t>The current process relies entirely on the operator's visual judgment and manual handling. There is no mechanical interlock or physical barrier to actively prevent the mixing of acceptable (Good) and defective (NG) units.</a:t>
            </a:r>
          </a:p>
        </p:txBody>
      </p:sp>
      <p:sp>
        <p:nvSpPr>
          <p:cNvPr id="33" name="กล่องข้อความ 32">
            <a:extLst>
              <a:ext uri="{FF2B5EF4-FFF2-40B4-BE49-F238E27FC236}">
                <a16:creationId xmlns:a16="http://schemas.microsoft.com/office/drawing/2014/main" id="{C7A5E926-291E-6F29-2776-38CCDDCB8D64}"/>
              </a:ext>
            </a:extLst>
          </p:cNvPr>
          <p:cNvSpPr txBox="1"/>
          <p:nvPr/>
        </p:nvSpPr>
        <p:spPr>
          <a:xfrm>
            <a:off x="1122234" y="5515062"/>
            <a:ext cx="5571519" cy="954107"/>
          </a:xfrm>
          <a:prstGeom prst="rect">
            <a:avLst/>
          </a:prstGeom>
          <a:noFill/>
        </p:spPr>
        <p:txBody>
          <a:bodyPr wrap="square">
            <a:spAutoFit/>
          </a:bodyPr>
          <a:lstStyle/>
          <a:p>
            <a:r>
              <a:rPr lang="en-US" sz="1400" b="1" dirty="0">
                <a:solidFill>
                  <a:srgbClr val="002060"/>
                </a:solidFill>
                <a:latin typeface="Helvetica" panose="020B0604020202020204" pitchFamily="34" charset="0"/>
                <a:cs typeface="Helvetica" panose="020B0604020202020204" pitchFamily="34" charset="0"/>
              </a:rPr>
              <a:t>Severe Business Impact: </a:t>
            </a:r>
            <a:r>
              <a:rPr lang="en-US" sz="1400" dirty="0">
                <a:solidFill>
                  <a:srgbClr val="002060"/>
                </a:solidFill>
                <a:latin typeface="Helvetica" panose="020B0604020202020204" pitchFamily="34" charset="0"/>
                <a:cs typeface="Helvetica" panose="020B0604020202020204" pitchFamily="34" charset="0"/>
              </a:rPr>
              <a:t>If an NG part mistakenly slips into the actual testing line, even a micron-level dimensional deviation can lead to contact pin misalignment, resulting in unexpected yield drops or mechanical wear.</a:t>
            </a:r>
            <a:endParaRPr lang="th-TH" sz="1400" dirty="0">
              <a:solidFill>
                <a:srgbClr val="002060"/>
              </a:solidFill>
              <a:latin typeface="Helvetica" panose="020B0604020202020204" pitchFamily="34" charset="0"/>
            </a:endParaRPr>
          </a:p>
        </p:txBody>
      </p:sp>
      <p:sp>
        <p:nvSpPr>
          <p:cNvPr id="37" name="กล่องข้อความ 36">
            <a:extLst>
              <a:ext uri="{FF2B5EF4-FFF2-40B4-BE49-F238E27FC236}">
                <a16:creationId xmlns:a16="http://schemas.microsoft.com/office/drawing/2014/main" id="{EEB5C6DC-BBB9-D9F0-6C95-C7D8604B9D89}"/>
              </a:ext>
            </a:extLst>
          </p:cNvPr>
          <p:cNvSpPr txBox="1"/>
          <p:nvPr/>
        </p:nvSpPr>
        <p:spPr>
          <a:xfrm>
            <a:off x="840657" y="2144760"/>
            <a:ext cx="5447415" cy="738664"/>
          </a:xfrm>
          <a:prstGeom prst="rect">
            <a:avLst/>
          </a:prstGeom>
          <a:noFill/>
        </p:spPr>
        <p:txBody>
          <a:bodyPr wrap="square">
            <a:spAutoFit/>
          </a:bodyPr>
          <a:lstStyle/>
          <a:p>
            <a:r>
              <a:rPr lang="en-US" sz="1400" dirty="0">
                <a:solidFill>
                  <a:srgbClr val="002060"/>
                </a:solidFill>
                <a:latin typeface="Helvetica" panose="020B0604020202020204" pitchFamily="34" charset="0"/>
                <a:cs typeface="Helvetica" panose="020B0604020202020204" pitchFamily="34" charset="0"/>
              </a:rPr>
              <a:t>	Manual sorting of parts post-measurement introduces a significant risk of operators confusing and mixing up Good and NG units.</a:t>
            </a:r>
            <a:endParaRPr lang="th-TH" sz="1400" dirty="0">
              <a:solidFill>
                <a:srgbClr val="002060"/>
              </a:solidFill>
              <a:latin typeface="Helvetica" panose="020B0604020202020204" pitchFamily="34" charset="0"/>
            </a:endParaRPr>
          </a:p>
        </p:txBody>
      </p:sp>
      <p:pic>
        <p:nvPicPr>
          <p:cNvPr id="8" name="รูปภาพ 7">
            <a:extLst>
              <a:ext uri="{FF2B5EF4-FFF2-40B4-BE49-F238E27FC236}">
                <a16:creationId xmlns:a16="http://schemas.microsoft.com/office/drawing/2014/main" id="{5DD5BE43-89B6-0489-6984-C6A45824DBF3}"/>
              </a:ext>
            </a:extLst>
          </p:cNvPr>
          <p:cNvPicPr>
            <a:picLocks noChangeAspect="1"/>
          </p:cNvPicPr>
          <p:nvPr/>
        </p:nvPicPr>
        <p:blipFill rotWithShape="1">
          <a:blip r:embed="rId5">
            <a:extLst>
              <a:ext uri="{28A0092B-C50C-407E-A947-70E740481C1C}">
                <a14:useLocalDpi xmlns:a14="http://schemas.microsoft.com/office/drawing/2010/main" val="0"/>
              </a:ext>
            </a:extLst>
          </a:blip>
          <a:srcRect l="12500" r="12500"/>
          <a:stretch>
            <a:fillRect/>
          </a:stretch>
        </p:blipFill>
        <p:spPr>
          <a:xfrm rot="5400000">
            <a:off x="7385558" y="1899579"/>
            <a:ext cx="4176261" cy="4176261"/>
          </a:xfrm>
          <a:prstGeom prst="rect">
            <a:avLst/>
          </a:prstGeom>
        </p:spPr>
      </p:pic>
      <p:sp>
        <p:nvSpPr>
          <p:cNvPr id="3" name="สี่เหลี่ยมผืนผ้า 2">
            <a:extLst>
              <a:ext uri="{FF2B5EF4-FFF2-40B4-BE49-F238E27FC236}">
                <a16:creationId xmlns:a16="http://schemas.microsoft.com/office/drawing/2014/main" id="{84A57276-AA2B-23BD-DE93-CFA64D1AD2D7}"/>
              </a:ext>
            </a:extLst>
          </p:cNvPr>
          <p:cNvSpPr/>
          <p:nvPr/>
        </p:nvSpPr>
        <p:spPr>
          <a:xfrm>
            <a:off x="432246" y="533608"/>
            <a:ext cx="3699808" cy="618321"/>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6" name="สี่เหลี่ยมผืนผ้า 5">
            <a:extLst>
              <a:ext uri="{FF2B5EF4-FFF2-40B4-BE49-F238E27FC236}">
                <a16:creationId xmlns:a16="http://schemas.microsoft.com/office/drawing/2014/main" id="{763B6531-FADE-03F4-865D-780C556732C3}"/>
              </a:ext>
            </a:extLst>
          </p:cNvPr>
          <p:cNvSpPr/>
          <p:nvPr/>
        </p:nvSpPr>
        <p:spPr>
          <a:xfrm>
            <a:off x="432246" y="533608"/>
            <a:ext cx="132080" cy="61832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9" name="กล่องข้อความ 8">
            <a:extLst>
              <a:ext uri="{FF2B5EF4-FFF2-40B4-BE49-F238E27FC236}">
                <a16:creationId xmlns:a16="http://schemas.microsoft.com/office/drawing/2014/main" id="{6381FE95-DB37-1B0C-920B-77DCB48201F2}"/>
              </a:ext>
            </a:extLst>
          </p:cNvPr>
          <p:cNvSpPr txBox="1">
            <a:spLocks/>
          </p:cNvSpPr>
          <p:nvPr/>
        </p:nvSpPr>
        <p:spPr>
          <a:xfrm>
            <a:off x="753489" y="636784"/>
            <a:ext cx="3246316" cy="461665"/>
          </a:xfrm>
          <a:prstGeom prst="rect">
            <a:avLst/>
          </a:prstGeom>
          <a:noFill/>
        </p:spPr>
        <p:txBody>
          <a:bodyPr wrap="square" rtlCol="0">
            <a:spAutoFit/>
          </a:bodyPr>
          <a:lstStyle/>
          <a:p>
            <a:r>
              <a:rPr lang="en-US" sz="2400" b="1" dirty="0">
                <a:solidFill>
                  <a:srgbClr val="002060"/>
                </a:solidFill>
                <a:latin typeface="Helvetica" panose="020B0604020202020204" pitchFamily="34" charset="0"/>
                <a:cs typeface="Helvetica" panose="020B0604020202020204" pitchFamily="34" charset="0"/>
              </a:rPr>
              <a:t>Problem Statements</a:t>
            </a:r>
            <a:endParaRPr lang="th-TH" sz="2400" b="1" dirty="0">
              <a:solidFill>
                <a:srgbClr val="002060"/>
              </a:solidFill>
              <a:latin typeface="Helvetica" panose="020B0604020202020204" pitchFamily="34" charset="0"/>
              <a:cs typeface="Mitr" panose="00000500000000000000" pitchFamily="2" charset="-34"/>
            </a:endParaRPr>
          </a:p>
        </p:txBody>
      </p:sp>
    </p:spTree>
    <p:extLst>
      <p:ext uri="{BB962C8B-B14F-4D97-AF65-F5344CB8AC3E}">
        <p14:creationId xmlns:p14="http://schemas.microsoft.com/office/powerpoint/2010/main" val="614551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7DD2C-C8B1-65EC-0F72-06D5408952E0}"/>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1DB31D00-E414-0341-30B2-E459B5ADA7BF}"/>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4" name="Picture 2" descr="Analog Devices | Disruptive Technology for Clinical Trials">
            <a:extLst>
              <a:ext uri="{FF2B5EF4-FFF2-40B4-BE49-F238E27FC236}">
                <a16:creationId xmlns:a16="http://schemas.microsoft.com/office/drawing/2014/main" id="{F6A16A78-B453-AAE3-E8C9-BBED1D6942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5" name="Picture 2" descr="LOGO_ENkku_color – Faculty of Engineering , Khon Kaen University">
            <a:extLst>
              <a:ext uri="{FF2B5EF4-FFF2-40B4-BE49-F238E27FC236}">
                <a16:creationId xmlns:a16="http://schemas.microsoft.com/office/drawing/2014/main" id="{EB1FE782-731C-12FA-3FC9-C7C0CF2A3E1D}"/>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13" name="กล่องข้อความ 12">
            <a:extLst>
              <a:ext uri="{FF2B5EF4-FFF2-40B4-BE49-F238E27FC236}">
                <a16:creationId xmlns:a16="http://schemas.microsoft.com/office/drawing/2014/main" id="{CEBE7193-711E-D7CE-50D8-DB9AEF39C862}"/>
              </a:ext>
            </a:extLst>
          </p:cNvPr>
          <p:cNvSpPr txBox="1"/>
          <p:nvPr/>
        </p:nvSpPr>
        <p:spPr>
          <a:xfrm>
            <a:off x="1823714" y="5506448"/>
            <a:ext cx="2865699" cy="400110"/>
          </a:xfrm>
          <a:prstGeom prst="rect">
            <a:avLst/>
          </a:prstGeom>
          <a:noFill/>
        </p:spPr>
        <p:txBody>
          <a:bodyPr wrap="square">
            <a:spAutoFit/>
          </a:bodyPr>
          <a:lstStyle/>
          <a:p>
            <a:pPr algn="ctr"/>
            <a:r>
              <a:rPr lang="en-US" sz="2000" dirty="0">
                <a:solidFill>
                  <a:srgbClr val="002060"/>
                </a:solidFill>
                <a:latin typeface="Helvetica" panose="020B0604020202020204" pitchFamily="34" charset="0"/>
                <a:cs typeface="Helvetica" panose="020B0604020202020204" pitchFamily="34" charset="0"/>
              </a:rPr>
              <a:t>By Machine Platform</a:t>
            </a:r>
            <a:endParaRPr lang="th-TH" sz="2000" dirty="0">
              <a:solidFill>
                <a:srgbClr val="002060"/>
              </a:solidFill>
              <a:latin typeface="Helvetica" panose="020B0604020202020204" pitchFamily="34" charset="0"/>
            </a:endParaRPr>
          </a:p>
        </p:txBody>
      </p:sp>
      <p:sp>
        <p:nvSpPr>
          <p:cNvPr id="15" name="กล่องข้อความ 14">
            <a:extLst>
              <a:ext uri="{FF2B5EF4-FFF2-40B4-BE49-F238E27FC236}">
                <a16:creationId xmlns:a16="http://schemas.microsoft.com/office/drawing/2014/main" id="{3B038417-9AE2-D4EC-4E85-B5141B6C008F}"/>
              </a:ext>
            </a:extLst>
          </p:cNvPr>
          <p:cNvSpPr txBox="1"/>
          <p:nvPr/>
        </p:nvSpPr>
        <p:spPr>
          <a:xfrm>
            <a:off x="7591423" y="5506448"/>
            <a:ext cx="2865699" cy="400110"/>
          </a:xfrm>
          <a:prstGeom prst="rect">
            <a:avLst/>
          </a:prstGeom>
          <a:noFill/>
        </p:spPr>
        <p:txBody>
          <a:bodyPr wrap="square">
            <a:spAutoFit/>
          </a:bodyPr>
          <a:lstStyle/>
          <a:p>
            <a:pPr algn="ctr"/>
            <a:r>
              <a:rPr lang="en-US" sz="2000" dirty="0">
                <a:solidFill>
                  <a:srgbClr val="002060"/>
                </a:solidFill>
                <a:latin typeface="Helvetica" panose="020B0604020202020204" pitchFamily="34" charset="0"/>
                <a:cs typeface="Helvetica" panose="020B0604020202020204" pitchFamily="34" charset="0"/>
              </a:rPr>
              <a:t>By Shape</a:t>
            </a:r>
            <a:endParaRPr lang="th-TH" sz="2000" dirty="0">
              <a:solidFill>
                <a:srgbClr val="002060"/>
              </a:solidFill>
              <a:latin typeface="Helvetica" panose="020B0604020202020204" pitchFamily="34" charset="0"/>
            </a:endParaRPr>
          </a:p>
        </p:txBody>
      </p:sp>
      <p:pic>
        <p:nvPicPr>
          <p:cNvPr id="3" name="รูปภาพ 2">
            <a:extLst>
              <a:ext uri="{FF2B5EF4-FFF2-40B4-BE49-F238E27FC236}">
                <a16:creationId xmlns:a16="http://schemas.microsoft.com/office/drawing/2014/main" id="{2B7A0BF0-2AA7-55FC-2BB3-223AAAC5AF2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17129" y="1737003"/>
            <a:ext cx="5678870" cy="3295560"/>
          </a:xfrm>
          <a:prstGeom prst="rect">
            <a:avLst/>
          </a:prstGeom>
        </p:spPr>
      </p:pic>
      <p:pic>
        <p:nvPicPr>
          <p:cNvPr id="8" name="รูปภาพ 7">
            <a:extLst>
              <a:ext uri="{FF2B5EF4-FFF2-40B4-BE49-F238E27FC236}">
                <a16:creationId xmlns:a16="http://schemas.microsoft.com/office/drawing/2014/main" id="{BF9F65E5-7B8B-3CAC-DC69-792249F8AEB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262147" y="1737003"/>
            <a:ext cx="5524253" cy="3295560"/>
          </a:xfrm>
          <a:prstGeom prst="rect">
            <a:avLst/>
          </a:prstGeom>
        </p:spPr>
      </p:pic>
      <p:sp>
        <p:nvSpPr>
          <p:cNvPr id="11" name="กล่องข้อความ 10">
            <a:extLst>
              <a:ext uri="{FF2B5EF4-FFF2-40B4-BE49-F238E27FC236}">
                <a16:creationId xmlns:a16="http://schemas.microsoft.com/office/drawing/2014/main" id="{BAF0671E-AD38-10D0-27F9-4C5789A72000}"/>
              </a:ext>
            </a:extLst>
          </p:cNvPr>
          <p:cNvSpPr txBox="1">
            <a:spLocks/>
          </p:cNvSpPr>
          <p:nvPr/>
        </p:nvSpPr>
        <p:spPr>
          <a:xfrm>
            <a:off x="784122" y="721243"/>
            <a:ext cx="4800600" cy="461665"/>
          </a:xfrm>
          <a:prstGeom prst="rect">
            <a:avLst/>
          </a:prstGeom>
          <a:noFill/>
        </p:spPr>
        <p:txBody>
          <a:bodyPr wrap="square" rtlCol="0">
            <a:spAutoFit/>
          </a:bodyPr>
          <a:lstStyle/>
          <a:p>
            <a:r>
              <a:rPr lang="en-US" sz="2400" b="1" dirty="0">
                <a:solidFill>
                  <a:srgbClr val="002060"/>
                </a:solidFill>
                <a:latin typeface="Helvetica" panose="020B0604020202020204" pitchFamily="34" charset="0"/>
                <a:cs typeface="Helvetica" panose="020B0604020202020204" pitchFamily="34" charset="0"/>
              </a:rPr>
              <a:t>Quantity of ALPLs</a:t>
            </a:r>
            <a:endParaRPr lang="th-TH" sz="2400" b="1" dirty="0">
              <a:solidFill>
                <a:srgbClr val="002060"/>
              </a:solidFill>
              <a:latin typeface="Helvetica" panose="020B0604020202020204" pitchFamily="34" charset="0"/>
              <a:cs typeface="Mitr" panose="00000500000000000000" pitchFamily="2" charset="-34"/>
            </a:endParaRPr>
          </a:p>
        </p:txBody>
      </p:sp>
      <p:sp>
        <p:nvSpPr>
          <p:cNvPr id="12" name="กล่องข้อความ 11">
            <a:extLst>
              <a:ext uri="{FF2B5EF4-FFF2-40B4-BE49-F238E27FC236}">
                <a16:creationId xmlns:a16="http://schemas.microsoft.com/office/drawing/2014/main" id="{6A1EDB44-7AAA-6123-BEC8-C25335D0D74F}"/>
              </a:ext>
            </a:extLst>
          </p:cNvPr>
          <p:cNvSpPr txBox="1"/>
          <p:nvPr/>
        </p:nvSpPr>
        <p:spPr>
          <a:xfrm>
            <a:off x="2976239" y="2561343"/>
            <a:ext cx="2853061" cy="57708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sz="1050" b="1" dirty="0">
                <a:solidFill>
                  <a:srgbClr val="002060"/>
                </a:solidFill>
                <a:latin typeface="Helvetica" panose="020B0604020202020204" pitchFamily="34" charset="0"/>
                <a:cs typeface="Helvetica" panose="020B0604020202020204" pitchFamily="34" charset="0"/>
              </a:rPr>
              <a:t>DELD8880</a:t>
            </a:r>
            <a:r>
              <a:rPr lang="en-US" sz="1050" dirty="0">
                <a:solidFill>
                  <a:srgbClr val="002060"/>
                </a:solidFill>
                <a:latin typeface="Helvetica" panose="020B0604020202020204" pitchFamily="34" charset="0"/>
                <a:cs typeface="Helvetica" panose="020B0604020202020204" pitchFamily="34" charset="0"/>
              </a:rPr>
              <a:t> has the highest quantity of ALPLs (900 units) from total unit of all machine </a:t>
            </a:r>
            <a:endParaRPr lang="th-TH" sz="1050" dirty="0">
              <a:solidFill>
                <a:srgbClr val="002060"/>
              </a:solidFill>
              <a:latin typeface="Helvetica" panose="020B0604020202020204" pitchFamily="34" charset="0"/>
            </a:endParaRPr>
          </a:p>
        </p:txBody>
      </p:sp>
      <p:cxnSp>
        <p:nvCxnSpPr>
          <p:cNvPr id="28" name="ลูกศรเชื่อมต่อแบบตรง 27">
            <a:extLst>
              <a:ext uri="{FF2B5EF4-FFF2-40B4-BE49-F238E27FC236}">
                <a16:creationId xmlns:a16="http://schemas.microsoft.com/office/drawing/2014/main" id="{A2E20CCD-5169-DB94-412E-41745A01C953}"/>
              </a:ext>
            </a:extLst>
          </p:cNvPr>
          <p:cNvCxnSpPr>
            <a:cxnSpLocks/>
            <a:stCxn id="12" idx="1"/>
          </p:cNvCxnSpPr>
          <p:nvPr/>
        </p:nvCxnSpPr>
        <p:spPr>
          <a:xfrm flipH="1" flipV="1">
            <a:off x="2065020" y="2849883"/>
            <a:ext cx="91121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กล่องข้อความ 30">
            <a:extLst>
              <a:ext uri="{FF2B5EF4-FFF2-40B4-BE49-F238E27FC236}">
                <a16:creationId xmlns:a16="http://schemas.microsoft.com/office/drawing/2014/main" id="{9E28F43B-06AB-CA1B-8476-D878E6AABCA4}"/>
              </a:ext>
            </a:extLst>
          </p:cNvPr>
          <p:cNvSpPr txBox="1"/>
          <p:nvPr/>
        </p:nvSpPr>
        <p:spPr>
          <a:xfrm>
            <a:off x="8921810" y="2561343"/>
            <a:ext cx="2853061" cy="57708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sz="1050" b="1" dirty="0">
                <a:solidFill>
                  <a:srgbClr val="002060"/>
                </a:solidFill>
                <a:latin typeface="Helvetica" panose="020B0604020202020204" pitchFamily="34" charset="0"/>
                <a:cs typeface="Helvetica" panose="020B0604020202020204" pitchFamily="34" charset="0"/>
              </a:rPr>
              <a:t>HT Shape </a:t>
            </a:r>
            <a:r>
              <a:rPr lang="en-US" sz="1050" dirty="0">
                <a:solidFill>
                  <a:srgbClr val="002060"/>
                </a:solidFill>
                <a:latin typeface="Helvetica" panose="020B0604020202020204" pitchFamily="34" charset="0"/>
                <a:cs typeface="Helvetica" panose="020B0604020202020204" pitchFamily="34" charset="0"/>
              </a:rPr>
              <a:t>has the highest quantity among all categories (1,756 units), representing nearly half of the total ALPLs</a:t>
            </a:r>
          </a:p>
        </p:txBody>
      </p:sp>
      <p:cxnSp>
        <p:nvCxnSpPr>
          <p:cNvPr id="32" name="ลูกศรเชื่อมต่อแบบตรง 31">
            <a:extLst>
              <a:ext uri="{FF2B5EF4-FFF2-40B4-BE49-F238E27FC236}">
                <a16:creationId xmlns:a16="http://schemas.microsoft.com/office/drawing/2014/main" id="{EACF1DE4-534A-28AA-5D68-F9E87A1AA2A1}"/>
              </a:ext>
            </a:extLst>
          </p:cNvPr>
          <p:cNvCxnSpPr>
            <a:cxnSpLocks/>
            <a:stCxn id="31" idx="1"/>
          </p:cNvCxnSpPr>
          <p:nvPr/>
        </p:nvCxnSpPr>
        <p:spPr>
          <a:xfrm flipH="1" flipV="1">
            <a:off x="8010591" y="2849883"/>
            <a:ext cx="91121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4139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88159-B110-01BD-59AB-8C9CC4392D17}"/>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55CDE15D-AB0F-4455-D190-D313A82E55D5}"/>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6" name="Picture 2" descr="Analog Devices | Disruptive Technology for Clinical Trials">
            <a:extLst>
              <a:ext uri="{FF2B5EF4-FFF2-40B4-BE49-F238E27FC236}">
                <a16:creationId xmlns:a16="http://schemas.microsoft.com/office/drawing/2014/main" id="{2DBE1657-B892-2643-8642-6BE6E01BEB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 name="Picture 2" descr="LOGO_ENkku_color – Faculty of Engineering , Khon Kaen University">
            <a:extLst>
              <a:ext uri="{FF2B5EF4-FFF2-40B4-BE49-F238E27FC236}">
                <a16:creationId xmlns:a16="http://schemas.microsoft.com/office/drawing/2014/main" id="{0AF058D7-28C3-54D7-3DE4-67C8E513F2DF}"/>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pic>
        <p:nvPicPr>
          <p:cNvPr id="9" name="รูปภาพ 8">
            <a:extLst>
              <a:ext uri="{FF2B5EF4-FFF2-40B4-BE49-F238E27FC236}">
                <a16:creationId xmlns:a16="http://schemas.microsoft.com/office/drawing/2014/main" id="{3061B3F3-E3BE-6FB4-D8A6-C7EE09B6D5E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851661" y="1529363"/>
            <a:ext cx="8488678" cy="4727352"/>
          </a:xfrm>
          <a:prstGeom prst="rect">
            <a:avLst/>
          </a:prstGeom>
        </p:spPr>
      </p:pic>
      <p:sp>
        <p:nvSpPr>
          <p:cNvPr id="3" name="กล่องข้อความ 2">
            <a:extLst>
              <a:ext uri="{FF2B5EF4-FFF2-40B4-BE49-F238E27FC236}">
                <a16:creationId xmlns:a16="http://schemas.microsoft.com/office/drawing/2014/main" id="{15AA4AA8-E913-B8E8-A3A2-36B59EF0405C}"/>
              </a:ext>
            </a:extLst>
          </p:cNvPr>
          <p:cNvSpPr txBox="1">
            <a:spLocks/>
          </p:cNvSpPr>
          <p:nvPr/>
        </p:nvSpPr>
        <p:spPr>
          <a:xfrm>
            <a:off x="784122" y="721243"/>
            <a:ext cx="4800600" cy="461665"/>
          </a:xfrm>
          <a:prstGeom prst="rect">
            <a:avLst/>
          </a:prstGeom>
          <a:noFill/>
        </p:spPr>
        <p:txBody>
          <a:bodyPr wrap="square" rtlCol="0">
            <a:spAutoFit/>
          </a:bodyPr>
          <a:lstStyle/>
          <a:p>
            <a:r>
              <a:rPr lang="en-US" sz="2400" b="1" dirty="0">
                <a:solidFill>
                  <a:srgbClr val="002060"/>
                </a:solidFill>
                <a:latin typeface="Helvetica" panose="020B0604020202020204" pitchFamily="34" charset="0"/>
                <a:cs typeface="Helvetica" panose="020B0604020202020204" pitchFamily="34" charset="0"/>
              </a:rPr>
              <a:t>Measurement Frequency</a:t>
            </a:r>
            <a:endParaRPr lang="th-TH" sz="2400" b="1" dirty="0">
              <a:solidFill>
                <a:srgbClr val="002060"/>
              </a:solidFill>
              <a:latin typeface="Helvetica" panose="020B0604020202020204" pitchFamily="34" charset="0"/>
              <a:cs typeface="Mitr" panose="00000500000000000000" pitchFamily="2" charset="-34"/>
            </a:endParaRPr>
          </a:p>
        </p:txBody>
      </p:sp>
      <p:sp>
        <p:nvSpPr>
          <p:cNvPr id="2" name="กล่องข้อความ 1">
            <a:extLst>
              <a:ext uri="{FF2B5EF4-FFF2-40B4-BE49-F238E27FC236}">
                <a16:creationId xmlns:a16="http://schemas.microsoft.com/office/drawing/2014/main" id="{8AAB710C-35B2-08EF-1A8C-9C92F6CD3C3F}"/>
              </a:ext>
            </a:extLst>
          </p:cNvPr>
          <p:cNvSpPr txBox="1"/>
          <p:nvPr/>
        </p:nvSpPr>
        <p:spPr>
          <a:xfrm>
            <a:off x="6219310" y="2738098"/>
            <a:ext cx="5087838" cy="1138773"/>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sz="1800" dirty="0">
                <a:solidFill>
                  <a:srgbClr val="002060"/>
                </a:solidFill>
                <a:latin typeface="Helvetica" panose="020B0604020202020204" pitchFamily="34" charset="0"/>
                <a:cs typeface="Helvetica" panose="020B0604020202020204" pitchFamily="34" charset="0"/>
              </a:rPr>
              <a:t>HT9046 has the highest measurement frequency (36 times/week), exceeding all other platforms combined</a:t>
            </a:r>
          </a:p>
          <a:p>
            <a:pPr algn="ctr"/>
            <a:r>
              <a:rPr lang="en-US" sz="1400" b="1" dirty="0">
                <a:solidFill>
                  <a:srgbClr val="FF0000"/>
                </a:solidFill>
                <a:latin typeface="Helvetica" panose="020B0604020202020204" pitchFamily="34" charset="0"/>
                <a:cs typeface="Helvetica" panose="020B0604020202020204" pitchFamily="34" charset="0"/>
              </a:rPr>
              <a:t>making it the priority focus for system development.</a:t>
            </a:r>
          </a:p>
        </p:txBody>
      </p:sp>
      <p:cxnSp>
        <p:nvCxnSpPr>
          <p:cNvPr id="5" name="ลูกศรเชื่อมต่อแบบตรง 4">
            <a:extLst>
              <a:ext uri="{FF2B5EF4-FFF2-40B4-BE49-F238E27FC236}">
                <a16:creationId xmlns:a16="http://schemas.microsoft.com/office/drawing/2014/main" id="{D07AB6ED-AA5B-25A9-7408-DE4E4BE2B280}"/>
              </a:ext>
            </a:extLst>
          </p:cNvPr>
          <p:cNvCxnSpPr>
            <a:cxnSpLocks/>
          </p:cNvCxnSpPr>
          <p:nvPr/>
        </p:nvCxnSpPr>
        <p:spPr>
          <a:xfrm flipH="1">
            <a:off x="4152900" y="3307485"/>
            <a:ext cx="2053710"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5335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96824-DF97-9EA7-B919-20D961B127AD}"/>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96A23422-C7BC-5141-0157-D418EA21CA9F}"/>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4" name="Picture 2" descr="Analog Devices | Disruptive Technology for Clinical Trials">
            <a:extLst>
              <a:ext uri="{FF2B5EF4-FFF2-40B4-BE49-F238E27FC236}">
                <a16:creationId xmlns:a16="http://schemas.microsoft.com/office/drawing/2014/main" id="{CA77FE08-4BD3-98CF-FE05-B5748C464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 name="Picture 2" descr="LOGO_ENkku_color – Faculty of Engineering , Khon Kaen University">
            <a:extLst>
              <a:ext uri="{FF2B5EF4-FFF2-40B4-BE49-F238E27FC236}">
                <a16:creationId xmlns:a16="http://schemas.microsoft.com/office/drawing/2014/main" id="{7065291F-3913-4072-A444-B1318E849157}"/>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25" name="กล่องข้อความ 24">
            <a:extLst>
              <a:ext uri="{FF2B5EF4-FFF2-40B4-BE49-F238E27FC236}">
                <a16:creationId xmlns:a16="http://schemas.microsoft.com/office/drawing/2014/main" id="{D8DAFF4B-360F-AE3D-FC7A-8F21095E8C4D}"/>
              </a:ext>
            </a:extLst>
          </p:cNvPr>
          <p:cNvSpPr txBox="1">
            <a:spLocks/>
          </p:cNvSpPr>
          <p:nvPr/>
        </p:nvSpPr>
        <p:spPr>
          <a:xfrm>
            <a:off x="648733" y="442731"/>
            <a:ext cx="10127422" cy="1661993"/>
          </a:xfrm>
          <a:prstGeom prst="rect">
            <a:avLst/>
          </a:prstGeom>
          <a:noFill/>
        </p:spPr>
        <p:txBody>
          <a:bodyPr wrap="square" rtlCol="0">
            <a:spAutoFit/>
          </a:bodyPr>
          <a:lstStyle/>
          <a:p>
            <a:r>
              <a:rPr lang="en-US" b="1" dirty="0">
                <a:solidFill>
                  <a:schemeClr val="bg1">
                    <a:lumMod val="75000"/>
                  </a:schemeClr>
                </a:solidFill>
                <a:latin typeface="Helvetica" panose="020B0604020202020204" pitchFamily="34" charset="0"/>
                <a:cs typeface="Helvetica" panose="020B0604020202020204" pitchFamily="34" charset="0"/>
              </a:rPr>
              <a:t>Scope (1 page)</a:t>
            </a:r>
          </a:p>
          <a:p>
            <a:r>
              <a:rPr lang="en-US" sz="2000" b="1" dirty="0">
                <a:solidFill>
                  <a:schemeClr val="bg1">
                    <a:lumMod val="75000"/>
                  </a:schemeClr>
                </a:solidFill>
                <a:latin typeface="Helvetica" panose="020B0604020202020204" pitchFamily="34" charset="0"/>
                <a:cs typeface="Helvetica" panose="020B0604020202020204" pitchFamily="34" charset="0"/>
              </a:rPr>
              <a:t>Topic of scope selection</a:t>
            </a:r>
            <a:endParaRPr lang="en-US" dirty="0">
              <a:solidFill>
                <a:schemeClr val="bg1">
                  <a:lumMod val="75000"/>
                </a:schemeClr>
              </a:solidFill>
              <a:latin typeface="Helvetica" panose="020B0604020202020204" pitchFamily="34" charset="0"/>
              <a:cs typeface="Helvetica" panose="020B0604020202020204" pitchFamily="34" charset="0"/>
            </a:endParaRPr>
          </a:p>
          <a:p>
            <a:pPr marL="457200" indent="-457200">
              <a:buFont typeface="Arial" panose="020B0604020202020204" pitchFamily="34" charset="0"/>
              <a:buChar char="•"/>
            </a:pPr>
            <a:r>
              <a:rPr lang="en-US" sz="1800" dirty="0">
                <a:solidFill>
                  <a:schemeClr val="bg1">
                    <a:lumMod val="75000"/>
                  </a:schemeClr>
                </a:solidFill>
                <a:latin typeface="Helvetica" panose="020B0604020202020204" pitchFamily="34" charset="0"/>
                <a:cs typeface="Helvetica" panose="020B0604020202020204" pitchFamily="34" charset="0"/>
              </a:rPr>
              <a:t>Highest measurement frequency</a:t>
            </a:r>
          </a:p>
          <a:p>
            <a:pPr marL="457200" indent="-457200">
              <a:buFont typeface="Arial" panose="020B0604020202020204" pitchFamily="34" charset="0"/>
              <a:buChar char="•"/>
            </a:pPr>
            <a:r>
              <a:rPr lang="en-US" sz="1800" dirty="0">
                <a:solidFill>
                  <a:schemeClr val="bg1">
                    <a:lumMod val="75000"/>
                  </a:schemeClr>
                </a:solidFill>
                <a:latin typeface="Helvetica" panose="020B0604020202020204" pitchFamily="34" charset="0"/>
                <a:cs typeface="Helvetica" panose="020B0604020202020204" pitchFamily="34" charset="0"/>
              </a:rPr>
              <a:t>Largest population</a:t>
            </a:r>
          </a:p>
          <a:p>
            <a:pPr marL="457200" indent="-457200">
              <a:buFont typeface="Arial" panose="020B0604020202020204" pitchFamily="34" charset="0"/>
              <a:buChar char="•"/>
            </a:pPr>
            <a:r>
              <a:rPr lang="en-US" sz="1800" dirty="0">
                <a:solidFill>
                  <a:schemeClr val="bg1">
                    <a:lumMod val="75000"/>
                  </a:schemeClr>
                </a:solidFill>
                <a:latin typeface="Helvetica" panose="020B0604020202020204" pitchFamily="34" charset="0"/>
                <a:cs typeface="Helvetica" panose="020B0604020202020204" pitchFamily="34" charset="0"/>
              </a:rPr>
              <a:t>Broadest impact</a:t>
            </a:r>
            <a:endParaRPr lang="th-TH" sz="1800" dirty="0">
              <a:solidFill>
                <a:schemeClr val="bg1">
                  <a:lumMod val="75000"/>
                </a:schemeClr>
              </a:solidFill>
              <a:latin typeface="Helvetica" panose="020B0604020202020204" pitchFamily="34" charset="0"/>
              <a:cs typeface="Mitr" panose="00000500000000000000" pitchFamily="2" charset="-34"/>
            </a:endParaRPr>
          </a:p>
        </p:txBody>
      </p:sp>
    </p:spTree>
    <p:extLst>
      <p:ext uri="{BB962C8B-B14F-4D97-AF65-F5344CB8AC3E}">
        <p14:creationId xmlns:p14="http://schemas.microsoft.com/office/powerpoint/2010/main" val="972486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DCB57-E9B1-E805-35E8-9168626C191B}"/>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0422DA4E-7004-34A0-5BBF-F584D64C7B61}"/>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
        <p:nvSpPr>
          <p:cNvPr id="16" name="สี่เหลี่ยมผืนผ้า 15">
            <a:extLst>
              <a:ext uri="{FF2B5EF4-FFF2-40B4-BE49-F238E27FC236}">
                <a16:creationId xmlns:a16="http://schemas.microsoft.com/office/drawing/2014/main" id="{D34C49FB-E3D2-776B-E57F-5C06EE0468A3}"/>
              </a:ext>
            </a:extLst>
          </p:cNvPr>
          <p:cNvSpPr/>
          <p:nvPr/>
        </p:nvSpPr>
        <p:spPr>
          <a:xfrm>
            <a:off x="432245" y="533608"/>
            <a:ext cx="1801997" cy="618321"/>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8" name="สี่เหลี่ยมผืนผ้า 17">
            <a:extLst>
              <a:ext uri="{FF2B5EF4-FFF2-40B4-BE49-F238E27FC236}">
                <a16:creationId xmlns:a16="http://schemas.microsoft.com/office/drawing/2014/main" id="{FF4011ED-7621-4D9B-E929-6F803A8FC4A7}"/>
              </a:ext>
            </a:extLst>
          </p:cNvPr>
          <p:cNvSpPr/>
          <p:nvPr/>
        </p:nvSpPr>
        <p:spPr>
          <a:xfrm>
            <a:off x="432246" y="533608"/>
            <a:ext cx="132080" cy="61832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0" name="กล่องข้อความ 19">
            <a:extLst>
              <a:ext uri="{FF2B5EF4-FFF2-40B4-BE49-F238E27FC236}">
                <a16:creationId xmlns:a16="http://schemas.microsoft.com/office/drawing/2014/main" id="{A1B14B0E-E1A5-C5C4-BA89-49EA1E9B0A44}"/>
              </a:ext>
            </a:extLst>
          </p:cNvPr>
          <p:cNvSpPr txBox="1">
            <a:spLocks/>
          </p:cNvSpPr>
          <p:nvPr/>
        </p:nvSpPr>
        <p:spPr>
          <a:xfrm>
            <a:off x="829185" y="611935"/>
            <a:ext cx="1472392" cy="461665"/>
          </a:xfrm>
          <a:prstGeom prst="rect">
            <a:avLst/>
          </a:prstGeom>
          <a:noFill/>
        </p:spPr>
        <p:txBody>
          <a:bodyPr wrap="square" rtlCol="0">
            <a:spAutoFit/>
          </a:bodyPr>
          <a:lstStyle/>
          <a:p>
            <a:r>
              <a:rPr lang="en-US" sz="2400" b="1" dirty="0">
                <a:solidFill>
                  <a:srgbClr val="002060"/>
                </a:solidFill>
                <a:latin typeface="Helvetica" panose="020B0604020202020204" pitchFamily="34" charset="0"/>
                <a:cs typeface="Helvetica" panose="020B0604020202020204" pitchFamily="34" charset="0"/>
              </a:rPr>
              <a:t>Scope</a:t>
            </a:r>
            <a:endParaRPr lang="th-TH" sz="2400" b="1" dirty="0">
              <a:solidFill>
                <a:srgbClr val="002060"/>
              </a:solidFill>
              <a:latin typeface="Helvetica" panose="020B0604020202020204" pitchFamily="34" charset="0"/>
              <a:cs typeface="Mitr" panose="00000500000000000000" pitchFamily="2" charset="-34"/>
            </a:endParaRPr>
          </a:p>
        </p:txBody>
      </p:sp>
      <p:pic>
        <p:nvPicPr>
          <p:cNvPr id="36" name="Picture 2" descr="Analog Devices | Disruptive Technology for Clinical Trials">
            <a:extLst>
              <a:ext uri="{FF2B5EF4-FFF2-40B4-BE49-F238E27FC236}">
                <a16:creationId xmlns:a16="http://schemas.microsoft.com/office/drawing/2014/main" id="{64C0666F-76F3-72E7-CF9D-2E1DC31287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8" name="Picture 2" descr="LOGO_ENkku_color – Faculty of Engineering , Khon Kaen University">
            <a:extLst>
              <a:ext uri="{FF2B5EF4-FFF2-40B4-BE49-F238E27FC236}">
                <a16:creationId xmlns:a16="http://schemas.microsoft.com/office/drawing/2014/main" id="{CB7D0D46-77CD-664C-D296-DF38E6073601}"/>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3" name="กล่องข้อความ 2">
            <a:extLst>
              <a:ext uri="{FF2B5EF4-FFF2-40B4-BE49-F238E27FC236}">
                <a16:creationId xmlns:a16="http://schemas.microsoft.com/office/drawing/2014/main" id="{C97AF446-E23D-4B0F-6D67-F66BF9F4D158}"/>
              </a:ext>
            </a:extLst>
          </p:cNvPr>
          <p:cNvSpPr txBox="1"/>
          <p:nvPr/>
        </p:nvSpPr>
        <p:spPr>
          <a:xfrm>
            <a:off x="694314" y="1586207"/>
            <a:ext cx="10803372" cy="4351191"/>
          </a:xfrm>
          <a:prstGeom prst="rect">
            <a:avLst/>
          </a:prstGeom>
          <a:noFill/>
        </p:spPr>
        <p:txBody>
          <a:bodyPr wrap="square">
            <a:spAutoFit/>
          </a:bodyPr>
          <a:lstStyle/>
          <a:p>
            <a:r>
              <a:rPr lang="en-US" sz="1800" b="1" dirty="0">
                <a:solidFill>
                  <a:srgbClr val="002060"/>
                </a:solidFill>
                <a:latin typeface="Helvetica" panose="020B0604020202020204" pitchFamily="34" charset="0"/>
              </a:rPr>
              <a:t>	</a:t>
            </a:r>
            <a:r>
              <a:rPr lang="en-US" sz="1800" dirty="0">
                <a:solidFill>
                  <a:srgbClr val="002060"/>
                </a:solidFill>
                <a:latin typeface="Helvetica" panose="020B0604020202020204" pitchFamily="34" charset="0"/>
              </a:rPr>
              <a:t>An end-to-end automated inspection system for the Keyence TM-X5065, encompassing both hardware fixture control and a centralized database management system. </a:t>
            </a:r>
          </a:p>
          <a:p>
            <a:endParaRPr lang="en-US" sz="1800" dirty="0">
              <a:solidFill>
                <a:srgbClr val="002060"/>
              </a:solidFill>
              <a:latin typeface="Helvetica" panose="020B0604020202020204" pitchFamily="34" charset="0"/>
            </a:endParaRPr>
          </a:p>
          <a:p>
            <a:r>
              <a:rPr lang="en-US" sz="1800" b="1" dirty="0">
                <a:solidFill>
                  <a:srgbClr val="002060"/>
                </a:solidFill>
                <a:latin typeface="Helvetica" panose="020B0604020202020204" pitchFamily="34" charset="0"/>
              </a:rPr>
              <a:t>Target Scope: </a:t>
            </a:r>
            <a:r>
              <a:rPr lang="en-US" sz="1800" dirty="0">
                <a:solidFill>
                  <a:srgbClr val="002060"/>
                </a:solidFill>
                <a:latin typeface="Helvetica" panose="020B0604020202020204" pitchFamily="34" charset="0"/>
              </a:rPr>
              <a:t>Alignment Plates (ALPL) focusing specifically on the HT Shape. </a:t>
            </a:r>
          </a:p>
          <a:p>
            <a:endParaRPr lang="en-US" sz="1800" dirty="0">
              <a:solidFill>
                <a:srgbClr val="002060"/>
              </a:solidFill>
              <a:latin typeface="Helvetica" panose="020B0604020202020204" pitchFamily="34" charset="0"/>
            </a:endParaRPr>
          </a:p>
          <a:p>
            <a:pPr>
              <a:lnSpc>
                <a:spcPct val="150000"/>
              </a:lnSpc>
            </a:pPr>
            <a:r>
              <a:rPr lang="en-US" sz="1800" b="1" dirty="0">
                <a:solidFill>
                  <a:srgbClr val="002060"/>
                </a:solidFill>
                <a:latin typeface="Helvetica" panose="020B0604020202020204" pitchFamily="34" charset="0"/>
              </a:rPr>
              <a:t>Selection Criteria: </a:t>
            </a:r>
          </a:p>
          <a:p>
            <a:pPr marL="742950" lvl="1" indent="-285750">
              <a:lnSpc>
                <a:spcPct val="150000"/>
              </a:lnSpc>
              <a:buFont typeface="Arial" panose="020B0604020202020204" pitchFamily="34" charset="0"/>
              <a:buChar char="•"/>
            </a:pPr>
            <a:r>
              <a:rPr lang="en-US" sz="1800" b="1" dirty="0">
                <a:solidFill>
                  <a:srgbClr val="002060"/>
                </a:solidFill>
                <a:latin typeface="Helvetica" panose="020B0604020202020204" pitchFamily="34" charset="0"/>
              </a:rPr>
              <a:t>Highest Measurement Frequency: </a:t>
            </a:r>
            <a:r>
              <a:rPr lang="en-US" sz="1800" dirty="0">
                <a:solidFill>
                  <a:srgbClr val="002060"/>
                </a:solidFill>
                <a:latin typeface="Helvetica" panose="020B0604020202020204" pitchFamily="34" charset="0"/>
              </a:rPr>
              <a:t>The HT9046 platform requires measurements up to 36 times per week, making it the highest priority. </a:t>
            </a:r>
          </a:p>
          <a:p>
            <a:pPr marL="742950" lvl="1" indent="-285750">
              <a:lnSpc>
                <a:spcPct val="150000"/>
              </a:lnSpc>
              <a:buFont typeface="Arial" panose="020B0604020202020204" pitchFamily="34" charset="0"/>
              <a:buChar char="•"/>
            </a:pPr>
            <a:r>
              <a:rPr lang="en-US" sz="1800" b="1" dirty="0">
                <a:solidFill>
                  <a:srgbClr val="002060"/>
                </a:solidFill>
                <a:latin typeface="Helvetica" panose="020B0604020202020204" pitchFamily="34" charset="0"/>
              </a:rPr>
              <a:t>Largest Population: </a:t>
            </a:r>
            <a:r>
              <a:rPr lang="en-US" sz="1800" dirty="0">
                <a:solidFill>
                  <a:srgbClr val="002060"/>
                </a:solidFill>
                <a:latin typeface="Helvetica" panose="020B0604020202020204" pitchFamily="34" charset="0"/>
              </a:rPr>
              <a:t>The HT Shape accounts for 1,756 units, representing nearly 58% of the total ALPL inventory. </a:t>
            </a:r>
          </a:p>
          <a:p>
            <a:pPr marL="742950" lvl="1" indent="-285750">
              <a:lnSpc>
                <a:spcPct val="150000"/>
              </a:lnSpc>
              <a:buFont typeface="Arial" panose="020B0604020202020204" pitchFamily="34" charset="0"/>
              <a:buChar char="•"/>
            </a:pPr>
            <a:r>
              <a:rPr lang="en-US" sz="1800" b="1" dirty="0">
                <a:solidFill>
                  <a:srgbClr val="002060"/>
                </a:solidFill>
                <a:latin typeface="Helvetica" panose="020B0604020202020204" pitchFamily="34" charset="0"/>
              </a:rPr>
              <a:t>Broadest Impact: </a:t>
            </a:r>
            <a:r>
              <a:rPr lang="en-US" sz="1800" dirty="0">
                <a:solidFill>
                  <a:srgbClr val="002060"/>
                </a:solidFill>
                <a:latin typeface="Helvetica" panose="020B0604020202020204" pitchFamily="34" charset="0"/>
              </a:rPr>
              <a:t>Developing the system for the HT Shape ensures operational compatibility across both the HT9046 and HT9046MX platforms.</a:t>
            </a:r>
            <a:endParaRPr lang="th-TH" sz="1800" dirty="0">
              <a:solidFill>
                <a:srgbClr val="002060"/>
              </a:solidFill>
              <a:latin typeface="Helvetica" panose="020B0604020202020204" pitchFamily="34" charset="0"/>
            </a:endParaRPr>
          </a:p>
        </p:txBody>
      </p:sp>
    </p:spTree>
    <p:extLst>
      <p:ext uri="{BB962C8B-B14F-4D97-AF65-F5344CB8AC3E}">
        <p14:creationId xmlns:p14="http://schemas.microsoft.com/office/powerpoint/2010/main" val="1633239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01DF2-ECBB-2E26-50A9-11BDECD4F4BB}"/>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200635F2-F6C6-B92A-50A2-06CB6AE48783}"/>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4" name="Picture 2" descr="Analog Devices | Disruptive Technology for Clinical Trials">
            <a:extLst>
              <a:ext uri="{FF2B5EF4-FFF2-40B4-BE49-F238E27FC236}">
                <a16:creationId xmlns:a16="http://schemas.microsoft.com/office/drawing/2014/main" id="{1517C7C0-DDE8-5B9F-CAEB-558D3EC22C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 name="Picture 2" descr="LOGO_ENkku_color – Faculty of Engineering , Khon Kaen University">
            <a:extLst>
              <a:ext uri="{FF2B5EF4-FFF2-40B4-BE49-F238E27FC236}">
                <a16:creationId xmlns:a16="http://schemas.microsoft.com/office/drawing/2014/main" id="{929C8601-FD10-2D17-A250-467769A858C5}"/>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25" name="กล่องข้อความ 24">
            <a:extLst>
              <a:ext uri="{FF2B5EF4-FFF2-40B4-BE49-F238E27FC236}">
                <a16:creationId xmlns:a16="http://schemas.microsoft.com/office/drawing/2014/main" id="{9DAED7A5-5320-F74F-524A-9E2347EEF4EE}"/>
              </a:ext>
            </a:extLst>
          </p:cNvPr>
          <p:cNvSpPr txBox="1">
            <a:spLocks/>
          </p:cNvSpPr>
          <p:nvPr/>
        </p:nvSpPr>
        <p:spPr>
          <a:xfrm>
            <a:off x="648733" y="442731"/>
            <a:ext cx="10127422" cy="523220"/>
          </a:xfrm>
          <a:prstGeom prst="rect">
            <a:avLst/>
          </a:prstGeom>
          <a:noFill/>
        </p:spPr>
        <p:txBody>
          <a:bodyPr wrap="square" rtlCol="0">
            <a:spAutoFit/>
          </a:bodyPr>
          <a:lstStyle/>
          <a:p>
            <a:r>
              <a:rPr lang="en-US" b="1" dirty="0">
                <a:solidFill>
                  <a:schemeClr val="bg1">
                    <a:lumMod val="75000"/>
                  </a:schemeClr>
                </a:solidFill>
                <a:latin typeface="Helvetica" panose="020B0604020202020204" pitchFamily="34" charset="0"/>
                <a:cs typeface="Helvetica" panose="020B0604020202020204" pitchFamily="34" charset="0"/>
              </a:rPr>
              <a:t>Goal Statement &amp; Success Criteria (1 page)</a:t>
            </a:r>
          </a:p>
        </p:txBody>
      </p:sp>
      <p:sp>
        <p:nvSpPr>
          <p:cNvPr id="10" name="กล่องข้อความ 9">
            <a:extLst>
              <a:ext uri="{FF2B5EF4-FFF2-40B4-BE49-F238E27FC236}">
                <a16:creationId xmlns:a16="http://schemas.microsoft.com/office/drawing/2014/main" id="{B987A312-EDFB-A5EB-5B50-1CAA93EDDC49}"/>
              </a:ext>
            </a:extLst>
          </p:cNvPr>
          <p:cNvSpPr txBox="1"/>
          <p:nvPr/>
        </p:nvSpPr>
        <p:spPr>
          <a:xfrm>
            <a:off x="648732" y="1319155"/>
            <a:ext cx="10549145" cy="4801314"/>
          </a:xfrm>
          <a:prstGeom prst="rect">
            <a:avLst/>
          </a:prstGeom>
          <a:noFill/>
        </p:spPr>
        <p:txBody>
          <a:bodyPr wrap="square">
            <a:spAutoFit/>
          </a:bodyPr>
          <a:lstStyle/>
          <a:p>
            <a:r>
              <a:rPr lang="en-US" sz="1800" b="1" dirty="0">
                <a:solidFill>
                  <a:schemeClr val="bg1">
                    <a:lumMod val="75000"/>
                  </a:schemeClr>
                </a:solidFill>
                <a:latin typeface="Helvetica" panose="020B0604020202020204" pitchFamily="34" charset="0"/>
              </a:rPr>
              <a:t>Goal Statement: </a:t>
            </a:r>
            <a:r>
              <a:rPr lang="en-US" sz="1800" dirty="0">
                <a:solidFill>
                  <a:schemeClr val="bg1">
                    <a:lumMod val="75000"/>
                  </a:schemeClr>
                </a:solidFill>
                <a:latin typeface="Helvetica" panose="020B0604020202020204" pitchFamily="34" charset="0"/>
              </a:rPr>
              <a:t>To design and implement a Semi-Automated Fixture &amp; Sorting System integrated with a centralized database, eliminating manual workpiece loading and Excel transcription to improve measurement accuracy and eliminate human error.</a:t>
            </a:r>
          </a:p>
          <a:p>
            <a:endParaRPr lang="en-US" sz="1800" dirty="0">
              <a:solidFill>
                <a:schemeClr val="bg1">
                  <a:lumMod val="75000"/>
                </a:schemeClr>
              </a:solidFill>
              <a:latin typeface="Helvetica" panose="020B0604020202020204" pitchFamily="34" charset="0"/>
            </a:endParaRPr>
          </a:p>
          <a:p>
            <a:r>
              <a:rPr lang="en-US" sz="1800" b="1" dirty="0">
                <a:solidFill>
                  <a:schemeClr val="bg1">
                    <a:lumMod val="75000"/>
                  </a:schemeClr>
                </a:solidFill>
                <a:latin typeface="Helvetica" panose="020B0604020202020204" pitchFamily="34" charset="0"/>
              </a:rPr>
              <a:t>Success Criteria:</a:t>
            </a:r>
          </a:p>
          <a:p>
            <a:pPr marL="742950" lvl="1" indent="-285750">
              <a:buFont typeface="Arial" panose="020B0604020202020204" pitchFamily="34" charset="0"/>
              <a:buChar char="•"/>
            </a:pPr>
            <a:r>
              <a:rPr lang="en-US" sz="1800" b="1" dirty="0">
                <a:solidFill>
                  <a:schemeClr val="bg1">
                    <a:lumMod val="75000"/>
                  </a:schemeClr>
                </a:solidFill>
                <a:latin typeface="Helvetica" panose="020B0604020202020204" pitchFamily="34" charset="0"/>
              </a:rPr>
              <a:t>Data Integrity (Software): </a:t>
            </a:r>
            <a:r>
              <a:rPr lang="en-US" sz="1800" dirty="0">
                <a:solidFill>
                  <a:schemeClr val="bg1">
                    <a:lumMod val="75000"/>
                  </a:schemeClr>
                </a:solidFill>
                <a:latin typeface="Helvetica" panose="020B0604020202020204" pitchFamily="34" charset="0"/>
              </a:rPr>
              <a:t>Achieve a 0% manual entry error rate by extracting measurement values directly into the database.</a:t>
            </a:r>
          </a:p>
          <a:p>
            <a:pPr marL="742950" lvl="1" indent="-285750">
              <a:buFont typeface="Arial" panose="020B0604020202020204" pitchFamily="34" charset="0"/>
              <a:buChar char="•"/>
            </a:pPr>
            <a:r>
              <a:rPr lang="en-US" sz="1800" b="1" dirty="0">
                <a:solidFill>
                  <a:schemeClr val="bg1">
                    <a:lumMod val="75000"/>
                  </a:schemeClr>
                </a:solidFill>
                <a:latin typeface="Helvetica" panose="020B0604020202020204" pitchFamily="34" charset="0"/>
              </a:rPr>
              <a:t>Standardized Database (Software): </a:t>
            </a:r>
            <a:r>
              <a:rPr lang="en-US" sz="1800" dirty="0">
                <a:solidFill>
                  <a:schemeClr val="bg1">
                    <a:lumMod val="75000"/>
                  </a:schemeClr>
                </a:solidFill>
                <a:latin typeface="Helvetica" panose="020B0604020202020204" pitchFamily="34" charset="0"/>
              </a:rPr>
              <a:t>Enable full traceability and automated trend analysis through a structured, centrally stored database.</a:t>
            </a:r>
          </a:p>
          <a:p>
            <a:pPr marL="742950" lvl="1" indent="-285750">
              <a:buFont typeface="Arial" panose="020B0604020202020204" pitchFamily="34" charset="0"/>
              <a:buChar char="•"/>
            </a:pPr>
            <a:r>
              <a:rPr lang="en-US" sz="1800" b="1" dirty="0">
                <a:solidFill>
                  <a:schemeClr val="bg1">
                    <a:lumMod val="75000"/>
                  </a:schemeClr>
                </a:solidFill>
                <a:latin typeface="Helvetica" panose="020B0604020202020204" pitchFamily="34" charset="0"/>
              </a:rPr>
              <a:t>Sorting Error (Hardware): </a:t>
            </a:r>
            <a:r>
              <a:rPr lang="en-US" sz="1800" dirty="0">
                <a:solidFill>
                  <a:schemeClr val="bg1">
                    <a:lumMod val="75000"/>
                  </a:schemeClr>
                </a:solidFill>
                <a:latin typeface="Helvetica" panose="020B0604020202020204" pitchFamily="34" charset="0"/>
              </a:rPr>
              <a:t>Ensure a 100% accurate sorting mechanism with zero mix-ups between Good and NG parts.   </a:t>
            </a:r>
          </a:p>
          <a:p>
            <a:pPr marL="742950" lvl="1" indent="-285750">
              <a:buFont typeface="Arial" panose="020B0604020202020204" pitchFamily="34" charset="0"/>
              <a:buChar char="•"/>
            </a:pPr>
            <a:r>
              <a:rPr lang="en-US" sz="1800" b="1" dirty="0">
                <a:solidFill>
                  <a:schemeClr val="bg1">
                    <a:lumMod val="75000"/>
                  </a:schemeClr>
                </a:solidFill>
                <a:latin typeface="Helvetica" panose="020B0604020202020204" pitchFamily="34" charset="0"/>
              </a:rPr>
              <a:t>Repeatability (Hardware): </a:t>
            </a:r>
            <a:r>
              <a:rPr lang="en-US" sz="1800" dirty="0">
                <a:solidFill>
                  <a:schemeClr val="bg1">
                    <a:lumMod val="75000"/>
                  </a:schemeClr>
                </a:solidFill>
                <a:latin typeface="Helvetica" panose="020B0604020202020204" pitchFamily="34" charset="0"/>
              </a:rPr>
              <a:t>Confirm a statistically significant reduction in Appraiser Variation through MSA testing.   </a:t>
            </a:r>
          </a:p>
          <a:p>
            <a:pPr marL="742950" lvl="1" indent="-285750">
              <a:buFont typeface="Arial" panose="020B0604020202020204" pitchFamily="34" charset="0"/>
              <a:buChar char="•"/>
            </a:pPr>
            <a:r>
              <a:rPr lang="en-US" sz="1800" b="1" dirty="0">
                <a:solidFill>
                  <a:schemeClr val="bg1">
                    <a:lumMod val="75000"/>
                  </a:schemeClr>
                </a:solidFill>
                <a:latin typeface="Helvetica" panose="020B0604020202020204" pitchFamily="34" charset="0"/>
              </a:rPr>
              <a:t>Cycle Time (System): </a:t>
            </a:r>
            <a:r>
              <a:rPr lang="en-US" sz="1800" dirty="0">
                <a:solidFill>
                  <a:schemeClr val="bg1">
                    <a:lumMod val="75000"/>
                  </a:schemeClr>
                </a:solidFill>
                <a:latin typeface="Helvetica" panose="020B0604020202020204" pitchFamily="34" charset="0"/>
              </a:rPr>
              <a:t>Reduce overall operation time by $\</a:t>
            </a:r>
            <a:r>
              <a:rPr lang="en-US" sz="1800" dirty="0" err="1">
                <a:solidFill>
                  <a:schemeClr val="bg1">
                    <a:lumMod val="75000"/>
                  </a:schemeClr>
                </a:solidFill>
                <a:latin typeface="Helvetica" panose="020B0604020202020204" pitchFamily="34" charset="0"/>
              </a:rPr>
              <a:t>ge</a:t>
            </a:r>
            <a:r>
              <a:rPr lang="en-US" sz="1800" dirty="0">
                <a:solidFill>
                  <a:schemeClr val="bg1">
                    <a:lumMod val="75000"/>
                  </a:schemeClr>
                </a:solidFill>
                <a:latin typeface="Helvetica" panose="020B0604020202020204" pitchFamily="34" charset="0"/>
              </a:rPr>
              <a:t>$ 20% compared to the standard manual baseline of 2 minutes and 55 seconds (per 8 parts).</a:t>
            </a:r>
          </a:p>
          <a:p>
            <a:pPr marL="742950" lvl="1" indent="-285750">
              <a:buFont typeface="Arial" panose="020B0604020202020204" pitchFamily="34" charset="0"/>
              <a:buChar char="•"/>
            </a:pPr>
            <a:r>
              <a:rPr lang="en-US" sz="1800" b="1" dirty="0">
                <a:solidFill>
                  <a:schemeClr val="bg1">
                    <a:lumMod val="75000"/>
                  </a:schemeClr>
                </a:solidFill>
                <a:latin typeface="Helvetica" panose="020B0604020202020204" pitchFamily="34" charset="0"/>
              </a:rPr>
              <a:t>No Damage (Hardware): </a:t>
            </a:r>
            <a:r>
              <a:rPr lang="en-US" sz="1800" dirty="0">
                <a:solidFill>
                  <a:schemeClr val="bg1">
                    <a:lumMod val="75000"/>
                  </a:schemeClr>
                </a:solidFill>
                <a:latin typeface="Helvetica" panose="020B0604020202020204" pitchFamily="34" charset="0"/>
              </a:rPr>
              <a:t>Guarantee zero physical damage to ceramic or sensitive components during the automated handling and sorting process. </a:t>
            </a:r>
            <a:endParaRPr lang="th-TH" sz="1800" dirty="0">
              <a:solidFill>
                <a:schemeClr val="bg1">
                  <a:lumMod val="75000"/>
                </a:schemeClr>
              </a:solidFill>
              <a:latin typeface="Helvetica" panose="020B0604020202020204" pitchFamily="34" charset="0"/>
            </a:endParaRPr>
          </a:p>
        </p:txBody>
      </p:sp>
    </p:spTree>
    <p:extLst>
      <p:ext uri="{BB962C8B-B14F-4D97-AF65-F5344CB8AC3E}">
        <p14:creationId xmlns:p14="http://schemas.microsoft.com/office/powerpoint/2010/main" val="3409910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5A23E-8287-83F5-D734-743DD72EF46A}"/>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4670857A-742C-D4BA-44D0-C14A1C97EE2D}"/>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36" name="Picture 2" descr="Analog Devices | Disruptive Technology for Clinical Trials">
            <a:extLst>
              <a:ext uri="{FF2B5EF4-FFF2-40B4-BE49-F238E27FC236}">
                <a16:creationId xmlns:a16="http://schemas.microsoft.com/office/drawing/2014/main" id="{55B3F83E-4D29-E116-194A-0E0AEC335D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8" name="Picture 2" descr="LOGO_ENkku_color – Faculty of Engineering , Khon Kaen University">
            <a:extLst>
              <a:ext uri="{FF2B5EF4-FFF2-40B4-BE49-F238E27FC236}">
                <a16:creationId xmlns:a16="http://schemas.microsoft.com/office/drawing/2014/main" id="{991358F1-CF22-98BE-1E5C-C0564749B563}"/>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3" name="กล่องข้อความ 2">
            <a:extLst>
              <a:ext uri="{FF2B5EF4-FFF2-40B4-BE49-F238E27FC236}">
                <a16:creationId xmlns:a16="http://schemas.microsoft.com/office/drawing/2014/main" id="{74C9CA47-B873-AFB5-50E5-7906DE93D965}"/>
              </a:ext>
            </a:extLst>
          </p:cNvPr>
          <p:cNvSpPr txBox="1"/>
          <p:nvPr/>
        </p:nvSpPr>
        <p:spPr>
          <a:xfrm>
            <a:off x="797570" y="1164744"/>
            <a:ext cx="10400308" cy="830997"/>
          </a:xfrm>
          <a:prstGeom prst="rect">
            <a:avLst/>
          </a:prstGeom>
          <a:noFill/>
        </p:spPr>
        <p:txBody>
          <a:bodyPr wrap="square">
            <a:spAutoFit/>
          </a:bodyPr>
          <a:lstStyle/>
          <a:p>
            <a:r>
              <a:rPr lang="en-US" sz="1600" dirty="0">
                <a:solidFill>
                  <a:srgbClr val="002060"/>
                </a:solidFill>
                <a:latin typeface="Helvetica" panose="020B0604020202020204" pitchFamily="34" charset="0"/>
              </a:rPr>
              <a:t>	To design and implement a Semi-Automated Fixture &amp; Sorting System integrated with a centralized database, eliminating manual workpiece loading and Excel transcription to improve measurement accuracy and eliminate human error.</a:t>
            </a:r>
          </a:p>
        </p:txBody>
      </p:sp>
      <p:sp>
        <p:nvSpPr>
          <p:cNvPr id="5" name="กล่องข้อความ 4">
            <a:extLst>
              <a:ext uri="{FF2B5EF4-FFF2-40B4-BE49-F238E27FC236}">
                <a16:creationId xmlns:a16="http://schemas.microsoft.com/office/drawing/2014/main" id="{F012C310-0AD6-9861-7E2F-4A890E3C8B7E}"/>
              </a:ext>
            </a:extLst>
          </p:cNvPr>
          <p:cNvSpPr txBox="1"/>
          <p:nvPr/>
        </p:nvSpPr>
        <p:spPr>
          <a:xfrm>
            <a:off x="635411" y="3096399"/>
            <a:ext cx="8469516" cy="301621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b="1" dirty="0">
                <a:solidFill>
                  <a:srgbClr val="002060"/>
                </a:solidFill>
                <a:latin typeface="Helvetica" panose="020B0604020202020204" pitchFamily="34" charset="0"/>
              </a:rPr>
              <a:t>Data Integrity (Software): </a:t>
            </a:r>
            <a:r>
              <a:rPr lang="en-US" sz="1600" dirty="0">
                <a:solidFill>
                  <a:srgbClr val="002060"/>
                </a:solidFill>
                <a:latin typeface="Helvetica" panose="020B0604020202020204" pitchFamily="34" charset="0"/>
              </a:rPr>
              <a:t>Achieve a 0% manual entry error rate by extracting measurement values directly into the database.</a:t>
            </a:r>
          </a:p>
          <a:p>
            <a:pPr marL="285750" indent="-285750">
              <a:lnSpc>
                <a:spcPct val="150000"/>
              </a:lnSpc>
              <a:buFont typeface="Arial" panose="020B0604020202020204" pitchFamily="34" charset="0"/>
              <a:buChar char="•"/>
            </a:pPr>
            <a:r>
              <a:rPr lang="en-US" sz="1600" b="1" dirty="0">
                <a:solidFill>
                  <a:srgbClr val="002060"/>
                </a:solidFill>
                <a:latin typeface="Helvetica" panose="020B0604020202020204" pitchFamily="34" charset="0"/>
              </a:rPr>
              <a:t>Standardized Database (Software): </a:t>
            </a:r>
            <a:r>
              <a:rPr lang="en-US" sz="1600" dirty="0">
                <a:solidFill>
                  <a:srgbClr val="002060"/>
                </a:solidFill>
                <a:latin typeface="Helvetica" panose="020B0604020202020204" pitchFamily="34" charset="0"/>
              </a:rPr>
              <a:t>Enable full traceability and automated trend analysis through a structured, centrally stored database.</a:t>
            </a:r>
            <a:endParaRPr lang="en-US" sz="1600" dirty="0">
              <a:solidFill>
                <a:srgbClr val="002060"/>
              </a:solidFill>
              <a:latin typeface="Helvetica" panose="020B0604020202020204" pitchFamily="34" charset="0"/>
              <a:cs typeface="Helvetica" panose="020B0604020202020204" pitchFamily="34" charset="0"/>
            </a:endParaRPr>
          </a:p>
          <a:p>
            <a:pPr marL="285750" indent="-285750">
              <a:lnSpc>
                <a:spcPct val="150000"/>
              </a:lnSpc>
              <a:buFont typeface="Arial" panose="020B0604020202020204" pitchFamily="34" charset="0"/>
              <a:buChar char="•"/>
            </a:pPr>
            <a:r>
              <a:rPr lang="en-US" sz="1600" b="1" dirty="0">
                <a:solidFill>
                  <a:srgbClr val="002060"/>
                </a:solidFill>
                <a:latin typeface="Helvetica" panose="020B0604020202020204" pitchFamily="34" charset="0"/>
                <a:cs typeface="Helvetica" panose="020B0604020202020204" pitchFamily="34" charset="0"/>
              </a:rPr>
              <a:t>Cycle Time: </a:t>
            </a:r>
            <a:r>
              <a:rPr lang="en-US" sz="1600" dirty="0">
                <a:solidFill>
                  <a:srgbClr val="002060"/>
                </a:solidFill>
                <a:latin typeface="Helvetica" panose="020B0604020202020204" pitchFamily="34" charset="0"/>
                <a:cs typeface="Helvetica" panose="020B0604020202020204" pitchFamily="34" charset="0"/>
              </a:rPr>
              <a:t>≥ 20% reduction compared to original baseline 2 min 55 sec (8 pieces)</a:t>
            </a:r>
          </a:p>
          <a:p>
            <a:pPr marL="285750" indent="-285750">
              <a:lnSpc>
                <a:spcPct val="150000"/>
              </a:lnSpc>
              <a:buFont typeface="Arial" panose="020B0604020202020204" pitchFamily="34" charset="0"/>
              <a:buChar char="•"/>
            </a:pPr>
            <a:r>
              <a:rPr lang="en-US" sz="1600" b="1" dirty="0">
                <a:solidFill>
                  <a:srgbClr val="002060"/>
                </a:solidFill>
                <a:latin typeface="Helvetica" panose="020B0604020202020204" pitchFamily="34" charset="0"/>
                <a:cs typeface="Helvetica" panose="020B0604020202020204" pitchFamily="34" charset="0"/>
              </a:rPr>
              <a:t>Sorting Error: </a:t>
            </a:r>
            <a:r>
              <a:rPr lang="en-US" sz="1600" dirty="0">
                <a:solidFill>
                  <a:srgbClr val="002060"/>
                </a:solidFill>
                <a:latin typeface="Helvetica" panose="020B0604020202020204" pitchFamily="34" charset="0"/>
                <a:cs typeface="Helvetica" panose="020B0604020202020204" pitchFamily="34" charset="0"/>
              </a:rPr>
              <a:t>No NG parts in Accept Area or Good parts in Reject Area</a:t>
            </a:r>
          </a:p>
          <a:p>
            <a:pPr marL="285750" indent="-285750">
              <a:lnSpc>
                <a:spcPct val="150000"/>
              </a:lnSpc>
              <a:buFont typeface="Arial" panose="020B0604020202020204" pitchFamily="34" charset="0"/>
              <a:buChar char="•"/>
            </a:pPr>
            <a:r>
              <a:rPr lang="en-US" sz="1600" b="1" dirty="0">
                <a:solidFill>
                  <a:srgbClr val="002060"/>
                </a:solidFill>
                <a:latin typeface="Helvetica" panose="020B0604020202020204" pitchFamily="34" charset="0"/>
                <a:cs typeface="Helvetica" panose="020B0604020202020204" pitchFamily="34" charset="0"/>
              </a:rPr>
              <a:t>Repeatability: </a:t>
            </a:r>
            <a:r>
              <a:rPr lang="en-US" sz="1600" dirty="0">
                <a:solidFill>
                  <a:srgbClr val="002060"/>
                </a:solidFill>
                <a:latin typeface="Helvetica" panose="020B0604020202020204" pitchFamily="34" charset="0"/>
                <a:cs typeface="Helvetica" panose="020B0604020202020204" pitchFamily="34" charset="0"/>
              </a:rPr>
              <a:t>Reduced Appraiser Variation (from MSA) compared to the original system</a:t>
            </a:r>
          </a:p>
          <a:p>
            <a:pPr marL="285750" indent="-285750">
              <a:lnSpc>
                <a:spcPct val="150000"/>
              </a:lnSpc>
              <a:buFont typeface="Arial" panose="020B0604020202020204" pitchFamily="34" charset="0"/>
              <a:buChar char="•"/>
            </a:pPr>
            <a:r>
              <a:rPr lang="en-US" sz="1600" b="1" dirty="0">
                <a:solidFill>
                  <a:srgbClr val="002060"/>
                </a:solidFill>
                <a:latin typeface="Helvetica" panose="020B0604020202020204" pitchFamily="34" charset="0"/>
                <a:cs typeface="Helvetica" panose="020B0604020202020204" pitchFamily="34" charset="0"/>
              </a:rPr>
              <a:t>No Damage: </a:t>
            </a:r>
            <a:r>
              <a:rPr lang="en-US" sz="1600" dirty="0">
                <a:solidFill>
                  <a:srgbClr val="002060"/>
                </a:solidFill>
                <a:latin typeface="Helvetica" panose="020B0604020202020204" pitchFamily="34" charset="0"/>
                <a:cs typeface="Helvetica" panose="020B0604020202020204" pitchFamily="34" charset="0"/>
              </a:rPr>
              <a:t>Zero part damage from the align/transition/sort processes</a:t>
            </a:r>
            <a:endParaRPr lang="th-TH" sz="1600" dirty="0">
              <a:solidFill>
                <a:srgbClr val="002060"/>
              </a:solidFill>
              <a:latin typeface="Helvetica" panose="020B0604020202020204" pitchFamily="34" charset="0"/>
              <a:cs typeface="TH Sarabun New" panose="020B0500040200020003" pitchFamily="34" charset="-34"/>
            </a:endParaRPr>
          </a:p>
        </p:txBody>
      </p:sp>
      <p:sp>
        <p:nvSpPr>
          <p:cNvPr id="21" name="สี่เหลี่ยมผืนผ้า 20">
            <a:extLst>
              <a:ext uri="{FF2B5EF4-FFF2-40B4-BE49-F238E27FC236}">
                <a16:creationId xmlns:a16="http://schemas.microsoft.com/office/drawing/2014/main" id="{85049421-159B-49F4-966A-1206A9A8169A}"/>
              </a:ext>
            </a:extLst>
          </p:cNvPr>
          <p:cNvSpPr/>
          <p:nvPr/>
        </p:nvSpPr>
        <p:spPr>
          <a:xfrm>
            <a:off x="432246" y="533609"/>
            <a:ext cx="3108514" cy="485654"/>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3" name="สี่เหลี่ยมผืนผ้า 22">
            <a:extLst>
              <a:ext uri="{FF2B5EF4-FFF2-40B4-BE49-F238E27FC236}">
                <a16:creationId xmlns:a16="http://schemas.microsoft.com/office/drawing/2014/main" id="{ECDB321C-910E-F1EC-4022-A962776B2C27}"/>
              </a:ext>
            </a:extLst>
          </p:cNvPr>
          <p:cNvSpPr/>
          <p:nvPr/>
        </p:nvSpPr>
        <p:spPr>
          <a:xfrm>
            <a:off x="432246" y="533609"/>
            <a:ext cx="132080" cy="485654"/>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5" name="กล่องข้อความ 24">
            <a:extLst>
              <a:ext uri="{FF2B5EF4-FFF2-40B4-BE49-F238E27FC236}">
                <a16:creationId xmlns:a16="http://schemas.microsoft.com/office/drawing/2014/main" id="{D035A9EB-D2B8-D52B-E3EB-6E29FDB6C5E7}"/>
              </a:ext>
            </a:extLst>
          </p:cNvPr>
          <p:cNvSpPr txBox="1">
            <a:spLocks/>
          </p:cNvSpPr>
          <p:nvPr/>
        </p:nvSpPr>
        <p:spPr>
          <a:xfrm>
            <a:off x="698996" y="593962"/>
            <a:ext cx="2727498" cy="400110"/>
          </a:xfrm>
          <a:prstGeom prst="rect">
            <a:avLst/>
          </a:prstGeom>
          <a:noFill/>
        </p:spPr>
        <p:txBody>
          <a:bodyPr wrap="square" rtlCol="0">
            <a:spAutoFit/>
          </a:bodyPr>
          <a:lstStyle/>
          <a:p>
            <a:r>
              <a:rPr lang="en-US" sz="2000" b="1" dirty="0">
                <a:solidFill>
                  <a:srgbClr val="002060"/>
                </a:solidFill>
                <a:latin typeface="Helvetica" panose="020B0604020202020204" pitchFamily="34" charset="0"/>
                <a:cs typeface="Helvetica" panose="020B0604020202020204" pitchFamily="34" charset="0"/>
              </a:rPr>
              <a:t>Problem Statements</a:t>
            </a:r>
            <a:endParaRPr lang="th-TH" sz="2000" b="1" dirty="0">
              <a:solidFill>
                <a:srgbClr val="002060"/>
              </a:solidFill>
              <a:latin typeface="Helvetica" panose="020B0604020202020204" pitchFamily="34" charset="0"/>
              <a:cs typeface="Mitr" panose="00000500000000000000" pitchFamily="2" charset="-34"/>
            </a:endParaRPr>
          </a:p>
        </p:txBody>
      </p:sp>
      <p:sp>
        <p:nvSpPr>
          <p:cNvPr id="29" name="สี่เหลี่ยมผืนผ้า 28">
            <a:extLst>
              <a:ext uri="{FF2B5EF4-FFF2-40B4-BE49-F238E27FC236}">
                <a16:creationId xmlns:a16="http://schemas.microsoft.com/office/drawing/2014/main" id="{95A880F7-9E78-ADD7-A29C-DECE0D44A784}"/>
              </a:ext>
            </a:extLst>
          </p:cNvPr>
          <p:cNvSpPr/>
          <p:nvPr/>
        </p:nvSpPr>
        <p:spPr>
          <a:xfrm>
            <a:off x="432246" y="2367956"/>
            <a:ext cx="3108514" cy="485654"/>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1" name="สี่เหลี่ยมผืนผ้า 30">
            <a:extLst>
              <a:ext uri="{FF2B5EF4-FFF2-40B4-BE49-F238E27FC236}">
                <a16:creationId xmlns:a16="http://schemas.microsoft.com/office/drawing/2014/main" id="{1E2577BD-0E38-1DD1-68B9-5116562B48D9}"/>
              </a:ext>
            </a:extLst>
          </p:cNvPr>
          <p:cNvSpPr/>
          <p:nvPr/>
        </p:nvSpPr>
        <p:spPr>
          <a:xfrm>
            <a:off x="432246" y="2367956"/>
            <a:ext cx="132080" cy="485654"/>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3" name="กล่องข้อความ 32">
            <a:extLst>
              <a:ext uri="{FF2B5EF4-FFF2-40B4-BE49-F238E27FC236}">
                <a16:creationId xmlns:a16="http://schemas.microsoft.com/office/drawing/2014/main" id="{829ED876-EF42-2CD3-403B-34D946C0CABD}"/>
              </a:ext>
            </a:extLst>
          </p:cNvPr>
          <p:cNvSpPr txBox="1">
            <a:spLocks/>
          </p:cNvSpPr>
          <p:nvPr/>
        </p:nvSpPr>
        <p:spPr>
          <a:xfrm>
            <a:off x="976790" y="2428309"/>
            <a:ext cx="2727498" cy="400110"/>
          </a:xfrm>
          <a:prstGeom prst="rect">
            <a:avLst/>
          </a:prstGeom>
          <a:noFill/>
        </p:spPr>
        <p:txBody>
          <a:bodyPr wrap="square" rtlCol="0">
            <a:spAutoFit/>
          </a:bodyPr>
          <a:lstStyle/>
          <a:p>
            <a:r>
              <a:rPr lang="en-US" sz="2000" b="1" dirty="0">
                <a:solidFill>
                  <a:srgbClr val="002060"/>
                </a:solidFill>
                <a:latin typeface="Helvetica" panose="020B0604020202020204" pitchFamily="34" charset="0"/>
                <a:cs typeface="Helvetica" panose="020B0604020202020204" pitchFamily="34" charset="0"/>
              </a:rPr>
              <a:t>Goal Statement</a:t>
            </a:r>
            <a:endParaRPr lang="th-TH" sz="2000" b="1" dirty="0">
              <a:solidFill>
                <a:srgbClr val="002060"/>
              </a:solidFill>
              <a:latin typeface="Helvetica" panose="020B0604020202020204" pitchFamily="34" charset="0"/>
              <a:cs typeface="Mitr" panose="00000500000000000000" pitchFamily="2" charset="-34"/>
            </a:endParaRPr>
          </a:p>
        </p:txBody>
      </p:sp>
    </p:spTree>
    <p:extLst>
      <p:ext uri="{BB962C8B-B14F-4D97-AF65-F5344CB8AC3E}">
        <p14:creationId xmlns:p14="http://schemas.microsoft.com/office/powerpoint/2010/main" val="3551515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3D492-E5B5-E0B3-4AA4-4D49A6565458}"/>
            </a:ext>
          </a:extLst>
        </p:cNvPr>
        <p:cNvGrpSpPr/>
        <p:nvPr/>
      </p:nvGrpSpPr>
      <p:grpSpPr>
        <a:xfrm>
          <a:off x="0" y="0"/>
          <a:ext cx="0" cy="0"/>
          <a:chOff x="0" y="0"/>
          <a:chExt cx="0" cy="0"/>
        </a:xfrm>
      </p:grpSpPr>
      <p:cxnSp>
        <p:nvCxnSpPr>
          <p:cNvPr id="1086" name="ตัวเชื่อมต่อตรง 1085">
            <a:extLst>
              <a:ext uri="{FF2B5EF4-FFF2-40B4-BE49-F238E27FC236}">
                <a16:creationId xmlns:a16="http://schemas.microsoft.com/office/drawing/2014/main" id="{A603EE74-FB6E-FE04-72F1-3BF6D1B6EB30}"/>
              </a:ext>
            </a:extLst>
          </p:cNvPr>
          <p:cNvCxnSpPr>
            <a:cxnSpLocks/>
          </p:cNvCxnSpPr>
          <p:nvPr/>
        </p:nvCxnSpPr>
        <p:spPr>
          <a:xfrm>
            <a:off x="2574334" y="2305477"/>
            <a:ext cx="1478280" cy="0"/>
          </a:xfrm>
          <a:prstGeom prst="line">
            <a:avLst/>
          </a:prstGeom>
          <a:ln w="38100" cap="rnd">
            <a:solidFill>
              <a:schemeClr val="tx2">
                <a:lumMod val="10000"/>
                <a:lumOff val="90000"/>
              </a:schemeClr>
            </a:solidFill>
            <a:prstDash val="dash"/>
          </a:ln>
        </p:spPr>
        <p:style>
          <a:lnRef idx="2">
            <a:schemeClr val="accent1"/>
          </a:lnRef>
          <a:fillRef idx="0">
            <a:schemeClr val="accent1"/>
          </a:fillRef>
          <a:effectRef idx="1">
            <a:schemeClr val="accent1"/>
          </a:effectRef>
          <a:fontRef idx="minor">
            <a:schemeClr val="tx1"/>
          </a:fontRef>
        </p:style>
      </p:cxnSp>
      <p:sp>
        <p:nvSpPr>
          <p:cNvPr id="5" name="สี่เหลี่ยมผืนผ้า: มุมมน 4">
            <a:extLst>
              <a:ext uri="{FF2B5EF4-FFF2-40B4-BE49-F238E27FC236}">
                <a16:creationId xmlns:a16="http://schemas.microsoft.com/office/drawing/2014/main" id="{695974F7-CB74-EA71-24EA-4FF8EB2F9760}"/>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
        <p:nvSpPr>
          <p:cNvPr id="17" name="Rectangle 7">
            <a:extLst>
              <a:ext uri="{FF2B5EF4-FFF2-40B4-BE49-F238E27FC236}">
                <a16:creationId xmlns:a16="http://schemas.microsoft.com/office/drawing/2014/main" id="{59B76D05-D7A8-44D3-4742-938E4FFC6338}"/>
              </a:ext>
            </a:extLst>
          </p:cNvPr>
          <p:cNvSpPr>
            <a:spLocks/>
          </p:cNvSpPr>
          <p:nvPr/>
        </p:nvSpPr>
        <p:spPr bwMode="auto">
          <a:xfrm>
            <a:off x="564326" y="3387419"/>
            <a:ext cx="2747918"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75000"/>
              </a:lnSpc>
            </a:pPr>
            <a:r>
              <a:rPr lang="en-US" sz="1800" b="1" dirty="0">
                <a:solidFill>
                  <a:srgbClr val="002060"/>
                </a:solidFill>
                <a:latin typeface="FC Minimal" panose="020B0500040200020003" pitchFamily="34" charset="-34"/>
                <a:cs typeface="FC Minimal" panose="020B0500040200020003" pitchFamily="34" charset="-34"/>
              </a:rPr>
              <a:t>Study &amp; Design </a:t>
            </a:r>
          </a:p>
        </p:txBody>
      </p:sp>
      <p:sp>
        <p:nvSpPr>
          <p:cNvPr id="18" name="Rectangle 7">
            <a:extLst>
              <a:ext uri="{FF2B5EF4-FFF2-40B4-BE49-F238E27FC236}">
                <a16:creationId xmlns:a16="http://schemas.microsoft.com/office/drawing/2014/main" id="{E78EF531-D230-8046-327B-1F08041B33CE}"/>
              </a:ext>
            </a:extLst>
          </p:cNvPr>
          <p:cNvSpPr>
            <a:spLocks/>
          </p:cNvSpPr>
          <p:nvPr/>
        </p:nvSpPr>
        <p:spPr bwMode="auto">
          <a:xfrm>
            <a:off x="3392310" y="3387419"/>
            <a:ext cx="2529169"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75000"/>
              </a:lnSpc>
            </a:pPr>
            <a:r>
              <a:rPr lang="en-US" sz="1800" b="1" dirty="0">
                <a:solidFill>
                  <a:srgbClr val="002060"/>
                </a:solidFill>
                <a:latin typeface="FC Minimal" panose="020B0500040200020003" pitchFamily="34" charset="-34"/>
                <a:cs typeface="FC Minimal" panose="020B0500040200020003" pitchFamily="34" charset="-34"/>
              </a:rPr>
              <a:t>Procurement &amp; Fabrication</a:t>
            </a:r>
          </a:p>
        </p:txBody>
      </p:sp>
      <p:sp>
        <p:nvSpPr>
          <p:cNvPr id="20" name="Rectangle 7">
            <a:extLst>
              <a:ext uri="{FF2B5EF4-FFF2-40B4-BE49-F238E27FC236}">
                <a16:creationId xmlns:a16="http://schemas.microsoft.com/office/drawing/2014/main" id="{882B5F5E-72EF-0846-3F25-35F96D40F257}"/>
              </a:ext>
            </a:extLst>
          </p:cNvPr>
          <p:cNvSpPr>
            <a:spLocks/>
          </p:cNvSpPr>
          <p:nvPr/>
        </p:nvSpPr>
        <p:spPr bwMode="auto">
          <a:xfrm>
            <a:off x="6186996" y="3370557"/>
            <a:ext cx="2386045"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75000"/>
              </a:lnSpc>
            </a:pPr>
            <a:r>
              <a:rPr lang="en-US" sz="1800" b="1" dirty="0">
                <a:solidFill>
                  <a:srgbClr val="002060"/>
                </a:solidFill>
                <a:latin typeface="FC Minimal" panose="020B0500040200020003" pitchFamily="34" charset="-34"/>
                <a:cs typeface="FC Minimal" panose="020B0500040200020003" pitchFamily="34" charset="-34"/>
              </a:rPr>
              <a:t>Integration &amp; Testing</a:t>
            </a:r>
          </a:p>
        </p:txBody>
      </p:sp>
      <p:sp>
        <p:nvSpPr>
          <p:cNvPr id="21" name="Rectangle 7">
            <a:extLst>
              <a:ext uri="{FF2B5EF4-FFF2-40B4-BE49-F238E27FC236}">
                <a16:creationId xmlns:a16="http://schemas.microsoft.com/office/drawing/2014/main" id="{4C5DD98B-185A-8995-0955-4885279CBA0C}"/>
              </a:ext>
            </a:extLst>
          </p:cNvPr>
          <p:cNvSpPr>
            <a:spLocks/>
          </p:cNvSpPr>
          <p:nvPr/>
        </p:nvSpPr>
        <p:spPr bwMode="auto">
          <a:xfrm>
            <a:off x="8621191" y="3426846"/>
            <a:ext cx="3034365"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75000"/>
              </a:lnSpc>
            </a:pPr>
            <a:r>
              <a:rPr lang="en-US" sz="1800" b="1" dirty="0">
                <a:solidFill>
                  <a:srgbClr val="002060"/>
                </a:solidFill>
                <a:latin typeface="FC Minimal" panose="020B0500040200020003" pitchFamily="34" charset="-34"/>
                <a:cs typeface="FC Minimal" panose="020B0500040200020003" pitchFamily="34" charset="-34"/>
              </a:rPr>
              <a:t>Finalization &amp; Documentation</a:t>
            </a:r>
          </a:p>
        </p:txBody>
      </p:sp>
      <p:sp>
        <p:nvSpPr>
          <p:cNvPr id="37" name="กล่องข้อความ 36">
            <a:extLst>
              <a:ext uri="{FF2B5EF4-FFF2-40B4-BE49-F238E27FC236}">
                <a16:creationId xmlns:a16="http://schemas.microsoft.com/office/drawing/2014/main" id="{1B5CF799-994F-50F5-4A6B-55FC43A42098}"/>
              </a:ext>
            </a:extLst>
          </p:cNvPr>
          <p:cNvSpPr txBox="1"/>
          <p:nvPr/>
        </p:nvSpPr>
        <p:spPr>
          <a:xfrm>
            <a:off x="836815" y="3829362"/>
            <a:ext cx="2202939" cy="554960"/>
          </a:xfrm>
          <a:prstGeom prst="rect">
            <a:avLst/>
          </a:prstGeom>
          <a:noFill/>
        </p:spPr>
        <p:txBody>
          <a:bodyPr wrap="square">
            <a:spAutoFit/>
          </a:bodyPr>
          <a:lstStyle/>
          <a:p>
            <a:pPr>
              <a:lnSpc>
                <a:spcPct val="70000"/>
              </a:lnSpc>
            </a:pPr>
            <a:r>
              <a:rPr lang="en-US" sz="1400" dirty="0">
                <a:solidFill>
                  <a:srgbClr val="002060"/>
                </a:solidFill>
                <a:latin typeface="FC Minimal" panose="020B0500040200020003" pitchFamily="34" charset="-34"/>
                <a:cs typeface="FC Minimal" panose="020B0500040200020003" pitchFamily="34" charset="-34"/>
              </a:rPr>
              <a:t>Goal : Define project requirements and complete full system design before moving into production</a:t>
            </a:r>
          </a:p>
        </p:txBody>
      </p:sp>
      <p:sp>
        <p:nvSpPr>
          <p:cNvPr id="1028" name="กล่องข้อความ 1027">
            <a:extLst>
              <a:ext uri="{FF2B5EF4-FFF2-40B4-BE49-F238E27FC236}">
                <a16:creationId xmlns:a16="http://schemas.microsoft.com/office/drawing/2014/main" id="{99507B14-EDB9-94D7-57A0-C5DFF4FE94A5}"/>
              </a:ext>
            </a:extLst>
          </p:cNvPr>
          <p:cNvSpPr txBox="1"/>
          <p:nvPr/>
        </p:nvSpPr>
        <p:spPr>
          <a:xfrm>
            <a:off x="838316" y="4464272"/>
            <a:ext cx="2201438" cy="876650"/>
          </a:xfrm>
          <a:prstGeom prst="rect">
            <a:avLst/>
          </a:prstGeom>
          <a:noFill/>
        </p:spPr>
        <p:txBody>
          <a:bodyPr wrap="square">
            <a:spAutoFit/>
          </a:bodyPr>
          <a:lstStyle/>
          <a:p>
            <a:pPr marL="171450" lvl="0" indent="-171450">
              <a:lnSpc>
                <a:spcPct val="70000"/>
              </a:lnSpc>
              <a:buFont typeface="Arial" panose="020B0604020202020204" pitchFamily="34" charset="0"/>
              <a:buChar char="•"/>
            </a:pPr>
            <a:r>
              <a:rPr lang="en-US" sz="1200" dirty="0">
                <a:solidFill>
                  <a:srgbClr val="002060"/>
                </a:solidFill>
                <a:latin typeface="FC Minimal" panose="020B0500040200020003" pitchFamily="34" charset="-34"/>
                <a:cs typeface="FC Minimal" panose="020B0500040200020003" pitchFamily="34" charset="-34"/>
              </a:rPr>
              <a:t>Conduct research, define scope, and prepare all necessary project documents.</a:t>
            </a:r>
          </a:p>
          <a:p>
            <a:pPr marL="171450" lvl="0" indent="-171450">
              <a:lnSpc>
                <a:spcPct val="70000"/>
              </a:lnSpc>
              <a:buFont typeface="Arial" panose="020B0604020202020204" pitchFamily="34" charset="0"/>
              <a:buChar char="•"/>
            </a:pPr>
            <a:r>
              <a:rPr lang="en-US" sz="1200" dirty="0">
                <a:solidFill>
                  <a:srgbClr val="002060"/>
                </a:solidFill>
                <a:latin typeface="FC Minimal" panose="020B0500040200020003" pitchFamily="34" charset="-34"/>
                <a:cs typeface="FC Minimal" panose="020B0500040200020003" pitchFamily="34" charset="-34"/>
              </a:rPr>
              <a:t>Develop mechanical and software</a:t>
            </a:r>
          </a:p>
          <a:p>
            <a:pPr marL="171450" lvl="0" indent="-171450">
              <a:lnSpc>
                <a:spcPct val="70000"/>
              </a:lnSpc>
              <a:buFont typeface="Arial" panose="020B0604020202020204" pitchFamily="34" charset="0"/>
              <a:buChar char="•"/>
            </a:pPr>
            <a:r>
              <a:rPr lang="en-US" sz="1200" dirty="0">
                <a:solidFill>
                  <a:srgbClr val="002060"/>
                </a:solidFill>
                <a:latin typeface="FC Minimal" panose="020B0500040200020003" pitchFamily="34" charset="-34"/>
                <a:cs typeface="FC Minimal" panose="020B0500040200020003" pitchFamily="34" charset="-34"/>
              </a:rPr>
              <a:t>designs from conceptual stage through to detailed design.</a:t>
            </a:r>
          </a:p>
        </p:txBody>
      </p:sp>
      <p:sp>
        <p:nvSpPr>
          <p:cNvPr id="1030" name="กล่องข้อความ 1029">
            <a:extLst>
              <a:ext uri="{FF2B5EF4-FFF2-40B4-BE49-F238E27FC236}">
                <a16:creationId xmlns:a16="http://schemas.microsoft.com/office/drawing/2014/main" id="{0182C96D-6434-2E54-B9BC-0D2233B0266A}"/>
              </a:ext>
            </a:extLst>
          </p:cNvPr>
          <p:cNvSpPr txBox="1"/>
          <p:nvPr/>
        </p:nvSpPr>
        <p:spPr>
          <a:xfrm>
            <a:off x="3581393" y="3829362"/>
            <a:ext cx="2298532" cy="554960"/>
          </a:xfrm>
          <a:prstGeom prst="rect">
            <a:avLst/>
          </a:prstGeom>
          <a:noFill/>
        </p:spPr>
        <p:txBody>
          <a:bodyPr wrap="square">
            <a:spAutoFit/>
          </a:bodyPr>
          <a:lstStyle/>
          <a:p>
            <a:pPr>
              <a:lnSpc>
                <a:spcPct val="70000"/>
              </a:lnSpc>
            </a:pPr>
            <a:r>
              <a:rPr lang="en-US" sz="1400" dirty="0">
                <a:solidFill>
                  <a:srgbClr val="002060"/>
                </a:solidFill>
                <a:latin typeface="FC Minimal" panose="020B0500040200020003" pitchFamily="34" charset="-34"/>
                <a:cs typeface="FC Minimal" panose="020B0500040200020003" pitchFamily="34" charset="-34"/>
              </a:rPr>
              <a:t>Goal : Source all materials and build both hardware and software systems ready for integration</a:t>
            </a:r>
          </a:p>
        </p:txBody>
      </p:sp>
      <p:sp>
        <p:nvSpPr>
          <p:cNvPr id="1037" name="กล่องข้อความ 1036">
            <a:extLst>
              <a:ext uri="{FF2B5EF4-FFF2-40B4-BE49-F238E27FC236}">
                <a16:creationId xmlns:a16="http://schemas.microsoft.com/office/drawing/2014/main" id="{825AF1AB-F4BE-6132-1A66-ABC2625E1910}"/>
              </a:ext>
            </a:extLst>
          </p:cNvPr>
          <p:cNvSpPr txBox="1"/>
          <p:nvPr/>
        </p:nvSpPr>
        <p:spPr>
          <a:xfrm>
            <a:off x="3599196" y="4461710"/>
            <a:ext cx="2245498" cy="876650"/>
          </a:xfrm>
          <a:prstGeom prst="rect">
            <a:avLst/>
          </a:prstGeom>
          <a:noFill/>
        </p:spPr>
        <p:txBody>
          <a:bodyPr wrap="square">
            <a:spAutoFit/>
          </a:bodyPr>
          <a:lstStyle/>
          <a:p>
            <a:pPr marL="171450" lvl="0" indent="-171450">
              <a:lnSpc>
                <a:spcPct val="70000"/>
              </a:lnSpc>
              <a:buFont typeface="Arial" panose="020B0604020202020204" pitchFamily="34" charset="0"/>
              <a:buChar char="•"/>
            </a:pPr>
            <a:r>
              <a:rPr lang="en-US" sz="1200" dirty="0">
                <a:solidFill>
                  <a:srgbClr val="002060"/>
                </a:solidFill>
                <a:latin typeface="FC Minimal" panose="020B0500040200020003" pitchFamily="34" charset="-34"/>
                <a:cs typeface="FC Minimal" panose="020B0500040200020003" pitchFamily="34" charset="-34"/>
              </a:rPr>
              <a:t>Prepare BOM, place orders, and track procurement and fabrication of all components.</a:t>
            </a:r>
          </a:p>
          <a:p>
            <a:pPr marL="171450" lvl="0" indent="-171450">
              <a:lnSpc>
                <a:spcPct val="70000"/>
              </a:lnSpc>
              <a:buFont typeface="Arial" panose="020B0604020202020204" pitchFamily="34" charset="0"/>
              <a:buChar char="•"/>
            </a:pPr>
            <a:r>
              <a:rPr lang="en-US" sz="1200" dirty="0">
                <a:solidFill>
                  <a:srgbClr val="002060"/>
                </a:solidFill>
                <a:latin typeface="FC Minimal" panose="020B0500040200020003" pitchFamily="34" charset="-34"/>
                <a:cs typeface="FC Minimal" panose="020B0500040200020003" pitchFamily="34" charset="-34"/>
              </a:rPr>
              <a:t>Assemble hardware systems (frame, modules</a:t>
            </a:r>
            <a:r>
              <a:rPr lang="th-TH" sz="1200" dirty="0">
                <a:solidFill>
                  <a:srgbClr val="002060"/>
                </a:solidFill>
                <a:latin typeface="FC Minimal" panose="020B0500040200020003" pitchFamily="34" charset="-34"/>
                <a:cs typeface="FC Minimal" panose="020B0500040200020003" pitchFamily="34" charset="-34"/>
              </a:rPr>
              <a:t> </a:t>
            </a:r>
            <a:r>
              <a:rPr lang="en-US" sz="1200" dirty="0">
                <a:solidFill>
                  <a:srgbClr val="002060"/>
                </a:solidFill>
                <a:latin typeface="FC Minimal" panose="020B0500040200020003" pitchFamily="34" charset="-34"/>
                <a:cs typeface="FC Minimal" panose="020B0500040200020003" pitchFamily="34" charset="-34"/>
              </a:rPr>
              <a:t>, sensors) and develop UI dashboard and database software.</a:t>
            </a:r>
          </a:p>
        </p:txBody>
      </p:sp>
      <p:sp>
        <p:nvSpPr>
          <p:cNvPr id="1038" name="กล่องข้อความ 1037">
            <a:extLst>
              <a:ext uri="{FF2B5EF4-FFF2-40B4-BE49-F238E27FC236}">
                <a16:creationId xmlns:a16="http://schemas.microsoft.com/office/drawing/2014/main" id="{744364FC-985F-175C-AD01-1DE5CE33B251}"/>
              </a:ext>
            </a:extLst>
          </p:cNvPr>
          <p:cNvSpPr txBox="1"/>
          <p:nvPr/>
        </p:nvSpPr>
        <p:spPr>
          <a:xfrm>
            <a:off x="6272317" y="3829362"/>
            <a:ext cx="2289339" cy="705771"/>
          </a:xfrm>
          <a:prstGeom prst="rect">
            <a:avLst/>
          </a:prstGeom>
          <a:noFill/>
        </p:spPr>
        <p:txBody>
          <a:bodyPr wrap="square">
            <a:spAutoFit/>
          </a:bodyPr>
          <a:lstStyle/>
          <a:p>
            <a:pPr>
              <a:lnSpc>
                <a:spcPct val="70000"/>
              </a:lnSpc>
            </a:pPr>
            <a:r>
              <a:rPr lang="en-US" sz="1400" dirty="0">
                <a:solidFill>
                  <a:srgbClr val="002060"/>
                </a:solidFill>
                <a:latin typeface="FC Minimal" panose="020B0500040200020003" pitchFamily="34" charset="-34"/>
                <a:cs typeface="FC Minimal" panose="020B0500040200020003" pitchFamily="34" charset="-34"/>
              </a:rPr>
              <a:t>Goal : Integrate all systems and validate performance to meet quality standards before handover</a:t>
            </a:r>
          </a:p>
          <a:p>
            <a:pPr>
              <a:lnSpc>
                <a:spcPct val="70000"/>
              </a:lnSpc>
            </a:pPr>
            <a:endParaRPr lang="en-US" sz="1400" dirty="0">
              <a:solidFill>
                <a:srgbClr val="002060"/>
              </a:solidFill>
              <a:latin typeface="FC Minimal" panose="020B0500040200020003" pitchFamily="34" charset="-34"/>
              <a:cs typeface="FC Minimal" panose="020B0500040200020003" pitchFamily="34" charset="-34"/>
            </a:endParaRPr>
          </a:p>
        </p:txBody>
      </p:sp>
      <p:sp>
        <p:nvSpPr>
          <p:cNvPr id="1041" name="กล่องข้อความ 1040">
            <a:extLst>
              <a:ext uri="{FF2B5EF4-FFF2-40B4-BE49-F238E27FC236}">
                <a16:creationId xmlns:a16="http://schemas.microsoft.com/office/drawing/2014/main" id="{D79EE9A1-512A-7381-68A4-5FDDC0141256}"/>
              </a:ext>
            </a:extLst>
          </p:cNvPr>
          <p:cNvSpPr txBox="1"/>
          <p:nvPr/>
        </p:nvSpPr>
        <p:spPr>
          <a:xfrm>
            <a:off x="6272558" y="4461710"/>
            <a:ext cx="2289097" cy="876650"/>
          </a:xfrm>
          <a:prstGeom prst="rect">
            <a:avLst/>
          </a:prstGeom>
          <a:noFill/>
        </p:spPr>
        <p:txBody>
          <a:bodyPr wrap="square">
            <a:spAutoFit/>
          </a:bodyPr>
          <a:lstStyle/>
          <a:p>
            <a:pPr marL="171450" lvl="0" indent="-171450">
              <a:lnSpc>
                <a:spcPct val="70000"/>
              </a:lnSpc>
              <a:buFont typeface="Arial" panose="020B0604020202020204" pitchFamily="34" charset="0"/>
              <a:buChar char="•"/>
            </a:pPr>
            <a:r>
              <a:rPr lang="en-US" sz="1200" dirty="0">
                <a:solidFill>
                  <a:srgbClr val="002060"/>
                </a:solidFill>
                <a:latin typeface="FC Minimal" panose="020B0500040200020003" pitchFamily="34" charset="-34"/>
                <a:cs typeface="FC Minimal" panose="020B0500040200020003" pitchFamily="34" charset="-34"/>
              </a:rPr>
              <a:t>Perform system integration and verify functionality through Functional Test and Dry Run.</a:t>
            </a:r>
          </a:p>
          <a:p>
            <a:pPr marL="171450" lvl="0" indent="-171450">
              <a:lnSpc>
                <a:spcPct val="70000"/>
              </a:lnSpc>
              <a:buFont typeface="Arial" panose="020B0604020202020204" pitchFamily="34" charset="0"/>
              <a:buChar char="•"/>
            </a:pPr>
            <a:r>
              <a:rPr lang="en-US" sz="1200" dirty="0">
                <a:solidFill>
                  <a:srgbClr val="002060"/>
                </a:solidFill>
                <a:latin typeface="FC Minimal" panose="020B0500040200020003" pitchFamily="34" charset="-34"/>
                <a:cs typeface="FC Minimal" panose="020B0500040200020003" pitchFamily="34" charset="-34"/>
              </a:rPr>
              <a:t>Evaluate overall Performance, Quality, and Reliability of the complete system.</a:t>
            </a:r>
          </a:p>
        </p:txBody>
      </p:sp>
      <p:sp>
        <p:nvSpPr>
          <p:cNvPr id="1043" name="กล่องข้อความ 1042">
            <a:extLst>
              <a:ext uri="{FF2B5EF4-FFF2-40B4-BE49-F238E27FC236}">
                <a16:creationId xmlns:a16="http://schemas.microsoft.com/office/drawing/2014/main" id="{0672B1BB-C16B-D89A-9561-E68852E0906A}"/>
              </a:ext>
            </a:extLst>
          </p:cNvPr>
          <p:cNvSpPr txBox="1"/>
          <p:nvPr/>
        </p:nvSpPr>
        <p:spPr>
          <a:xfrm>
            <a:off x="9011839" y="3829362"/>
            <a:ext cx="2265761" cy="554960"/>
          </a:xfrm>
          <a:prstGeom prst="rect">
            <a:avLst/>
          </a:prstGeom>
          <a:noFill/>
        </p:spPr>
        <p:txBody>
          <a:bodyPr wrap="square">
            <a:spAutoFit/>
          </a:bodyPr>
          <a:lstStyle/>
          <a:p>
            <a:pPr>
              <a:lnSpc>
                <a:spcPct val="70000"/>
              </a:lnSpc>
            </a:pPr>
            <a:r>
              <a:rPr lang="en-US" sz="1400" dirty="0">
                <a:solidFill>
                  <a:srgbClr val="002060"/>
                </a:solidFill>
                <a:latin typeface="FC Minimal" panose="020B0500040200020003" pitchFamily="34" charset="-34"/>
                <a:cs typeface="FC Minimal" panose="020B0500040200020003" pitchFamily="34" charset="-34"/>
              </a:rPr>
              <a:t>Goal : Close out the project with complete documentation and a smooth handover to end users</a:t>
            </a:r>
          </a:p>
        </p:txBody>
      </p:sp>
      <p:sp>
        <p:nvSpPr>
          <p:cNvPr id="1046" name="กล่องข้อความ 1045">
            <a:extLst>
              <a:ext uri="{FF2B5EF4-FFF2-40B4-BE49-F238E27FC236}">
                <a16:creationId xmlns:a16="http://schemas.microsoft.com/office/drawing/2014/main" id="{6C627131-7657-E8FB-16CD-EE77BE4F82C8}"/>
              </a:ext>
            </a:extLst>
          </p:cNvPr>
          <p:cNvSpPr txBox="1"/>
          <p:nvPr/>
        </p:nvSpPr>
        <p:spPr>
          <a:xfrm>
            <a:off x="9011838" y="4461710"/>
            <a:ext cx="2265761" cy="747384"/>
          </a:xfrm>
          <a:prstGeom prst="rect">
            <a:avLst/>
          </a:prstGeom>
          <a:noFill/>
        </p:spPr>
        <p:txBody>
          <a:bodyPr wrap="square">
            <a:spAutoFit/>
          </a:bodyPr>
          <a:lstStyle/>
          <a:p>
            <a:pPr marL="171450" lvl="0" indent="-171450">
              <a:lnSpc>
                <a:spcPct val="70000"/>
              </a:lnSpc>
              <a:buFont typeface="Arial" panose="020B0604020202020204" pitchFamily="34" charset="0"/>
              <a:buChar char="•"/>
            </a:pPr>
            <a:r>
              <a:rPr lang="en-US" sz="1200" dirty="0">
                <a:solidFill>
                  <a:srgbClr val="002060"/>
                </a:solidFill>
                <a:latin typeface="FC Minimal" panose="020B0500040200020003" pitchFamily="34" charset="-34"/>
                <a:cs typeface="FC Minimal" panose="020B0500040200020003" pitchFamily="34" charset="-34"/>
              </a:rPr>
              <a:t>Prepare manual, evaluate KPIs, conduct user training, and complete handover.</a:t>
            </a:r>
          </a:p>
          <a:p>
            <a:pPr marL="171450" lvl="0" indent="-171450">
              <a:lnSpc>
                <a:spcPct val="70000"/>
              </a:lnSpc>
              <a:buFont typeface="Arial" panose="020B0604020202020204" pitchFamily="34" charset="0"/>
              <a:buChar char="•"/>
            </a:pPr>
            <a:r>
              <a:rPr lang="en-US" sz="1200" dirty="0">
                <a:solidFill>
                  <a:srgbClr val="002060"/>
                </a:solidFill>
                <a:latin typeface="FC Minimal" panose="020B0500040200020003" pitchFamily="34" charset="-34"/>
                <a:cs typeface="FC Minimal" panose="020B0500040200020003" pitchFamily="34" charset="-34"/>
              </a:rPr>
              <a:t>Compile Final Report and deliver project presentation.</a:t>
            </a:r>
          </a:p>
        </p:txBody>
      </p:sp>
      <p:cxnSp>
        <p:nvCxnSpPr>
          <p:cNvPr id="40" name="ตัวเชื่อมต่อตรง 39">
            <a:extLst>
              <a:ext uri="{FF2B5EF4-FFF2-40B4-BE49-F238E27FC236}">
                <a16:creationId xmlns:a16="http://schemas.microsoft.com/office/drawing/2014/main" id="{9D7FCD15-F0BE-B879-671A-67756E439177}"/>
              </a:ext>
            </a:extLst>
          </p:cNvPr>
          <p:cNvCxnSpPr>
            <a:cxnSpLocks/>
          </p:cNvCxnSpPr>
          <p:nvPr/>
        </p:nvCxnSpPr>
        <p:spPr>
          <a:xfrm>
            <a:off x="859452" y="3719092"/>
            <a:ext cx="2115396" cy="0"/>
          </a:xfrm>
          <a:prstGeom prst="line">
            <a:avLst/>
          </a:prstGeom>
          <a:ln>
            <a:solidFill>
              <a:srgbClr val="7788AA">
                <a:alpha val="20000"/>
              </a:srgbClr>
            </a:solidFill>
          </a:ln>
        </p:spPr>
        <p:style>
          <a:lnRef idx="2">
            <a:schemeClr val="accent1"/>
          </a:lnRef>
          <a:fillRef idx="0">
            <a:schemeClr val="accent1"/>
          </a:fillRef>
          <a:effectRef idx="1">
            <a:schemeClr val="accent1"/>
          </a:effectRef>
          <a:fontRef idx="minor">
            <a:schemeClr val="tx1"/>
          </a:fontRef>
        </p:style>
      </p:cxnSp>
      <p:cxnSp>
        <p:nvCxnSpPr>
          <p:cNvPr id="46" name="ตัวเชื่อมต่อตรง 45">
            <a:extLst>
              <a:ext uri="{FF2B5EF4-FFF2-40B4-BE49-F238E27FC236}">
                <a16:creationId xmlns:a16="http://schemas.microsoft.com/office/drawing/2014/main" id="{32059D7C-280A-716A-AC8E-605B243EF5FF}"/>
              </a:ext>
            </a:extLst>
          </p:cNvPr>
          <p:cNvCxnSpPr>
            <a:cxnSpLocks/>
          </p:cNvCxnSpPr>
          <p:nvPr/>
        </p:nvCxnSpPr>
        <p:spPr>
          <a:xfrm>
            <a:off x="3599196" y="3719092"/>
            <a:ext cx="2115396" cy="0"/>
          </a:xfrm>
          <a:prstGeom prst="line">
            <a:avLst/>
          </a:prstGeom>
          <a:ln>
            <a:solidFill>
              <a:srgbClr val="7788AA">
                <a:alpha val="20000"/>
              </a:srgbClr>
            </a:solidFill>
          </a:ln>
        </p:spPr>
        <p:style>
          <a:lnRef idx="2">
            <a:schemeClr val="accent1"/>
          </a:lnRef>
          <a:fillRef idx="0">
            <a:schemeClr val="accent1"/>
          </a:fillRef>
          <a:effectRef idx="1">
            <a:schemeClr val="accent1"/>
          </a:effectRef>
          <a:fontRef idx="minor">
            <a:schemeClr val="tx1"/>
          </a:fontRef>
        </p:style>
      </p:cxnSp>
      <p:cxnSp>
        <p:nvCxnSpPr>
          <p:cNvPr id="47" name="ตัวเชื่อมต่อตรง 46">
            <a:extLst>
              <a:ext uri="{FF2B5EF4-FFF2-40B4-BE49-F238E27FC236}">
                <a16:creationId xmlns:a16="http://schemas.microsoft.com/office/drawing/2014/main" id="{2D08E971-2954-F5C0-654A-E3C492E1B660}"/>
              </a:ext>
            </a:extLst>
          </p:cNvPr>
          <p:cNvCxnSpPr>
            <a:cxnSpLocks/>
          </p:cNvCxnSpPr>
          <p:nvPr/>
        </p:nvCxnSpPr>
        <p:spPr>
          <a:xfrm>
            <a:off x="6322320" y="3719092"/>
            <a:ext cx="2115396" cy="0"/>
          </a:xfrm>
          <a:prstGeom prst="line">
            <a:avLst/>
          </a:prstGeom>
          <a:ln>
            <a:solidFill>
              <a:srgbClr val="7788AA">
                <a:alpha val="20000"/>
              </a:srgbClr>
            </a:solidFill>
          </a:ln>
        </p:spPr>
        <p:style>
          <a:lnRef idx="2">
            <a:schemeClr val="accent1"/>
          </a:lnRef>
          <a:fillRef idx="0">
            <a:schemeClr val="accent1"/>
          </a:fillRef>
          <a:effectRef idx="1">
            <a:schemeClr val="accent1"/>
          </a:effectRef>
          <a:fontRef idx="minor">
            <a:schemeClr val="tx1"/>
          </a:fontRef>
        </p:style>
      </p:cxnSp>
      <p:cxnSp>
        <p:nvCxnSpPr>
          <p:cNvPr id="50" name="ตัวเชื่อมต่อตรง 49">
            <a:extLst>
              <a:ext uri="{FF2B5EF4-FFF2-40B4-BE49-F238E27FC236}">
                <a16:creationId xmlns:a16="http://schemas.microsoft.com/office/drawing/2014/main" id="{B5C2AD76-BA1A-E0C9-38A9-9A2F421BA42B}"/>
              </a:ext>
            </a:extLst>
          </p:cNvPr>
          <p:cNvCxnSpPr>
            <a:cxnSpLocks/>
          </p:cNvCxnSpPr>
          <p:nvPr/>
        </p:nvCxnSpPr>
        <p:spPr>
          <a:xfrm>
            <a:off x="9080675" y="3719092"/>
            <a:ext cx="2115396" cy="0"/>
          </a:xfrm>
          <a:prstGeom prst="line">
            <a:avLst/>
          </a:prstGeom>
          <a:ln>
            <a:solidFill>
              <a:srgbClr val="7788AA">
                <a:alpha val="20000"/>
              </a:srgbClr>
            </a:solidFill>
          </a:ln>
        </p:spPr>
        <p:style>
          <a:lnRef idx="2">
            <a:schemeClr val="accent1"/>
          </a:lnRef>
          <a:fillRef idx="0">
            <a:schemeClr val="accent1"/>
          </a:fillRef>
          <a:effectRef idx="1">
            <a:schemeClr val="accent1"/>
          </a:effectRef>
          <a:fontRef idx="minor">
            <a:schemeClr val="tx1"/>
          </a:fontRef>
        </p:style>
      </p:cxnSp>
      <p:grpSp>
        <p:nvGrpSpPr>
          <p:cNvPr id="1066" name="กลุ่ม 1065">
            <a:extLst>
              <a:ext uri="{FF2B5EF4-FFF2-40B4-BE49-F238E27FC236}">
                <a16:creationId xmlns:a16="http://schemas.microsoft.com/office/drawing/2014/main" id="{D02D1189-4AD2-35FB-82A0-5788D1CACF7B}"/>
              </a:ext>
            </a:extLst>
          </p:cNvPr>
          <p:cNvGrpSpPr/>
          <p:nvPr/>
        </p:nvGrpSpPr>
        <p:grpSpPr>
          <a:xfrm>
            <a:off x="4183981" y="1832564"/>
            <a:ext cx="945826" cy="945826"/>
            <a:chOff x="4753286" y="1147699"/>
            <a:chExt cx="497951" cy="497951"/>
          </a:xfrm>
        </p:grpSpPr>
        <p:sp>
          <p:nvSpPr>
            <p:cNvPr id="58" name="วงรี 57">
              <a:extLst>
                <a:ext uri="{FF2B5EF4-FFF2-40B4-BE49-F238E27FC236}">
                  <a16:creationId xmlns:a16="http://schemas.microsoft.com/office/drawing/2014/main" id="{7365D373-C602-5DC0-2933-B53BCBF935BB}"/>
                </a:ext>
              </a:extLst>
            </p:cNvPr>
            <p:cNvSpPr/>
            <p:nvPr/>
          </p:nvSpPr>
          <p:spPr>
            <a:xfrm>
              <a:off x="4753286" y="1147699"/>
              <a:ext cx="497951" cy="497951"/>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pic>
          <p:nvPicPr>
            <p:cNvPr id="1042" name="กราฟิก 1041" descr="ศีรษะมีฟันเฟือง ด้วยสีเติมแบบทึบ">
              <a:extLst>
                <a:ext uri="{FF2B5EF4-FFF2-40B4-BE49-F238E27FC236}">
                  <a16:creationId xmlns:a16="http://schemas.microsoft.com/office/drawing/2014/main" id="{E9FA28CB-1D3A-75DB-C08A-E6D98F8627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22336" y="1205319"/>
              <a:ext cx="382710" cy="382710"/>
            </a:xfrm>
            <a:prstGeom prst="rect">
              <a:avLst/>
            </a:prstGeom>
          </p:spPr>
        </p:pic>
      </p:grpSp>
      <p:sp>
        <p:nvSpPr>
          <p:cNvPr id="54" name="วงรี 53">
            <a:extLst>
              <a:ext uri="{FF2B5EF4-FFF2-40B4-BE49-F238E27FC236}">
                <a16:creationId xmlns:a16="http://schemas.microsoft.com/office/drawing/2014/main" id="{C122E7C4-AEBE-1BB4-4C42-1091F240B707}"/>
              </a:ext>
            </a:extLst>
          </p:cNvPr>
          <p:cNvSpPr/>
          <p:nvPr/>
        </p:nvSpPr>
        <p:spPr>
          <a:xfrm>
            <a:off x="1463115" y="1832564"/>
            <a:ext cx="945826" cy="945826"/>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pic>
        <p:nvPicPr>
          <p:cNvPr id="1049" name="กราฟิก 1048" descr="ฟันเฟืองเดียว ด้วยสีเติมแบบทึบ">
            <a:extLst>
              <a:ext uri="{FF2B5EF4-FFF2-40B4-BE49-F238E27FC236}">
                <a16:creationId xmlns:a16="http://schemas.microsoft.com/office/drawing/2014/main" id="{84069355-AE9B-3E11-21BE-C00B849BA5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8415" y="2063123"/>
            <a:ext cx="484708" cy="484708"/>
          </a:xfrm>
          <a:prstGeom prst="rect">
            <a:avLst/>
          </a:prstGeom>
        </p:spPr>
      </p:pic>
      <p:pic>
        <p:nvPicPr>
          <p:cNvPr id="1050" name="กราฟิก 1049" descr="แบบพิมพ์เขียว ด้วยสีเติมแบบทึบ">
            <a:extLst>
              <a:ext uri="{FF2B5EF4-FFF2-40B4-BE49-F238E27FC236}">
                <a16:creationId xmlns:a16="http://schemas.microsoft.com/office/drawing/2014/main" id="{9EA90655-C0AE-0BA8-DCEA-CC1A8B5AD56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95549" y="1973326"/>
            <a:ext cx="664303" cy="664303"/>
          </a:xfrm>
          <a:prstGeom prst="rect">
            <a:avLst/>
          </a:prstGeom>
        </p:spPr>
      </p:pic>
      <p:grpSp>
        <p:nvGrpSpPr>
          <p:cNvPr id="1064" name="กลุ่ม 1063">
            <a:extLst>
              <a:ext uri="{FF2B5EF4-FFF2-40B4-BE49-F238E27FC236}">
                <a16:creationId xmlns:a16="http://schemas.microsoft.com/office/drawing/2014/main" id="{BC49538E-BEA8-703A-EF03-42C5C2A6BE35}"/>
              </a:ext>
            </a:extLst>
          </p:cNvPr>
          <p:cNvGrpSpPr/>
          <p:nvPr/>
        </p:nvGrpSpPr>
        <p:grpSpPr>
          <a:xfrm>
            <a:off x="9665460" y="1832564"/>
            <a:ext cx="945826" cy="945826"/>
            <a:chOff x="4753286" y="3811980"/>
            <a:chExt cx="497951" cy="497951"/>
          </a:xfrm>
        </p:grpSpPr>
        <p:sp>
          <p:nvSpPr>
            <p:cNvPr id="1027" name="วงรี 1026">
              <a:extLst>
                <a:ext uri="{FF2B5EF4-FFF2-40B4-BE49-F238E27FC236}">
                  <a16:creationId xmlns:a16="http://schemas.microsoft.com/office/drawing/2014/main" id="{BFE69F45-D331-AA66-21B9-1E2D3038B917}"/>
                </a:ext>
              </a:extLst>
            </p:cNvPr>
            <p:cNvSpPr/>
            <p:nvPr/>
          </p:nvSpPr>
          <p:spPr>
            <a:xfrm>
              <a:off x="4753286" y="3811980"/>
              <a:ext cx="497951" cy="497951"/>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pic>
          <p:nvPicPr>
            <p:cNvPr id="1061" name="กราฟิก 1060" descr="รายการ ด้วยสีเติมแบบทึบ">
              <a:extLst>
                <a:ext uri="{FF2B5EF4-FFF2-40B4-BE49-F238E27FC236}">
                  <a16:creationId xmlns:a16="http://schemas.microsoft.com/office/drawing/2014/main" id="{91AE0EEB-FE1D-162F-3D3A-41E5F1CFD6B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30216" y="3888910"/>
              <a:ext cx="344090" cy="344090"/>
            </a:xfrm>
            <a:prstGeom prst="rect">
              <a:avLst/>
            </a:prstGeom>
          </p:spPr>
        </p:pic>
      </p:grpSp>
      <p:grpSp>
        <p:nvGrpSpPr>
          <p:cNvPr id="1067" name="กลุ่ม 1066">
            <a:extLst>
              <a:ext uri="{FF2B5EF4-FFF2-40B4-BE49-F238E27FC236}">
                <a16:creationId xmlns:a16="http://schemas.microsoft.com/office/drawing/2014/main" id="{ADAABF9E-E3A5-4259-CEBD-E1DC641434D2}"/>
              </a:ext>
            </a:extLst>
          </p:cNvPr>
          <p:cNvGrpSpPr/>
          <p:nvPr/>
        </p:nvGrpSpPr>
        <p:grpSpPr>
          <a:xfrm>
            <a:off x="6907105" y="1832564"/>
            <a:ext cx="945826" cy="945826"/>
            <a:chOff x="4753286" y="2472289"/>
            <a:chExt cx="497951" cy="497951"/>
          </a:xfrm>
        </p:grpSpPr>
        <p:sp>
          <p:nvSpPr>
            <p:cNvPr id="62" name="วงรี 61">
              <a:extLst>
                <a:ext uri="{FF2B5EF4-FFF2-40B4-BE49-F238E27FC236}">
                  <a16:creationId xmlns:a16="http://schemas.microsoft.com/office/drawing/2014/main" id="{787C8676-8800-4455-6C53-D04B6E1D5935}"/>
                </a:ext>
              </a:extLst>
            </p:cNvPr>
            <p:cNvSpPr/>
            <p:nvPr/>
          </p:nvSpPr>
          <p:spPr>
            <a:xfrm>
              <a:off x="4753286" y="2472289"/>
              <a:ext cx="497951" cy="497951"/>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pic>
          <p:nvPicPr>
            <p:cNvPr id="1062" name="กราฟิก 1061" descr="ปริศนา ด้วยสีเติมแบบทึบ">
              <a:extLst>
                <a:ext uri="{FF2B5EF4-FFF2-40B4-BE49-F238E27FC236}">
                  <a16:creationId xmlns:a16="http://schemas.microsoft.com/office/drawing/2014/main" id="{F54984D9-ECD3-00A4-501B-A7F5BD21381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3927" y="2542930"/>
              <a:ext cx="356668" cy="356668"/>
            </a:xfrm>
            <a:prstGeom prst="rect">
              <a:avLst/>
            </a:prstGeom>
          </p:spPr>
        </p:pic>
      </p:grpSp>
      <p:sp>
        <p:nvSpPr>
          <p:cNvPr id="1071" name="กล่องข้อความ 1070">
            <a:extLst>
              <a:ext uri="{FF2B5EF4-FFF2-40B4-BE49-F238E27FC236}">
                <a16:creationId xmlns:a16="http://schemas.microsoft.com/office/drawing/2014/main" id="{6909EAE9-7B2E-023D-B653-B52857DC600C}"/>
              </a:ext>
            </a:extLst>
          </p:cNvPr>
          <p:cNvSpPr txBox="1"/>
          <p:nvPr/>
        </p:nvSpPr>
        <p:spPr>
          <a:xfrm>
            <a:off x="1203605" y="2952264"/>
            <a:ext cx="1464845" cy="523220"/>
          </a:xfrm>
          <a:prstGeom prst="rect">
            <a:avLst/>
          </a:prstGeom>
          <a:noFill/>
        </p:spPr>
        <p:txBody>
          <a:bodyPr wrap="square">
            <a:spAutoFit/>
          </a:bodyPr>
          <a:lstStyle/>
          <a:p>
            <a:pPr algn="ctr"/>
            <a:r>
              <a:rPr lang="en-US" sz="2800" b="1" i="1" dirty="0">
                <a:solidFill>
                  <a:srgbClr val="002060"/>
                </a:solidFill>
                <a:latin typeface="FC Minimal" panose="020B0500040200020003" pitchFamily="34" charset="-34"/>
                <a:cs typeface="FC Minimal" panose="020B0500040200020003" pitchFamily="34" charset="-34"/>
              </a:rPr>
              <a:t>Phase 1</a:t>
            </a:r>
            <a:endParaRPr lang="th-TH" dirty="0">
              <a:solidFill>
                <a:srgbClr val="002060"/>
              </a:solidFill>
            </a:endParaRPr>
          </a:p>
        </p:txBody>
      </p:sp>
      <p:sp>
        <p:nvSpPr>
          <p:cNvPr id="1080" name="กล่องข้อความ 1079">
            <a:extLst>
              <a:ext uri="{FF2B5EF4-FFF2-40B4-BE49-F238E27FC236}">
                <a16:creationId xmlns:a16="http://schemas.microsoft.com/office/drawing/2014/main" id="{02F0E287-AFD8-959B-8968-B8C0AD36C73C}"/>
              </a:ext>
            </a:extLst>
          </p:cNvPr>
          <p:cNvSpPr txBox="1"/>
          <p:nvPr/>
        </p:nvSpPr>
        <p:spPr>
          <a:xfrm>
            <a:off x="3928062" y="2950983"/>
            <a:ext cx="1464845" cy="523220"/>
          </a:xfrm>
          <a:prstGeom prst="rect">
            <a:avLst/>
          </a:prstGeom>
          <a:noFill/>
        </p:spPr>
        <p:txBody>
          <a:bodyPr wrap="square">
            <a:spAutoFit/>
          </a:bodyPr>
          <a:lstStyle/>
          <a:p>
            <a:pPr algn="ctr"/>
            <a:r>
              <a:rPr lang="en-US" sz="2800" b="1" i="1" dirty="0">
                <a:solidFill>
                  <a:srgbClr val="002060"/>
                </a:solidFill>
                <a:latin typeface="FC Minimal" panose="020B0500040200020003" pitchFamily="34" charset="-34"/>
                <a:cs typeface="FC Minimal" panose="020B0500040200020003" pitchFamily="34" charset="-34"/>
              </a:rPr>
              <a:t>Phase 2</a:t>
            </a:r>
            <a:endParaRPr lang="th-TH" dirty="0">
              <a:solidFill>
                <a:srgbClr val="002060"/>
              </a:solidFill>
            </a:endParaRPr>
          </a:p>
        </p:txBody>
      </p:sp>
      <p:sp>
        <p:nvSpPr>
          <p:cNvPr id="1084" name="กล่องข้อความ 1083">
            <a:extLst>
              <a:ext uri="{FF2B5EF4-FFF2-40B4-BE49-F238E27FC236}">
                <a16:creationId xmlns:a16="http://schemas.microsoft.com/office/drawing/2014/main" id="{93C8FB7C-EBA5-56CD-8DDD-DB929ABE4286}"/>
              </a:ext>
            </a:extLst>
          </p:cNvPr>
          <p:cNvSpPr txBox="1"/>
          <p:nvPr/>
        </p:nvSpPr>
        <p:spPr>
          <a:xfrm>
            <a:off x="6647594" y="2950562"/>
            <a:ext cx="1464845" cy="523220"/>
          </a:xfrm>
          <a:prstGeom prst="rect">
            <a:avLst/>
          </a:prstGeom>
          <a:noFill/>
        </p:spPr>
        <p:txBody>
          <a:bodyPr wrap="square">
            <a:spAutoFit/>
          </a:bodyPr>
          <a:lstStyle/>
          <a:p>
            <a:pPr algn="ctr"/>
            <a:r>
              <a:rPr lang="en-US" sz="2800" b="1" i="1" dirty="0">
                <a:solidFill>
                  <a:srgbClr val="002060"/>
                </a:solidFill>
                <a:latin typeface="FC Minimal" panose="020B0500040200020003" pitchFamily="34" charset="-34"/>
                <a:cs typeface="FC Minimal" panose="020B0500040200020003" pitchFamily="34" charset="-34"/>
              </a:rPr>
              <a:t>Phase 3</a:t>
            </a:r>
            <a:endParaRPr lang="th-TH" dirty="0">
              <a:solidFill>
                <a:srgbClr val="002060"/>
              </a:solidFill>
            </a:endParaRPr>
          </a:p>
        </p:txBody>
      </p:sp>
      <p:sp>
        <p:nvSpPr>
          <p:cNvPr id="1085" name="กล่องข้อความ 1084">
            <a:extLst>
              <a:ext uri="{FF2B5EF4-FFF2-40B4-BE49-F238E27FC236}">
                <a16:creationId xmlns:a16="http://schemas.microsoft.com/office/drawing/2014/main" id="{B84C24B7-64BF-387C-316D-BB28FDB0CEB9}"/>
              </a:ext>
            </a:extLst>
          </p:cNvPr>
          <p:cNvSpPr txBox="1"/>
          <p:nvPr/>
        </p:nvSpPr>
        <p:spPr>
          <a:xfrm>
            <a:off x="9367126" y="2950141"/>
            <a:ext cx="1464845" cy="523220"/>
          </a:xfrm>
          <a:prstGeom prst="rect">
            <a:avLst/>
          </a:prstGeom>
          <a:noFill/>
        </p:spPr>
        <p:txBody>
          <a:bodyPr wrap="square">
            <a:spAutoFit/>
          </a:bodyPr>
          <a:lstStyle/>
          <a:p>
            <a:pPr algn="ctr"/>
            <a:r>
              <a:rPr lang="en-US" sz="2800" b="1" i="1" dirty="0">
                <a:solidFill>
                  <a:srgbClr val="002060"/>
                </a:solidFill>
                <a:latin typeface="FC Minimal" panose="020B0500040200020003" pitchFamily="34" charset="-34"/>
                <a:cs typeface="FC Minimal" panose="020B0500040200020003" pitchFamily="34" charset="-34"/>
              </a:rPr>
              <a:t>Phase 4</a:t>
            </a:r>
            <a:endParaRPr lang="th-TH" dirty="0">
              <a:solidFill>
                <a:srgbClr val="002060"/>
              </a:solidFill>
            </a:endParaRPr>
          </a:p>
        </p:txBody>
      </p:sp>
      <p:cxnSp>
        <p:nvCxnSpPr>
          <p:cNvPr id="2054" name="ตัวเชื่อมต่อตรง 2053">
            <a:extLst>
              <a:ext uri="{FF2B5EF4-FFF2-40B4-BE49-F238E27FC236}">
                <a16:creationId xmlns:a16="http://schemas.microsoft.com/office/drawing/2014/main" id="{2BC6AE11-E092-24A2-6EE9-7F0C7FFD37BC}"/>
              </a:ext>
            </a:extLst>
          </p:cNvPr>
          <p:cNvCxnSpPr>
            <a:cxnSpLocks/>
          </p:cNvCxnSpPr>
          <p:nvPr/>
        </p:nvCxnSpPr>
        <p:spPr>
          <a:xfrm>
            <a:off x="5279371" y="2305477"/>
            <a:ext cx="1478280" cy="0"/>
          </a:xfrm>
          <a:prstGeom prst="line">
            <a:avLst/>
          </a:prstGeom>
          <a:ln w="38100" cap="rnd">
            <a:solidFill>
              <a:schemeClr val="tx2">
                <a:lumMod val="10000"/>
                <a:lumOff val="9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2055" name="ตัวเชื่อมต่อตรง 2054">
            <a:extLst>
              <a:ext uri="{FF2B5EF4-FFF2-40B4-BE49-F238E27FC236}">
                <a16:creationId xmlns:a16="http://schemas.microsoft.com/office/drawing/2014/main" id="{1C7DF47D-4654-CE84-DA58-96CA7C5156C8}"/>
              </a:ext>
            </a:extLst>
          </p:cNvPr>
          <p:cNvCxnSpPr>
            <a:cxnSpLocks/>
          </p:cNvCxnSpPr>
          <p:nvPr/>
        </p:nvCxnSpPr>
        <p:spPr>
          <a:xfrm>
            <a:off x="8037796" y="2305477"/>
            <a:ext cx="1478280" cy="0"/>
          </a:xfrm>
          <a:prstGeom prst="line">
            <a:avLst/>
          </a:prstGeom>
          <a:ln w="38100" cap="rnd">
            <a:solidFill>
              <a:schemeClr val="tx2">
                <a:lumMod val="10000"/>
                <a:lumOff val="90000"/>
              </a:schemeClr>
            </a:solidFill>
            <a:prstDash val="dash"/>
          </a:ln>
        </p:spPr>
        <p:style>
          <a:lnRef idx="2">
            <a:schemeClr val="accent1"/>
          </a:lnRef>
          <a:fillRef idx="0">
            <a:schemeClr val="accent1"/>
          </a:fillRef>
          <a:effectRef idx="1">
            <a:schemeClr val="accent1"/>
          </a:effectRef>
          <a:fontRef idx="minor">
            <a:schemeClr val="tx1"/>
          </a:fontRef>
        </p:style>
      </p:cxnSp>
      <p:pic>
        <p:nvPicPr>
          <p:cNvPr id="2068" name="Picture 2" descr="Analog Devices | Disruptive Technology for Clinical Trials">
            <a:extLst>
              <a:ext uri="{FF2B5EF4-FFF2-40B4-BE49-F238E27FC236}">
                <a16:creationId xmlns:a16="http://schemas.microsoft.com/office/drawing/2014/main" id="{F8A32C00-7704-4B88-B74A-C1B24A60B29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070" name="Picture 2" descr="LOGO_ENkku_color – Faculty of Engineering , Khon Kaen University">
            <a:extLst>
              <a:ext uri="{FF2B5EF4-FFF2-40B4-BE49-F238E27FC236}">
                <a16:creationId xmlns:a16="http://schemas.microsoft.com/office/drawing/2014/main" id="{A11FB4A9-BD96-E722-A8A9-53EBC76888E4}"/>
              </a:ext>
            </a:extLst>
          </p:cNvPr>
          <p:cNvPicPr>
            <a:picLocks noChangeAspect="1"/>
          </p:cNvPicPr>
          <p:nvPr/>
        </p:nvPicPr>
        <p:blipFill rotWithShape="1">
          <a:blip r:embed="rId9">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3" name="สี่เหลี่ยมผืนผ้า 2">
            <a:extLst>
              <a:ext uri="{FF2B5EF4-FFF2-40B4-BE49-F238E27FC236}">
                <a16:creationId xmlns:a16="http://schemas.microsoft.com/office/drawing/2014/main" id="{EABDC3CD-0061-A9E4-8537-83C1EFF5EE65}"/>
              </a:ext>
            </a:extLst>
          </p:cNvPr>
          <p:cNvSpPr/>
          <p:nvPr/>
        </p:nvSpPr>
        <p:spPr>
          <a:xfrm>
            <a:off x="432246" y="533609"/>
            <a:ext cx="3108514" cy="485654"/>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6" name="สี่เหลี่ยมผืนผ้า 5">
            <a:extLst>
              <a:ext uri="{FF2B5EF4-FFF2-40B4-BE49-F238E27FC236}">
                <a16:creationId xmlns:a16="http://schemas.microsoft.com/office/drawing/2014/main" id="{99E4D48F-F583-906B-0931-F4894C8AE252}"/>
              </a:ext>
            </a:extLst>
          </p:cNvPr>
          <p:cNvSpPr/>
          <p:nvPr/>
        </p:nvSpPr>
        <p:spPr>
          <a:xfrm>
            <a:off x="432246" y="533609"/>
            <a:ext cx="132080" cy="485654"/>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8" name="กล่องข้อความ 7">
            <a:extLst>
              <a:ext uri="{FF2B5EF4-FFF2-40B4-BE49-F238E27FC236}">
                <a16:creationId xmlns:a16="http://schemas.microsoft.com/office/drawing/2014/main" id="{2C29136C-2A26-C0AF-A063-FAC433AA8D48}"/>
              </a:ext>
            </a:extLst>
          </p:cNvPr>
          <p:cNvSpPr txBox="1">
            <a:spLocks/>
          </p:cNvSpPr>
          <p:nvPr/>
        </p:nvSpPr>
        <p:spPr>
          <a:xfrm>
            <a:off x="698996" y="593962"/>
            <a:ext cx="2727498" cy="400110"/>
          </a:xfrm>
          <a:prstGeom prst="rect">
            <a:avLst/>
          </a:prstGeom>
          <a:noFill/>
        </p:spPr>
        <p:txBody>
          <a:bodyPr wrap="square" rtlCol="0">
            <a:spAutoFit/>
          </a:bodyPr>
          <a:lstStyle/>
          <a:p>
            <a:r>
              <a:rPr lang="en-US" sz="2000" b="1" dirty="0">
                <a:solidFill>
                  <a:srgbClr val="002060"/>
                </a:solidFill>
                <a:latin typeface="Helvetica" panose="020B0604020202020204" pitchFamily="34" charset="0"/>
                <a:cs typeface="Helvetica" panose="020B0604020202020204" pitchFamily="34" charset="0"/>
              </a:rPr>
              <a:t>Project Milestones</a:t>
            </a:r>
            <a:endParaRPr lang="th-TH" sz="2000" b="1" dirty="0">
              <a:solidFill>
                <a:srgbClr val="002060"/>
              </a:solidFill>
              <a:latin typeface="Helvetica" panose="020B0604020202020204" pitchFamily="34" charset="0"/>
              <a:cs typeface="Mitr" panose="00000500000000000000" pitchFamily="2" charset="-34"/>
            </a:endParaRPr>
          </a:p>
        </p:txBody>
      </p:sp>
    </p:spTree>
    <p:extLst>
      <p:ext uri="{BB962C8B-B14F-4D97-AF65-F5344CB8AC3E}">
        <p14:creationId xmlns:p14="http://schemas.microsoft.com/office/powerpoint/2010/main" val="40305743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DB7F3-25D4-5E05-BD5A-6DF47E4EB221}"/>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0EE94E12-69AB-0E19-1D7E-DBBBEBC1AF2E}"/>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4" name="Picture 2" descr="Analog Devices | Disruptive Technology for Clinical Trials">
            <a:extLst>
              <a:ext uri="{FF2B5EF4-FFF2-40B4-BE49-F238E27FC236}">
                <a16:creationId xmlns:a16="http://schemas.microsoft.com/office/drawing/2014/main" id="{49110889-A1D6-23F4-0E1A-F9CD8E077C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 name="Picture 2" descr="LOGO_ENkku_color – Faculty of Engineering , Khon Kaen University">
            <a:extLst>
              <a:ext uri="{FF2B5EF4-FFF2-40B4-BE49-F238E27FC236}">
                <a16:creationId xmlns:a16="http://schemas.microsoft.com/office/drawing/2014/main" id="{ABBC8C83-C228-B100-A2DE-4233094AC992}"/>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25" name="กล่องข้อความ 24">
            <a:extLst>
              <a:ext uri="{FF2B5EF4-FFF2-40B4-BE49-F238E27FC236}">
                <a16:creationId xmlns:a16="http://schemas.microsoft.com/office/drawing/2014/main" id="{409AC06B-806C-FCE2-B7C3-76A1E6C34284}"/>
              </a:ext>
            </a:extLst>
          </p:cNvPr>
          <p:cNvSpPr txBox="1">
            <a:spLocks/>
          </p:cNvSpPr>
          <p:nvPr/>
        </p:nvSpPr>
        <p:spPr>
          <a:xfrm>
            <a:off x="648733" y="442731"/>
            <a:ext cx="10127422" cy="1446550"/>
          </a:xfrm>
          <a:prstGeom prst="rect">
            <a:avLst/>
          </a:prstGeom>
          <a:noFill/>
        </p:spPr>
        <p:txBody>
          <a:bodyPr wrap="square" rtlCol="0">
            <a:spAutoFit/>
          </a:bodyPr>
          <a:lstStyle/>
          <a:p>
            <a:r>
              <a:rPr lang="en-US" b="1" dirty="0">
                <a:solidFill>
                  <a:schemeClr val="bg1">
                    <a:lumMod val="75000"/>
                  </a:schemeClr>
                </a:solidFill>
                <a:latin typeface="Helvetica" panose="020B0604020202020204" pitchFamily="34" charset="0"/>
                <a:cs typeface="Helvetica" panose="020B0604020202020204" pitchFamily="34" charset="0"/>
              </a:rPr>
              <a:t>As-is (7 page)</a:t>
            </a:r>
          </a:p>
          <a:p>
            <a:pPr marL="457200" indent="-457200">
              <a:buFont typeface="Arial" panose="020B0604020202020204" pitchFamily="34" charset="0"/>
              <a:buChar char="•"/>
            </a:pPr>
            <a:r>
              <a:rPr lang="en-US" sz="2000" dirty="0">
                <a:solidFill>
                  <a:schemeClr val="bg1">
                    <a:lumMod val="75000"/>
                  </a:schemeClr>
                </a:solidFill>
                <a:latin typeface="Helvetica" panose="020B0604020202020204" pitchFamily="34" charset="0"/>
                <a:cs typeface="Helvetica" panose="020B0604020202020204" pitchFamily="34" charset="0"/>
              </a:rPr>
              <a:t>Important of ALPL</a:t>
            </a:r>
          </a:p>
          <a:p>
            <a:pPr marL="457200" indent="-457200">
              <a:buFont typeface="Arial" panose="020B0604020202020204" pitchFamily="34" charset="0"/>
              <a:buChar char="•"/>
            </a:pPr>
            <a:r>
              <a:rPr lang="en-US" sz="2000" dirty="0">
                <a:solidFill>
                  <a:schemeClr val="bg1">
                    <a:lumMod val="75000"/>
                  </a:schemeClr>
                </a:solidFill>
                <a:latin typeface="Helvetica" panose="020B0604020202020204" pitchFamily="34" charset="0"/>
                <a:cs typeface="Helvetica" panose="020B0604020202020204" pitchFamily="34" charset="0"/>
              </a:rPr>
              <a:t>Current Process</a:t>
            </a:r>
          </a:p>
          <a:p>
            <a:pPr marL="457200" indent="-457200">
              <a:buFont typeface="Arial" panose="020B0604020202020204" pitchFamily="34" charset="0"/>
              <a:buChar char="•"/>
            </a:pPr>
            <a:r>
              <a:rPr lang="en-US" sz="2000" dirty="0">
                <a:solidFill>
                  <a:schemeClr val="bg1">
                    <a:lumMod val="75000"/>
                  </a:schemeClr>
                </a:solidFill>
                <a:latin typeface="Helvetica" panose="020B0604020202020204" pitchFamily="34" charset="0"/>
                <a:cs typeface="Helvetica" panose="020B0604020202020204" pitchFamily="34" charset="0"/>
              </a:rPr>
              <a:t>Pos-Con</a:t>
            </a:r>
          </a:p>
        </p:txBody>
      </p:sp>
    </p:spTree>
    <p:extLst>
      <p:ext uri="{BB962C8B-B14F-4D97-AF65-F5344CB8AC3E}">
        <p14:creationId xmlns:p14="http://schemas.microsoft.com/office/powerpoint/2010/main" val="1343974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6A37D-6F5A-8B49-4C09-C5083917E817}"/>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C62A920A-4947-741B-9683-4837B32CF995}"/>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
        <p:nvSpPr>
          <p:cNvPr id="3" name="กล่องข้อความ 2">
            <a:extLst>
              <a:ext uri="{FF2B5EF4-FFF2-40B4-BE49-F238E27FC236}">
                <a16:creationId xmlns:a16="http://schemas.microsoft.com/office/drawing/2014/main" id="{A6D30969-85F9-B68C-FFFC-0E12860A075A}"/>
              </a:ext>
            </a:extLst>
          </p:cNvPr>
          <p:cNvSpPr txBox="1">
            <a:spLocks/>
          </p:cNvSpPr>
          <p:nvPr/>
        </p:nvSpPr>
        <p:spPr>
          <a:xfrm>
            <a:off x="784122" y="721243"/>
            <a:ext cx="4800600" cy="461665"/>
          </a:xfrm>
          <a:prstGeom prst="rect">
            <a:avLst/>
          </a:prstGeom>
          <a:noFill/>
        </p:spPr>
        <p:txBody>
          <a:bodyPr wrap="square" rtlCol="0">
            <a:spAutoFit/>
          </a:bodyPr>
          <a:lstStyle/>
          <a:p>
            <a:r>
              <a:rPr lang="en-US" sz="2400" b="1" dirty="0">
                <a:solidFill>
                  <a:srgbClr val="002060"/>
                </a:solidFill>
                <a:latin typeface="Helvetica" panose="020B0604020202020204" pitchFamily="34" charset="0"/>
                <a:cs typeface="Helvetica" panose="020B0604020202020204" pitchFamily="34" charset="0"/>
              </a:rPr>
              <a:t>Alignment Plate (ALPL)</a:t>
            </a:r>
            <a:endParaRPr lang="th-TH" sz="2400" b="1" dirty="0">
              <a:solidFill>
                <a:srgbClr val="002060"/>
              </a:solidFill>
              <a:latin typeface="Helvetica" panose="020B0604020202020204" pitchFamily="34" charset="0"/>
              <a:cs typeface="Mitr" panose="00000500000000000000" pitchFamily="2" charset="-34"/>
            </a:endParaRPr>
          </a:p>
        </p:txBody>
      </p:sp>
      <p:pic>
        <p:nvPicPr>
          <p:cNvPr id="14" name="รูปภาพ 13">
            <a:extLst>
              <a:ext uri="{FF2B5EF4-FFF2-40B4-BE49-F238E27FC236}">
                <a16:creationId xmlns:a16="http://schemas.microsoft.com/office/drawing/2014/main" id="{82A3B1E6-CF3F-B5CD-B75D-615541AF8422}"/>
              </a:ext>
            </a:extLst>
          </p:cNvPr>
          <p:cNvPicPr>
            <a:picLocks noChangeAspect="1"/>
          </p:cNvPicPr>
          <p:nvPr/>
        </p:nvPicPr>
        <p:blipFill>
          <a:blip r:embed="rId3">
            <a:extLst>
              <a:ext uri="{28A0092B-C50C-407E-A947-70E740481C1C}">
                <a14:useLocalDpi xmlns:a14="http://schemas.microsoft.com/office/drawing/2010/main" val="0"/>
              </a:ext>
            </a:extLst>
          </a:blip>
          <a:srcRect l="23522" t="39831" r="38897" b="36367"/>
          <a:stretch>
            <a:fillRect/>
          </a:stretch>
        </p:blipFill>
        <p:spPr>
          <a:xfrm>
            <a:off x="572212" y="2945869"/>
            <a:ext cx="1932972" cy="1632358"/>
          </a:xfrm>
          <a:prstGeom prst="rect">
            <a:avLst/>
          </a:prstGeom>
        </p:spPr>
      </p:pic>
      <p:sp>
        <p:nvSpPr>
          <p:cNvPr id="18" name="กล่องข้อความ 17">
            <a:extLst>
              <a:ext uri="{FF2B5EF4-FFF2-40B4-BE49-F238E27FC236}">
                <a16:creationId xmlns:a16="http://schemas.microsoft.com/office/drawing/2014/main" id="{5DBAF037-014A-3E0B-8B85-B354DA40A91E}"/>
              </a:ext>
            </a:extLst>
          </p:cNvPr>
          <p:cNvSpPr txBox="1"/>
          <p:nvPr/>
        </p:nvSpPr>
        <p:spPr>
          <a:xfrm>
            <a:off x="1021252" y="1576352"/>
            <a:ext cx="10149496" cy="707886"/>
          </a:xfrm>
          <a:prstGeom prst="rect">
            <a:avLst/>
          </a:prstGeom>
          <a:noFill/>
        </p:spPr>
        <p:txBody>
          <a:bodyPr wrap="square">
            <a:spAutoFit/>
          </a:bodyPr>
          <a:lstStyle/>
          <a:p>
            <a:r>
              <a:rPr lang="en-US" sz="2000" dirty="0">
                <a:solidFill>
                  <a:srgbClr val="002060"/>
                </a:solidFill>
                <a:latin typeface="Helvetica" panose="020B0604020202020204" pitchFamily="34" charset="0"/>
                <a:cs typeface="Helvetica" panose="020B0604020202020204" pitchFamily="34" charset="0"/>
              </a:rPr>
              <a:t>	The ALPL acts as a high-precision guide that aligns the IC package perfectly with the contact pins during the testing cycle.</a:t>
            </a:r>
            <a:endParaRPr lang="th-TH" sz="2000" dirty="0">
              <a:solidFill>
                <a:srgbClr val="002060"/>
              </a:solidFill>
              <a:latin typeface="Helvetica" panose="020B0604020202020204" pitchFamily="34" charset="0"/>
            </a:endParaRPr>
          </a:p>
        </p:txBody>
      </p:sp>
      <p:pic>
        <p:nvPicPr>
          <p:cNvPr id="23" name="รูปภาพ 22">
            <a:extLst>
              <a:ext uri="{FF2B5EF4-FFF2-40B4-BE49-F238E27FC236}">
                <a16:creationId xmlns:a16="http://schemas.microsoft.com/office/drawing/2014/main" id="{E1A4156F-E377-649A-A866-AA0B34763B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26949" y="2787296"/>
            <a:ext cx="3865991" cy="2899494"/>
          </a:xfrm>
          <a:prstGeom prst="rect">
            <a:avLst/>
          </a:prstGeom>
        </p:spPr>
      </p:pic>
      <p:pic>
        <p:nvPicPr>
          <p:cNvPr id="24" name="รูปภาพ 23">
            <a:extLst>
              <a:ext uri="{FF2B5EF4-FFF2-40B4-BE49-F238E27FC236}">
                <a16:creationId xmlns:a16="http://schemas.microsoft.com/office/drawing/2014/main" id="{CA4CAF44-20E0-0182-0D4D-68CBB13F0C70}"/>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l="28050" t="34964" r="27481" b="30370"/>
          <a:stretch>
            <a:fillRect/>
          </a:stretch>
        </p:blipFill>
        <p:spPr>
          <a:xfrm rot="16200000">
            <a:off x="4053392" y="2876532"/>
            <a:ext cx="1622593" cy="1686559"/>
          </a:xfrm>
          <a:prstGeom prst="rect">
            <a:avLst/>
          </a:prstGeom>
        </p:spPr>
      </p:pic>
      <p:pic>
        <p:nvPicPr>
          <p:cNvPr id="25" name="รูปภาพ 24">
            <a:extLst>
              <a:ext uri="{FF2B5EF4-FFF2-40B4-BE49-F238E27FC236}">
                <a16:creationId xmlns:a16="http://schemas.microsoft.com/office/drawing/2014/main" id="{E31A03D0-B63B-7DCF-1279-4807B2C1D57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42820" y="4139657"/>
            <a:ext cx="1686559" cy="1728275"/>
          </a:xfrm>
          <a:prstGeom prst="rect">
            <a:avLst/>
          </a:prstGeom>
        </p:spPr>
      </p:pic>
      <p:pic>
        <p:nvPicPr>
          <p:cNvPr id="5" name="Picture 2" descr="Analog Devices | Disruptive Technology for Clinical Trials">
            <a:extLst>
              <a:ext uri="{FF2B5EF4-FFF2-40B4-BE49-F238E27FC236}">
                <a16:creationId xmlns:a16="http://schemas.microsoft.com/office/drawing/2014/main" id="{154B9A0F-E73B-7BB8-47AC-3356C7A158D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 name="Picture 2" descr="LOGO_ENkku_color – Faculty of Engineering , Khon Kaen University">
            <a:extLst>
              <a:ext uri="{FF2B5EF4-FFF2-40B4-BE49-F238E27FC236}">
                <a16:creationId xmlns:a16="http://schemas.microsoft.com/office/drawing/2014/main" id="{4D6E3F72-CF2D-6773-E00C-7F5A5B4CB3ED}"/>
              </a:ext>
            </a:extLst>
          </p:cNvPr>
          <p:cNvPicPr>
            <a:picLocks noChangeAspect="1"/>
          </p:cNvPicPr>
          <p:nvPr/>
        </p:nvPicPr>
        <p:blipFill rotWithShape="1">
          <a:blip r:embed="rId9">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3558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56FDA-7F29-F89C-4D3F-A2AD6A40EE77}"/>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BA2F1844-8168-7267-8A44-70CE6DAA8067}"/>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5" name="Picture 2" descr="Analog Devices | Disruptive Technology for Clinical Trials">
            <a:extLst>
              <a:ext uri="{FF2B5EF4-FFF2-40B4-BE49-F238E27FC236}">
                <a16:creationId xmlns:a16="http://schemas.microsoft.com/office/drawing/2014/main" id="{A53D6E50-D719-1BE8-8051-849AA0BB95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 name="Picture 2" descr="LOGO_ENkku_color – Faculty of Engineering , Khon Kaen University">
            <a:extLst>
              <a:ext uri="{FF2B5EF4-FFF2-40B4-BE49-F238E27FC236}">
                <a16:creationId xmlns:a16="http://schemas.microsoft.com/office/drawing/2014/main" id="{F9931F70-A582-79BD-8D7D-B3EC21C36823}"/>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a:extLst>
              <a:ext uri="{FF2B5EF4-FFF2-40B4-BE49-F238E27FC236}">
                <a16:creationId xmlns:a16="http://schemas.microsoft.com/office/drawing/2014/main" id="{09F05819-2BDB-FDA4-06BB-D0FB8B109E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8231" y="3743250"/>
            <a:ext cx="2053197" cy="205319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1028C">
            <a:extLst>
              <a:ext uri="{FF2B5EF4-FFF2-40B4-BE49-F238E27FC236}">
                <a16:creationId xmlns:a16="http://schemas.microsoft.com/office/drawing/2014/main" id="{350B6F9F-2FF2-1E78-E8CD-74B40687EC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28418" y="3581475"/>
            <a:ext cx="2212668" cy="2212668"/>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Pick and Place Test Handler - MT9510 | Cohu">
            <a:extLst>
              <a:ext uri="{FF2B5EF4-FFF2-40B4-BE49-F238E27FC236}">
                <a16:creationId xmlns:a16="http://schemas.microsoft.com/office/drawing/2014/main" id="{F7CC4DE6-5278-9067-791C-6439A9FEC67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62226" y="3780261"/>
            <a:ext cx="1815097" cy="1815097"/>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MATRiX PnP Test Handler | Cohu">
            <a:extLst>
              <a:ext uri="{FF2B5EF4-FFF2-40B4-BE49-F238E27FC236}">
                <a16:creationId xmlns:a16="http://schemas.microsoft.com/office/drawing/2014/main" id="{A0D86F44-C6C0-3E96-1B0F-5C128165B39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84932" y="3850112"/>
            <a:ext cx="1633588" cy="1815097"/>
          </a:xfrm>
          <a:prstGeom prst="rect">
            <a:avLst/>
          </a:prstGeom>
          <a:noFill/>
          <a:extLst>
            <a:ext uri="{909E8E84-426E-40DD-AFC4-6F175D3DCCD1}">
              <a14:hiddenFill xmlns:a14="http://schemas.microsoft.com/office/drawing/2010/main">
                <a:solidFill>
                  <a:srgbClr val="FFFFFF"/>
                </a:solidFill>
              </a14:hiddenFill>
            </a:ext>
          </a:extLst>
        </p:spPr>
      </p:pic>
      <p:sp>
        <p:nvSpPr>
          <p:cNvPr id="14" name="กล่องข้อความ 13">
            <a:extLst>
              <a:ext uri="{FF2B5EF4-FFF2-40B4-BE49-F238E27FC236}">
                <a16:creationId xmlns:a16="http://schemas.microsoft.com/office/drawing/2014/main" id="{1833D4EA-520E-8462-923E-AA1C839185FB}"/>
              </a:ext>
            </a:extLst>
          </p:cNvPr>
          <p:cNvSpPr txBox="1"/>
          <p:nvPr/>
        </p:nvSpPr>
        <p:spPr>
          <a:xfrm>
            <a:off x="907027" y="5906164"/>
            <a:ext cx="2455606" cy="400110"/>
          </a:xfrm>
          <a:prstGeom prst="rect">
            <a:avLst/>
          </a:prstGeom>
          <a:noFill/>
        </p:spPr>
        <p:txBody>
          <a:bodyPr wrap="square" rtlCol="0">
            <a:spAutoFit/>
          </a:bodyPr>
          <a:lstStyle/>
          <a:p>
            <a:pPr algn="ctr"/>
            <a:r>
              <a:rPr lang="en-US" sz="2000" dirty="0">
                <a:solidFill>
                  <a:srgbClr val="002060"/>
                </a:solidFill>
                <a:latin typeface="Helvetica" panose="020B0604020202020204" pitchFamily="34" charset="0"/>
                <a:cs typeface="Helvetica" panose="020B0604020202020204" pitchFamily="34" charset="0"/>
              </a:rPr>
              <a:t>Hontech HT9046 </a:t>
            </a:r>
            <a:endParaRPr lang="th-TH" sz="2000" dirty="0">
              <a:solidFill>
                <a:srgbClr val="002060"/>
              </a:solidFill>
              <a:latin typeface="Helvetica" panose="020B0604020202020204" pitchFamily="34" charset="0"/>
            </a:endParaRPr>
          </a:p>
        </p:txBody>
      </p:sp>
      <p:sp>
        <p:nvSpPr>
          <p:cNvPr id="16" name="กล่องข้อความ 15">
            <a:extLst>
              <a:ext uri="{FF2B5EF4-FFF2-40B4-BE49-F238E27FC236}">
                <a16:creationId xmlns:a16="http://schemas.microsoft.com/office/drawing/2014/main" id="{FC4C6EA6-0C37-4B7E-863D-A2B996BD4ED1}"/>
              </a:ext>
            </a:extLst>
          </p:cNvPr>
          <p:cNvSpPr txBox="1"/>
          <p:nvPr/>
        </p:nvSpPr>
        <p:spPr>
          <a:xfrm>
            <a:off x="3565244" y="5906164"/>
            <a:ext cx="2602287" cy="400110"/>
          </a:xfrm>
          <a:prstGeom prst="rect">
            <a:avLst/>
          </a:prstGeom>
          <a:noFill/>
        </p:spPr>
        <p:txBody>
          <a:bodyPr wrap="square" rtlCol="0">
            <a:spAutoFit/>
          </a:bodyPr>
          <a:lstStyle/>
          <a:p>
            <a:pPr algn="ctr"/>
            <a:r>
              <a:rPr lang="en-US" sz="2000" dirty="0">
                <a:solidFill>
                  <a:srgbClr val="002060"/>
                </a:solidFill>
                <a:latin typeface="Helvetica" panose="020B0604020202020204" pitchFamily="34" charset="0"/>
                <a:cs typeface="Helvetica" panose="020B0604020202020204" pitchFamily="34" charset="0"/>
              </a:rPr>
              <a:t>Hontech HT9046MX </a:t>
            </a:r>
            <a:endParaRPr lang="th-TH" sz="2000" dirty="0">
              <a:solidFill>
                <a:srgbClr val="002060"/>
              </a:solidFill>
              <a:latin typeface="Helvetica" panose="020B0604020202020204" pitchFamily="34" charset="0"/>
            </a:endParaRPr>
          </a:p>
        </p:txBody>
      </p:sp>
      <p:sp>
        <p:nvSpPr>
          <p:cNvPr id="18" name="กล่องข้อความ 17">
            <a:extLst>
              <a:ext uri="{FF2B5EF4-FFF2-40B4-BE49-F238E27FC236}">
                <a16:creationId xmlns:a16="http://schemas.microsoft.com/office/drawing/2014/main" id="{0434AA05-7C5A-8553-2006-579F18F03FEB}"/>
              </a:ext>
            </a:extLst>
          </p:cNvPr>
          <p:cNvSpPr txBox="1"/>
          <p:nvPr/>
        </p:nvSpPr>
        <p:spPr>
          <a:xfrm>
            <a:off x="6341972" y="5906164"/>
            <a:ext cx="2455606" cy="400110"/>
          </a:xfrm>
          <a:prstGeom prst="rect">
            <a:avLst/>
          </a:prstGeom>
          <a:noFill/>
        </p:spPr>
        <p:txBody>
          <a:bodyPr wrap="square" rtlCol="0">
            <a:spAutoFit/>
          </a:bodyPr>
          <a:lstStyle/>
          <a:p>
            <a:pPr algn="ctr"/>
            <a:r>
              <a:rPr lang="en-US" sz="2000" dirty="0">
                <a:solidFill>
                  <a:srgbClr val="002060"/>
                </a:solidFill>
                <a:latin typeface="Helvetica" panose="020B0604020202020204" pitchFamily="34" charset="0"/>
                <a:cs typeface="Helvetica" panose="020B0604020202020204" pitchFamily="34" charset="0"/>
              </a:rPr>
              <a:t>Multitest 9510</a:t>
            </a:r>
            <a:endParaRPr lang="th-TH" sz="2000" dirty="0">
              <a:solidFill>
                <a:srgbClr val="002060"/>
              </a:solidFill>
              <a:latin typeface="Helvetica" panose="020B0604020202020204" pitchFamily="34" charset="0"/>
            </a:endParaRPr>
          </a:p>
        </p:txBody>
      </p:sp>
      <p:sp>
        <p:nvSpPr>
          <p:cNvPr id="22" name="กล่องข้อความ 21">
            <a:extLst>
              <a:ext uri="{FF2B5EF4-FFF2-40B4-BE49-F238E27FC236}">
                <a16:creationId xmlns:a16="http://schemas.microsoft.com/office/drawing/2014/main" id="{F18364EF-FDE7-6F6E-C762-DBFE97C847AD}"/>
              </a:ext>
            </a:extLst>
          </p:cNvPr>
          <p:cNvSpPr txBox="1"/>
          <p:nvPr/>
        </p:nvSpPr>
        <p:spPr>
          <a:xfrm>
            <a:off x="8996681" y="5906164"/>
            <a:ext cx="2455606" cy="400110"/>
          </a:xfrm>
          <a:prstGeom prst="rect">
            <a:avLst/>
          </a:prstGeom>
          <a:noFill/>
        </p:spPr>
        <p:txBody>
          <a:bodyPr wrap="square" rtlCol="0">
            <a:spAutoFit/>
          </a:bodyPr>
          <a:lstStyle/>
          <a:p>
            <a:pPr algn="ctr"/>
            <a:r>
              <a:rPr lang="en-US" sz="2000" dirty="0">
                <a:solidFill>
                  <a:srgbClr val="002060"/>
                </a:solidFill>
                <a:latin typeface="Helvetica" panose="020B0604020202020204" pitchFamily="34" charset="0"/>
                <a:cs typeface="Helvetica" panose="020B0604020202020204" pitchFamily="34" charset="0"/>
              </a:rPr>
              <a:t>Delta Matrix</a:t>
            </a:r>
            <a:endParaRPr lang="th-TH" sz="2000" dirty="0">
              <a:solidFill>
                <a:srgbClr val="002060"/>
              </a:solidFill>
              <a:latin typeface="Helvetica" panose="020B0604020202020204" pitchFamily="34" charset="0"/>
            </a:endParaRPr>
          </a:p>
        </p:txBody>
      </p:sp>
      <p:sp>
        <p:nvSpPr>
          <p:cNvPr id="4" name="กล่องข้อความ 3">
            <a:extLst>
              <a:ext uri="{FF2B5EF4-FFF2-40B4-BE49-F238E27FC236}">
                <a16:creationId xmlns:a16="http://schemas.microsoft.com/office/drawing/2014/main" id="{1A7D56C5-4408-1571-CFBF-BB4848636EA0}"/>
              </a:ext>
            </a:extLst>
          </p:cNvPr>
          <p:cNvSpPr txBox="1">
            <a:spLocks/>
          </p:cNvSpPr>
          <p:nvPr/>
        </p:nvSpPr>
        <p:spPr>
          <a:xfrm>
            <a:off x="815340" y="1409352"/>
            <a:ext cx="10561321" cy="2000548"/>
          </a:xfrm>
          <a:prstGeom prst="rect">
            <a:avLst/>
          </a:prstGeom>
          <a:noFill/>
        </p:spPr>
        <p:txBody>
          <a:bodyPr wrap="square" rtlCol="0">
            <a:spAutoFit/>
          </a:bodyPr>
          <a:lstStyle/>
          <a:p>
            <a:r>
              <a:rPr lang="en-US" sz="2000" dirty="0">
                <a:solidFill>
                  <a:srgbClr val="002060"/>
                </a:solidFill>
                <a:latin typeface="Helvetica" panose="020B0604020202020204" pitchFamily="34" charset="0"/>
                <a:cs typeface="Helvetica" panose="020B0604020202020204" pitchFamily="34" charset="0"/>
              </a:rPr>
              <a:t>	Our production line operates with four main types of machine platforms that require consistent Inspection and Preventive Maintenance (IPM) for their testing jigs:</a:t>
            </a:r>
          </a:p>
          <a:p>
            <a:pPr marL="800100" lvl="1" indent="-342900">
              <a:buFont typeface="Arial" panose="020B0604020202020204" pitchFamily="34" charset="0"/>
              <a:buChar char="•"/>
            </a:pPr>
            <a:r>
              <a:rPr lang="en-US" sz="2000" dirty="0">
                <a:solidFill>
                  <a:srgbClr val="002060"/>
                </a:solidFill>
                <a:latin typeface="Helvetica" panose="020B0604020202020204" pitchFamily="34" charset="0"/>
                <a:cs typeface="Helvetica" panose="020B0604020202020204" pitchFamily="34" charset="0"/>
              </a:rPr>
              <a:t>Hontech HT9046</a:t>
            </a:r>
          </a:p>
          <a:p>
            <a:pPr marL="800100" lvl="1" indent="-342900">
              <a:buFont typeface="Arial" panose="020B0604020202020204" pitchFamily="34" charset="0"/>
              <a:buChar char="•"/>
            </a:pPr>
            <a:r>
              <a:rPr lang="en-US" sz="2000" dirty="0">
                <a:solidFill>
                  <a:srgbClr val="002060"/>
                </a:solidFill>
                <a:latin typeface="Helvetica" panose="020B0604020202020204" pitchFamily="34" charset="0"/>
                <a:cs typeface="Helvetica" panose="020B0604020202020204" pitchFamily="34" charset="0"/>
              </a:rPr>
              <a:t>Hontech HT9046MX</a:t>
            </a:r>
          </a:p>
          <a:p>
            <a:pPr marL="800100" lvl="1" indent="-342900">
              <a:buFont typeface="Arial" panose="020B0604020202020204" pitchFamily="34" charset="0"/>
              <a:buChar char="•"/>
            </a:pPr>
            <a:r>
              <a:rPr lang="en-US" sz="2000" dirty="0">
                <a:solidFill>
                  <a:srgbClr val="002060"/>
                </a:solidFill>
                <a:latin typeface="Helvetica" panose="020B0604020202020204" pitchFamily="34" charset="0"/>
                <a:cs typeface="Helvetica" panose="020B0604020202020204" pitchFamily="34" charset="0"/>
              </a:rPr>
              <a:t>Multitest 9510 (MT9510)</a:t>
            </a:r>
          </a:p>
          <a:p>
            <a:pPr marL="800100" lvl="1" indent="-342900">
              <a:buFont typeface="Arial" panose="020B0604020202020204" pitchFamily="34" charset="0"/>
              <a:buChar char="•"/>
            </a:pPr>
            <a:r>
              <a:rPr lang="en-US" sz="2000" dirty="0">
                <a:solidFill>
                  <a:srgbClr val="002060"/>
                </a:solidFill>
                <a:latin typeface="Helvetica" panose="020B0604020202020204" pitchFamily="34" charset="0"/>
                <a:cs typeface="Helvetica" panose="020B0604020202020204" pitchFamily="34" charset="0"/>
              </a:rPr>
              <a:t>DELTA MATRIX DELD8880</a:t>
            </a:r>
          </a:p>
        </p:txBody>
      </p:sp>
      <p:sp>
        <p:nvSpPr>
          <p:cNvPr id="9" name="กล่องข้อความ 8">
            <a:extLst>
              <a:ext uri="{FF2B5EF4-FFF2-40B4-BE49-F238E27FC236}">
                <a16:creationId xmlns:a16="http://schemas.microsoft.com/office/drawing/2014/main" id="{150DF261-1419-E66E-3D12-05530B19A803}"/>
              </a:ext>
            </a:extLst>
          </p:cNvPr>
          <p:cNvSpPr txBox="1"/>
          <p:nvPr/>
        </p:nvSpPr>
        <p:spPr>
          <a:xfrm>
            <a:off x="842509" y="943599"/>
            <a:ext cx="6096000" cy="400110"/>
          </a:xfrm>
          <a:prstGeom prst="rect">
            <a:avLst/>
          </a:prstGeom>
          <a:noFill/>
        </p:spPr>
        <p:txBody>
          <a:bodyPr wrap="square">
            <a:spAutoFit/>
          </a:bodyPr>
          <a:lstStyle/>
          <a:p>
            <a:r>
              <a:rPr lang="en-US" sz="2000" b="1" dirty="0">
                <a:solidFill>
                  <a:srgbClr val="002060"/>
                </a:solidFill>
                <a:latin typeface="Helvetica" panose="020B0604020202020204" pitchFamily="34" charset="0"/>
                <a:cs typeface="Helvetica" panose="020B0604020202020204" pitchFamily="34" charset="0"/>
              </a:rPr>
              <a:t>Machine Platforms &amp; ALPL Diversity:</a:t>
            </a:r>
          </a:p>
        </p:txBody>
      </p:sp>
      <p:sp>
        <p:nvSpPr>
          <p:cNvPr id="2" name="สี่เหลี่ยมผืนผ้า 1">
            <a:extLst>
              <a:ext uri="{FF2B5EF4-FFF2-40B4-BE49-F238E27FC236}">
                <a16:creationId xmlns:a16="http://schemas.microsoft.com/office/drawing/2014/main" id="{8A7EA247-FC26-0D12-FA41-3CD54F0A676B}"/>
              </a:ext>
            </a:extLst>
          </p:cNvPr>
          <p:cNvSpPr/>
          <p:nvPr/>
        </p:nvSpPr>
        <p:spPr>
          <a:xfrm rot="20196433" flipV="1">
            <a:off x="9019266" y="3940222"/>
            <a:ext cx="914400" cy="3186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 name="สี่เหลี่ยมผืนผ้า 2">
            <a:extLst>
              <a:ext uri="{FF2B5EF4-FFF2-40B4-BE49-F238E27FC236}">
                <a16:creationId xmlns:a16="http://schemas.microsoft.com/office/drawing/2014/main" id="{0958DEF8-D39C-ED6E-065D-734CBD4D70AC}"/>
              </a:ext>
            </a:extLst>
          </p:cNvPr>
          <p:cNvSpPr/>
          <p:nvPr/>
        </p:nvSpPr>
        <p:spPr>
          <a:xfrm>
            <a:off x="4622471" y="4724500"/>
            <a:ext cx="400911" cy="126605"/>
          </a:xfrm>
          <a:prstGeom prst="rect">
            <a:avLst/>
          </a:prstGeom>
          <a:solidFill>
            <a:srgbClr val="E8E7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38289101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C0E27-8C4C-4FF3-F8D3-B613A5CF9DCE}"/>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1751C889-54A8-59DD-8648-018E5DB3DD29}"/>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
        <p:nvSpPr>
          <p:cNvPr id="3" name="กล่องข้อความ 2">
            <a:extLst>
              <a:ext uri="{FF2B5EF4-FFF2-40B4-BE49-F238E27FC236}">
                <a16:creationId xmlns:a16="http://schemas.microsoft.com/office/drawing/2014/main" id="{44795020-51EA-AACE-3CF2-6F5CC89CB780}"/>
              </a:ext>
            </a:extLst>
          </p:cNvPr>
          <p:cNvSpPr txBox="1"/>
          <p:nvPr/>
        </p:nvSpPr>
        <p:spPr>
          <a:xfrm>
            <a:off x="838200" y="755427"/>
            <a:ext cx="7172960" cy="400110"/>
          </a:xfrm>
          <a:prstGeom prst="rect">
            <a:avLst/>
          </a:prstGeom>
          <a:noFill/>
        </p:spPr>
        <p:txBody>
          <a:bodyPr wrap="square">
            <a:spAutoFit/>
          </a:bodyPr>
          <a:lstStyle/>
          <a:p>
            <a:r>
              <a:rPr lang="en-US" sz="2000" b="1" dirty="0">
                <a:solidFill>
                  <a:srgbClr val="002060"/>
                </a:solidFill>
                <a:latin typeface="Helvetica" panose="020B0604020202020204" pitchFamily="34" charset="0"/>
                <a:cs typeface="Helvetica" panose="020B0604020202020204" pitchFamily="34" charset="0"/>
              </a:rPr>
              <a:t>ALPL Distribution Across Machine Platforms</a:t>
            </a:r>
            <a:endParaRPr lang="th-TH" sz="2000" b="1" dirty="0">
              <a:solidFill>
                <a:srgbClr val="002060"/>
              </a:solidFill>
              <a:latin typeface="Helvetica" panose="020B0604020202020204" pitchFamily="34" charset="0"/>
            </a:endParaRPr>
          </a:p>
        </p:txBody>
      </p:sp>
      <p:graphicFrame>
        <p:nvGraphicFramePr>
          <p:cNvPr id="4" name="ตาราง 3">
            <a:extLst>
              <a:ext uri="{FF2B5EF4-FFF2-40B4-BE49-F238E27FC236}">
                <a16:creationId xmlns:a16="http://schemas.microsoft.com/office/drawing/2014/main" id="{630BB010-4422-657C-0D41-DE1AF0541F8E}"/>
              </a:ext>
            </a:extLst>
          </p:cNvPr>
          <p:cNvGraphicFramePr>
            <a:graphicFrameLocks noGrp="1"/>
          </p:cNvGraphicFramePr>
          <p:nvPr/>
        </p:nvGraphicFramePr>
        <p:xfrm>
          <a:off x="838200" y="1362646"/>
          <a:ext cx="10515600" cy="4250688"/>
        </p:xfrm>
        <a:graphic>
          <a:graphicData uri="http://schemas.openxmlformats.org/drawingml/2006/table">
            <a:tbl>
              <a:tblPr/>
              <a:tblGrid>
                <a:gridCol w="3693160">
                  <a:extLst>
                    <a:ext uri="{9D8B030D-6E8A-4147-A177-3AD203B41FA5}">
                      <a16:colId xmlns:a16="http://schemas.microsoft.com/office/drawing/2014/main" val="3349262537"/>
                    </a:ext>
                  </a:extLst>
                </a:gridCol>
                <a:gridCol w="3317240">
                  <a:extLst>
                    <a:ext uri="{9D8B030D-6E8A-4147-A177-3AD203B41FA5}">
                      <a16:colId xmlns:a16="http://schemas.microsoft.com/office/drawing/2014/main" val="1842803161"/>
                    </a:ext>
                  </a:extLst>
                </a:gridCol>
                <a:gridCol w="3505200">
                  <a:extLst>
                    <a:ext uri="{9D8B030D-6E8A-4147-A177-3AD203B41FA5}">
                      <a16:colId xmlns:a16="http://schemas.microsoft.com/office/drawing/2014/main" val="1335042682"/>
                    </a:ext>
                  </a:extLst>
                </a:gridCol>
              </a:tblGrid>
              <a:tr h="708448">
                <a:tc>
                  <a:txBody>
                    <a:bodyPr/>
                    <a:lstStyle/>
                    <a:p>
                      <a:pPr algn="ctr">
                        <a:buNone/>
                      </a:pPr>
                      <a:r>
                        <a:rPr lang="en-US" sz="2000" b="1" i="0" dirty="0">
                          <a:solidFill>
                            <a:srgbClr val="002060"/>
                          </a:solidFill>
                          <a:latin typeface="Helvetica" panose="020B0604020202020204" pitchFamily="34" charset="0"/>
                          <a:cs typeface="Helvetica" panose="020B0604020202020204" pitchFamily="34" charset="0"/>
                        </a:rPr>
                        <a:t>Machine</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2000" b="1" i="0">
                          <a:solidFill>
                            <a:srgbClr val="002060"/>
                          </a:solidFill>
                          <a:latin typeface="Helvetica" panose="020B0604020202020204" pitchFamily="34" charset="0"/>
                          <a:cs typeface="Helvetica" panose="020B0604020202020204" pitchFamily="34" charset="0"/>
                        </a:rPr>
                        <a:t>Shape</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2000" b="1" i="0">
                          <a:solidFill>
                            <a:srgbClr val="002060"/>
                          </a:solidFill>
                          <a:latin typeface="Helvetica" panose="020B0604020202020204" pitchFamily="34" charset="0"/>
                          <a:cs typeface="Helvetica" panose="020B0604020202020204" pitchFamily="34" charset="0"/>
                        </a:rPr>
                        <a:t>Total ALPLs</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9829313"/>
                  </a:ext>
                </a:extLst>
              </a:tr>
              <a:tr h="708448">
                <a:tc>
                  <a:txBody>
                    <a:bodyPr/>
                    <a:lstStyle/>
                    <a:p>
                      <a:pPr algn="ctr">
                        <a:buNone/>
                      </a:pPr>
                      <a:r>
                        <a:rPr lang="en-US" sz="2000">
                          <a:solidFill>
                            <a:srgbClr val="002060"/>
                          </a:solidFill>
                          <a:latin typeface="Helvetica" panose="020B0604020202020204" pitchFamily="34" charset="0"/>
                          <a:cs typeface="Helvetica" panose="020B0604020202020204" pitchFamily="34" charset="0"/>
                        </a:rPr>
                        <a:t>HT9046</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2000">
                          <a:solidFill>
                            <a:srgbClr val="002060"/>
                          </a:solidFill>
                          <a:latin typeface="Helvetica" panose="020B0604020202020204" pitchFamily="34" charset="0"/>
                          <a:cs typeface="Helvetica" panose="020B0604020202020204" pitchFamily="34" charset="0"/>
                        </a:rPr>
                        <a:t>HT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2000">
                          <a:solidFill>
                            <a:srgbClr val="002060"/>
                          </a:solidFill>
                          <a:latin typeface="Helvetica" panose="020B0604020202020204" pitchFamily="34" charset="0"/>
                          <a:cs typeface="Helvetica" panose="020B0604020202020204" pitchFamily="34" charset="0"/>
                        </a:rPr>
                        <a:t>864</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492116"/>
                  </a:ext>
                </a:extLst>
              </a:tr>
              <a:tr h="708448">
                <a:tc>
                  <a:txBody>
                    <a:bodyPr/>
                    <a:lstStyle/>
                    <a:p>
                      <a:pPr algn="ctr">
                        <a:buNone/>
                      </a:pPr>
                      <a:r>
                        <a:rPr lang="en-US" sz="2000" dirty="0">
                          <a:solidFill>
                            <a:srgbClr val="002060"/>
                          </a:solidFill>
                          <a:latin typeface="Helvetica" panose="020B0604020202020204" pitchFamily="34" charset="0"/>
                          <a:cs typeface="Helvetica" panose="020B0604020202020204" pitchFamily="34" charset="0"/>
                        </a:rPr>
                        <a:t>HT9046MX</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2000" dirty="0">
                          <a:solidFill>
                            <a:srgbClr val="002060"/>
                          </a:solidFill>
                          <a:latin typeface="Helvetica" panose="020B0604020202020204" pitchFamily="34" charset="0"/>
                          <a:cs typeface="Helvetica" panose="020B0604020202020204" pitchFamily="34" charset="0"/>
                        </a:rPr>
                        <a:t>HT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2000">
                          <a:solidFill>
                            <a:srgbClr val="002060"/>
                          </a:solidFill>
                          <a:latin typeface="Helvetica" panose="020B0604020202020204" pitchFamily="34" charset="0"/>
                          <a:cs typeface="Helvetica" panose="020B0604020202020204" pitchFamily="34" charset="0"/>
                        </a:rPr>
                        <a:t>892</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121680"/>
                  </a:ext>
                </a:extLst>
              </a:tr>
              <a:tr h="708448">
                <a:tc>
                  <a:txBody>
                    <a:bodyPr/>
                    <a:lstStyle/>
                    <a:p>
                      <a:pPr algn="ctr">
                        <a:buNone/>
                      </a:pPr>
                      <a:r>
                        <a:rPr lang="en-US" sz="2000">
                          <a:solidFill>
                            <a:srgbClr val="002060"/>
                          </a:solidFill>
                          <a:latin typeface="Helvetica" panose="020B0604020202020204" pitchFamily="34" charset="0"/>
                          <a:cs typeface="Helvetica" panose="020B0604020202020204" pitchFamily="34" charset="0"/>
                        </a:rPr>
                        <a:t>MT9510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2000" dirty="0">
                          <a:solidFill>
                            <a:srgbClr val="002060"/>
                          </a:solidFill>
                          <a:latin typeface="Helvetica" panose="020B0604020202020204" pitchFamily="34" charset="0"/>
                          <a:cs typeface="Helvetica" panose="020B0604020202020204" pitchFamily="34" charset="0"/>
                        </a:rPr>
                        <a:t>95</a:t>
                      </a:r>
                      <a:endParaRPr lang="th-TH" sz="2000" dirty="0">
                        <a:solidFill>
                          <a:srgbClr val="002060"/>
                        </a:solidFill>
                        <a:latin typeface="Helvetica" panose="020B0604020202020204" pitchFamily="34"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2000">
                          <a:solidFill>
                            <a:srgbClr val="002060"/>
                          </a:solidFill>
                          <a:latin typeface="Helvetica" panose="020B0604020202020204" pitchFamily="34" charset="0"/>
                          <a:cs typeface="Helvetica" panose="020B0604020202020204" pitchFamily="34" charset="0"/>
                        </a:rPr>
                        <a:t>367</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0930952"/>
                  </a:ext>
                </a:extLst>
              </a:tr>
              <a:tr h="708448">
                <a:tc>
                  <a:txBody>
                    <a:bodyPr/>
                    <a:lstStyle/>
                    <a:p>
                      <a:pPr algn="ctr">
                        <a:buNone/>
                      </a:pPr>
                      <a:r>
                        <a:rPr lang="en-US" sz="2000" dirty="0">
                          <a:solidFill>
                            <a:srgbClr val="002060"/>
                          </a:solidFill>
                          <a:latin typeface="Helvetica" panose="020B0604020202020204" pitchFamily="34" charset="0"/>
                          <a:cs typeface="Helvetica" panose="020B0604020202020204" pitchFamily="34" charset="0"/>
                        </a:rPr>
                        <a:t>DELD8880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2000" dirty="0">
                          <a:solidFill>
                            <a:srgbClr val="002060"/>
                          </a:solidFill>
                          <a:latin typeface="Helvetica" panose="020B0604020202020204" pitchFamily="34" charset="0"/>
                          <a:cs typeface="Helvetica" panose="020B0604020202020204" pitchFamily="34" charset="0"/>
                        </a:rPr>
                        <a:t>DELD</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2000">
                          <a:solidFill>
                            <a:srgbClr val="002060"/>
                          </a:solidFill>
                          <a:latin typeface="Helvetica" panose="020B0604020202020204" pitchFamily="34" charset="0"/>
                          <a:cs typeface="Helvetica" panose="020B0604020202020204" pitchFamily="34" charset="0"/>
                        </a:rPr>
                        <a:t>900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6607156"/>
                  </a:ext>
                </a:extLst>
              </a:tr>
              <a:tr h="708448">
                <a:tc gridSpan="2">
                  <a:txBody>
                    <a:bodyPr/>
                    <a:lstStyle/>
                    <a:p>
                      <a:pPr algn="ctr">
                        <a:buNone/>
                      </a:pPr>
                      <a:r>
                        <a:rPr lang="en-US" sz="2000" b="1">
                          <a:solidFill>
                            <a:srgbClr val="002060"/>
                          </a:solidFill>
                          <a:latin typeface="Helvetica" panose="020B0604020202020204" pitchFamily="34" charset="0"/>
                          <a:cs typeface="Helvetica" panose="020B0604020202020204" pitchFamily="34" charset="0"/>
                        </a:rPr>
                        <a:t>Total</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buNone/>
                      </a:pPr>
                      <a:endParaRPr lang="th-TH" sz="2000" b="1">
                        <a:solidFill>
                          <a:srgbClr val="002060"/>
                        </a:solidFill>
                        <a:latin typeface="Helvetica"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2000" b="1" dirty="0">
                          <a:solidFill>
                            <a:srgbClr val="002060"/>
                          </a:solidFill>
                          <a:latin typeface="Helvetica" panose="020B0604020202020204" pitchFamily="34" charset="0"/>
                          <a:cs typeface="Helvetica" panose="020B0604020202020204" pitchFamily="34" charset="0"/>
                        </a:rPr>
                        <a:t>3023</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7987937"/>
                  </a:ext>
                </a:extLst>
              </a:tr>
            </a:tbl>
          </a:graphicData>
        </a:graphic>
      </p:graphicFrame>
      <p:sp>
        <p:nvSpPr>
          <p:cNvPr id="5" name="กล่องข้อความ 4">
            <a:extLst>
              <a:ext uri="{FF2B5EF4-FFF2-40B4-BE49-F238E27FC236}">
                <a16:creationId xmlns:a16="http://schemas.microsoft.com/office/drawing/2014/main" id="{9AC50BE2-5ADD-A6C1-9D64-D0AF69CCE29D}"/>
              </a:ext>
            </a:extLst>
          </p:cNvPr>
          <p:cNvSpPr txBox="1"/>
          <p:nvPr/>
        </p:nvSpPr>
        <p:spPr>
          <a:xfrm>
            <a:off x="838200" y="5862634"/>
            <a:ext cx="10515600" cy="307777"/>
          </a:xfrm>
          <a:prstGeom prst="rect">
            <a:avLst/>
          </a:prstGeom>
          <a:noFill/>
        </p:spPr>
        <p:txBody>
          <a:bodyPr wrap="square">
            <a:spAutoFit/>
          </a:bodyPr>
          <a:lstStyle/>
          <a:p>
            <a:pPr algn="ctr"/>
            <a:r>
              <a:rPr lang="en-US" sz="1400" dirty="0">
                <a:solidFill>
                  <a:srgbClr val="C00000"/>
                </a:solidFill>
                <a:latin typeface="Helvetica" panose="020B0604020202020204" pitchFamily="34" charset="0"/>
                <a:cs typeface="Helvetica" panose="020B0604020202020204" pitchFamily="34" charset="0"/>
              </a:rPr>
              <a:t>Reference: Based on the PM Kit Database used for production planning (Excludes Spare Parts).</a:t>
            </a:r>
            <a:endParaRPr lang="th-TH" sz="1400" dirty="0">
              <a:solidFill>
                <a:srgbClr val="C00000"/>
              </a:solidFill>
              <a:latin typeface="Helvetica" panose="020B0604020202020204" pitchFamily="34" charset="0"/>
            </a:endParaRPr>
          </a:p>
        </p:txBody>
      </p:sp>
      <p:pic>
        <p:nvPicPr>
          <p:cNvPr id="6" name="Picture 2" descr="Analog Devices | Disruptive Technology for Clinical Trials">
            <a:extLst>
              <a:ext uri="{FF2B5EF4-FFF2-40B4-BE49-F238E27FC236}">
                <a16:creationId xmlns:a16="http://schemas.microsoft.com/office/drawing/2014/main" id="{9826668A-066F-4410-3975-C4ED62BD0B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9" name="Picture 2" descr="LOGO_ENkku_color – Faculty of Engineering , Khon Kaen University">
            <a:extLst>
              <a:ext uri="{FF2B5EF4-FFF2-40B4-BE49-F238E27FC236}">
                <a16:creationId xmlns:a16="http://schemas.microsoft.com/office/drawing/2014/main" id="{6D590DC4-ADBB-4A31-27DD-559B99287C4C}"/>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068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6E779-1625-A586-AF5B-63C77CB3F287}"/>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4258CF1F-67A9-5739-6570-100284C0660E}"/>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4" name="Picture 2" descr="Analog Devices | Disruptive Technology for Clinical Trials">
            <a:extLst>
              <a:ext uri="{FF2B5EF4-FFF2-40B4-BE49-F238E27FC236}">
                <a16:creationId xmlns:a16="http://schemas.microsoft.com/office/drawing/2014/main" id="{0EB927A6-9A71-7965-05A2-F2FD45487F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5" name="Picture 2" descr="LOGO_ENkku_color – Faculty of Engineering , Khon Kaen University">
            <a:extLst>
              <a:ext uri="{FF2B5EF4-FFF2-40B4-BE49-F238E27FC236}">
                <a16:creationId xmlns:a16="http://schemas.microsoft.com/office/drawing/2014/main" id="{A455E3C2-757E-B7B3-B6B2-AB2C9FA9F773}"/>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9" name="กล่องข้อความ 8">
            <a:extLst>
              <a:ext uri="{FF2B5EF4-FFF2-40B4-BE49-F238E27FC236}">
                <a16:creationId xmlns:a16="http://schemas.microsoft.com/office/drawing/2014/main" id="{511F0BAD-E27E-196C-0191-2CCE5EDC47B0}"/>
              </a:ext>
            </a:extLst>
          </p:cNvPr>
          <p:cNvSpPr txBox="1"/>
          <p:nvPr/>
        </p:nvSpPr>
        <p:spPr>
          <a:xfrm>
            <a:off x="890506" y="5738803"/>
            <a:ext cx="2457587" cy="493374"/>
          </a:xfrm>
          <a:prstGeom prst="rect">
            <a:avLst/>
          </a:prstGeom>
          <a:noFill/>
        </p:spPr>
        <p:txBody>
          <a:bodyPr wrap="square">
            <a:spAutoFit/>
          </a:bodyPr>
          <a:lstStyle/>
          <a:p>
            <a:pPr algn="ctr"/>
            <a:r>
              <a:rPr lang="en-US" sz="2000" dirty="0">
                <a:solidFill>
                  <a:srgbClr val="002060"/>
                </a:solidFill>
                <a:latin typeface="Helvetica" panose="020B0604020202020204" pitchFamily="34" charset="0"/>
                <a:cs typeface="Helvetica" panose="020B0604020202020204" pitchFamily="34" charset="0"/>
              </a:rPr>
              <a:t>HT Shape</a:t>
            </a:r>
            <a:endParaRPr lang="th-TH" sz="2000" dirty="0"/>
          </a:p>
        </p:txBody>
      </p:sp>
      <p:sp>
        <p:nvSpPr>
          <p:cNvPr id="13" name="กล่องข้อความ 12">
            <a:extLst>
              <a:ext uri="{FF2B5EF4-FFF2-40B4-BE49-F238E27FC236}">
                <a16:creationId xmlns:a16="http://schemas.microsoft.com/office/drawing/2014/main" id="{2BBA8127-E245-3346-2D0C-5BE2CBF3A6AD}"/>
              </a:ext>
            </a:extLst>
          </p:cNvPr>
          <p:cNvSpPr txBox="1"/>
          <p:nvPr/>
        </p:nvSpPr>
        <p:spPr>
          <a:xfrm>
            <a:off x="4366947" y="5738803"/>
            <a:ext cx="2457587" cy="493374"/>
          </a:xfrm>
          <a:prstGeom prst="rect">
            <a:avLst/>
          </a:prstGeom>
          <a:noFill/>
        </p:spPr>
        <p:txBody>
          <a:bodyPr wrap="square">
            <a:spAutoFit/>
          </a:bodyPr>
          <a:lstStyle/>
          <a:p>
            <a:pPr algn="ctr"/>
            <a:r>
              <a:rPr lang="en-US" sz="2000" dirty="0">
                <a:solidFill>
                  <a:srgbClr val="002060"/>
                </a:solidFill>
                <a:latin typeface="Helvetica" panose="020B0604020202020204" pitchFamily="34" charset="0"/>
                <a:cs typeface="Helvetica" panose="020B0604020202020204" pitchFamily="34" charset="0"/>
              </a:rPr>
              <a:t>DELD Shape</a:t>
            </a:r>
            <a:endParaRPr lang="th-TH" sz="2000" dirty="0"/>
          </a:p>
        </p:txBody>
      </p:sp>
      <p:sp>
        <p:nvSpPr>
          <p:cNvPr id="15" name="กล่องข้อความ 14">
            <a:extLst>
              <a:ext uri="{FF2B5EF4-FFF2-40B4-BE49-F238E27FC236}">
                <a16:creationId xmlns:a16="http://schemas.microsoft.com/office/drawing/2014/main" id="{D4018D09-546D-1351-476C-B6649558C47C}"/>
              </a:ext>
            </a:extLst>
          </p:cNvPr>
          <p:cNvSpPr txBox="1"/>
          <p:nvPr/>
        </p:nvSpPr>
        <p:spPr>
          <a:xfrm>
            <a:off x="7988486" y="5738803"/>
            <a:ext cx="2457587" cy="493374"/>
          </a:xfrm>
          <a:prstGeom prst="rect">
            <a:avLst/>
          </a:prstGeom>
          <a:noFill/>
        </p:spPr>
        <p:txBody>
          <a:bodyPr wrap="square">
            <a:spAutoFit/>
          </a:bodyPr>
          <a:lstStyle/>
          <a:p>
            <a:pPr algn="ctr"/>
            <a:r>
              <a:rPr lang="en-US" sz="2000">
                <a:solidFill>
                  <a:srgbClr val="002060"/>
                </a:solidFill>
                <a:latin typeface="Helvetica" panose="020B0604020202020204" pitchFamily="34" charset="0"/>
                <a:cs typeface="Helvetica" panose="020B0604020202020204" pitchFamily="34" charset="0"/>
              </a:rPr>
              <a:t>95 Shape</a:t>
            </a:r>
            <a:endParaRPr lang="th-TH" sz="2000"/>
          </a:p>
        </p:txBody>
      </p:sp>
      <p:pic>
        <p:nvPicPr>
          <p:cNvPr id="19" name="รูปภาพ 18">
            <a:extLst>
              <a:ext uri="{FF2B5EF4-FFF2-40B4-BE49-F238E27FC236}">
                <a16:creationId xmlns:a16="http://schemas.microsoft.com/office/drawing/2014/main" id="{83E72FC0-6F9B-359D-4B45-2956C2EBEB9D}"/>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l="28050" t="34964" r="27481" b="30370"/>
          <a:stretch>
            <a:fillRect/>
          </a:stretch>
        </p:blipFill>
        <p:spPr>
          <a:xfrm rot="16200000">
            <a:off x="4716980" y="3368961"/>
            <a:ext cx="1757521" cy="1826806"/>
          </a:xfrm>
          <a:prstGeom prst="rect">
            <a:avLst/>
          </a:prstGeom>
          <a:ln>
            <a:noFill/>
          </a:ln>
        </p:spPr>
      </p:pic>
      <p:pic>
        <p:nvPicPr>
          <p:cNvPr id="21" name="รูปภาพ 20">
            <a:extLst>
              <a:ext uri="{FF2B5EF4-FFF2-40B4-BE49-F238E27FC236}">
                <a16:creationId xmlns:a16="http://schemas.microsoft.com/office/drawing/2014/main" id="{62342313-EE1D-C8B4-D4E7-E5951A8F4DF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41918" y="3280724"/>
            <a:ext cx="1950722" cy="1998973"/>
          </a:xfrm>
          <a:prstGeom prst="rect">
            <a:avLst/>
          </a:prstGeom>
          <a:ln>
            <a:noFill/>
          </a:ln>
        </p:spPr>
      </p:pic>
      <p:pic>
        <p:nvPicPr>
          <p:cNvPr id="2" name="รูปภาพ 1">
            <a:extLst>
              <a:ext uri="{FF2B5EF4-FFF2-40B4-BE49-F238E27FC236}">
                <a16:creationId xmlns:a16="http://schemas.microsoft.com/office/drawing/2014/main" id="{B6CCE5BF-5700-5B39-4F9E-AEDC4CB68062}"/>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20000"/>
                    </a14:imgEffect>
                  </a14:imgLayer>
                </a14:imgProps>
              </a:ext>
              <a:ext uri="{28A0092B-C50C-407E-A947-70E740481C1C}">
                <a14:useLocalDpi xmlns:a14="http://schemas.microsoft.com/office/drawing/2010/main" val="0"/>
              </a:ext>
            </a:extLst>
          </a:blip>
          <a:srcRect l="22169" t="44894" r="36200" b="22801"/>
          <a:stretch>
            <a:fillRect/>
          </a:stretch>
        </p:blipFill>
        <p:spPr>
          <a:xfrm rot="5400000">
            <a:off x="1457660" y="3652963"/>
            <a:ext cx="1323278" cy="1369107"/>
          </a:xfrm>
          <a:prstGeom prst="rect">
            <a:avLst/>
          </a:prstGeom>
          <a:ln>
            <a:noFill/>
          </a:ln>
        </p:spPr>
      </p:pic>
      <p:cxnSp>
        <p:nvCxnSpPr>
          <p:cNvPr id="6" name="ตัวเชื่อมต่อตรง 5">
            <a:extLst>
              <a:ext uri="{FF2B5EF4-FFF2-40B4-BE49-F238E27FC236}">
                <a16:creationId xmlns:a16="http://schemas.microsoft.com/office/drawing/2014/main" id="{D246A52F-E3C2-F97B-94F2-C71ADFEB64FB}"/>
              </a:ext>
            </a:extLst>
          </p:cNvPr>
          <p:cNvCxnSpPr>
            <a:cxnSpLocks/>
          </p:cNvCxnSpPr>
          <p:nvPr/>
        </p:nvCxnSpPr>
        <p:spPr>
          <a:xfrm flipH="1">
            <a:off x="2722435" y="3749348"/>
            <a:ext cx="470986" cy="0"/>
          </a:xfrm>
          <a:prstGeom prst="line">
            <a:avLst/>
          </a:prstGeom>
          <a:ln>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8" name="ตัวเชื่อมต่อตรง 7">
            <a:extLst>
              <a:ext uri="{FF2B5EF4-FFF2-40B4-BE49-F238E27FC236}">
                <a16:creationId xmlns:a16="http://schemas.microsoft.com/office/drawing/2014/main" id="{29E127C9-A3E3-B1EF-30AB-EDE32B582575}"/>
              </a:ext>
            </a:extLst>
          </p:cNvPr>
          <p:cNvCxnSpPr>
            <a:cxnSpLocks/>
          </p:cNvCxnSpPr>
          <p:nvPr/>
        </p:nvCxnSpPr>
        <p:spPr>
          <a:xfrm flipH="1">
            <a:off x="2730627" y="4919952"/>
            <a:ext cx="462795" cy="0"/>
          </a:xfrm>
          <a:prstGeom prst="line">
            <a:avLst/>
          </a:prstGeom>
          <a:ln>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0" name="ลูกศรเชื่อมต่อแบบตรง 9">
            <a:extLst>
              <a:ext uri="{FF2B5EF4-FFF2-40B4-BE49-F238E27FC236}">
                <a16:creationId xmlns:a16="http://schemas.microsoft.com/office/drawing/2014/main" id="{7FEC6620-DD6E-A57B-C96B-7FB0F0C2C7F2}"/>
              </a:ext>
            </a:extLst>
          </p:cNvPr>
          <p:cNvCxnSpPr>
            <a:cxnSpLocks/>
          </p:cNvCxnSpPr>
          <p:nvPr/>
        </p:nvCxnSpPr>
        <p:spPr>
          <a:xfrm>
            <a:off x="2960860" y="3748287"/>
            <a:ext cx="0" cy="1171665"/>
          </a:xfrm>
          <a:prstGeom prst="straightConnector1">
            <a:avLst/>
          </a:prstGeom>
          <a:ln>
            <a:solidFill>
              <a:schemeClr val="accent2">
                <a:lumMod val="40000"/>
                <a:lumOff val="60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1" name="กล่องข้อความ 10">
            <a:extLst>
              <a:ext uri="{FF2B5EF4-FFF2-40B4-BE49-F238E27FC236}">
                <a16:creationId xmlns:a16="http://schemas.microsoft.com/office/drawing/2014/main" id="{9F4AF8FE-0419-B509-91BC-BC494D551AE9}"/>
              </a:ext>
            </a:extLst>
          </p:cNvPr>
          <p:cNvSpPr txBox="1"/>
          <p:nvPr/>
        </p:nvSpPr>
        <p:spPr>
          <a:xfrm>
            <a:off x="1475586" y="5201711"/>
            <a:ext cx="1287423" cy="322590"/>
          </a:xfrm>
          <a:prstGeom prst="rect">
            <a:avLst/>
          </a:prstGeom>
          <a:noFill/>
          <a:ln>
            <a:noFill/>
          </a:ln>
        </p:spPr>
        <p:txBody>
          <a:bodyPr wrap="square">
            <a:spAutoFit/>
          </a:bodyPr>
          <a:lstStyle/>
          <a:p>
            <a:pPr algn="ctr"/>
            <a:r>
              <a:rPr lang="en-US" altLang="th-TH" sz="1100" dirty="0">
                <a:solidFill>
                  <a:schemeClr val="accent2">
                    <a:lumMod val="75000"/>
                  </a:schemeClr>
                </a:solidFill>
                <a:latin typeface="Helvetica" panose="020B0604020202020204" pitchFamily="34" charset="0"/>
                <a:cs typeface="Helvetica" panose="020B0604020202020204" pitchFamily="34" charset="0"/>
              </a:rPr>
              <a:t>20 mm</a:t>
            </a:r>
            <a:endParaRPr lang="th-TH" sz="1100" dirty="0">
              <a:solidFill>
                <a:schemeClr val="accent2">
                  <a:lumMod val="75000"/>
                </a:schemeClr>
              </a:solidFill>
            </a:endParaRPr>
          </a:p>
        </p:txBody>
      </p:sp>
      <p:grpSp>
        <p:nvGrpSpPr>
          <p:cNvPr id="22" name="กลุ่ม 21">
            <a:extLst>
              <a:ext uri="{FF2B5EF4-FFF2-40B4-BE49-F238E27FC236}">
                <a16:creationId xmlns:a16="http://schemas.microsoft.com/office/drawing/2014/main" id="{C66B3769-A9F7-45D5-9CDA-9752C1361263}"/>
              </a:ext>
            </a:extLst>
          </p:cNvPr>
          <p:cNvGrpSpPr/>
          <p:nvPr/>
        </p:nvGrpSpPr>
        <p:grpSpPr>
          <a:xfrm rot="5400000">
            <a:off x="1883805" y="4578503"/>
            <a:ext cx="470986" cy="1171665"/>
            <a:chOff x="3761117" y="3251799"/>
            <a:chExt cx="584137" cy="1453147"/>
          </a:xfrm>
        </p:grpSpPr>
        <p:cxnSp>
          <p:nvCxnSpPr>
            <p:cNvPr id="14" name="ตัวเชื่อมต่อตรง 13">
              <a:extLst>
                <a:ext uri="{FF2B5EF4-FFF2-40B4-BE49-F238E27FC236}">
                  <a16:creationId xmlns:a16="http://schemas.microsoft.com/office/drawing/2014/main" id="{399FA45D-19D3-1D94-CED0-C74073E13DF1}"/>
                </a:ext>
              </a:extLst>
            </p:cNvPr>
            <p:cNvCxnSpPr>
              <a:cxnSpLocks/>
            </p:cNvCxnSpPr>
            <p:nvPr/>
          </p:nvCxnSpPr>
          <p:spPr>
            <a:xfrm flipH="1">
              <a:off x="3761117" y="3253114"/>
              <a:ext cx="584137" cy="0"/>
            </a:xfrm>
            <a:prstGeom prst="line">
              <a:avLst/>
            </a:prstGeom>
            <a:ln>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8" name="ตัวเชื่อมต่อตรง 17">
              <a:extLst>
                <a:ext uri="{FF2B5EF4-FFF2-40B4-BE49-F238E27FC236}">
                  <a16:creationId xmlns:a16="http://schemas.microsoft.com/office/drawing/2014/main" id="{22936EB8-2DAB-1C9B-D3AC-2015225972B5}"/>
                </a:ext>
              </a:extLst>
            </p:cNvPr>
            <p:cNvCxnSpPr>
              <a:cxnSpLocks/>
            </p:cNvCxnSpPr>
            <p:nvPr/>
          </p:nvCxnSpPr>
          <p:spPr>
            <a:xfrm flipH="1">
              <a:off x="3771277" y="4704946"/>
              <a:ext cx="573977" cy="0"/>
            </a:xfrm>
            <a:prstGeom prst="line">
              <a:avLst/>
            </a:prstGeom>
            <a:ln>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20" name="ลูกศรเชื่อมต่อแบบตรง 19">
              <a:extLst>
                <a:ext uri="{FF2B5EF4-FFF2-40B4-BE49-F238E27FC236}">
                  <a16:creationId xmlns:a16="http://schemas.microsoft.com/office/drawing/2014/main" id="{A0979FE4-DFFD-BF45-68D1-4BEEF3DF7A3C}"/>
                </a:ext>
              </a:extLst>
            </p:cNvPr>
            <p:cNvCxnSpPr>
              <a:cxnSpLocks/>
            </p:cNvCxnSpPr>
            <p:nvPr/>
          </p:nvCxnSpPr>
          <p:spPr>
            <a:xfrm>
              <a:off x="4056821" y="3251799"/>
              <a:ext cx="0" cy="1453147"/>
            </a:xfrm>
            <a:prstGeom prst="straightConnector1">
              <a:avLst/>
            </a:prstGeom>
            <a:ln>
              <a:solidFill>
                <a:schemeClr val="accent2">
                  <a:lumMod val="40000"/>
                  <a:lumOff val="60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24" name="กล่องข้อความ 23">
            <a:extLst>
              <a:ext uri="{FF2B5EF4-FFF2-40B4-BE49-F238E27FC236}">
                <a16:creationId xmlns:a16="http://schemas.microsoft.com/office/drawing/2014/main" id="{C02FF52D-12F8-A4FB-D2C7-DC1D05AFCF40}"/>
              </a:ext>
            </a:extLst>
          </p:cNvPr>
          <p:cNvSpPr txBox="1"/>
          <p:nvPr/>
        </p:nvSpPr>
        <p:spPr>
          <a:xfrm>
            <a:off x="2757415" y="4245609"/>
            <a:ext cx="1203806" cy="322590"/>
          </a:xfrm>
          <a:prstGeom prst="rect">
            <a:avLst/>
          </a:prstGeom>
          <a:noFill/>
          <a:ln>
            <a:noFill/>
          </a:ln>
        </p:spPr>
        <p:txBody>
          <a:bodyPr wrap="square">
            <a:spAutoFit/>
          </a:bodyPr>
          <a:lstStyle/>
          <a:p>
            <a:pPr algn="ctr"/>
            <a:r>
              <a:rPr lang="en-US" altLang="th-TH" sz="1100" dirty="0">
                <a:solidFill>
                  <a:schemeClr val="accent2">
                    <a:lumMod val="75000"/>
                  </a:schemeClr>
                </a:solidFill>
                <a:latin typeface="Helvetica" panose="020B0604020202020204" pitchFamily="34" charset="0"/>
                <a:cs typeface="Helvetica" panose="020B0604020202020204" pitchFamily="34" charset="0"/>
              </a:rPr>
              <a:t>20 mm</a:t>
            </a:r>
            <a:endParaRPr lang="th-TH" sz="1100" dirty="0">
              <a:solidFill>
                <a:schemeClr val="accent2">
                  <a:lumMod val="75000"/>
                </a:schemeClr>
              </a:solidFill>
            </a:endParaRPr>
          </a:p>
        </p:txBody>
      </p:sp>
      <p:cxnSp>
        <p:nvCxnSpPr>
          <p:cNvPr id="25" name="ตัวเชื่อมต่อตรง 24">
            <a:extLst>
              <a:ext uri="{FF2B5EF4-FFF2-40B4-BE49-F238E27FC236}">
                <a16:creationId xmlns:a16="http://schemas.microsoft.com/office/drawing/2014/main" id="{5191A248-81C7-E3E8-B773-40E035D62179}"/>
              </a:ext>
            </a:extLst>
          </p:cNvPr>
          <p:cNvCxnSpPr>
            <a:cxnSpLocks/>
          </p:cNvCxnSpPr>
          <p:nvPr/>
        </p:nvCxnSpPr>
        <p:spPr>
          <a:xfrm flipH="1">
            <a:off x="6525528" y="3394588"/>
            <a:ext cx="470986" cy="0"/>
          </a:xfrm>
          <a:prstGeom prst="line">
            <a:avLst/>
          </a:prstGeom>
          <a:ln>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26" name="ตัวเชื่อมต่อตรง 25">
            <a:extLst>
              <a:ext uri="{FF2B5EF4-FFF2-40B4-BE49-F238E27FC236}">
                <a16:creationId xmlns:a16="http://schemas.microsoft.com/office/drawing/2014/main" id="{97727B74-E78D-0EC4-DC87-19D1DF4E305C}"/>
              </a:ext>
            </a:extLst>
          </p:cNvPr>
          <p:cNvCxnSpPr>
            <a:cxnSpLocks/>
          </p:cNvCxnSpPr>
          <p:nvPr/>
        </p:nvCxnSpPr>
        <p:spPr>
          <a:xfrm flipH="1">
            <a:off x="6533719" y="5141090"/>
            <a:ext cx="462795" cy="0"/>
          </a:xfrm>
          <a:prstGeom prst="line">
            <a:avLst/>
          </a:prstGeom>
          <a:ln>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27" name="ลูกศรเชื่อมต่อแบบตรง 26">
            <a:extLst>
              <a:ext uri="{FF2B5EF4-FFF2-40B4-BE49-F238E27FC236}">
                <a16:creationId xmlns:a16="http://schemas.microsoft.com/office/drawing/2014/main" id="{42B25FA3-A3BB-F993-4D13-6030406EE388}"/>
              </a:ext>
            </a:extLst>
          </p:cNvPr>
          <p:cNvCxnSpPr>
            <a:cxnSpLocks/>
          </p:cNvCxnSpPr>
          <p:nvPr/>
        </p:nvCxnSpPr>
        <p:spPr>
          <a:xfrm>
            <a:off x="6763952" y="3403603"/>
            <a:ext cx="0" cy="1729211"/>
          </a:xfrm>
          <a:prstGeom prst="straightConnector1">
            <a:avLst/>
          </a:prstGeom>
          <a:ln>
            <a:solidFill>
              <a:schemeClr val="accent2">
                <a:lumMod val="40000"/>
                <a:lumOff val="60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8" name="กล่องข้อความ 27">
            <a:extLst>
              <a:ext uri="{FF2B5EF4-FFF2-40B4-BE49-F238E27FC236}">
                <a16:creationId xmlns:a16="http://schemas.microsoft.com/office/drawing/2014/main" id="{47ED8B53-C8FB-9D25-3104-236C9E860B1B}"/>
              </a:ext>
            </a:extLst>
          </p:cNvPr>
          <p:cNvSpPr txBox="1"/>
          <p:nvPr/>
        </p:nvSpPr>
        <p:spPr>
          <a:xfrm>
            <a:off x="4991205" y="5196118"/>
            <a:ext cx="1186750" cy="322590"/>
          </a:xfrm>
          <a:prstGeom prst="rect">
            <a:avLst/>
          </a:prstGeom>
          <a:noFill/>
          <a:ln>
            <a:noFill/>
          </a:ln>
        </p:spPr>
        <p:txBody>
          <a:bodyPr wrap="square">
            <a:spAutoFit/>
          </a:bodyPr>
          <a:lstStyle/>
          <a:p>
            <a:pPr algn="ctr"/>
            <a:r>
              <a:rPr lang="en-US" altLang="th-TH" sz="1100" dirty="0">
                <a:solidFill>
                  <a:schemeClr val="accent2">
                    <a:lumMod val="75000"/>
                  </a:schemeClr>
                </a:solidFill>
                <a:latin typeface="Helvetica" panose="020B0604020202020204" pitchFamily="34" charset="0"/>
                <a:cs typeface="Helvetica" panose="020B0604020202020204" pitchFamily="34" charset="0"/>
              </a:rPr>
              <a:t>50 mm</a:t>
            </a:r>
            <a:endParaRPr lang="th-TH" sz="1100" dirty="0">
              <a:solidFill>
                <a:schemeClr val="accent2">
                  <a:lumMod val="75000"/>
                </a:schemeClr>
              </a:solidFill>
            </a:endParaRPr>
          </a:p>
        </p:txBody>
      </p:sp>
      <p:grpSp>
        <p:nvGrpSpPr>
          <p:cNvPr id="29" name="กลุ่ม 28">
            <a:extLst>
              <a:ext uri="{FF2B5EF4-FFF2-40B4-BE49-F238E27FC236}">
                <a16:creationId xmlns:a16="http://schemas.microsoft.com/office/drawing/2014/main" id="{B40A07E9-76E1-6789-76E3-B5DD454EC9D3}"/>
              </a:ext>
            </a:extLst>
          </p:cNvPr>
          <p:cNvGrpSpPr/>
          <p:nvPr/>
        </p:nvGrpSpPr>
        <p:grpSpPr>
          <a:xfrm rot="5400000">
            <a:off x="5347751" y="4303208"/>
            <a:ext cx="470987" cy="1702505"/>
            <a:chOff x="3761117" y="3251798"/>
            <a:chExt cx="584138" cy="2111516"/>
          </a:xfrm>
        </p:grpSpPr>
        <p:cxnSp>
          <p:nvCxnSpPr>
            <p:cNvPr id="30" name="ตัวเชื่อมต่อตรง 29">
              <a:extLst>
                <a:ext uri="{FF2B5EF4-FFF2-40B4-BE49-F238E27FC236}">
                  <a16:creationId xmlns:a16="http://schemas.microsoft.com/office/drawing/2014/main" id="{A001A1E8-ECFD-C0EB-6703-D6C95445795D}"/>
                </a:ext>
              </a:extLst>
            </p:cNvPr>
            <p:cNvCxnSpPr>
              <a:cxnSpLocks/>
            </p:cNvCxnSpPr>
            <p:nvPr/>
          </p:nvCxnSpPr>
          <p:spPr>
            <a:xfrm flipH="1">
              <a:off x="3761117" y="3253114"/>
              <a:ext cx="584137" cy="0"/>
            </a:xfrm>
            <a:prstGeom prst="line">
              <a:avLst/>
            </a:prstGeom>
            <a:ln>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31" name="ตัวเชื่อมต่อตรง 30">
              <a:extLst>
                <a:ext uri="{FF2B5EF4-FFF2-40B4-BE49-F238E27FC236}">
                  <a16:creationId xmlns:a16="http://schemas.microsoft.com/office/drawing/2014/main" id="{215E30AB-9575-7D1E-6E85-6202F19D6698}"/>
                </a:ext>
              </a:extLst>
            </p:cNvPr>
            <p:cNvCxnSpPr>
              <a:cxnSpLocks/>
            </p:cNvCxnSpPr>
            <p:nvPr/>
          </p:nvCxnSpPr>
          <p:spPr>
            <a:xfrm flipH="1">
              <a:off x="3771278" y="5363314"/>
              <a:ext cx="573977" cy="0"/>
            </a:xfrm>
            <a:prstGeom prst="line">
              <a:avLst/>
            </a:prstGeom>
            <a:ln>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32" name="ลูกศรเชื่อมต่อแบบตรง 31">
              <a:extLst>
                <a:ext uri="{FF2B5EF4-FFF2-40B4-BE49-F238E27FC236}">
                  <a16:creationId xmlns:a16="http://schemas.microsoft.com/office/drawing/2014/main" id="{7591794E-1719-0CCE-9359-91D1340E8A2E}"/>
                </a:ext>
              </a:extLst>
            </p:cNvPr>
            <p:cNvCxnSpPr>
              <a:cxnSpLocks/>
            </p:cNvCxnSpPr>
            <p:nvPr/>
          </p:nvCxnSpPr>
          <p:spPr>
            <a:xfrm rot="16200000" flipH="1">
              <a:off x="3016133" y="4292489"/>
              <a:ext cx="2081381" cy="0"/>
            </a:xfrm>
            <a:prstGeom prst="straightConnector1">
              <a:avLst/>
            </a:prstGeom>
            <a:ln>
              <a:solidFill>
                <a:schemeClr val="accent2">
                  <a:lumMod val="40000"/>
                  <a:lumOff val="60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33" name="กล่องข้อความ 32">
            <a:extLst>
              <a:ext uri="{FF2B5EF4-FFF2-40B4-BE49-F238E27FC236}">
                <a16:creationId xmlns:a16="http://schemas.microsoft.com/office/drawing/2014/main" id="{47FD895C-21AB-BDAC-411D-F9B2EF34B19A}"/>
              </a:ext>
            </a:extLst>
          </p:cNvPr>
          <p:cNvSpPr txBox="1"/>
          <p:nvPr/>
        </p:nvSpPr>
        <p:spPr>
          <a:xfrm>
            <a:off x="6490465" y="4240066"/>
            <a:ext cx="1186750" cy="322590"/>
          </a:xfrm>
          <a:prstGeom prst="rect">
            <a:avLst/>
          </a:prstGeom>
          <a:noFill/>
          <a:ln>
            <a:noFill/>
          </a:ln>
        </p:spPr>
        <p:txBody>
          <a:bodyPr wrap="square">
            <a:spAutoFit/>
          </a:bodyPr>
          <a:lstStyle/>
          <a:p>
            <a:pPr algn="ctr"/>
            <a:r>
              <a:rPr lang="en-US" altLang="th-TH" sz="1100" dirty="0">
                <a:solidFill>
                  <a:schemeClr val="accent2">
                    <a:lumMod val="75000"/>
                  </a:schemeClr>
                </a:solidFill>
                <a:latin typeface="Helvetica" panose="020B0604020202020204" pitchFamily="34" charset="0"/>
                <a:cs typeface="Helvetica" panose="020B0604020202020204" pitchFamily="34" charset="0"/>
              </a:rPr>
              <a:t>50 mm</a:t>
            </a:r>
            <a:endParaRPr lang="th-TH" sz="1100" dirty="0">
              <a:solidFill>
                <a:schemeClr val="accent2">
                  <a:lumMod val="75000"/>
                </a:schemeClr>
              </a:solidFill>
            </a:endParaRPr>
          </a:p>
        </p:txBody>
      </p:sp>
      <p:cxnSp>
        <p:nvCxnSpPr>
          <p:cNvPr id="39" name="ตัวเชื่อมต่อตรง 38">
            <a:extLst>
              <a:ext uri="{FF2B5EF4-FFF2-40B4-BE49-F238E27FC236}">
                <a16:creationId xmlns:a16="http://schemas.microsoft.com/office/drawing/2014/main" id="{35CBF2A8-B5D4-8CCB-9DBA-802660E1F706}"/>
              </a:ext>
            </a:extLst>
          </p:cNvPr>
          <p:cNvCxnSpPr>
            <a:cxnSpLocks/>
          </p:cNvCxnSpPr>
          <p:nvPr/>
        </p:nvCxnSpPr>
        <p:spPr>
          <a:xfrm flipH="1">
            <a:off x="10101876" y="3304838"/>
            <a:ext cx="470986" cy="0"/>
          </a:xfrm>
          <a:prstGeom prst="line">
            <a:avLst/>
          </a:prstGeom>
          <a:ln>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0" name="ตัวเชื่อมต่อตรง 39">
            <a:extLst>
              <a:ext uri="{FF2B5EF4-FFF2-40B4-BE49-F238E27FC236}">
                <a16:creationId xmlns:a16="http://schemas.microsoft.com/office/drawing/2014/main" id="{92C1F283-1544-8C9F-0B01-5AF62A2A3F55}"/>
              </a:ext>
            </a:extLst>
          </p:cNvPr>
          <p:cNvCxnSpPr>
            <a:cxnSpLocks/>
          </p:cNvCxnSpPr>
          <p:nvPr/>
        </p:nvCxnSpPr>
        <p:spPr>
          <a:xfrm flipH="1">
            <a:off x="10110067" y="5111235"/>
            <a:ext cx="462795" cy="0"/>
          </a:xfrm>
          <a:prstGeom prst="line">
            <a:avLst/>
          </a:prstGeom>
          <a:ln>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1" name="ลูกศรเชื่อมต่อแบบตรง 40">
            <a:extLst>
              <a:ext uri="{FF2B5EF4-FFF2-40B4-BE49-F238E27FC236}">
                <a16:creationId xmlns:a16="http://schemas.microsoft.com/office/drawing/2014/main" id="{5E4CA304-3FBC-33AE-47CB-228DA2A60EDF}"/>
              </a:ext>
            </a:extLst>
          </p:cNvPr>
          <p:cNvCxnSpPr>
            <a:cxnSpLocks/>
          </p:cNvCxnSpPr>
          <p:nvPr/>
        </p:nvCxnSpPr>
        <p:spPr>
          <a:xfrm>
            <a:off x="10340300" y="3312309"/>
            <a:ext cx="0" cy="1790653"/>
          </a:xfrm>
          <a:prstGeom prst="straightConnector1">
            <a:avLst/>
          </a:prstGeom>
          <a:ln>
            <a:solidFill>
              <a:schemeClr val="accent2">
                <a:lumMod val="40000"/>
                <a:lumOff val="60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2" name="กล่องข้อความ 41">
            <a:extLst>
              <a:ext uri="{FF2B5EF4-FFF2-40B4-BE49-F238E27FC236}">
                <a16:creationId xmlns:a16="http://schemas.microsoft.com/office/drawing/2014/main" id="{10B127E0-1D3C-951A-3DE8-DBF16A4C992F}"/>
              </a:ext>
            </a:extLst>
          </p:cNvPr>
          <p:cNvSpPr txBox="1"/>
          <p:nvPr/>
        </p:nvSpPr>
        <p:spPr>
          <a:xfrm>
            <a:off x="8697412" y="5378373"/>
            <a:ext cx="1186750" cy="322590"/>
          </a:xfrm>
          <a:prstGeom prst="rect">
            <a:avLst/>
          </a:prstGeom>
          <a:noFill/>
          <a:ln>
            <a:noFill/>
          </a:ln>
        </p:spPr>
        <p:txBody>
          <a:bodyPr wrap="square">
            <a:spAutoFit/>
          </a:bodyPr>
          <a:lstStyle/>
          <a:p>
            <a:pPr algn="ctr"/>
            <a:r>
              <a:rPr lang="en-US" altLang="th-TH" sz="1100">
                <a:solidFill>
                  <a:schemeClr val="accent2">
                    <a:lumMod val="75000"/>
                  </a:schemeClr>
                </a:solidFill>
                <a:latin typeface="Helvetica" panose="020B0604020202020204" pitchFamily="34" charset="0"/>
                <a:cs typeface="Helvetica" panose="020B0604020202020204" pitchFamily="34" charset="0"/>
              </a:rPr>
              <a:t>48 mm</a:t>
            </a:r>
            <a:endParaRPr lang="th-TH" sz="1100">
              <a:solidFill>
                <a:schemeClr val="accent2">
                  <a:lumMod val="75000"/>
                </a:schemeClr>
              </a:solidFill>
            </a:endParaRPr>
          </a:p>
        </p:txBody>
      </p:sp>
      <p:grpSp>
        <p:nvGrpSpPr>
          <p:cNvPr id="43" name="กลุ่ม 42">
            <a:extLst>
              <a:ext uri="{FF2B5EF4-FFF2-40B4-BE49-F238E27FC236}">
                <a16:creationId xmlns:a16="http://schemas.microsoft.com/office/drawing/2014/main" id="{C0450449-9AA2-A2B3-FE36-83DEB608F0E3}"/>
              </a:ext>
            </a:extLst>
          </p:cNvPr>
          <p:cNvGrpSpPr/>
          <p:nvPr/>
        </p:nvGrpSpPr>
        <p:grpSpPr>
          <a:xfrm rot="5400000">
            <a:off x="9045104" y="4590133"/>
            <a:ext cx="470986" cy="1496644"/>
            <a:chOff x="3761118" y="3507114"/>
            <a:chExt cx="584137" cy="1856200"/>
          </a:xfrm>
        </p:grpSpPr>
        <p:cxnSp>
          <p:nvCxnSpPr>
            <p:cNvPr id="44" name="ตัวเชื่อมต่อตรง 43">
              <a:extLst>
                <a:ext uri="{FF2B5EF4-FFF2-40B4-BE49-F238E27FC236}">
                  <a16:creationId xmlns:a16="http://schemas.microsoft.com/office/drawing/2014/main" id="{43E3208B-8A04-6504-BDB9-317119A373E9}"/>
                </a:ext>
              </a:extLst>
            </p:cNvPr>
            <p:cNvCxnSpPr>
              <a:cxnSpLocks/>
            </p:cNvCxnSpPr>
            <p:nvPr/>
          </p:nvCxnSpPr>
          <p:spPr>
            <a:xfrm flipH="1">
              <a:off x="3761118" y="3507114"/>
              <a:ext cx="584137" cy="0"/>
            </a:xfrm>
            <a:prstGeom prst="line">
              <a:avLst/>
            </a:prstGeom>
            <a:ln>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5" name="ตัวเชื่อมต่อตรง 44">
              <a:extLst>
                <a:ext uri="{FF2B5EF4-FFF2-40B4-BE49-F238E27FC236}">
                  <a16:creationId xmlns:a16="http://schemas.microsoft.com/office/drawing/2014/main" id="{3A77EA90-4AE2-02B7-E64F-AC41AAFCE9F8}"/>
                </a:ext>
              </a:extLst>
            </p:cNvPr>
            <p:cNvCxnSpPr>
              <a:cxnSpLocks/>
            </p:cNvCxnSpPr>
            <p:nvPr/>
          </p:nvCxnSpPr>
          <p:spPr>
            <a:xfrm flipH="1">
              <a:off x="3771278" y="5363314"/>
              <a:ext cx="573977" cy="0"/>
            </a:xfrm>
            <a:prstGeom prst="line">
              <a:avLst/>
            </a:prstGeom>
            <a:ln>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6" name="ลูกศรเชื่อมต่อแบบตรง 45">
              <a:extLst>
                <a:ext uri="{FF2B5EF4-FFF2-40B4-BE49-F238E27FC236}">
                  <a16:creationId xmlns:a16="http://schemas.microsoft.com/office/drawing/2014/main" id="{5C221006-94AB-DB94-EE79-338E3F6CBBB5}"/>
                </a:ext>
              </a:extLst>
            </p:cNvPr>
            <p:cNvCxnSpPr>
              <a:cxnSpLocks/>
            </p:cNvCxnSpPr>
            <p:nvPr/>
          </p:nvCxnSpPr>
          <p:spPr>
            <a:xfrm rot="16200000" flipH="1">
              <a:off x="3163132" y="4439487"/>
              <a:ext cx="1787386" cy="0"/>
            </a:xfrm>
            <a:prstGeom prst="straightConnector1">
              <a:avLst/>
            </a:prstGeom>
            <a:ln>
              <a:solidFill>
                <a:schemeClr val="accent2">
                  <a:lumMod val="40000"/>
                  <a:lumOff val="60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49" name="กล่องข้อความ 48">
            <a:extLst>
              <a:ext uri="{FF2B5EF4-FFF2-40B4-BE49-F238E27FC236}">
                <a16:creationId xmlns:a16="http://schemas.microsoft.com/office/drawing/2014/main" id="{3F0BA00C-1420-44A4-10DD-5EFAA3E2E137}"/>
              </a:ext>
            </a:extLst>
          </p:cNvPr>
          <p:cNvSpPr txBox="1"/>
          <p:nvPr/>
        </p:nvSpPr>
        <p:spPr>
          <a:xfrm>
            <a:off x="10092760" y="4268208"/>
            <a:ext cx="1186750" cy="322590"/>
          </a:xfrm>
          <a:prstGeom prst="rect">
            <a:avLst/>
          </a:prstGeom>
          <a:noFill/>
          <a:ln>
            <a:noFill/>
          </a:ln>
        </p:spPr>
        <p:txBody>
          <a:bodyPr wrap="square">
            <a:spAutoFit/>
          </a:bodyPr>
          <a:lstStyle/>
          <a:p>
            <a:pPr algn="ctr"/>
            <a:r>
              <a:rPr lang="en-US" altLang="th-TH" sz="1100">
                <a:solidFill>
                  <a:schemeClr val="accent2">
                    <a:lumMod val="75000"/>
                  </a:schemeClr>
                </a:solidFill>
                <a:latin typeface="Helvetica" panose="020B0604020202020204" pitchFamily="34" charset="0"/>
                <a:cs typeface="Helvetica" panose="020B0604020202020204" pitchFamily="34" charset="0"/>
              </a:rPr>
              <a:t>43 mm</a:t>
            </a:r>
            <a:endParaRPr lang="th-TH" sz="1100">
              <a:solidFill>
                <a:schemeClr val="accent2">
                  <a:lumMod val="75000"/>
                </a:schemeClr>
              </a:solidFill>
            </a:endParaRPr>
          </a:p>
        </p:txBody>
      </p:sp>
      <p:sp>
        <p:nvSpPr>
          <p:cNvPr id="23" name="กล่องข้อความ 22">
            <a:extLst>
              <a:ext uri="{FF2B5EF4-FFF2-40B4-BE49-F238E27FC236}">
                <a16:creationId xmlns:a16="http://schemas.microsoft.com/office/drawing/2014/main" id="{A2E259A2-D09E-BF62-0071-EADC4BDF2E5B}"/>
              </a:ext>
            </a:extLst>
          </p:cNvPr>
          <p:cNvSpPr txBox="1"/>
          <p:nvPr/>
        </p:nvSpPr>
        <p:spPr>
          <a:xfrm>
            <a:off x="796908" y="-2735448"/>
            <a:ext cx="6096000" cy="400110"/>
          </a:xfrm>
          <a:prstGeom prst="rect">
            <a:avLst/>
          </a:prstGeom>
          <a:noFill/>
        </p:spPr>
        <p:txBody>
          <a:bodyPr wrap="square">
            <a:spAutoFit/>
          </a:bodyPr>
          <a:lstStyle/>
          <a:p>
            <a:r>
              <a:rPr lang="en-US" sz="2000" b="1" dirty="0">
                <a:solidFill>
                  <a:srgbClr val="002060"/>
                </a:solidFill>
                <a:latin typeface="Helvetica" panose="020B0604020202020204" pitchFamily="34" charset="0"/>
                <a:cs typeface="Helvetica" panose="020B0604020202020204" pitchFamily="34" charset="0"/>
              </a:rPr>
              <a:t>Classification by Physical Shape: </a:t>
            </a:r>
          </a:p>
        </p:txBody>
      </p:sp>
      <p:sp>
        <p:nvSpPr>
          <p:cNvPr id="37" name="กล่องข้อความ 36">
            <a:extLst>
              <a:ext uri="{FF2B5EF4-FFF2-40B4-BE49-F238E27FC236}">
                <a16:creationId xmlns:a16="http://schemas.microsoft.com/office/drawing/2014/main" id="{0536E7CA-0CF8-3AD4-166D-E573AB1D62ED}"/>
              </a:ext>
            </a:extLst>
          </p:cNvPr>
          <p:cNvSpPr txBox="1"/>
          <p:nvPr/>
        </p:nvSpPr>
        <p:spPr>
          <a:xfrm>
            <a:off x="579590" y="1296616"/>
            <a:ext cx="10292080" cy="1631216"/>
          </a:xfrm>
          <a:prstGeom prst="rect">
            <a:avLst/>
          </a:prstGeom>
          <a:noFill/>
        </p:spPr>
        <p:txBody>
          <a:bodyPr wrap="square">
            <a:spAutoFit/>
          </a:bodyPr>
          <a:lstStyle/>
          <a:p>
            <a:r>
              <a:rPr lang="en-US" sz="2000" b="1" dirty="0">
                <a:solidFill>
                  <a:srgbClr val="002060"/>
                </a:solidFill>
                <a:latin typeface="Helvetica" panose="020B0604020202020204" pitchFamily="34" charset="0"/>
                <a:cs typeface="Helvetica" panose="020B0604020202020204" pitchFamily="34" charset="0"/>
              </a:rPr>
              <a:t>	</a:t>
            </a:r>
            <a:r>
              <a:rPr lang="en-US" sz="2000" dirty="0">
                <a:solidFill>
                  <a:srgbClr val="002060"/>
                </a:solidFill>
                <a:latin typeface="Helvetica" panose="020B0604020202020204" pitchFamily="34" charset="0"/>
                <a:cs typeface="Helvetica" panose="020B0604020202020204" pitchFamily="34" charset="0"/>
              </a:rPr>
              <a:t>When evaluating the physical geometry of the ALPLs across these four platforms, they can be categorized into three distinct shape designs:</a:t>
            </a:r>
          </a:p>
          <a:p>
            <a:pPr marL="800100" lvl="1" indent="-342900">
              <a:buFont typeface="Arial" panose="020B0604020202020204" pitchFamily="34" charset="0"/>
              <a:buChar char="•"/>
            </a:pPr>
            <a:r>
              <a:rPr lang="en-US" sz="2000" dirty="0">
                <a:solidFill>
                  <a:srgbClr val="002060"/>
                </a:solidFill>
                <a:latin typeface="Helvetica" panose="020B0604020202020204" pitchFamily="34" charset="0"/>
                <a:cs typeface="Helvetica" panose="020B0604020202020204" pitchFamily="34" charset="0"/>
              </a:rPr>
              <a:t>HT Shape: (Used for HT9046 and HT9046MX)</a:t>
            </a:r>
          </a:p>
          <a:p>
            <a:pPr marL="800100" lvl="1" indent="-342900">
              <a:buFont typeface="Arial" panose="020B0604020202020204" pitchFamily="34" charset="0"/>
              <a:buChar char="•"/>
            </a:pPr>
            <a:r>
              <a:rPr lang="en-US" sz="2000" dirty="0">
                <a:solidFill>
                  <a:srgbClr val="002060"/>
                </a:solidFill>
                <a:latin typeface="Helvetica" panose="020B0604020202020204" pitchFamily="34" charset="0"/>
                <a:cs typeface="Helvetica" panose="020B0604020202020204" pitchFamily="34" charset="0"/>
              </a:rPr>
              <a:t>DELD Shape: (Used for DELTA DELD8880)</a:t>
            </a:r>
          </a:p>
          <a:p>
            <a:pPr marL="800100" lvl="1" indent="-342900">
              <a:buFont typeface="Arial" panose="020B0604020202020204" pitchFamily="34" charset="0"/>
              <a:buChar char="•"/>
            </a:pPr>
            <a:r>
              <a:rPr lang="en-US" sz="2000" dirty="0">
                <a:solidFill>
                  <a:srgbClr val="002060"/>
                </a:solidFill>
                <a:latin typeface="Helvetica" panose="020B0604020202020204" pitchFamily="34" charset="0"/>
                <a:cs typeface="Helvetica" panose="020B0604020202020204" pitchFamily="34" charset="0"/>
              </a:rPr>
              <a:t>95 Shape: (Used for MT9510)</a:t>
            </a:r>
          </a:p>
        </p:txBody>
      </p:sp>
      <p:sp>
        <p:nvSpPr>
          <p:cNvPr id="47" name="กล่องข้อความ 46">
            <a:extLst>
              <a:ext uri="{FF2B5EF4-FFF2-40B4-BE49-F238E27FC236}">
                <a16:creationId xmlns:a16="http://schemas.microsoft.com/office/drawing/2014/main" id="{033B694C-217D-134F-BC40-258F87B7D24B}"/>
              </a:ext>
            </a:extLst>
          </p:cNvPr>
          <p:cNvSpPr txBox="1"/>
          <p:nvPr/>
        </p:nvSpPr>
        <p:spPr>
          <a:xfrm>
            <a:off x="606759" y="815447"/>
            <a:ext cx="6096000" cy="400110"/>
          </a:xfrm>
          <a:prstGeom prst="rect">
            <a:avLst/>
          </a:prstGeom>
          <a:noFill/>
        </p:spPr>
        <p:txBody>
          <a:bodyPr wrap="square">
            <a:spAutoFit/>
          </a:bodyPr>
          <a:lstStyle/>
          <a:p>
            <a:r>
              <a:rPr lang="en-US" sz="2000" b="1" dirty="0">
                <a:solidFill>
                  <a:srgbClr val="002060"/>
                </a:solidFill>
                <a:latin typeface="Helvetica" panose="020B0604020202020204" pitchFamily="34" charset="0"/>
                <a:cs typeface="Helvetica" panose="020B0604020202020204" pitchFamily="34" charset="0"/>
              </a:rPr>
              <a:t>Classification by Physical Shape: </a:t>
            </a:r>
          </a:p>
        </p:txBody>
      </p:sp>
    </p:spTree>
    <p:extLst>
      <p:ext uri="{BB962C8B-B14F-4D97-AF65-F5344CB8AC3E}">
        <p14:creationId xmlns:p14="http://schemas.microsoft.com/office/powerpoint/2010/main" val="21779785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C5CCC-8B49-4117-F9F2-3C59BEAD2837}"/>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92C30256-6066-593A-7066-B404488747C7}"/>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4" name="Picture 2" descr="Analog Devices | Disruptive Technology for Clinical Trials">
            <a:extLst>
              <a:ext uri="{FF2B5EF4-FFF2-40B4-BE49-F238E27FC236}">
                <a16:creationId xmlns:a16="http://schemas.microsoft.com/office/drawing/2014/main" id="{0CA20BA8-354E-EBA4-F547-A095D010F9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 name="Picture 2" descr="LOGO_ENkku_color – Faculty of Engineering , Khon Kaen University">
            <a:extLst>
              <a:ext uri="{FF2B5EF4-FFF2-40B4-BE49-F238E27FC236}">
                <a16:creationId xmlns:a16="http://schemas.microsoft.com/office/drawing/2014/main" id="{EFB45341-A7F3-FBB2-9701-52A1ACAE5E13}"/>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25" name="กล่องข้อความ 24">
            <a:extLst>
              <a:ext uri="{FF2B5EF4-FFF2-40B4-BE49-F238E27FC236}">
                <a16:creationId xmlns:a16="http://schemas.microsoft.com/office/drawing/2014/main" id="{9B851404-E789-8C25-2C16-11C79F75902E}"/>
              </a:ext>
            </a:extLst>
          </p:cNvPr>
          <p:cNvSpPr txBox="1">
            <a:spLocks/>
          </p:cNvSpPr>
          <p:nvPr/>
        </p:nvSpPr>
        <p:spPr>
          <a:xfrm>
            <a:off x="648733" y="442731"/>
            <a:ext cx="10127422" cy="830997"/>
          </a:xfrm>
          <a:prstGeom prst="rect">
            <a:avLst/>
          </a:prstGeom>
          <a:noFill/>
        </p:spPr>
        <p:txBody>
          <a:bodyPr wrap="square" rtlCol="0">
            <a:spAutoFit/>
          </a:bodyPr>
          <a:lstStyle/>
          <a:p>
            <a:r>
              <a:rPr lang="en-US" b="1" dirty="0">
                <a:solidFill>
                  <a:schemeClr val="bg1">
                    <a:lumMod val="75000"/>
                  </a:schemeClr>
                </a:solidFill>
                <a:latin typeface="Helvetica" panose="020B0604020202020204" pitchFamily="34" charset="0"/>
                <a:cs typeface="Helvetica" panose="020B0604020202020204" pitchFamily="34" charset="0"/>
              </a:rPr>
              <a:t>Current Process (4 page)</a:t>
            </a:r>
          </a:p>
          <a:p>
            <a:pPr marL="457200" indent="-457200">
              <a:buFont typeface="Arial" panose="020B0604020202020204" pitchFamily="34" charset="0"/>
              <a:buChar char="•"/>
            </a:pPr>
            <a:r>
              <a:rPr lang="en-US" sz="2000" dirty="0">
                <a:solidFill>
                  <a:schemeClr val="bg1">
                    <a:lumMod val="75000"/>
                  </a:schemeClr>
                </a:solidFill>
                <a:latin typeface="Helvetica" panose="020B0604020202020204" pitchFamily="34" charset="0"/>
                <a:cs typeface="Helvetica" panose="020B0604020202020204" pitchFamily="34" charset="0"/>
              </a:rPr>
              <a:t>Add Process flow</a:t>
            </a:r>
          </a:p>
        </p:txBody>
      </p:sp>
      <p:pic>
        <p:nvPicPr>
          <p:cNvPr id="2" name="รูปภาพ 1" descr="Understanding Lead Time, Cycle Time, and Takt Time in Manufacturing">
            <a:extLst>
              <a:ext uri="{FF2B5EF4-FFF2-40B4-BE49-F238E27FC236}">
                <a16:creationId xmlns:a16="http://schemas.microsoft.com/office/drawing/2014/main" id="{D47FBDAD-3113-53E3-6798-237A123673FE}"/>
              </a:ext>
            </a:extLst>
          </p:cNvPr>
          <p:cNvPicPr>
            <a:picLocks noChangeAspect="1"/>
          </p:cNvPicPr>
          <p:nvPr/>
        </p:nvPicPr>
        <p:blipFill>
          <a:blip r:embed="rId5"/>
          <a:stretch>
            <a:fillRect/>
          </a:stretch>
        </p:blipFill>
        <p:spPr>
          <a:xfrm>
            <a:off x="2362201" y="1748101"/>
            <a:ext cx="7162800" cy="4027248"/>
          </a:xfrm>
          <a:prstGeom prst="rect">
            <a:avLst/>
          </a:prstGeom>
        </p:spPr>
      </p:pic>
    </p:spTree>
    <p:extLst>
      <p:ext uri="{BB962C8B-B14F-4D97-AF65-F5344CB8AC3E}">
        <p14:creationId xmlns:p14="http://schemas.microsoft.com/office/powerpoint/2010/main" val="720670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5B016-8BD6-A474-3489-81EE6787A542}"/>
            </a:ext>
          </a:extLst>
        </p:cNvPr>
        <p:cNvGrpSpPr/>
        <p:nvPr/>
      </p:nvGrpSpPr>
      <p:grpSpPr>
        <a:xfrm>
          <a:off x="0" y="0"/>
          <a:ext cx="0" cy="0"/>
          <a:chOff x="0" y="0"/>
          <a:chExt cx="0" cy="0"/>
        </a:xfrm>
      </p:grpSpPr>
      <p:sp>
        <p:nvSpPr>
          <p:cNvPr id="11" name="สี่เหลี่ยมผืนผ้า 10">
            <a:extLst>
              <a:ext uri="{FF2B5EF4-FFF2-40B4-BE49-F238E27FC236}">
                <a16:creationId xmlns:a16="http://schemas.microsoft.com/office/drawing/2014/main" id="{431F88F4-6B31-4CC3-96B7-07B4D5418D30}"/>
              </a:ext>
            </a:extLst>
          </p:cNvPr>
          <p:cNvSpPr/>
          <p:nvPr/>
        </p:nvSpPr>
        <p:spPr>
          <a:xfrm>
            <a:off x="432246" y="533608"/>
            <a:ext cx="3560634" cy="618321"/>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3" name="สี่เหลี่ยมผืนผ้า 12">
            <a:extLst>
              <a:ext uri="{FF2B5EF4-FFF2-40B4-BE49-F238E27FC236}">
                <a16:creationId xmlns:a16="http://schemas.microsoft.com/office/drawing/2014/main" id="{62DCA0D9-CD6A-0539-B61E-DCF7E539ABA5}"/>
              </a:ext>
            </a:extLst>
          </p:cNvPr>
          <p:cNvSpPr/>
          <p:nvPr/>
        </p:nvSpPr>
        <p:spPr>
          <a:xfrm>
            <a:off x="432246" y="533608"/>
            <a:ext cx="132080" cy="61832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7" name="สี่เหลี่ยมผืนผ้า: มุมมน 6">
            <a:extLst>
              <a:ext uri="{FF2B5EF4-FFF2-40B4-BE49-F238E27FC236}">
                <a16:creationId xmlns:a16="http://schemas.microsoft.com/office/drawing/2014/main" id="{891DE8EE-695B-F506-AE1B-3CD82E2C548A}"/>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grpSp>
        <p:nvGrpSpPr>
          <p:cNvPr id="14" name="กลุ่ม 13">
            <a:extLst>
              <a:ext uri="{FF2B5EF4-FFF2-40B4-BE49-F238E27FC236}">
                <a16:creationId xmlns:a16="http://schemas.microsoft.com/office/drawing/2014/main" id="{290FA376-3216-29F6-2AF1-BB8A3F34B24A}"/>
              </a:ext>
            </a:extLst>
          </p:cNvPr>
          <p:cNvGrpSpPr/>
          <p:nvPr/>
        </p:nvGrpSpPr>
        <p:grpSpPr>
          <a:xfrm>
            <a:off x="1360487" y="1518320"/>
            <a:ext cx="9471026" cy="3432776"/>
            <a:chOff x="-4013200" y="1518320"/>
            <a:chExt cx="9471026" cy="3432776"/>
          </a:xfrm>
        </p:grpSpPr>
        <p:pic>
          <p:nvPicPr>
            <p:cNvPr id="5" name="รูปภาพ 4">
              <a:extLst>
                <a:ext uri="{FF2B5EF4-FFF2-40B4-BE49-F238E27FC236}">
                  <a16:creationId xmlns:a16="http://schemas.microsoft.com/office/drawing/2014/main" id="{96E90374-2C32-3553-25FC-0589A1CE4B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0794" y="1518321"/>
              <a:ext cx="4577032" cy="3432775"/>
            </a:xfrm>
            <a:prstGeom prst="rect">
              <a:avLst/>
            </a:prstGeom>
          </p:spPr>
        </p:pic>
        <p:pic>
          <p:nvPicPr>
            <p:cNvPr id="10" name="รูปภาพ 9">
              <a:extLst>
                <a:ext uri="{FF2B5EF4-FFF2-40B4-BE49-F238E27FC236}">
                  <a16:creationId xmlns:a16="http://schemas.microsoft.com/office/drawing/2014/main" id="{23A56E6B-C7A9-CED1-EDA4-4BAD7D7D304C}"/>
                </a:ext>
              </a:extLst>
            </p:cNvPr>
            <p:cNvPicPr>
              <a:picLocks noChangeAspect="1"/>
            </p:cNvPicPr>
            <p:nvPr/>
          </p:nvPicPr>
          <p:blipFill>
            <a:blip r:embed="rId4">
              <a:extLst>
                <a:ext uri="{28A0092B-C50C-407E-A947-70E740481C1C}">
                  <a14:useLocalDpi xmlns:a14="http://schemas.microsoft.com/office/drawing/2010/main" val="0"/>
                </a:ext>
              </a:extLst>
            </a:blip>
            <a:srcRect l="5580" t="9103" r="16531" b="13267"/>
            <a:stretch>
              <a:fillRect/>
            </a:stretch>
          </p:blipFill>
          <p:spPr>
            <a:xfrm>
              <a:off x="-4013200" y="1518320"/>
              <a:ext cx="4592320" cy="3432775"/>
            </a:xfrm>
            <a:prstGeom prst="rect">
              <a:avLst/>
            </a:prstGeom>
          </p:spPr>
        </p:pic>
      </p:grpSp>
      <p:sp>
        <p:nvSpPr>
          <p:cNvPr id="18" name="กล่องข้อความ 17">
            <a:extLst>
              <a:ext uri="{FF2B5EF4-FFF2-40B4-BE49-F238E27FC236}">
                <a16:creationId xmlns:a16="http://schemas.microsoft.com/office/drawing/2014/main" id="{243ECC64-8856-D318-FE19-E2C2045329DD}"/>
              </a:ext>
            </a:extLst>
          </p:cNvPr>
          <p:cNvSpPr txBox="1"/>
          <p:nvPr/>
        </p:nvSpPr>
        <p:spPr>
          <a:xfrm>
            <a:off x="1173480" y="5317486"/>
            <a:ext cx="9845040" cy="707886"/>
          </a:xfrm>
          <a:prstGeom prst="rect">
            <a:avLst/>
          </a:prstGeom>
          <a:noFill/>
        </p:spPr>
        <p:txBody>
          <a:bodyPr wrap="square">
            <a:spAutoFit/>
          </a:bodyPr>
          <a:lstStyle/>
          <a:p>
            <a:r>
              <a:rPr lang="en-US" sz="2000" dirty="0">
                <a:solidFill>
                  <a:srgbClr val="002060"/>
                </a:solidFill>
                <a:latin typeface="Helvetica" panose="020B0604020202020204" pitchFamily="34" charset="0"/>
                <a:cs typeface="Helvetica" panose="020B0604020202020204" pitchFamily="34" charset="0"/>
              </a:rPr>
              <a:t>	In Process, currently performed for ALPL in the PM Kit room utilizes the Keyence TM-X5065 camera as the primary tool.</a:t>
            </a:r>
            <a:endParaRPr lang="th-TH" sz="2000" dirty="0">
              <a:solidFill>
                <a:srgbClr val="002060"/>
              </a:solidFill>
              <a:latin typeface="Helvetica" panose="020B0604020202020204" pitchFamily="34" charset="0"/>
            </a:endParaRPr>
          </a:p>
        </p:txBody>
      </p:sp>
      <p:sp>
        <p:nvSpPr>
          <p:cNvPr id="20" name="สี่เหลี่ยมผืนผ้า 19">
            <a:extLst>
              <a:ext uri="{FF2B5EF4-FFF2-40B4-BE49-F238E27FC236}">
                <a16:creationId xmlns:a16="http://schemas.microsoft.com/office/drawing/2014/main" id="{4AC06ABF-E1D6-EBFB-D140-D92F0A1D33E4}"/>
              </a:ext>
            </a:extLst>
          </p:cNvPr>
          <p:cNvSpPr/>
          <p:nvPr/>
        </p:nvSpPr>
        <p:spPr>
          <a:xfrm>
            <a:off x="9288981" y="1701515"/>
            <a:ext cx="1432560" cy="2972085"/>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highlight>
                <a:srgbClr val="FFFF00"/>
              </a:highlight>
            </a:endParaRPr>
          </a:p>
        </p:txBody>
      </p:sp>
      <p:sp>
        <p:nvSpPr>
          <p:cNvPr id="22" name="กล่องข้อความ 21">
            <a:extLst>
              <a:ext uri="{FF2B5EF4-FFF2-40B4-BE49-F238E27FC236}">
                <a16:creationId xmlns:a16="http://schemas.microsoft.com/office/drawing/2014/main" id="{FA869D13-917E-5714-6E32-73743F91368F}"/>
              </a:ext>
            </a:extLst>
          </p:cNvPr>
          <p:cNvSpPr txBox="1"/>
          <p:nvPr/>
        </p:nvSpPr>
        <p:spPr>
          <a:xfrm>
            <a:off x="5875219" y="944536"/>
            <a:ext cx="3413762" cy="369332"/>
          </a:xfrm>
          <a:prstGeom prst="rect">
            <a:avLst/>
          </a:prstGeom>
          <a:noFill/>
        </p:spPr>
        <p:txBody>
          <a:bodyPr wrap="square">
            <a:spAutoFit/>
          </a:bodyPr>
          <a:lstStyle/>
          <a:p>
            <a:pPr algn="ctr"/>
            <a:r>
              <a:rPr lang="en-US" sz="1800" b="1">
                <a:solidFill>
                  <a:srgbClr val="C00000"/>
                </a:solidFill>
                <a:latin typeface="Helvetica" panose="020B0604020202020204" pitchFamily="34" charset="0"/>
                <a:cs typeface="Helvetica" panose="020B0604020202020204" pitchFamily="34" charset="0"/>
              </a:rPr>
              <a:t>Keyence TM-X5065 </a:t>
            </a:r>
            <a:endParaRPr lang="th-TH" sz="1800" b="1">
              <a:solidFill>
                <a:srgbClr val="C00000"/>
              </a:solidFill>
            </a:endParaRPr>
          </a:p>
        </p:txBody>
      </p:sp>
      <p:cxnSp>
        <p:nvCxnSpPr>
          <p:cNvPr id="24" name="ตัวเชื่อมต่อ: หักมุม 23">
            <a:extLst>
              <a:ext uri="{FF2B5EF4-FFF2-40B4-BE49-F238E27FC236}">
                <a16:creationId xmlns:a16="http://schemas.microsoft.com/office/drawing/2014/main" id="{9B1B17C5-CA61-05F9-BF41-172F752F8425}"/>
              </a:ext>
            </a:extLst>
          </p:cNvPr>
          <p:cNvCxnSpPr>
            <a:cxnSpLocks/>
          </p:cNvCxnSpPr>
          <p:nvPr/>
        </p:nvCxnSpPr>
        <p:spPr>
          <a:xfrm>
            <a:off x="8711184" y="1104724"/>
            <a:ext cx="1347216" cy="347892"/>
          </a:xfrm>
          <a:prstGeom prst="bentConnector3">
            <a:avLst>
              <a:gd name="adj1" fmla="val 99774"/>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8" name="Picture 2" descr="Analog Devices | Disruptive Technology for Clinical Trials">
            <a:extLst>
              <a:ext uri="{FF2B5EF4-FFF2-40B4-BE49-F238E27FC236}">
                <a16:creationId xmlns:a16="http://schemas.microsoft.com/office/drawing/2014/main" id="{D20B79BA-4B08-43DC-EE20-D31A0FA98E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9" name="Picture 2" descr="LOGO_ENkku_color – Faculty of Engineering , Khon Kaen University">
            <a:extLst>
              <a:ext uri="{FF2B5EF4-FFF2-40B4-BE49-F238E27FC236}">
                <a16:creationId xmlns:a16="http://schemas.microsoft.com/office/drawing/2014/main" id="{4903A0FE-FCB2-8CD4-606E-1BDDFA3152A6}"/>
              </a:ext>
            </a:extLst>
          </p:cNvPr>
          <p:cNvPicPr>
            <a:picLocks noChangeAspect="1"/>
          </p:cNvPicPr>
          <p:nvPr/>
        </p:nvPicPr>
        <p:blipFill rotWithShape="1">
          <a:blip r:embed="rId6">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4" name="กล่องข้อความ 3">
            <a:extLst>
              <a:ext uri="{FF2B5EF4-FFF2-40B4-BE49-F238E27FC236}">
                <a16:creationId xmlns:a16="http://schemas.microsoft.com/office/drawing/2014/main" id="{6592B3E3-4A62-E2DD-02C3-242BF0EB2CE6}"/>
              </a:ext>
            </a:extLst>
          </p:cNvPr>
          <p:cNvSpPr txBox="1">
            <a:spLocks/>
          </p:cNvSpPr>
          <p:nvPr/>
        </p:nvSpPr>
        <p:spPr>
          <a:xfrm>
            <a:off x="762000" y="597115"/>
            <a:ext cx="3124200" cy="523220"/>
          </a:xfrm>
          <a:prstGeom prst="rect">
            <a:avLst/>
          </a:prstGeom>
          <a:noFill/>
        </p:spPr>
        <p:txBody>
          <a:bodyPr wrap="square" rtlCol="0">
            <a:spAutoFit/>
          </a:bodyPr>
          <a:lstStyle/>
          <a:p>
            <a:r>
              <a:rPr lang="en-US" b="1" dirty="0">
                <a:solidFill>
                  <a:srgbClr val="002060"/>
                </a:solidFill>
                <a:latin typeface="Helvetica" panose="020B0604020202020204" pitchFamily="34" charset="0"/>
                <a:cs typeface="Helvetica" panose="020B0604020202020204" pitchFamily="34" charset="0"/>
              </a:rPr>
              <a:t>Current Process</a:t>
            </a:r>
            <a:endParaRPr lang="th-TH" b="1" dirty="0">
              <a:solidFill>
                <a:srgbClr val="002060"/>
              </a:solidFill>
              <a:latin typeface="Helvetica" panose="020B0604020202020204" pitchFamily="34" charset="0"/>
              <a:cs typeface="Mitr" panose="00000500000000000000" pitchFamily="2" charset="-34"/>
            </a:endParaRPr>
          </a:p>
        </p:txBody>
      </p:sp>
    </p:spTree>
    <p:extLst>
      <p:ext uri="{BB962C8B-B14F-4D97-AF65-F5344CB8AC3E}">
        <p14:creationId xmlns:p14="http://schemas.microsoft.com/office/powerpoint/2010/main" val="24003664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F2096-F25F-7926-572F-5E758FE91A86}"/>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B2AD5FE7-B98F-4143-EAE7-0BD36145ABC9}"/>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
        <p:nvSpPr>
          <p:cNvPr id="3" name="กล่องข้อความ 2">
            <a:extLst>
              <a:ext uri="{FF2B5EF4-FFF2-40B4-BE49-F238E27FC236}">
                <a16:creationId xmlns:a16="http://schemas.microsoft.com/office/drawing/2014/main" id="{747097C4-2FF6-9DC8-2DD2-07C2D11DAF6E}"/>
              </a:ext>
            </a:extLst>
          </p:cNvPr>
          <p:cNvSpPr txBox="1">
            <a:spLocks/>
          </p:cNvSpPr>
          <p:nvPr/>
        </p:nvSpPr>
        <p:spPr>
          <a:xfrm>
            <a:off x="-210410" y="450459"/>
            <a:ext cx="3764280" cy="461665"/>
          </a:xfrm>
          <a:prstGeom prst="rect">
            <a:avLst/>
          </a:prstGeom>
          <a:noFill/>
        </p:spPr>
        <p:txBody>
          <a:bodyPr wrap="square" rtlCol="0">
            <a:spAutoFit/>
          </a:bodyPr>
          <a:lstStyle/>
          <a:p>
            <a:pPr algn="ctr"/>
            <a:r>
              <a:rPr lang="en-US" sz="2400" b="1" dirty="0">
                <a:solidFill>
                  <a:srgbClr val="002060"/>
                </a:solidFill>
                <a:latin typeface="Helvetica" panose="020B0604020202020204" pitchFamily="34" charset="0"/>
                <a:cs typeface="Helvetica" panose="020B0604020202020204" pitchFamily="34" charset="0"/>
              </a:rPr>
              <a:t>Flow Process</a:t>
            </a:r>
            <a:endParaRPr lang="th-TH" sz="2400" b="1" dirty="0">
              <a:solidFill>
                <a:srgbClr val="002060"/>
              </a:solidFill>
              <a:latin typeface="Helvetica" panose="020B0604020202020204" pitchFamily="34" charset="0"/>
              <a:cs typeface="Mitr" panose="00000500000000000000" pitchFamily="2" charset="-34"/>
            </a:endParaRPr>
          </a:p>
        </p:txBody>
      </p:sp>
      <p:grpSp>
        <p:nvGrpSpPr>
          <p:cNvPr id="11" name="กลุ่ม 10">
            <a:extLst>
              <a:ext uri="{FF2B5EF4-FFF2-40B4-BE49-F238E27FC236}">
                <a16:creationId xmlns:a16="http://schemas.microsoft.com/office/drawing/2014/main" id="{66E5B4F9-3806-A71A-8305-FC5294E794FA}"/>
              </a:ext>
            </a:extLst>
          </p:cNvPr>
          <p:cNvGrpSpPr/>
          <p:nvPr/>
        </p:nvGrpSpPr>
        <p:grpSpPr>
          <a:xfrm>
            <a:off x="621124" y="1191819"/>
            <a:ext cx="3883762" cy="5082314"/>
            <a:chOff x="1356200" y="1094693"/>
            <a:chExt cx="3883762" cy="5082314"/>
          </a:xfrm>
        </p:grpSpPr>
        <p:sp>
          <p:nvSpPr>
            <p:cNvPr id="5" name="สี่เหลี่ยมผืนผ้า: มุมมน 4">
              <a:extLst>
                <a:ext uri="{FF2B5EF4-FFF2-40B4-BE49-F238E27FC236}">
                  <a16:creationId xmlns:a16="http://schemas.microsoft.com/office/drawing/2014/main" id="{54CEB115-6366-5CB2-0491-67298A57ED64}"/>
                </a:ext>
              </a:extLst>
            </p:cNvPr>
            <p:cNvSpPr/>
            <p:nvPr/>
          </p:nvSpPr>
          <p:spPr>
            <a:xfrm>
              <a:off x="1356201" y="2167367"/>
              <a:ext cx="3883761" cy="742796"/>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8" name="สี่เหลี่ยมผืนผ้า: มุมมน 7">
              <a:extLst>
                <a:ext uri="{FF2B5EF4-FFF2-40B4-BE49-F238E27FC236}">
                  <a16:creationId xmlns:a16="http://schemas.microsoft.com/office/drawing/2014/main" id="{F9CB6477-0499-49EE-A435-C40AAF9C2EA3}"/>
                </a:ext>
              </a:extLst>
            </p:cNvPr>
            <p:cNvSpPr/>
            <p:nvPr/>
          </p:nvSpPr>
          <p:spPr>
            <a:xfrm>
              <a:off x="1356201" y="3242055"/>
              <a:ext cx="3883761" cy="742796"/>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0" name="สี่เหลี่ยมผืนผ้า: มุมมน 9">
              <a:extLst>
                <a:ext uri="{FF2B5EF4-FFF2-40B4-BE49-F238E27FC236}">
                  <a16:creationId xmlns:a16="http://schemas.microsoft.com/office/drawing/2014/main" id="{C0DBEAFD-DCB6-64CE-00A8-9AEAAB9EFBFC}"/>
                </a:ext>
              </a:extLst>
            </p:cNvPr>
            <p:cNvSpPr/>
            <p:nvPr/>
          </p:nvSpPr>
          <p:spPr>
            <a:xfrm>
              <a:off x="1356201" y="4338133"/>
              <a:ext cx="3883761" cy="742796"/>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4" name="สี่เหลี่ยมผืนผ้า: มุมมน 13">
              <a:extLst>
                <a:ext uri="{FF2B5EF4-FFF2-40B4-BE49-F238E27FC236}">
                  <a16:creationId xmlns:a16="http://schemas.microsoft.com/office/drawing/2014/main" id="{ACEFC5D3-0736-3A4E-331F-4CD549F84F79}"/>
                </a:ext>
              </a:extLst>
            </p:cNvPr>
            <p:cNvSpPr/>
            <p:nvPr/>
          </p:nvSpPr>
          <p:spPr>
            <a:xfrm>
              <a:off x="1356201" y="5434211"/>
              <a:ext cx="3883761" cy="742796"/>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4" name="สี่เหลี่ยมผืนผ้า: มุมมน 3">
              <a:extLst>
                <a:ext uri="{FF2B5EF4-FFF2-40B4-BE49-F238E27FC236}">
                  <a16:creationId xmlns:a16="http://schemas.microsoft.com/office/drawing/2014/main" id="{41A40161-8EA7-F3FF-CB11-28F8D26ADCE9}"/>
                </a:ext>
              </a:extLst>
            </p:cNvPr>
            <p:cNvSpPr/>
            <p:nvPr/>
          </p:nvSpPr>
          <p:spPr>
            <a:xfrm>
              <a:off x="1356201" y="1094693"/>
              <a:ext cx="3883761" cy="742796"/>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9" name="กล่องข้อความ 8">
              <a:extLst>
                <a:ext uri="{FF2B5EF4-FFF2-40B4-BE49-F238E27FC236}">
                  <a16:creationId xmlns:a16="http://schemas.microsoft.com/office/drawing/2014/main" id="{573C3BB0-08D6-55B4-309F-5073DEF4A19F}"/>
                </a:ext>
              </a:extLst>
            </p:cNvPr>
            <p:cNvSpPr txBox="1"/>
            <p:nvPr/>
          </p:nvSpPr>
          <p:spPr>
            <a:xfrm>
              <a:off x="1501323" y="1173704"/>
              <a:ext cx="3593517" cy="584775"/>
            </a:xfrm>
            <a:prstGeom prst="rect">
              <a:avLst/>
            </a:prstGeom>
            <a:noFill/>
          </p:spPr>
          <p:txBody>
            <a:bodyPr wrap="square">
              <a:spAutoFit/>
            </a:bodyPr>
            <a:lstStyle/>
            <a:p>
              <a:pPr algn="ctr"/>
              <a:r>
                <a:rPr lang="en-US" sz="1600" dirty="0">
                  <a:solidFill>
                    <a:srgbClr val="002060"/>
                  </a:solidFill>
                  <a:latin typeface="Helvetica" panose="020B0604020202020204" pitchFamily="34" charset="0"/>
                  <a:cs typeface="Helvetica" panose="020B0604020202020204" pitchFamily="34" charset="0"/>
                </a:rPr>
                <a:t>Remove the ALPL from the machine's tool kit</a:t>
              </a:r>
              <a:endParaRPr lang="th-TH" sz="1600" dirty="0">
                <a:solidFill>
                  <a:srgbClr val="002060"/>
                </a:solidFill>
                <a:latin typeface="Helvetica" panose="020B0604020202020204" pitchFamily="34" charset="0"/>
              </a:endParaRPr>
            </a:p>
          </p:txBody>
        </p:sp>
        <p:sp>
          <p:nvSpPr>
            <p:cNvPr id="13" name="กล่องข้อความ 12">
              <a:extLst>
                <a:ext uri="{FF2B5EF4-FFF2-40B4-BE49-F238E27FC236}">
                  <a16:creationId xmlns:a16="http://schemas.microsoft.com/office/drawing/2014/main" id="{74DB2D13-38FB-B92D-561F-1B968342EFF9}"/>
                </a:ext>
              </a:extLst>
            </p:cNvPr>
            <p:cNvSpPr txBox="1"/>
            <p:nvPr/>
          </p:nvSpPr>
          <p:spPr>
            <a:xfrm>
              <a:off x="1501323" y="2246378"/>
              <a:ext cx="3593517" cy="584775"/>
            </a:xfrm>
            <a:prstGeom prst="rect">
              <a:avLst/>
            </a:prstGeom>
            <a:noFill/>
          </p:spPr>
          <p:txBody>
            <a:bodyPr wrap="square">
              <a:spAutoFit/>
            </a:bodyPr>
            <a:lstStyle/>
            <a:p>
              <a:pPr algn="ctr"/>
              <a:r>
                <a:rPr lang="en-US" sz="1600">
                  <a:solidFill>
                    <a:srgbClr val="002060"/>
                  </a:solidFill>
                  <a:latin typeface="Helvetica" panose="020B0604020202020204" pitchFamily="34" charset="0"/>
                  <a:cs typeface="Helvetica" panose="020B0604020202020204" pitchFamily="34" charset="0"/>
                </a:rPr>
                <a:t>Place the workpiece on the stage glass for measurement preparation</a:t>
              </a:r>
              <a:endParaRPr lang="th-TH" sz="1600">
                <a:solidFill>
                  <a:srgbClr val="002060"/>
                </a:solidFill>
                <a:latin typeface="Helvetica" panose="020B0604020202020204" pitchFamily="34" charset="0"/>
              </a:endParaRPr>
            </a:p>
          </p:txBody>
        </p:sp>
        <p:sp>
          <p:nvSpPr>
            <p:cNvPr id="15" name="กล่องข้อความ 14">
              <a:extLst>
                <a:ext uri="{FF2B5EF4-FFF2-40B4-BE49-F238E27FC236}">
                  <a16:creationId xmlns:a16="http://schemas.microsoft.com/office/drawing/2014/main" id="{201695C2-93FC-CA0F-AB62-3AF25CDF5BF6}"/>
                </a:ext>
              </a:extLst>
            </p:cNvPr>
            <p:cNvSpPr txBox="1"/>
            <p:nvPr/>
          </p:nvSpPr>
          <p:spPr>
            <a:xfrm>
              <a:off x="1356200" y="3321066"/>
              <a:ext cx="3883762" cy="584775"/>
            </a:xfrm>
            <a:prstGeom prst="rect">
              <a:avLst/>
            </a:prstGeom>
            <a:noFill/>
          </p:spPr>
          <p:txBody>
            <a:bodyPr wrap="square">
              <a:spAutoFit/>
            </a:bodyPr>
            <a:lstStyle/>
            <a:p>
              <a:pPr algn="ctr"/>
              <a:r>
                <a:rPr lang="en-US" sz="1600">
                  <a:solidFill>
                    <a:srgbClr val="002060"/>
                  </a:solidFill>
                  <a:latin typeface="Helvetica" panose="020B0604020202020204" pitchFamily="34" charset="0"/>
                  <a:cs typeface="Helvetica" panose="020B0604020202020204" pitchFamily="34" charset="0"/>
                </a:rPr>
                <a:t>Manually align and position the workpiece</a:t>
              </a:r>
              <a:endParaRPr lang="th-TH" sz="1600">
                <a:solidFill>
                  <a:srgbClr val="002060"/>
                </a:solidFill>
                <a:latin typeface="Helvetica" panose="020B0604020202020204" pitchFamily="34" charset="0"/>
              </a:endParaRPr>
            </a:p>
          </p:txBody>
        </p:sp>
        <p:sp>
          <p:nvSpPr>
            <p:cNvPr id="17" name="กล่องข้อความ 16">
              <a:extLst>
                <a:ext uri="{FF2B5EF4-FFF2-40B4-BE49-F238E27FC236}">
                  <a16:creationId xmlns:a16="http://schemas.microsoft.com/office/drawing/2014/main" id="{6BDAB09F-9884-1F70-4B14-C9DEA37E647F}"/>
                </a:ext>
              </a:extLst>
            </p:cNvPr>
            <p:cNvSpPr txBox="1"/>
            <p:nvPr/>
          </p:nvSpPr>
          <p:spPr>
            <a:xfrm>
              <a:off x="1356200" y="4417144"/>
              <a:ext cx="3883762" cy="584775"/>
            </a:xfrm>
            <a:prstGeom prst="rect">
              <a:avLst/>
            </a:prstGeom>
            <a:noFill/>
          </p:spPr>
          <p:txBody>
            <a:bodyPr wrap="square">
              <a:spAutoFit/>
            </a:bodyPr>
            <a:lstStyle/>
            <a:p>
              <a:pPr algn="ctr"/>
              <a:r>
                <a:rPr lang="en-US" sz="1600">
                  <a:solidFill>
                    <a:srgbClr val="002060"/>
                  </a:solidFill>
                  <a:latin typeface="Helvetica" panose="020B0604020202020204" pitchFamily="34" charset="0"/>
                  <a:cs typeface="Helvetica" panose="020B0604020202020204" pitchFamily="34" charset="0"/>
                </a:rPr>
                <a:t>Select the inspection program that matches the specific workpiece model</a:t>
              </a:r>
              <a:endParaRPr lang="th-TH" sz="1600">
                <a:solidFill>
                  <a:srgbClr val="002060"/>
                </a:solidFill>
                <a:latin typeface="Helvetica" panose="020B0604020202020204" pitchFamily="34" charset="0"/>
              </a:endParaRPr>
            </a:p>
          </p:txBody>
        </p:sp>
        <p:sp>
          <p:nvSpPr>
            <p:cNvPr id="19" name="กล่องข้อความ 18">
              <a:extLst>
                <a:ext uri="{FF2B5EF4-FFF2-40B4-BE49-F238E27FC236}">
                  <a16:creationId xmlns:a16="http://schemas.microsoft.com/office/drawing/2014/main" id="{2E33EF5F-1D3A-EAB7-DDC3-1DD32957EBE6}"/>
                </a:ext>
              </a:extLst>
            </p:cNvPr>
            <p:cNvSpPr txBox="1"/>
            <p:nvPr/>
          </p:nvSpPr>
          <p:spPr>
            <a:xfrm>
              <a:off x="1356200" y="5513222"/>
              <a:ext cx="3883762" cy="584775"/>
            </a:xfrm>
            <a:prstGeom prst="rect">
              <a:avLst/>
            </a:prstGeom>
            <a:noFill/>
          </p:spPr>
          <p:txBody>
            <a:bodyPr wrap="square">
              <a:spAutoFit/>
            </a:bodyPr>
            <a:lstStyle/>
            <a:p>
              <a:pPr algn="ctr"/>
              <a:r>
                <a:rPr lang="en-US" sz="1600">
                  <a:solidFill>
                    <a:srgbClr val="002060"/>
                  </a:solidFill>
                  <a:latin typeface="Helvetica" panose="020B0604020202020204" pitchFamily="34" charset="0"/>
                  <a:cs typeface="Helvetica" panose="020B0604020202020204" pitchFamily="34" charset="0"/>
                </a:rPr>
                <a:t>Record the measurement data and sort the parts into Good or Fail categories</a:t>
              </a:r>
              <a:endParaRPr lang="th-TH" sz="1600">
                <a:solidFill>
                  <a:srgbClr val="002060"/>
                </a:solidFill>
                <a:latin typeface="Helvetica" panose="020B0604020202020204" pitchFamily="34" charset="0"/>
              </a:endParaRPr>
            </a:p>
          </p:txBody>
        </p:sp>
        <p:cxnSp>
          <p:nvCxnSpPr>
            <p:cNvPr id="18" name="ลูกศรเชื่อมต่อแบบตรง 17">
              <a:extLst>
                <a:ext uri="{FF2B5EF4-FFF2-40B4-BE49-F238E27FC236}">
                  <a16:creationId xmlns:a16="http://schemas.microsoft.com/office/drawing/2014/main" id="{76AA08ED-A37B-D08B-A482-48FF2FB8C476}"/>
                </a:ext>
              </a:extLst>
            </p:cNvPr>
            <p:cNvCxnSpPr>
              <a:cxnSpLocks/>
            </p:cNvCxnSpPr>
            <p:nvPr/>
          </p:nvCxnSpPr>
          <p:spPr>
            <a:xfrm>
              <a:off x="3298081" y="1866176"/>
              <a:ext cx="0" cy="2757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ลูกศรเชื่อมต่อแบบตรง 19">
              <a:extLst>
                <a:ext uri="{FF2B5EF4-FFF2-40B4-BE49-F238E27FC236}">
                  <a16:creationId xmlns:a16="http://schemas.microsoft.com/office/drawing/2014/main" id="{531FB713-C93C-D477-9568-82E4458FA326}"/>
                </a:ext>
              </a:extLst>
            </p:cNvPr>
            <p:cNvCxnSpPr>
              <a:cxnSpLocks/>
            </p:cNvCxnSpPr>
            <p:nvPr/>
          </p:nvCxnSpPr>
          <p:spPr>
            <a:xfrm>
              <a:off x="3298081" y="2945944"/>
              <a:ext cx="0" cy="2757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ลูกศรเชื่อมต่อแบบตรง 20">
              <a:extLst>
                <a:ext uri="{FF2B5EF4-FFF2-40B4-BE49-F238E27FC236}">
                  <a16:creationId xmlns:a16="http://schemas.microsoft.com/office/drawing/2014/main" id="{1FBF6B1F-0875-53B4-1BC9-FA4E07956DC9}"/>
                </a:ext>
              </a:extLst>
            </p:cNvPr>
            <p:cNvCxnSpPr>
              <a:cxnSpLocks/>
            </p:cNvCxnSpPr>
            <p:nvPr/>
          </p:nvCxnSpPr>
          <p:spPr>
            <a:xfrm>
              <a:off x="3298081" y="4022443"/>
              <a:ext cx="0" cy="2757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ลูกศรเชื่อมต่อแบบตรง 21">
              <a:extLst>
                <a:ext uri="{FF2B5EF4-FFF2-40B4-BE49-F238E27FC236}">
                  <a16:creationId xmlns:a16="http://schemas.microsoft.com/office/drawing/2014/main" id="{9E981840-B0EB-395A-5B07-775D2BD08F0D}"/>
                </a:ext>
              </a:extLst>
            </p:cNvPr>
            <p:cNvCxnSpPr>
              <a:cxnSpLocks/>
            </p:cNvCxnSpPr>
            <p:nvPr/>
          </p:nvCxnSpPr>
          <p:spPr>
            <a:xfrm>
              <a:off x="3298081" y="5118979"/>
              <a:ext cx="0" cy="2757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pic>
        <p:nvPicPr>
          <p:cNvPr id="12" name="Picture 2" descr="Analog Devices | Disruptive Technology for Clinical Trials">
            <a:extLst>
              <a:ext uri="{FF2B5EF4-FFF2-40B4-BE49-F238E27FC236}">
                <a16:creationId xmlns:a16="http://schemas.microsoft.com/office/drawing/2014/main" id="{C7D101A6-8135-02EA-8B7E-CB8730DD95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3" name="Picture 2" descr="LOGO_ENkku_color – Faculty of Engineering , Khon Kaen University">
            <a:extLst>
              <a:ext uri="{FF2B5EF4-FFF2-40B4-BE49-F238E27FC236}">
                <a16:creationId xmlns:a16="http://schemas.microsoft.com/office/drawing/2014/main" id="{B982C1C2-2C8D-7167-12B7-DC751A44B364}"/>
              </a:ext>
            </a:extLst>
          </p:cNvPr>
          <p:cNvPicPr>
            <a:picLocks noChangeAspect="1"/>
          </p:cNvPicPr>
          <p:nvPr/>
        </p:nvPicPr>
        <p:blipFill rotWithShape="1">
          <a:blip r:embed="rId6">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pic>
        <p:nvPicPr>
          <p:cNvPr id="24" name="0515">
            <a:hlinkClick r:id="" action="ppaction://media"/>
            <a:extLst>
              <a:ext uri="{FF2B5EF4-FFF2-40B4-BE49-F238E27FC236}">
                <a16:creationId xmlns:a16="http://schemas.microsoft.com/office/drawing/2014/main" id="{2568F5A2-30AE-A865-AE6D-459EB19B468D}"/>
              </a:ext>
            </a:extLst>
          </p:cNvPr>
          <p:cNvPicPr>
            <a:picLocks noChangeAspect="1"/>
          </p:cNvPicPr>
          <p:nvPr>
            <a:videoFile r:link="rId2"/>
            <p:extLst>
              <p:ext uri="{DAA4B4D4-6D71-4841-9C94-3DE7FCFB9230}">
                <p14:media xmlns:p14="http://schemas.microsoft.com/office/powerpoint/2010/main" r:embed="rId1"/>
              </p:ext>
            </p:extLst>
          </p:nvPr>
        </p:nvPicPr>
        <p:blipFill>
          <a:blip r:embed="rId7"/>
          <a:srcRect t="20895"/>
          <a:stretch>
            <a:fillRect/>
          </a:stretch>
        </p:blipFill>
        <p:spPr>
          <a:xfrm>
            <a:off x="4995776" y="1293452"/>
            <a:ext cx="3510318" cy="4936602"/>
          </a:xfrm>
          <a:prstGeom prst="rect">
            <a:avLst/>
          </a:prstGeom>
        </p:spPr>
      </p:pic>
      <p:sp>
        <p:nvSpPr>
          <p:cNvPr id="16" name="กล่องข้อความ 15">
            <a:extLst>
              <a:ext uri="{FF2B5EF4-FFF2-40B4-BE49-F238E27FC236}">
                <a16:creationId xmlns:a16="http://schemas.microsoft.com/office/drawing/2014/main" id="{694758B3-81DB-4C3C-1169-D8572F2CDAF6}"/>
              </a:ext>
            </a:extLst>
          </p:cNvPr>
          <p:cNvSpPr txBox="1">
            <a:spLocks/>
          </p:cNvSpPr>
          <p:nvPr/>
        </p:nvSpPr>
        <p:spPr>
          <a:xfrm>
            <a:off x="8871565" y="1242249"/>
            <a:ext cx="1806268" cy="369332"/>
          </a:xfrm>
          <a:prstGeom prst="rect">
            <a:avLst/>
          </a:prstGeom>
          <a:noFill/>
        </p:spPr>
        <p:txBody>
          <a:bodyPr wrap="square" rtlCol="0">
            <a:spAutoFit/>
          </a:bodyPr>
          <a:lstStyle/>
          <a:p>
            <a:r>
              <a:rPr lang="en-US" sz="1800" b="1" dirty="0">
                <a:solidFill>
                  <a:srgbClr val="002060"/>
                </a:solidFill>
                <a:latin typeface="Helvetica" panose="020B0604020202020204" pitchFamily="34" charset="0"/>
                <a:cs typeface="Helvetica" panose="020B0604020202020204" pitchFamily="34" charset="0"/>
              </a:rPr>
              <a:t>ALPL HT9046  </a:t>
            </a:r>
            <a:endParaRPr lang="th-TH" sz="1800" b="1" dirty="0">
              <a:solidFill>
                <a:srgbClr val="002060"/>
              </a:solidFill>
              <a:latin typeface="Helvetica" panose="020B0604020202020204" pitchFamily="34" charset="0"/>
              <a:cs typeface="Mitr" panose="00000500000000000000" pitchFamily="2" charset="-34"/>
            </a:endParaRPr>
          </a:p>
        </p:txBody>
      </p:sp>
      <p:sp>
        <p:nvSpPr>
          <p:cNvPr id="26" name="กล่องข้อความ 25">
            <a:extLst>
              <a:ext uri="{FF2B5EF4-FFF2-40B4-BE49-F238E27FC236}">
                <a16:creationId xmlns:a16="http://schemas.microsoft.com/office/drawing/2014/main" id="{0CBBAACC-F2CA-403D-7148-F9FF5D3F5EB6}"/>
              </a:ext>
            </a:extLst>
          </p:cNvPr>
          <p:cNvSpPr txBox="1"/>
          <p:nvPr/>
        </p:nvSpPr>
        <p:spPr>
          <a:xfrm>
            <a:off x="8871565" y="1617764"/>
            <a:ext cx="3015635" cy="523220"/>
          </a:xfrm>
          <a:prstGeom prst="rect">
            <a:avLst/>
          </a:prstGeom>
          <a:noFill/>
        </p:spPr>
        <p:txBody>
          <a:bodyPr wrap="square">
            <a:spAutoFit/>
          </a:bodyPr>
          <a:lstStyle/>
          <a:p>
            <a:pPr marL="285750" indent="-285750">
              <a:buFont typeface="Arial" panose="020B0604020202020204" pitchFamily="34" charset="0"/>
              <a:buChar char="•"/>
            </a:pPr>
            <a:r>
              <a:rPr lang="en-US" sz="1400" dirty="0">
                <a:solidFill>
                  <a:srgbClr val="002060"/>
                </a:solidFill>
                <a:latin typeface="Helvetica" panose="020B0604020202020204" pitchFamily="34" charset="0"/>
              </a:rPr>
              <a:t>Quantity : 8 pieces</a:t>
            </a:r>
          </a:p>
          <a:p>
            <a:pPr marL="285750" indent="-285750">
              <a:buFont typeface="Arial" panose="020B0604020202020204" pitchFamily="34" charset="0"/>
              <a:buChar char="•"/>
            </a:pPr>
            <a:r>
              <a:rPr lang="en-US" sz="1400" dirty="0">
                <a:solidFill>
                  <a:srgbClr val="002060"/>
                </a:solidFill>
                <a:latin typeface="Helvetica" panose="020B0604020202020204" pitchFamily="34" charset="0"/>
              </a:rPr>
              <a:t>Technician : </a:t>
            </a:r>
            <a:r>
              <a:rPr lang="en-US" sz="1400" dirty="0" err="1">
                <a:solidFill>
                  <a:srgbClr val="002060"/>
                </a:solidFill>
                <a:latin typeface="Helvetica" panose="020B0604020202020204" pitchFamily="34" charset="0"/>
              </a:rPr>
              <a:t>Srileot</a:t>
            </a:r>
            <a:r>
              <a:rPr lang="en-US" sz="1400" dirty="0">
                <a:solidFill>
                  <a:srgbClr val="002060"/>
                </a:solidFill>
                <a:latin typeface="Helvetica" panose="020B0604020202020204" pitchFamily="34" charset="0"/>
              </a:rPr>
              <a:t>, </a:t>
            </a:r>
            <a:r>
              <a:rPr lang="en-US" sz="1400" dirty="0" err="1">
                <a:solidFill>
                  <a:srgbClr val="002060"/>
                </a:solidFill>
                <a:latin typeface="Helvetica" panose="020B0604020202020204" pitchFamily="34" charset="0"/>
              </a:rPr>
              <a:t>Chanachay</a:t>
            </a:r>
            <a:endParaRPr lang="th-TH" sz="1400" dirty="0">
              <a:solidFill>
                <a:srgbClr val="002060"/>
              </a:solidFill>
              <a:latin typeface="Helvetica" panose="020B0604020202020204" pitchFamily="34" charset="0"/>
            </a:endParaRPr>
          </a:p>
        </p:txBody>
      </p:sp>
      <p:sp>
        <p:nvSpPr>
          <p:cNvPr id="29" name="กล่องข้อความ 28">
            <a:extLst>
              <a:ext uri="{FF2B5EF4-FFF2-40B4-BE49-F238E27FC236}">
                <a16:creationId xmlns:a16="http://schemas.microsoft.com/office/drawing/2014/main" id="{67BC37FC-5D8D-1F9A-52B3-220FC0063AAC}"/>
              </a:ext>
            </a:extLst>
          </p:cNvPr>
          <p:cNvSpPr txBox="1">
            <a:spLocks/>
          </p:cNvSpPr>
          <p:nvPr/>
        </p:nvSpPr>
        <p:spPr>
          <a:xfrm>
            <a:off x="8871565" y="5153424"/>
            <a:ext cx="1442474" cy="369332"/>
          </a:xfrm>
          <a:prstGeom prst="rect">
            <a:avLst/>
          </a:prstGeom>
          <a:noFill/>
        </p:spPr>
        <p:txBody>
          <a:bodyPr wrap="square" rtlCol="0">
            <a:spAutoFit/>
          </a:bodyPr>
          <a:lstStyle/>
          <a:p>
            <a:r>
              <a:rPr lang="en-US" sz="1800" b="1" dirty="0">
                <a:solidFill>
                  <a:srgbClr val="002060"/>
                </a:solidFill>
                <a:latin typeface="Helvetica" panose="020B0604020202020204" pitchFamily="34" charset="0"/>
                <a:cs typeface="Helvetica" panose="020B0604020202020204" pitchFamily="34" charset="0"/>
              </a:rPr>
              <a:t>Total Time  </a:t>
            </a:r>
            <a:endParaRPr lang="th-TH" sz="1800" b="1" dirty="0">
              <a:solidFill>
                <a:srgbClr val="002060"/>
              </a:solidFill>
              <a:latin typeface="Helvetica" panose="020B0604020202020204" pitchFamily="34" charset="0"/>
              <a:cs typeface="Mitr" panose="00000500000000000000" pitchFamily="2" charset="-34"/>
            </a:endParaRPr>
          </a:p>
        </p:txBody>
      </p:sp>
      <p:sp>
        <p:nvSpPr>
          <p:cNvPr id="31" name="กล่องข้อความ 30">
            <a:extLst>
              <a:ext uri="{FF2B5EF4-FFF2-40B4-BE49-F238E27FC236}">
                <a16:creationId xmlns:a16="http://schemas.microsoft.com/office/drawing/2014/main" id="{7CDB5959-F9A7-D8B3-76E7-B94B02C5BEC9}"/>
              </a:ext>
            </a:extLst>
          </p:cNvPr>
          <p:cNvSpPr txBox="1">
            <a:spLocks/>
          </p:cNvSpPr>
          <p:nvPr/>
        </p:nvSpPr>
        <p:spPr>
          <a:xfrm>
            <a:off x="9274687" y="5557487"/>
            <a:ext cx="2536068" cy="369332"/>
          </a:xfrm>
          <a:prstGeom prst="rect">
            <a:avLst/>
          </a:prstGeom>
          <a:noFill/>
        </p:spPr>
        <p:txBody>
          <a:bodyPr wrap="square" rtlCol="0">
            <a:spAutoFit/>
          </a:bodyPr>
          <a:lstStyle/>
          <a:p>
            <a:r>
              <a:rPr lang="en-US" sz="1800" b="1" dirty="0">
                <a:solidFill>
                  <a:srgbClr val="C00000"/>
                </a:solidFill>
                <a:latin typeface="Helvetica" panose="020B0604020202020204" pitchFamily="34" charset="0"/>
                <a:cs typeface="Helvetica" panose="020B0604020202020204" pitchFamily="34" charset="0"/>
              </a:rPr>
              <a:t>2 minute 55 second</a:t>
            </a:r>
            <a:endParaRPr lang="th-TH" sz="1800" b="1" dirty="0">
              <a:solidFill>
                <a:srgbClr val="C00000"/>
              </a:solidFill>
              <a:latin typeface="Helvetica" panose="020B0604020202020204" pitchFamily="34" charset="0"/>
              <a:cs typeface="Mitr" panose="00000500000000000000" pitchFamily="2" charset="-34"/>
            </a:endParaRPr>
          </a:p>
        </p:txBody>
      </p:sp>
      <p:sp>
        <p:nvSpPr>
          <p:cNvPr id="35" name="กล่องข้อความ 34">
            <a:extLst>
              <a:ext uri="{FF2B5EF4-FFF2-40B4-BE49-F238E27FC236}">
                <a16:creationId xmlns:a16="http://schemas.microsoft.com/office/drawing/2014/main" id="{AF7BAE40-4593-3C18-97DD-7B964931CEC8}"/>
              </a:ext>
            </a:extLst>
          </p:cNvPr>
          <p:cNvSpPr txBox="1">
            <a:spLocks/>
          </p:cNvSpPr>
          <p:nvPr/>
        </p:nvSpPr>
        <p:spPr>
          <a:xfrm>
            <a:off x="9492725" y="3417481"/>
            <a:ext cx="2447528" cy="369332"/>
          </a:xfrm>
          <a:prstGeom prst="rect">
            <a:avLst/>
          </a:prstGeom>
          <a:noFill/>
        </p:spPr>
        <p:txBody>
          <a:bodyPr wrap="square" rtlCol="0">
            <a:spAutoFit/>
          </a:bodyPr>
          <a:lstStyle/>
          <a:p>
            <a:r>
              <a:rPr lang="en-US" sz="1800" b="1" dirty="0">
                <a:solidFill>
                  <a:srgbClr val="C00000"/>
                </a:solidFill>
                <a:latin typeface="Helvetica" panose="020B0604020202020204" pitchFamily="34" charset="0"/>
                <a:cs typeface="Helvetica" panose="020B0604020202020204" pitchFamily="34" charset="0"/>
              </a:rPr>
              <a:t>2.95 second</a:t>
            </a:r>
            <a:endParaRPr lang="th-TH" sz="1800" b="1" dirty="0">
              <a:solidFill>
                <a:srgbClr val="C00000"/>
              </a:solidFill>
              <a:latin typeface="Helvetica" panose="020B0604020202020204" pitchFamily="34" charset="0"/>
              <a:cs typeface="Mitr" panose="00000500000000000000" pitchFamily="2" charset="-34"/>
            </a:endParaRPr>
          </a:p>
        </p:txBody>
      </p:sp>
      <p:sp>
        <p:nvSpPr>
          <p:cNvPr id="37" name="กล่องข้อความ 36">
            <a:extLst>
              <a:ext uri="{FF2B5EF4-FFF2-40B4-BE49-F238E27FC236}">
                <a16:creationId xmlns:a16="http://schemas.microsoft.com/office/drawing/2014/main" id="{E1CF6DE4-CD4F-623C-0443-D74B2FDE1398}"/>
              </a:ext>
            </a:extLst>
          </p:cNvPr>
          <p:cNvSpPr txBox="1">
            <a:spLocks/>
          </p:cNvSpPr>
          <p:nvPr/>
        </p:nvSpPr>
        <p:spPr>
          <a:xfrm>
            <a:off x="9492725" y="4246940"/>
            <a:ext cx="1819869" cy="369332"/>
          </a:xfrm>
          <a:prstGeom prst="rect">
            <a:avLst/>
          </a:prstGeom>
          <a:noFill/>
        </p:spPr>
        <p:txBody>
          <a:bodyPr wrap="square" rtlCol="0">
            <a:spAutoFit/>
          </a:bodyPr>
          <a:lstStyle/>
          <a:p>
            <a:r>
              <a:rPr lang="en-US" sz="1800" b="1" dirty="0">
                <a:solidFill>
                  <a:srgbClr val="C00000"/>
                </a:solidFill>
                <a:latin typeface="Helvetica" panose="020B0604020202020204" pitchFamily="34" charset="0"/>
                <a:cs typeface="Helvetica" panose="020B0604020202020204" pitchFamily="34" charset="0"/>
              </a:rPr>
              <a:t>11.93 second</a:t>
            </a:r>
            <a:endParaRPr lang="th-TH" sz="1800" b="1" dirty="0">
              <a:solidFill>
                <a:srgbClr val="C00000"/>
              </a:solidFill>
              <a:latin typeface="Helvetica" panose="020B0604020202020204" pitchFamily="34" charset="0"/>
              <a:cs typeface="Mitr" panose="00000500000000000000" pitchFamily="2" charset="-34"/>
            </a:endParaRPr>
          </a:p>
        </p:txBody>
      </p:sp>
      <p:sp>
        <p:nvSpPr>
          <p:cNvPr id="39" name="กล่องข้อความ 38">
            <a:extLst>
              <a:ext uri="{FF2B5EF4-FFF2-40B4-BE49-F238E27FC236}">
                <a16:creationId xmlns:a16="http://schemas.microsoft.com/office/drawing/2014/main" id="{C957C9B9-4B09-69F9-808B-EDA99CA42505}"/>
              </a:ext>
            </a:extLst>
          </p:cNvPr>
          <p:cNvSpPr txBox="1"/>
          <p:nvPr/>
        </p:nvSpPr>
        <p:spPr>
          <a:xfrm>
            <a:off x="8875472" y="2706721"/>
            <a:ext cx="2695403" cy="1477328"/>
          </a:xfrm>
          <a:prstGeom prst="rect">
            <a:avLst/>
          </a:prstGeom>
          <a:noFill/>
        </p:spPr>
        <p:txBody>
          <a:bodyPr wrap="square">
            <a:spAutoFit/>
          </a:bodyPr>
          <a:lstStyle/>
          <a:p>
            <a:r>
              <a:rPr lang="en-US" sz="1800" b="1" dirty="0">
                <a:solidFill>
                  <a:srgbClr val="002060"/>
                </a:solidFill>
                <a:latin typeface="Helvetica" panose="020B0604020202020204" pitchFamily="34" charset="0"/>
              </a:rPr>
              <a:t>Step (By Part)</a:t>
            </a:r>
          </a:p>
          <a:p>
            <a:pPr marL="285750" indent="-285750">
              <a:buFont typeface="Arial" panose="020B0604020202020204" pitchFamily="34" charset="0"/>
              <a:buChar char="•"/>
            </a:pPr>
            <a:r>
              <a:rPr lang="en-US" sz="1800" dirty="0">
                <a:solidFill>
                  <a:srgbClr val="002060"/>
                </a:solidFill>
                <a:latin typeface="Helvetica" panose="020B0604020202020204" pitchFamily="34" charset="0"/>
              </a:rPr>
              <a:t>align </a:t>
            </a:r>
          </a:p>
          <a:p>
            <a:pPr marL="285750" indent="-285750">
              <a:buFont typeface="Arial" panose="020B0604020202020204" pitchFamily="34" charset="0"/>
              <a:buChar char="•"/>
            </a:pPr>
            <a:endParaRPr lang="en-US" sz="1800" dirty="0">
              <a:solidFill>
                <a:srgbClr val="002060"/>
              </a:solidFill>
              <a:latin typeface="Helvetica" panose="020B0604020202020204" pitchFamily="34" charset="0"/>
            </a:endParaRPr>
          </a:p>
          <a:p>
            <a:pPr marL="285750" indent="-285750">
              <a:buFont typeface="Arial" panose="020B0604020202020204" pitchFamily="34" charset="0"/>
              <a:buChar char="•"/>
            </a:pPr>
            <a:endParaRPr lang="en-US" sz="1800" dirty="0">
              <a:solidFill>
                <a:srgbClr val="002060"/>
              </a:solidFill>
              <a:latin typeface="Helvetica" panose="020B0604020202020204" pitchFamily="34" charset="0"/>
            </a:endParaRPr>
          </a:p>
          <a:p>
            <a:pPr marL="285750" indent="-285750">
              <a:buFont typeface="Arial" panose="020B0604020202020204" pitchFamily="34" charset="0"/>
              <a:buChar char="•"/>
            </a:pPr>
            <a:r>
              <a:rPr lang="en-US" sz="1800" dirty="0">
                <a:solidFill>
                  <a:srgbClr val="002060"/>
                </a:solidFill>
                <a:latin typeface="Helvetica" panose="020B0604020202020204" pitchFamily="34" charset="0"/>
              </a:rPr>
              <a:t>measure and record</a:t>
            </a:r>
            <a:endParaRPr lang="th-TH" sz="1800" dirty="0">
              <a:solidFill>
                <a:srgbClr val="002060"/>
              </a:solidFill>
              <a:latin typeface="Helvetica" panose="020B0604020202020204" pitchFamily="34" charset="0"/>
            </a:endParaRPr>
          </a:p>
        </p:txBody>
      </p:sp>
      <p:cxnSp>
        <p:nvCxnSpPr>
          <p:cNvPr id="41" name="ตัวเชื่อมต่อตรง 40">
            <a:extLst>
              <a:ext uri="{FF2B5EF4-FFF2-40B4-BE49-F238E27FC236}">
                <a16:creationId xmlns:a16="http://schemas.microsoft.com/office/drawing/2014/main" id="{DCB70CED-C601-E788-4B36-1756F3189132}"/>
              </a:ext>
            </a:extLst>
          </p:cNvPr>
          <p:cNvCxnSpPr>
            <a:cxnSpLocks/>
          </p:cNvCxnSpPr>
          <p:nvPr/>
        </p:nvCxnSpPr>
        <p:spPr>
          <a:xfrm>
            <a:off x="8925341" y="2489261"/>
            <a:ext cx="2878449" cy="0"/>
          </a:xfrm>
          <a:prstGeom prst="line">
            <a:avLst/>
          </a:prstGeom>
          <a:ln>
            <a:solidFill>
              <a:srgbClr val="7788AA">
                <a:alpha val="20000"/>
              </a:srgbClr>
            </a:solidFill>
          </a:ln>
        </p:spPr>
        <p:style>
          <a:lnRef idx="2">
            <a:schemeClr val="accent1"/>
          </a:lnRef>
          <a:fillRef idx="0">
            <a:schemeClr val="accent1"/>
          </a:fillRef>
          <a:effectRef idx="1">
            <a:schemeClr val="accent1"/>
          </a:effectRef>
          <a:fontRef idx="minor">
            <a:schemeClr val="tx1"/>
          </a:fontRef>
        </p:style>
      </p:cxnSp>
      <p:cxnSp>
        <p:nvCxnSpPr>
          <p:cNvPr id="43" name="ตัวเชื่อมต่อตรง 42">
            <a:extLst>
              <a:ext uri="{FF2B5EF4-FFF2-40B4-BE49-F238E27FC236}">
                <a16:creationId xmlns:a16="http://schemas.microsoft.com/office/drawing/2014/main" id="{60433BD1-8365-545A-3985-63B3CD3C8475}"/>
              </a:ext>
            </a:extLst>
          </p:cNvPr>
          <p:cNvCxnSpPr>
            <a:cxnSpLocks/>
          </p:cNvCxnSpPr>
          <p:nvPr/>
        </p:nvCxnSpPr>
        <p:spPr>
          <a:xfrm>
            <a:off x="8925341" y="4876861"/>
            <a:ext cx="2878449" cy="0"/>
          </a:xfrm>
          <a:prstGeom prst="line">
            <a:avLst/>
          </a:prstGeom>
          <a:ln>
            <a:solidFill>
              <a:srgbClr val="7788AA">
                <a:alpha val="20000"/>
              </a:srgbClr>
            </a:solidFill>
          </a:ln>
        </p:spPr>
        <p:style>
          <a:lnRef idx="2">
            <a:schemeClr val="accent1"/>
          </a:lnRef>
          <a:fillRef idx="0">
            <a:schemeClr val="accent1"/>
          </a:fillRef>
          <a:effectRef idx="1">
            <a:schemeClr val="accent1"/>
          </a:effectRef>
          <a:fontRef idx="minor">
            <a:schemeClr val="tx1"/>
          </a:fontRef>
        </p:style>
      </p:cxnSp>
      <p:sp>
        <p:nvSpPr>
          <p:cNvPr id="2" name="สี่เหลี่ยมผืนผ้า 1">
            <a:extLst>
              <a:ext uri="{FF2B5EF4-FFF2-40B4-BE49-F238E27FC236}">
                <a16:creationId xmlns:a16="http://schemas.microsoft.com/office/drawing/2014/main" id="{F30B3E68-7534-B131-361D-7539292C39F2}"/>
              </a:ext>
            </a:extLst>
          </p:cNvPr>
          <p:cNvSpPr/>
          <p:nvPr/>
        </p:nvSpPr>
        <p:spPr>
          <a:xfrm>
            <a:off x="8960764" y="3054998"/>
            <a:ext cx="2885414" cy="3291615"/>
          </a:xfrm>
          <a:prstGeom prst="rect">
            <a:avLst/>
          </a:prstGeom>
          <a:solidFill>
            <a:srgbClr val="E97132">
              <a:alpha val="5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h-TH" b="1" dirty="0"/>
              <a:t>รอทำใหม่</a:t>
            </a:r>
          </a:p>
        </p:txBody>
      </p:sp>
    </p:spTree>
    <p:extLst>
      <p:ext uri="{BB962C8B-B14F-4D97-AF65-F5344CB8AC3E}">
        <p14:creationId xmlns:p14="http://schemas.microsoft.com/office/powerpoint/2010/main" val="1380992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75706"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24"/>
                </p:tgtEl>
              </p:cMediaNode>
            </p:video>
            <p:seq concurrent="1" nextAc="seek">
              <p:cTn id="8" restart="whenNotActive" fill="hold" evtFilter="cancelBubble" nodeType="interactiveSeq">
                <p:stCondLst>
                  <p:cond evt="onClick" delay="0">
                    <p:tgtEl>
                      <p:spTgt spid="2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4"/>
                                        </p:tgtEl>
                                      </p:cBhvr>
                                    </p:cmd>
                                  </p:childTnLst>
                                </p:cTn>
                              </p:par>
                            </p:childTnLst>
                          </p:cTn>
                        </p:par>
                      </p:childTnLst>
                    </p:cTn>
                  </p:par>
                </p:childTnLst>
              </p:cTn>
              <p:nextCondLst>
                <p:cond evt="onClick" delay="0">
                  <p:tgtEl>
                    <p:spTgt spid="24"/>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C6567-FB8A-835C-7A81-C5A077E83064}"/>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B934430E-F796-4718-8B37-9E283BE575E1}"/>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6" name="Picture 2" descr="Analog Devices | Disruptive Technology for Clinical Trials">
            <a:extLst>
              <a:ext uri="{FF2B5EF4-FFF2-40B4-BE49-F238E27FC236}">
                <a16:creationId xmlns:a16="http://schemas.microsoft.com/office/drawing/2014/main" id="{A7607ED5-E490-519A-5F04-DD0CD28DAB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 name="Picture 2" descr="LOGO_ENkku_color – Faculty of Engineering , Khon Kaen University">
            <a:extLst>
              <a:ext uri="{FF2B5EF4-FFF2-40B4-BE49-F238E27FC236}">
                <a16:creationId xmlns:a16="http://schemas.microsoft.com/office/drawing/2014/main" id="{356C56A7-14A6-94F4-F9C1-4F1BF6D5B179}"/>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15" name="กล่องข้อความ 14">
            <a:extLst>
              <a:ext uri="{FF2B5EF4-FFF2-40B4-BE49-F238E27FC236}">
                <a16:creationId xmlns:a16="http://schemas.microsoft.com/office/drawing/2014/main" id="{4CCAE102-768B-48AA-19C1-813F10FE5E91}"/>
              </a:ext>
            </a:extLst>
          </p:cNvPr>
          <p:cNvSpPr txBox="1"/>
          <p:nvPr/>
        </p:nvSpPr>
        <p:spPr>
          <a:xfrm>
            <a:off x="1527907" y="1832702"/>
            <a:ext cx="11157427" cy="646331"/>
          </a:xfrm>
          <a:prstGeom prst="rect">
            <a:avLst/>
          </a:prstGeom>
          <a:noFill/>
        </p:spPr>
        <p:txBody>
          <a:bodyPr wrap="square">
            <a:spAutoFit/>
          </a:bodyPr>
          <a:lstStyle/>
          <a:p>
            <a:pPr marL="285750" indent="-285750">
              <a:buFont typeface="Arial" panose="020B0604020202020204" pitchFamily="34" charset="0"/>
              <a:buChar char="•"/>
            </a:pPr>
            <a:r>
              <a:rPr lang="en-US" sz="1800" b="1" dirty="0">
                <a:solidFill>
                  <a:srgbClr val="002060"/>
                </a:solidFill>
                <a:latin typeface="Helvetica" panose="020B0604020202020204" pitchFamily="34" charset="0"/>
                <a:cs typeface="Helvetica" panose="020B0604020202020204" pitchFamily="34" charset="0"/>
              </a:rPr>
              <a:t>Action: </a:t>
            </a:r>
            <a:r>
              <a:rPr lang="en-US" sz="1800" dirty="0">
                <a:solidFill>
                  <a:srgbClr val="002060"/>
                </a:solidFill>
                <a:latin typeface="Helvetica" panose="020B0604020202020204" pitchFamily="34" charset="0"/>
                <a:cs typeface="Helvetica" panose="020B0604020202020204" pitchFamily="34" charset="0"/>
              </a:rPr>
              <a:t>Check new ALPL part dimensions against blueprints immediately upon receipt.</a:t>
            </a:r>
          </a:p>
          <a:p>
            <a:pPr marL="285750" indent="-285750">
              <a:buFont typeface="Arial" panose="020B0604020202020204" pitchFamily="34" charset="0"/>
              <a:buChar char="•"/>
            </a:pPr>
            <a:r>
              <a:rPr lang="en-US" sz="1800" b="1" dirty="0">
                <a:solidFill>
                  <a:srgbClr val="002060"/>
                </a:solidFill>
                <a:latin typeface="Helvetica" panose="020B0604020202020204" pitchFamily="34" charset="0"/>
                <a:cs typeface="Helvetica" panose="020B0604020202020204" pitchFamily="34" charset="0"/>
              </a:rPr>
              <a:t>Approval: </a:t>
            </a:r>
            <a:r>
              <a:rPr lang="en-US" sz="1800" dirty="0">
                <a:solidFill>
                  <a:srgbClr val="002060"/>
                </a:solidFill>
                <a:latin typeface="Helvetica" panose="020B0604020202020204" pitchFamily="34" charset="0"/>
                <a:cs typeface="Helvetica" panose="020B0604020202020204" pitchFamily="34" charset="0"/>
              </a:rPr>
              <a:t>Reports are sent to the Equipment Engineer before production release.</a:t>
            </a:r>
          </a:p>
        </p:txBody>
      </p:sp>
      <p:sp>
        <p:nvSpPr>
          <p:cNvPr id="17" name="กล่องข้อความ 16">
            <a:extLst>
              <a:ext uri="{FF2B5EF4-FFF2-40B4-BE49-F238E27FC236}">
                <a16:creationId xmlns:a16="http://schemas.microsoft.com/office/drawing/2014/main" id="{3D8F3859-BEC1-9986-2A1A-F988761828E2}"/>
              </a:ext>
            </a:extLst>
          </p:cNvPr>
          <p:cNvSpPr txBox="1"/>
          <p:nvPr/>
        </p:nvSpPr>
        <p:spPr>
          <a:xfrm>
            <a:off x="1148150" y="1311591"/>
            <a:ext cx="7106536" cy="369332"/>
          </a:xfrm>
          <a:prstGeom prst="rect">
            <a:avLst/>
          </a:prstGeom>
          <a:noFill/>
        </p:spPr>
        <p:txBody>
          <a:bodyPr wrap="square">
            <a:spAutoFit/>
          </a:bodyPr>
          <a:lstStyle/>
          <a:p>
            <a:r>
              <a:rPr lang="en-US" sz="1800" b="1" dirty="0">
                <a:solidFill>
                  <a:srgbClr val="002060"/>
                </a:solidFill>
                <a:latin typeface="Helvetica" panose="020B0604020202020204" pitchFamily="34" charset="0"/>
                <a:cs typeface="Helvetica" panose="020B0604020202020204" pitchFamily="34" charset="0"/>
              </a:rPr>
              <a:t>New Part Verification (Incoming Quality Control - IQC)</a:t>
            </a:r>
          </a:p>
        </p:txBody>
      </p:sp>
      <p:sp>
        <p:nvSpPr>
          <p:cNvPr id="19" name="กล่องข้อความ 18">
            <a:extLst>
              <a:ext uri="{FF2B5EF4-FFF2-40B4-BE49-F238E27FC236}">
                <a16:creationId xmlns:a16="http://schemas.microsoft.com/office/drawing/2014/main" id="{CE9C215A-3545-3224-7B61-9C78CA56840F}"/>
              </a:ext>
            </a:extLst>
          </p:cNvPr>
          <p:cNvSpPr txBox="1"/>
          <p:nvPr/>
        </p:nvSpPr>
        <p:spPr>
          <a:xfrm>
            <a:off x="2851243" y="2776198"/>
            <a:ext cx="2893525" cy="733534"/>
          </a:xfrm>
          <a:prstGeom prst="rect">
            <a:avLst/>
          </a:prstGeom>
          <a:noFill/>
        </p:spPr>
        <p:txBody>
          <a:bodyPr wrap="square">
            <a:spAutoFit/>
          </a:bodyPr>
          <a:lstStyle/>
          <a:p>
            <a:pPr algn="l">
              <a:spcAft>
                <a:spcPts val="150"/>
              </a:spcAft>
              <a:buNone/>
            </a:pPr>
            <a:r>
              <a:rPr lang="en-US" sz="2000" b="0" i="0" dirty="0">
                <a:solidFill>
                  <a:srgbClr val="002060"/>
                </a:solidFill>
                <a:effectLst/>
                <a:latin typeface="Helvetica" panose="020B0604020202020204" pitchFamily="34" charset="0"/>
                <a:cs typeface="Helvetica" panose="020B0604020202020204" pitchFamily="34" charset="0"/>
              </a:rPr>
              <a:t>16 – 20</a:t>
            </a:r>
          </a:p>
          <a:p>
            <a:pPr algn="l">
              <a:buNone/>
            </a:pPr>
            <a:r>
              <a:rPr lang="en-US" sz="2000" b="0" i="0" dirty="0">
                <a:solidFill>
                  <a:srgbClr val="FF0000"/>
                </a:solidFill>
                <a:effectLst/>
                <a:latin typeface="Helvetica" panose="020B0604020202020204" pitchFamily="34" charset="0"/>
                <a:cs typeface="Helvetica" panose="020B0604020202020204" pitchFamily="34" charset="0"/>
              </a:rPr>
              <a:t>parts per batch</a:t>
            </a:r>
          </a:p>
        </p:txBody>
      </p:sp>
      <p:sp>
        <p:nvSpPr>
          <p:cNvPr id="21" name="กล่องข้อความ 20">
            <a:extLst>
              <a:ext uri="{FF2B5EF4-FFF2-40B4-BE49-F238E27FC236}">
                <a16:creationId xmlns:a16="http://schemas.microsoft.com/office/drawing/2014/main" id="{A6ADD6D5-0499-ED9A-82DD-2D49E8D10346}"/>
              </a:ext>
            </a:extLst>
          </p:cNvPr>
          <p:cNvSpPr txBox="1"/>
          <p:nvPr/>
        </p:nvSpPr>
        <p:spPr>
          <a:xfrm>
            <a:off x="6307280" y="2776198"/>
            <a:ext cx="4220881" cy="733534"/>
          </a:xfrm>
          <a:prstGeom prst="rect">
            <a:avLst/>
          </a:prstGeom>
          <a:noFill/>
        </p:spPr>
        <p:txBody>
          <a:bodyPr wrap="square">
            <a:spAutoFit/>
          </a:bodyPr>
          <a:lstStyle/>
          <a:p>
            <a:pPr algn="l">
              <a:spcAft>
                <a:spcPts val="150"/>
              </a:spcAft>
              <a:buNone/>
            </a:pPr>
            <a:r>
              <a:rPr lang="en-US" sz="2000" b="0" i="0" dirty="0">
                <a:solidFill>
                  <a:srgbClr val="002060"/>
                </a:solidFill>
                <a:effectLst/>
                <a:latin typeface="Helvetica" panose="020B0604020202020204" pitchFamily="34" charset="0"/>
                <a:cs typeface="Helvetica" panose="020B0604020202020204" pitchFamily="34" charset="0"/>
              </a:rPr>
              <a:t>Low freq.</a:t>
            </a:r>
          </a:p>
          <a:p>
            <a:pPr algn="l">
              <a:buNone/>
            </a:pPr>
            <a:r>
              <a:rPr lang="en-US" sz="2000" b="0" i="0" dirty="0">
                <a:solidFill>
                  <a:srgbClr val="FF0000"/>
                </a:solidFill>
                <a:effectLst/>
                <a:latin typeface="Helvetica" panose="020B0604020202020204" pitchFamily="34" charset="0"/>
                <a:cs typeface="Helvetica" panose="020B0604020202020204" pitchFamily="34" charset="0"/>
              </a:rPr>
              <a:t>per procurement cycle</a:t>
            </a:r>
          </a:p>
        </p:txBody>
      </p:sp>
      <p:sp>
        <p:nvSpPr>
          <p:cNvPr id="23" name="กล่องข้อความ 22">
            <a:extLst>
              <a:ext uri="{FF2B5EF4-FFF2-40B4-BE49-F238E27FC236}">
                <a16:creationId xmlns:a16="http://schemas.microsoft.com/office/drawing/2014/main" id="{FB55C1C9-98CD-4181-6F18-952052FD6E4E}"/>
              </a:ext>
            </a:extLst>
          </p:cNvPr>
          <p:cNvSpPr txBox="1"/>
          <p:nvPr/>
        </p:nvSpPr>
        <p:spPr>
          <a:xfrm>
            <a:off x="1527907" y="4560547"/>
            <a:ext cx="10770513" cy="646331"/>
          </a:xfrm>
          <a:prstGeom prst="rect">
            <a:avLst/>
          </a:prstGeom>
          <a:noFill/>
        </p:spPr>
        <p:txBody>
          <a:bodyPr wrap="square">
            <a:spAutoFit/>
          </a:bodyPr>
          <a:lstStyle/>
          <a:p>
            <a:pPr marL="285750" indent="-285750">
              <a:buFont typeface="Arial" panose="020B0604020202020204" pitchFamily="34" charset="0"/>
              <a:buChar char="•"/>
            </a:pPr>
            <a:r>
              <a:rPr lang="en-US" sz="1800" b="1" dirty="0">
                <a:solidFill>
                  <a:srgbClr val="002060"/>
                </a:solidFill>
                <a:latin typeface="Helvetica" panose="020B0604020202020204" pitchFamily="34" charset="0"/>
                <a:cs typeface="Helvetica" panose="020B0604020202020204" pitchFamily="34" charset="0"/>
              </a:rPr>
              <a:t>Action: </a:t>
            </a:r>
            <a:r>
              <a:rPr lang="en-US" sz="1800" dirty="0">
                <a:solidFill>
                  <a:srgbClr val="002060"/>
                </a:solidFill>
                <a:latin typeface="Helvetica" panose="020B0604020202020204" pitchFamily="34" charset="0"/>
                <a:cs typeface="Helvetica" panose="020B0604020202020204" pitchFamily="34" charset="0"/>
              </a:rPr>
              <a:t>Scheduled routine checks on test kits to monitor wear and ensure precision.</a:t>
            </a:r>
          </a:p>
          <a:p>
            <a:pPr marL="285750" indent="-285750">
              <a:buFont typeface="Arial" panose="020B0604020202020204" pitchFamily="34" charset="0"/>
              <a:buChar char="•"/>
            </a:pPr>
            <a:r>
              <a:rPr lang="en-US" sz="1800" b="1" dirty="0">
                <a:solidFill>
                  <a:srgbClr val="002060"/>
                </a:solidFill>
                <a:latin typeface="Helvetica" panose="020B0604020202020204" pitchFamily="34" charset="0"/>
                <a:cs typeface="Helvetica" panose="020B0604020202020204" pitchFamily="34" charset="0"/>
              </a:rPr>
              <a:t>Record: </a:t>
            </a:r>
            <a:r>
              <a:rPr lang="en-US" sz="1800" dirty="0">
                <a:solidFill>
                  <a:srgbClr val="002060"/>
                </a:solidFill>
                <a:latin typeface="Helvetica" panose="020B0604020202020204" pitchFamily="34" charset="0"/>
                <a:cs typeface="Helvetica" panose="020B0604020202020204" pitchFamily="34" charset="0"/>
              </a:rPr>
              <a:t>Results are manually logged into each kit's individual history.</a:t>
            </a:r>
          </a:p>
        </p:txBody>
      </p:sp>
      <p:sp>
        <p:nvSpPr>
          <p:cNvPr id="25" name="กล่องข้อความ 24">
            <a:extLst>
              <a:ext uri="{FF2B5EF4-FFF2-40B4-BE49-F238E27FC236}">
                <a16:creationId xmlns:a16="http://schemas.microsoft.com/office/drawing/2014/main" id="{B92D4C25-9E19-9706-1FD5-F1E12DC820FF}"/>
              </a:ext>
            </a:extLst>
          </p:cNvPr>
          <p:cNvSpPr txBox="1"/>
          <p:nvPr/>
        </p:nvSpPr>
        <p:spPr>
          <a:xfrm>
            <a:off x="1148150" y="4014994"/>
            <a:ext cx="7106536" cy="369332"/>
          </a:xfrm>
          <a:prstGeom prst="rect">
            <a:avLst/>
          </a:prstGeom>
          <a:noFill/>
        </p:spPr>
        <p:txBody>
          <a:bodyPr wrap="square">
            <a:spAutoFit/>
          </a:bodyPr>
          <a:lstStyle/>
          <a:p>
            <a:r>
              <a:rPr lang="fr-FR" sz="1800" b="1" dirty="0">
                <a:solidFill>
                  <a:srgbClr val="002060"/>
                </a:solidFill>
                <a:latin typeface="Helvetica" panose="020B0604020202020204" pitchFamily="34" charset="0"/>
                <a:cs typeface="Helvetica" panose="020B0604020202020204" pitchFamily="34" charset="0"/>
              </a:rPr>
              <a:t>Inspection &amp; Preventive Maintenance (IPM)</a:t>
            </a:r>
            <a:endParaRPr lang="en-US" sz="1800" b="1" dirty="0">
              <a:solidFill>
                <a:srgbClr val="002060"/>
              </a:solidFill>
              <a:latin typeface="Helvetica" panose="020B0604020202020204" pitchFamily="34" charset="0"/>
              <a:cs typeface="Helvetica" panose="020B0604020202020204" pitchFamily="34" charset="0"/>
            </a:endParaRPr>
          </a:p>
        </p:txBody>
      </p:sp>
      <p:sp>
        <p:nvSpPr>
          <p:cNvPr id="31" name="กล่องข้อความ 30">
            <a:extLst>
              <a:ext uri="{FF2B5EF4-FFF2-40B4-BE49-F238E27FC236}">
                <a16:creationId xmlns:a16="http://schemas.microsoft.com/office/drawing/2014/main" id="{DFF80BE5-512D-2FEC-5CD8-FDBE5C72D37F}"/>
              </a:ext>
            </a:extLst>
          </p:cNvPr>
          <p:cNvSpPr txBox="1"/>
          <p:nvPr/>
        </p:nvSpPr>
        <p:spPr>
          <a:xfrm>
            <a:off x="2851243" y="5514348"/>
            <a:ext cx="2847821" cy="733534"/>
          </a:xfrm>
          <a:prstGeom prst="rect">
            <a:avLst/>
          </a:prstGeom>
          <a:noFill/>
        </p:spPr>
        <p:txBody>
          <a:bodyPr wrap="square">
            <a:spAutoFit/>
          </a:bodyPr>
          <a:lstStyle/>
          <a:p>
            <a:pPr algn="l">
              <a:spcAft>
                <a:spcPts val="150"/>
              </a:spcAft>
              <a:buNone/>
            </a:pPr>
            <a:r>
              <a:rPr lang="en-US" sz="2000" i="0" dirty="0">
                <a:solidFill>
                  <a:srgbClr val="002060"/>
                </a:solidFill>
                <a:effectLst/>
                <a:latin typeface="Helvetica" panose="020B0604020202020204" pitchFamily="34" charset="0"/>
                <a:cs typeface="Helvetica" panose="020B0604020202020204" pitchFamily="34" charset="0"/>
              </a:rPr>
              <a:t>8 – 16</a:t>
            </a:r>
          </a:p>
          <a:p>
            <a:pPr>
              <a:buNone/>
            </a:pPr>
            <a:r>
              <a:rPr lang="en-US" sz="2000" b="0" i="0" dirty="0">
                <a:solidFill>
                  <a:srgbClr val="FF0000"/>
                </a:solidFill>
                <a:effectLst/>
                <a:latin typeface="Helvetica" panose="020B0604020202020204" pitchFamily="34" charset="0"/>
                <a:cs typeface="Helvetica" panose="020B0604020202020204" pitchFamily="34" charset="0"/>
              </a:rPr>
              <a:t>parts per day</a:t>
            </a:r>
          </a:p>
        </p:txBody>
      </p:sp>
      <p:sp>
        <p:nvSpPr>
          <p:cNvPr id="33" name="กล่องข้อความ 32">
            <a:extLst>
              <a:ext uri="{FF2B5EF4-FFF2-40B4-BE49-F238E27FC236}">
                <a16:creationId xmlns:a16="http://schemas.microsoft.com/office/drawing/2014/main" id="{75E14F58-F60D-DC15-0A31-33E1CC45A412}"/>
              </a:ext>
            </a:extLst>
          </p:cNvPr>
          <p:cNvSpPr txBox="1"/>
          <p:nvPr/>
        </p:nvSpPr>
        <p:spPr>
          <a:xfrm>
            <a:off x="6307280" y="5514348"/>
            <a:ext cx="3274142" cy="733534"/>
          </a:xfrm>
          <a:prstGeom prst="rect">
            <a:avLst/>
          </a:prstGeom>
          <a:noFill/>
        </p:spPr>
        <p:txBody>
          <a:bodyPr wrap="square">
            <a:spAutoFit/>
          </a:bodyPr>
          <a:lstStyle/>
          <a:p>
            <a:pPr algn="l">
              <a:spcAft>
                <a:spcPts val="150"/>
              </a:spcAft>
              <a:buNone/>
            </a:pPr>
            <a:r>
              <a:rPr lang="en-US" sz="2000" b="0" i="0" dirty="0">
                <a:solidFill>
                  <a:srgbClr val="002060"/>
                </a:solidFill>
                <a:effectLst/>
                <a:latin typeface="Helvetica" panose="020B0604020202020204" pitchFamily="34" charset="0"/>
                <a:cs typeface="Helvetica" panose="020B0604020202020204" pitchFamily="34" charset="0"/>
              </a:rPr>
              <a:t>Daily</a:t>
            </a:r>
          </a:p>
          <a:p>
            <a:pPr algn="l">
              <a:buNone/>
            </a:pPr>
            <a:r>
              <a:rPr lang="en-US" sz="2000" b="0" i="0" dirty="0">
                <a:solidFill>
                  <a:srgbClr val="FF0000"/>
                </a:solidFill>
                <a:effectLst/>
                <a:latin typeface="Helvetica" panose="020B0604020202020204" pitchFamily="34" charset="0"/>
                <a:cs typeface="Helvetica" panose="020B0604020202020204" pitchFamily="34" charset="0"/>
              </a:rPr>
              <a:t>ongoing frequency</a:t>
            </a:r>
          </a:p>
        </p:txBody>
      </p:sp>
      <p:cxnSp>
        <p:nvCxnSpPr>
          <p:cNvPr id="34" name="ตัวเชื่อมต่อตรง 33">
            <a:extLst>
              <a:ext uri="{FF2B5EF4-FFF2-40B4-BE49-F238E27FC236}">
                <a16:creationId xmlns:a16="http://schemas.microsoft.com/office/drawing/2014/main" id="{E44623C6-8337-457E-DE22-957A9DC6E275}"/>
              </a:ext>
            </a:extLst>
          </p:cNvPr>
          <p:cNvCxnSpPr>
            <a:cxnSpLocks/>
          </p:cNvCxnSpPr>
          <p:nvPr/>
        </p:nvCxnSpPr>
        <p:spPr>
          <a:xfrm>
            <a:off x="862889" y="3744091"/>
            <a:ext cx="10768672" cy="0"/>
          </a:xfrm>
          <a:prstGeom prst="line">
            <a:avLst/>
          </a:prstGeom>
          <a:ln>
            <a:solidFill>
              <a:srgbClr val="7788AA">
                <a:alpha val="20000"/>
              </a:srgbClr>
            </a:solidFill>
          </a:ln>
        </p:spPr>
        <p:style>
          <a:lnRef idx="2">
            <a:schemeClr val="accent1"/>
          </a:lnRef>
          <a:fillRef idx="0">
            <a:schemeClr val="accent1"/>
          </a:fillRef>
          <a:effectRef idx="1">
            <a:schemeClr val="accent1"/>
          </a:effectRef>
          <a:fontRef idx="minor">
            <a:schemeClr val="tx1"/>
          </a:fontRef>
        </p:style>
      </p:cxnSp>
      <p:sp>
        <p:nvSpPr>
          <p:cNvPr id="37" name="กล่องข้อความ 36">
            <a:extLst>
              <a:ext uri="{FF2B5EF4-FFF2-40B4-BE49-F238E27FC236}">
                <a16:creationId xmlns:a16="http://schemas.microsoft.com/office/drawing/2014/main" id="{0920C0D1-BB87-50A1-29C4-0C90C5DF4C65}"/>
              </a:ext>
            </a:extLst>
          </p:cNvPr>
          <p:cNvSpPr txBox="1"/>
          <p:nvPr/>
        </p:nvSpPr>
        <p:spPr>
          <a:xfrm>
            <a:off x="794199" y="682565"/>
            <a:ext cx="6096000" cy="461665"/>
          </a:xfrm>
          <a:prstGeom prst="rect">
            <a:avLst/>
          </a:prstGeom>
          <a:noFill/>
        </p:spPr>
        <p:txBody>
          <a:bodyPr wrap="square">
            <a:spAutoFit/>
          </a:bodyPr>
          <a:lstStyle/>
          <a:p>
            <a:r>
              <a:rPr lang="en-US" sz="2400" b="1" dirty="0">
                <a:solidFill>
                  <a:srgbClr val="002060"/>
                </a:solidFill>
                <a:latin typeface="Helvetica" panose="020B0604020202020204" pitchFamily="34" charset="0"/>
                <a:cs typeface="Helvetica" panose="020B0604020202020204" pitchFamily="34" charset="0"/>
              </a:rPr>
              <a:t>ALPL Inspection Lifecycle</a:t>
            </a:r>
            <a:endParaRPr lang="th-TH" sz="2400" b="1" dirty="0">
              <a:solidFill>
                <a:srgbClr val="002060"/>
              </a:solidFill>
              <a:latin typeface="Helvetica" panose="020B0604020202020204" pitchFamily="34" charset="0"/>
            </a:endParaRPr>
          </a:p>
        </p:txBody>
      </p:sp>
    </p:spTree>
    <p:extLst>
      <p:ext uri="{BB962C8B-B14F-4D97-AF65-F5344CB8AC3E}">
        <p14:creationId xmlns:p14="http://schemas.microsoft.com/office/powerpoint/2010/main" val="15110397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29E2B-C09A-2401-0232-0F3450114CA4}"/>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64768A1E-4FAC-CA04-0FC2-6DD8FB0683F6}"/>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2060"/>
              </a:solidFill>
            </a:endParaRPr>
          </a:p>
        </p:txBody>
      </p:sp>
      <p:sp>
        <p:nvSpPr>
          <p:cNvPr id="3" name="กล่องข้อความ 2">
            <a:extLst>
              <a:ext uri="{FF2B5EF4-FFF2-40B4-BE49-F238E27FC236}">
                <a16:creationId xmlns:a16="http://schemas.microsoft.com/office/drawing/2014/main" id="{470C7E54-0A54-9F5C-E2DC-38527D6827ED}"/>
              </a:ext>
            </a:extLst>
          </p:cNvPr>
          <p:cNvSpPr txBox="1">
            <a:spLocks/>
          </p:cNvSpPr>
          <p:nvPr/>
        </p:nvSpPr>
        <p:spPr>
          <a:xfrm>
            <a:off x="524268" y="527912"/>
            <a:ext cx="4534382" cy="584775"/>
          </a:xfrm>
          <a:prstGeom prst="rect">
            <a:avLst/>
          </a:prstGeom>
          <a:noFill/>
        </p:spPr>
        <p:txBody>
          <a:bodyPr wrap="square" rtlCol="0">
            <a:spAutoFit/>
          </a:bodyPr>
          <a:lstStyle/>
          <a:p>
            <a:r>
              <a:rPr lang="en-US" sz="3200" b="1" dirty="0">
                <a:solidFill>
                  <a:srgbClr val="002060"/>
                </a:solidFill>
                <a:latin typeface="Helvetica" panose="020B0604020202020204" pitchFamily="34" charset="0"/>
                <a:cs typeface="Helvetica" panose="020B0604020202020204" pitchFamily="34" charset="0"/>
              </a:rPr>
              <a:t>Keyence TM-X5065</a:t>
            </a:r>
            <a:endParaRPr lang="th-TH" sz="3200" b="1" dirty="0">
              <a:solidFill>
                <a:srgbClr val="002060"/>
              </a:solidFill>
              <a:latin typeface="Helvetica" panose="020B0604020202020204" pitchFamily="34" charset="0"/>
              <a:cs typeface="Mitr" panose="00000500000000000000" pitchFamily="2" charset="-34"/>
            </a:endParaRPr>
          </a:p>
        </p:txBody>
      </p:sp>
      <p:sp>
        <p:nvSpPr>
          <p:cNvPr id="2" name="Rectangle 3">
            <a:extLst>
              <a:ext uri="{FF2B5EF4-FFF2-40B4-BE49-F238E27FC236}">
                <a16:creationId xmlns:a16="http://schemas.microsoft.com/office/drawing/2014/main" id="{CEC136AA-B530-1359-26FD-595377FA5E9A}"/>
              </a:ext>
            </a:extLst>
          </p:cNvPr>
          <p:cNvSpPr>
            <a:spLocks noChangeArrowheads="1"/>
          </p:cNvSpPr>
          <p:nvPr/>
        </p:nvSpPr>
        <p:spPr bwMode="auto">
          <a:xfrm>
            <a:off x="4186989" y="2288081"/>
            <a:ext cx="7537259"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a:solidFill>
                  <a:srgbClr val="002060"/>
                </a:solidFill>
                <a:latin typeface="Helvetica" panose="020B0604020202020204" pitchFamily="34" charset="0"/>
                <a:cs typeface="Helvetica" panose="020B0604020202020204" pitchFamily="34" charset="0"/>
              </a:rPr>
              <a:t>Pre-Measurement Setup (Registration):</a:t>
            </a:r>
          </a:p>
          <a:p>
            <a:pPr marL="742950" lvl="1" indent="-285750">
              <a:buFont typeface="Arial" panose="020B0604020202020204" pitchFamily="34" charset="0"/>
              <a:buChar char="•"/>
            </a:pPr>
            <a:r>
              <a:rPr lang="en-US" sz="1600" b="1" dirty="0">
                <a:solidFill>
                  <a:srgbClr val="002060"/>
                </a:solidFill>
                <a:latin typeface="Helvetica" panose="020B0604020202020204" pitchFamily="34" charset="0"/>
              </a:rPr>
              <a:t>Pattern: </a:t>
            </a:r>
            <a:r>
              <a:rPr lang="en-US" sz="1600" dirty="0">
                <a:solidFill>
                  <a:srgbClr val="002060"/>
                </a:solidFill>
                <a:latin typeface="Helvetica" panose="020B0604020202020204" pitchFamily="34" charset="0"/>
              </a:rPr>
              <a:t>Registers a Master part's shape for the camera to recognize. </a:t>
            </a:r>
          </a:p>
          <a:p>
            <a:pPr marL="742950" lvl="1" indent="-285750">
              <a:buFont typeface="Arial" panose="020B0604020202020204" pitchFamily="34" charset="0"/>
              <a:buChar char="•"/>
            </a:pPr>
            <a:r>
              <a:rPr lang="en-US" sz="1600" b="1" dirty="0">
                <a:solidFill>
                  <a:srgbClr val="002060"/>
                </a:solidFill>
                <a:latin typeface="Helvetica" panose="020B0604020202020204" pitchFamily="34" charset="0"/>
              </a:rPr>
              <a:t>Search Area: </a:t>
            </a:r>
            <a:r>
              <a:rPr lang="en-US" sz="1600" dirty="0">
                <a:solidFill>
                  <a:srgbClr val="002060"/>
                </a:solidFill>
                <a:latin typeface="Helvetica" panose="020B0604020202020204" pitchFamily="34" charset="0"/>
              </a:rPr>
              <a:t>Defines the scanning zone to automatically track and correct target misalignment or rotation. </a:t>
            </a:r>
          </a:p>
          <a:p>
            <a:pPr marL="742950" lvl="1" indent="-285750">
              <a:buFont typeface="Arial" panose="020B0604020202020204" pitchFamily="34" charset="0"/>
              <a:buChar char="•"/>
            </a:pPr>
            <a:r>
              <a:rPr lang="en-US" sz="1600" b="1" dirty="0">
                <a:solidFill>
                  <a:srgbClr val="002060"/>
                </a:solidFill>
                <a:latin typeface="Helvetica" panose="020B0604020202020204" pitchFamily="34" charset="0"/>
              </a:rPr>
              <a:t>Tools &amp; Tolerance: </a:t>
            </a:r>
            <a:r>
              <a:rPr lang="en-US" sz="1600" dirty="0">
                <a:solidFill>
                  <a:srgbClr val="002060"/>
                </a:solidFill>
                <a:latin typeface="Helvetica" panose="020B0604020202020204" pitchFamily="34" charset="0"/>
              </a:rPr>
              <a:t>Configures specific measurement points (e.g., distance, diameter) and sets Upper/Lower limits for instant OK/NG judgment.</a:t>
            </a:r>
            <a:endParaRPr lang="en-US" sz="1600" dirty="0">
              <a:solidFill>
                <a:srgbClr val="002060"/>
              </a:solidFill>
              <a:latin typeface="Helvetica" panose="020B0604020202020204" pitchFamily="34" charset="0"/>
              <a:cs typeface="Helvetica" panose="020B0604020202020204" pitchFamily="34" charset="0"/>
            </a:endParaRPr>
          </a:p>
        </p:txBody>
      </p:sp>
      <p:sp>
        <p:nvSpPr>
          <p:cNvPr id="5" name="กล่องข้อความ 4">
            <a:extLst>
              <a:ext uri="{FF2B5EF4-FFF2-40B4-BE49-F238E27FC236}">
                <a16:creationId xmlns:a16="http://schemas.microsoft.com/office/drawing/2014/main" id="{21340EBD-F751-2275-EF03-BEBBC2884123}"/>
              </a:ext>
            </a:extLst>
          </p:cNvPr>
          <p:cNvSpPr txBox="1"/>
          <p:nvPr/>
        </p:nvSpPr>
        <p:spPr>
          <a:xfrm>
            <a:off x="4186989" y="1150549"/>
            <a:ext cx="7319211" cy="830997"/>
          </a:xfrm>
          <a:prstGeom prst="rect">
            <a:avLst/>
          </a:prstGeom>
          <a:noFill/>
        </p:spPr>
        <p:txBody>
          <a:bodyPr wrap="square">
            <a:spAutoFit/>
          </a:bodyPr>
          <a:lstStyle/>
          <a:p>
            <a:pPr algn="thaiDist"/>
            <a:r>
              <a:rPr lang="en-US" sz="1600" dirty="0">
                <a:solidFill>
                  <a:srgbClr val="002060"/>
                </a:solidFill>
                <a:latin typeface="Helvetica" panose="020B0604020202020204" pitchFamily="34" charset="0"/>
                <a:cs typeface="Helvetica" panose="020B0604020202020204" pitchFamily="34" charset="0"/>
              </a:rPr>
              <a:t>	A high-speed, micron-level precision 2D measurement system, Uses silhouette-based edge detection via a Telecentric Lens, which eliminates image distortion regardless of the target's placement distance.</a:t>
            </a:r>
          </a:p>
        </p:txBody>
      </p:sp>
      <p:sp>
        <p:nvSpPr>
          <p:cNvPr id="10" name="กล่องข้อความ 9">
            <a:extLst>
              <a:ext uri="{FF2B5EF4-FFF2-40B4-BE49-F238E27FC236}">
                <a16:creationId xmlns:a16="http://schemas.microsoft.com/office/drawing/2014/main" id="{BDD8D12C-DFDD-BDA9-55CD-B6EF6E4A1AEB}"/>
              </a:ext>
            </a:extLst>
          </p:cNvPr>
          <p:cNvSpPr txBox="1"/>
          <p:nvPr/>
        </p:nvSpPr>
        <p:spPr>
          <a:xfrm>
            <a:off x="4186989" y="4331132"/>
            <a:ext cx="7588059" cy="1815882"/>
          </a:xfrm>
          <a:prstGeom prst="rect">
            <a:avLst/>
          </a:prstGeom>
          <a:noFill/>
        </p:spPr>
        <p:txBody>
          <a:bodyPr wrap="square">
            <a:spAutoFit/>
          </a:bodyPr>
          <a:lstStyle/>
          <a:p>
            <a:pPr algn="thaiDist">
              <a:buNone/>
            </a:pPr>
            <a:r>
              <a:rPr lang="en-US" sz="1600" b="1" dirty="0">
                <a:solidFill>
                  <a:srgbClr val="002060"/>
                </a:solidFill>
                <a:latin typeface="Helvetica" panose="020B0604020202020204" pitchFamily="34" charset="0"/>
                <a:cs typeface="Helvetica" panose="020B0604020202020204" pitchFamily="34" charset="0"/>
              </a:rPr>
              <a:t>Communication Ports:</a:t>
            </a:r>
          </a:p>
          <a:p>
            <a:pPr marL="742950" lvl="1" indent="-285750">
              <a:buFont typeface="Arial" panose="020B0604020202020204" pitchFamily="34" charset="0"/>
              <a:buChar char="•"/>
            </a:pPr>
            <a:r>
              <a:rPr lang="en-US" sz="1600" b="1" dirty="0">
                <a:solidFill>
                  <a:srgbClr val="002060"/>
                </a:solidFill>
                <a:latin typeface="Helvetica" panose="020B0604020202020204" pitchFamily="34" charset="0"/>
                <a:cs typeface="Helvetica" panose="020B0604020202020204" pitchFamily="34" charset="0"/>
              </a:rPr>
              <a:t>Ethernet / LAN: </a:t>
            </a:r>
            <a:r>
              <a:rPr lang="en-US" sz="1600" dirty="0">
                <a:solidFill>
                  <a:srgbClr val="002060"/>
                </a:solidFill>
                <a:latin typeface="Helvetica" panose="020B0604020202020204" pitchFamily="34" charset="0"/>
                <a:cs typeface="Helvetica" panose="020B0604020202020204" pitchFamily="34" charset="0"/>
              </a:rPr>
              <a:t>TCP/IP network connection used for high-speed transfer of raw data, images, and text commands (PC/PLC integration). </a:t>
            </a:r>
          </a:p>
          <a:p>
            <a:pPr marL="742950" lvl="1" indent="-285750">
              <a:buFont typeface="Arial" panose="020B0604020202020204" pitchFamily="34" charset="0"/>
              <a:buChar char="•"/>
            </a:pPr>
            <a:r>
              <a:rPr lang="en-US" sz="1600" b="1" dirty="0">
                <a:solidFill>
                  <a:srgbClr val="002060"/>
                </a:solidFill>
                <a:latin typeface="Helvetica" panose="020B0604020202020204" pitchFamily="34" charset="0"/>
                <a:cs typeface="Helvetica" panose="020B0604020202020204" pitchFamily="34" charset="0"/>
              </a:rPr>
              <a:t>RS-232C : </a:t>
            </a:r>
            <a:r>
              <a:rPr lang="en-US" sz="1600" dirty="0">
                <a:solidFill>
                  <a:srgbClr val="002060"/>
                </a:solidFill>
                <a:latin typeface="Helvetica" panose="020B0604020202020204" pitchFamily="34" charset="0"/>
                <a:cs typeface="Helvetica" panose="020B0604020202020204" pitchFamily="34" charset="0"/>
              </a:rPr>
              <a:t>Standard serial port for basic control commands and short numeric data output. </a:t>
            </a:r>
          </a:p>
          <a:p>
            <a:pPr marL="742950" lvl="1" indent="-285750">
              <a:buFont typeface="Arial" panose="020B0604020202020204" pitchFamily="34" charset="0"/>
              <a:buChar char="•"/>
            </a:pPr>
            <a:r>
              <a:rPr lang="en-US" sz="1600" b="1" dirty="0">
                <a:solidFill>
                  <a:srgbClr val="002060"/>
                </a:solidFill>
                <a:latin typeface="Helvetica" panose="020B0604020202020204" pitchFamily="34" charset="0"/>
                <a:cs typeface="Helvetica" panose="020B0604020202020204" pitchFamily="34" charset="0"/>
              </a:rPr>
              <a:t>Other Interfaces: </a:t>
            </a:r>
            <a:r>
              <a:rPr lang="en-US" sz="1600" dirty="0">
                <a:solidFill>
                  <a:srgbClr val="002060"/>
                </a:solidFill>
                <a:latin typeface="Helvetica" panose="020B0604020202020204" pitchFamily="34" charset="0"/>
                <a:cs typeface="Helvetica" panose="020B0604020202020204" pitchFamily="34" charset="0"/>
              </a:rPr>
              <a:t>USB (data transfer), I/O (hardware signals/triggers), and SD Card.</a:t>
            </a:r>
          </a:p>
        </p:txBody>
      </p:sp>
      <p:pic>
        <p:nvPicPr>
          <p:cNvPr id="4" name="Picture 5">
            <a:extLst>
              <a:ext uri="{FF2B5EF4-FFF2-40B4-BE49-F238E27FC236}">
                <a16:creationId xmlns:a16="http://schemas.microsoft.com/office/drawing/2014/main" id="{AF794309-8661-63D2-131C-7D740D4126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733" b="24077"/>
          <a:stretch>
            <a:fillRect/>
          </a:stretch>
        </p:blipFill>
        <p:spPr bwMode="auto">
          <a:xfrm>
            <a:off x="530936" y="4549328"/>
            <a:ext cx="3430337" cy="130895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7" descr="TM-X5000 ซีรีส์ - เครื่องมือวัดโปรไฟล์ความเร็วสูง ระบบเทเลเซนตริก">
            <a:extLst>
              <a:ext uri="{FF2B5EF4-FFF2-40B4-BE49-F238E27FC236}">
                <a16:creationId xmlns:a16="http://schemas.microsoft.com/office/drawing/2014/main" id="{41AB13C5-CCED-E831-0A2B-351857B846A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981" t="22115" r="10571" b="15058"/>
          <a:stretch>
            <a:fillRect/>
          </a:stretch>
        </p:blipFill>
        <p:spPr bwMode="auto">
          <a:xfrm>
            <a:off x="676800" y="1848038"/>
            <a:ext cx="2834171" cy="208388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Analog Devices | Disruptive Technology for Clinical Trials">
            <a:extLst>
              <a:ext uri="{FF2B5EF4-FFF2-40B4-BE49-F238E27FC236}">
                <a16:creationId xmlns:a16="http://schemas.microsoft.com/office/drawing/2014/main" id="{82395993-E1AC-7F85-04CB-15E775BEBB0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2" name="Picture 2" descr="LOGO_ENkku_color – Faculty of Engineering , Khon Kaen University">
            <a:extLst>
              <a:ext uri="{FF2B5EF4-FFF2-40B4-BE49-F238E27FC236}">
                <a16:creationId xmlns:a16="http://schemas.microsoft.com/office/drawing/2014/main" id="{41740E2B-E8DF-324A-1925-8FDCC3CDA958}"/>
              </a:ext>
            </a:extLst>
          </p:cNvPr>
          <p:cNvPicPr>
            <a:picLocks noChangeAspect="1"/>
          </p:cNvPicPr>
          <p:nvPr/>
        </p:nvPicPr>
        <p:blipFill rotWithShape="1">
          <a:blip r:embed="rId6">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10095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A6E03-989F-4696-761A-204F118AB903}"/>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763329F8-DC65-85BF-5710-0E543CE77774}"/>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2060"/>
              </a:solidFill>
            </a:endParaRPr>
          </a:p>
        </p:txBody>
      </p:sp>
      <p:sp>
        <p:nvSpPr>
          <p:cNvPr id="3" name="กล่องข้อความ 2">
            <a:extLst>
              <a:ext uri="{FF2B5EF4-FFF2-40B4-BE49-F238E27FC236}">
                <a16:creationId xmlns:a16="http://schemas.microsoft.com/office/drawing/2014/main" id="{E85D6303-73AA-04D7-6F33-72043D69C771}"/>
              </a:ext>
            </a:extLst>
          </p:cNvPr>
          <p:cNvSpPr txBox="1">
            <a:spLocks/>
          </p:cNvSpPr>
          <p:nvPr/>
        </p:nvSpPr>
        <p:spPr>
          <a:xfrm>
            <a:off x="3507786" y="2653729"/>
            <a:ext cx="7690092" cy="1107996"/>
          </a:xfrm>
          <a:prstGeom prst="rect">
            <a:avLst/>
          </a:prstGeom>
          <a:noFill/>
        </p:spPr>
        <p:txBody>
          <a:bodyPr wrap="square" rtlCol="0">
            <a:spAutoFit/>
          </a:bodyPr>
          <a:lstStyle/>
          <a:p>
            <a:r>
              <a:rPr lang="en-US" sz="6600" b="1" dirty="0">
                <a:solidFill>
                  <a:srgbClr val="002060"/>
                </a:solidFill>
                <a:latin typeface="Helvetica" panose="020B0604020202020204" pitchFamily="34" charset="0"/>
                <a:cs typeface="Helvetica" panose="020B0604020202020204" pitchFamily="34" charset="0"/>
              </a:rPr>
              <a:t>Pos-Cons</a:t>
            </a:r>
            <a:endParaRPr lang="th-TH" sz="6600" b="1" dirty="0">
              <a:solidFill>
                <a:srgbClr val="002060"/>
              </a:solidFill>
              <a:latin typeface="Helvetica" panose="020B0604020202020204" pitchFamily="34" charset="0"/>
              <a:cs typeface="Mitr" panose="00000500000000000000" pitchFamily="2" charset="-34"/>
            </a:endParaRPr>
          </a:p>
        </p:txBody>
      </p:sp>
      <p:pic>
        <p:nvPicPr>
          <p:cNvPr id="11" name="Picture 2" descr="Analog Devices | Disruptive Technology for Clinical Trials">
            <a:extLst>
              <a:ext uri="{FF2B5EF4-FFF2-40B4-BE49-F238E27FC236}">
                <a16:creationId xmlns:a16="http://schemas.microsoft.com/office/drawing/2014/main" id="{DFBFDFD0-8AF1-7ED8-15C6-F7CD5D7126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2" name="Picture 2" descr="LOGO_ENkku_color – Faculty of Engineering , Khon Kaen University">
            <a:extLst>
              <a:ext uri="{FF2B5EF4-FFF2-40B4-BE49-F238E27FC236}">
                <a16:creationId xmlns:a16="http://schemas.microsoft.com/office/drawing/2014/main" id="{9A213EA8-65E1-B802-52A3-A8B0D60EF1FC}"/>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73212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CA6E2-9F38-E5FE-930A-4802EBF43F93}"/>
            </a:ext>
          </a:extLst>
        </p:cNvPr>
        <p:cNvGrpSpPr/>
        <p:nvPr/>
      </p:nvGrpSpPr>
      <p:grpSpPr>
        <a:xfrm>
          <a:off x="0" y="0"/>
          <a:ext cx="0" cy="0"/>
          <a:chOff x="0" y="0"/>
          <a:chExt cx="0" cy="0"/>
        </a:xfrm>
      </p:grpSpPr>
      <p:sp>
        <p:nvSpPr>
          <p:cNvPr id="7" name="สี่เหลี่ยมผืนผ้า: มุมมน 6">
            <a:extLst>
              <a:ext uri="{FF2B5EF4-FFF2-40B4-BE49-F238E27FC236}">
                <a16:creationId xmlns:a16="http://schemas.microsoft.com/office/drawing/2014/main" id="{173CFBBE-7D27-ACE3-48B7-5879C7CA5E1E}"/>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2060"/>
              </a:solidFill>
            </a:endParaRPr>
          </a:p>
        </p:txBody>
      </p:sp>
      <p:pic>
        <p:nvPicPr>
          <p:cNvPr id="11" name="Picture 2" descr="Analog Devices | Disruptive Technology for Clinical Trials">
            <a:extLst>
              <a:ext uri="{FF2B5EF4-FFF2-40B4-BE49-F238E27FC236}">
                <a16:creationId xmlns:a16="http://schemas.microsoft.com/office/drawing/2014/main" id="{9EBFBB5F-320C-98D3-31AE-E1C8F907D1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2" name="Picture 2" descr="LOGO_ENkku_color – Faculty of Engineering , Khon Kaen University">
            <a:extLst>
              <a:ext uri="{FF2B5EF4-FFF2-40B4-BE49-F238E27FC236}">
                <a16:creationId xmlns:a16="http://schemas.microsoft.com/office/drawing/2014/main" id="{B95B7511-AC25-29AC-BCFA-2E2B4451C4C2}"/>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6" name="กล่องข้อความ 5">
            <a:extLst>
              <a:ext uri="{FF2B5EF4-FFF2-40B4-BE49-F238E27FC236}">
                <a16:creationId xmlns:a16="http://schemas.microsoft.com/office/drawing/2014/main" id="{67BF4F14-2946-B790-6EE6-DF1BBB9F4AF1}"/>
              </a:ext>
            </a:extLst>
          </p:cNvPr>
          <p:cNvSpPr txBox="1">
            <a:spLocks/>
          </p:cNvSpPr>
          <p:nvPr/>
        </p:nvSpPr>
        <p:spPr>
          <a:xfrm>
            <a:off x="648733" y="442731"/>
            <a:ext cx="10127422" cy="1138773"/>
          </a:xfrm>
          <a:prstGeom prst="rect">
            <a:avLst/>
          </a:prstGeom>
          <a:noFill/>
        </p:spPr>
        <p:txBody>
          <a:bodyPr wrap="square" rtlCol="0">
            <a:spAutoFit/>
          </a:bodyPr>
          <a:lstStyle/>
          <a:p>
            <a:r>
              <a:rPr lang="en-US" b="1" dirty="0">
                <a:solidFill>
                  <a:schemeClr val="bg1">
                    <a:lumMod val="75000"/>
                  </a:schemeClr>
                </a:solidFill>
                <a:latin typeface="Helvetica" panose="020B0604020202020204" pitchFamily="34" charset="0"/>
                <a:cs typeface="Helvetica" panose="020B0604020202020204" pitchFamily="34" charset="0"/>
              </a:rPr>
              <a:t>Action (4 page)</a:t>
            </a:r>
          </a:p>
          <a:p>
            <a:pPr marL="457200" indent="-457200">
              <a:buFont typeface="Arial" panose="020B0604020202020204" pitchFamily="34" charset="0"/>
              <a:buChar char="•"/>
            </a:pPr>
            <a:r>
              <a:rPr lang="th-TH" sz="2000" dirty="0">
                <a:solidFill>
                  <a:schemeClr val="bg1">
                    <a:lumMod val="75000"/>
                  </a:schemeClr>
                </a:solidFill>
                <a:latin typeface="Helvetica" panose="020B0604020202020204" pitchFamily="34" charset="0"/>
                <a:cs typeface="Helvetica" panose="020B0604020202020204" pitchFamily="34" charset="0"/>
              </a:rPr>
              <a:t>กระชับ </a:t>
            </a:r>
          </a:p>
          <a:p>
            <a:pPr marL="457200" indent="-457200">
              <a:buFont typeface="Arial" panose="020B0604020202020204" pitchFamily="34" charset="0"/>
              <a:buChar char="•"/>
            </a:pPr>
            <a:r>
              <a:rPr lang="th-TH" sz="2000" dirty="0">
                <a:solidFill>
                  <a:schemeClr val="bg1">
                    <a:lumMod val="75000"/>
                  </a:schemeClr>
                </a:solidFill>
                <a:latin typeface="Helvetica" panose="020B0604020202020204" pitchFamily="34" charset="0"/>
                <a:cs typeface="Helvetica" panose="020B0604020202020204" pitchFamily="34" charset="0"/>
              </a:rPr>
              <a:t>ไม่ลง </a:t>
            </a:r>
            <a:r>
              <a:rPr lang="en-US" sz="2000" dirty="0">
                <a:solidFill>
                  <a:schemeClr val="bg1">
                    <a:lumMod val="75000"/>
                  </a:schemeClr>
                </a:solidFill>
                <a:latin typeface="Helvetica" panose="020B0604020202020204" pitchFamily="34" charset="0"/>
                <a:cs typeface="Helvetica" panose="020B0604020202020204" pitchFamily="34" charset="0"/>
              </a:rPr>
              <a:t>technical</a:t>
            </a:r>
          </a:p>
        </p:txBody>
      </p:sp>
    </p:spTree>
    <p:extLst>
      <p:ext uri="{BB962C8B-B14F-4D97-AF65-F5344CB8AC3E}">
        <p14:creationId xmlns:p14="http://schemas.microsoft.com/office/powerpoint/2010/main" val="1699766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3CD22-0DBE-DAB1-ABAF-43A6ED09CFAD}"/>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7C687A8C-3583-2543-FC7D-CFE4733F5013}"/>
              </a:ext>
            </a:extLst>
          </p:cNvPr>
          <p:cNvSpPr/>
          <p:nvPr/>
        </p:nvSpPr>
        <p:spPr>
          <a:xfrm>
            <a:off x="798575" y="1313374"/>
            <a:ext cx="5478161" cy="4803937"/>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9" name="สี่เหลี่ยมผืนผ้า 22">
            <a:extLst>
              <a:ext uri="{FF2B5EF4-FFF2-40B4-BE49-F238E27FC236}">
                <a16:creationId xmlns:a16="http://schemas.microsoft.com/office/drawing/2014/main" id="{43D5EB64-4171-3459-648A-F43193AD2EC8}"/>
              </a:ext>
            </a:extLst>
          </p:cNvPr>
          <p:cNvSpPr/>
          <p:nvPr/>
        </p:nvSpPr>
        <p:spPr>
          <a:xfrm>
            <a:off x="2393276" y="611571"/>
            <a:ext cx="2471912" cy="465978"/>
          </a:xfrm>
          <a:prstGeom prst="rect">
            <a:avLst/>
          </a:prstGeom>
          <a:solidFill>
            <a:schemeClr val="accent2">
              <a:lumMod val="60000"/>
              <a:lumOff val="40000"/>
              <a:alpha val="1803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000" b="1" dirty="0"/>
          </a:p>
        </p:txBody>
      </p:sp>
      <p:pic>
        <p:nvPicPr>
          <p:cNvPr id="5" name="Picture 2" descr="Analog Devices | Disruptive Technology for Clinical Trials">
            <a:extLst>
              <a:ext uri="{FF2B5EF4-FFF2-40B4-BE49-F238E27FC236}">
                <a16:creationId xmlns:a16="http://schemas.microsoft.com/office/drawing/2014/main" id="{F3292619-6062-2206-53A4-A3DCCAA366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233193" y="433793"/>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0" name="Picture 2" descr="LOGO_ENkku_color – Faculty of Engineering , Khon Kaen University">
            <a:extLst>
              <a:ext uri="{FF2B5EF4-FFF2-40B4-BE49-F238E27FC236}">
                <a16:creationId xmlns:a16="http://schemas.microsoft.com/office/drawing/2014/main" id="{36ACD02D-EFF7-2613-04A1-376836722344}"/>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411206" y="360124"/>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A2B8EF8-2B95-7A41-A9A3-4909D0799DF8}"/>
              </a:ext>
            </a:extLst>
          </p:cNvPr>
          <p:cNvSpPr txBox="1"/>
          <p:nvPr/>
        </p:nvSpPr>
        <p:spPr>
          <a:xfrm>
            <a:off x="2529946" y="677438"/>
            <a:ext cx="2223482" cy="400110"/>
          </a:xfrm>
          <a:prstGeom prst="rect">
            <a:avLst/>
          </a:prstGeom>
          <a:noFill/>
        </p:spPr>
        <p:txBody>
          <a:bodyPr wrap="square" rtlCol="0">
            <a:spAutoFit/>
          </a:bodyPr>
          <a:lstStyle/>
          <a:p>
            <a:r>
              <a:rPr lang="en-US" sz="2000" b="1" dirty="0"/>
              <a:t>Web Application</a:t>
            </a:r>
            <a:endParaRPr lang="th-TH" sz="2000" b="1" dirty="0"/>
          </a:p>
        </p:txBody>
      </p:sp>
      <p:sp>
        <p:nvSpPr>
          <p:cNvPr id="27" name="กล่องข้อความ 13">
            <a:extLst>
              <a:ext uri="{FF2B5EF4-FFF2-40B4-BE49-F238E27FC236}">
                <a16:creationId xmlns:a16="http://schemas.microsoft.com/office/drawing/2014/main" id="{B7C7B597-4662-9799-E822-7C5CD6695C2D}"/>
              </a:ext>
            </a:extLst>
          </p:cNvPr>
          <p:cNvSpPr txBox="1">
            <a:spLocks/>
          </p:cNvSpPr>
          <p:nvPr/>
        </p:nvSpPr>
        <p:spPr>
          <a:xfrm>
            <a:off x="798575" y="597115"/>
            <a:ext cx="1883665" cy="523220"/>
          </a:xfrm>
          <a:prstGeom prst="rect">
            <a:avLst/>
          </a:prstGeom>
          <a:noFill/>
        </p:spPr>
        <p:txBody>
          <a:bodyPr wrap="square" rtlCol="0">
            <a:spAutoFit/>
          </a:bodyPr>
          <a:lstStyle/>
          <a:p>
            <a:r>
              <a:rPr lang="en-US" b="1" dirty="0">
                <a:solidFill>
                  <a:srgbClr val="002060"/>
                </a:solidFill>
                <a:latin typeface="Helvetica" panose="020B0604020202020204" pitchFamily="34" charset="0"/>
                <a:cs typeface="Helvetica" panose="020B0604020202020204" pitchFamily="34" charset="0"/>
              </a:rPr>
              <a:t>Actions</a:t>
            </a:r>
            <a:endParaRPr lang="th-TH" b="1" dirty="0">
              <a:solidFill>
                <a:srgbClr val="002060"/>
              </a:solidFill>
              <a:latin typeface="Helvetica" panose="020B0604020202020204" pitchFamily="34" charset="0"/>
              <a:cs typeface="Mitr" panose="00000500000000000000" pitchFamily="2" charset="-34"/>
            </a:endParaRPr>
          </a:p>
        </p:txBody>
      </p:sp>
      <p:sp>
        <p:nvSpPr>
          <p:cNvPr id="3" name="Rectangle 2">
            <a:extLst>
              <a:ext uri="{FF2B5EF4-FFF2-40B4-BE49-F238E27FC236}">
                <a16:creationId xmlns:a16="http://schemas.microsoft.com/office/drawing/2014/main" id="{2A636928-6DFF-35A3-057D-83AFAC9278E1}"/>
              </a:ext>
            </a:extLst>
          </p:cNvPr>
          <p:cNvSpPr/>
          <p:nvPr/>
        </p:nvSpPr>
        <p:spPr>
          <a:xfrm>
            <a:off x="986024" y="1791736"/>
            <a:ext cx="5122302" cy="877078"/>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2" name="Rectangle 11">
            <a:extLst>
              <a:ext uri="{FF2B5EF4-FFF2-40B4-BE49-F238E27FC236}">
                <a16:creationId xmlns:a16="http://schemas.microsoft.com/office/drawing/2014/main" id="{9FD85576-C76B-9EA7-4A94-53D3775480E3}"/>
              </a:ext>
            </a:extLst>
          </p:cNvPr>
          <p:cNvSpPr/>
          <p:nvPr/>
        </p:nvSpPr>
        <p:spPr>
          <a:xfrm>
            <a:off x="3767775" y="3617012"/>
            <a:ext cx="2249521" cy="2033896"/>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7" name="Rectangle 16">
            <a:extLst>
              <a:ext uri="{FF2B5EF4-FFF2-40B4-BE49-F238E27FC236}">
                <a16:creationId xmlns:a16="http://schemas.microsoft.com/office/drawing/2014/main" id="{D493DB76-ACCD-BA07-107B-E1801F33F08A}"/>
              </a:ext>
            </a:extLst>
          </p:cNvPr>
          <p:cNvSpPr/>
          <p:nvPr/>
        </p:nvSpPr>
        <p:spPr>
          <a:xfrm>
            <a:off x="976896" y="3603700"/>
            <a:ext cx="2625805" cy="2033896"/>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pic>
        <p:nvPicPr>
          <p:cNvPr id="19" name="Picture 18">
            <a:extLst>
              <a:ext uri="{FF2B5EF4-FFF2-40B4-BE49-F238E27FC236}">
                <a16:creationId xmlns:a16="http://schemas.microsoft.com/office/drawing/2014/main" id="{FF13BC2D-ED76-428C-F889-2C345817F8CE}"/>
              </a:ext>
            </a:extLst>
          </p:cNvPr>
          <p:cNvPicPr>
            <a:picLocks noChangeAspect="1"/>
          </p:cNvPicPr>
          <p:nvPr/>
        </p:nvPicPr>
        <p:blipFill>
          <a:blip r:embed="rId5"/>
          <a:stretch>
            <a:fillRect/>
          </a:stretch>
        </p:blipFill>
        <p:spPr>
          <a:xfrm>
            <a:off x="1081059" y="1868754"/>
            <a:ext cx="4898052" cy="697422"/>
          </a:xfrm>
          <a:prstGeom prst="rect">
            <a:avLst/>
          </a:prstGeom>
        </p:spPr>
      </p:pic>
      <p:pic>
        <p:nvPicPr>
          <p:cNvPr id="21" name="Picture 20">
            <a:extLst>
              <a:ext uri="{FF2B5EF4-FFF2-40B4-BE49-F238E27FC236}">
                <a16:creationId xmlns:a16="http://schemas.microsoft.com/office/drawing/2014/main" id="{003D8D96-7DEE-11BD-A832-7142C8807D73}"/>
              </a:ext>
            </a:extLst>
          </p:cNvPr>
          <p:cNvPicPr>
            <a:picLocks noChangeAspect="1"/>
          </p:cNvPicPr>
          <p:nvPr/>
        </p:nvPicPr>
        <p:blipFill>
          <a:blip r:embed="rId6"/>
          <a:stretch>
            <a:fillRect/>
          </a:stretch>
        </p:blipFill>
        <p:spPr>
          <a:xfrm>
            <a:off x="1038643" y="3687964"/>
            <a:ext cx="2486177" cy="1837488"/>
          </a:xfrm>
          <a:prstGeom prst="rect">
            <a:avLst/>
          </a:prstGeom>
        </p:spPr>
      </p:pic>
      <p:pic>
        <p:nvPicPr>
          <p:cNvPr id="25" name="Picture 24">
            <a:extLst>
              <a:ext uri="{FF2B5EF4-FFF2-40B4-BE49-F238E27FC236}">
                <a16:creationId xmlns:a16="http://schemas.microsoft.com/office/drawing/2014/main" id="{1608F979-8F14-CB55-C8BF-B68AE6C8B211}"/>
              </a:ext>
            </a:extLst>
          </p:cNvPr>
          <p:cNvPicPr>
            <a:picLocks noChangeAspect="1"/>
          </p:cNvPicPr>
          <p:nvPr/>
        </p:nvPicPr>
        <p:blipFill>
          <a:blip r:embed="rId7"/>
          <a:stretch>
            <a:fillRect/>
          </a:stretch>
        </p:blipFill>
        <p:spPr>
          <a:xfrm>
            <a:off x="3873633" y="3701276"/>
            <a:ext cx="2049045" cy="1824176"/>
          </a:xfrm>
          <a:prstGeom prst="rect">
            <a:avLst/>
          </a:prstGeom>
        </p:spPr>
      </p:pic>
      <p:sp>
        <p:nvSpPr>
          <p:cNvPr id="30" name="TextBox 29">
            <a:extLst>
              <a:ext uri="{FF2B5EF4-FFF2-40B4-BE49-F238E27FC236}">
                <a16:creationId xmlns:a16="http://schemas.microsoft.com/office/drawing/2014/main" id="{7C8C2333-CD5D-9599-6D86-6AD0A0309F38}"/>
              </a:ext>
            </a:extLst>
          </p:cNvPr>
          <p:cNvSpPr txBox="1"/>
          <p:nvPr/>
        </p:nvSpPr>
        <p:spPr>
          <a:xfrm>
            <a:off x="2048760" y="5718491"/>
            <a:ext cx="482075" cy="261610"/>
          </a:xfrm>
          <a:prstGeom prst="rect">
            <a:avLst/>
          </a:prstGeom>
          <a:solidFill>
            <a:schemeClr val="accent2">
              <a:lumMod val="75000"/>
            </a:schemeClr>
          </a:solidFill>
        </p:spPr>
        <p:txBody>
          <a:bodyPr wrap="square">
            <a:spAutoFit/>
          </a:bodyPr>
          <a:lstStyle>
            <a:defPPr>
              <a:defRPr lang="th-TH"/>
            </a:defPPr>
            <a:lvl1pPr>
              <a:defRPr sz="1100" b="1">
                <a:solidFill>
                  <a:schemeClr val="bg1"/>
                </a:solidFill>
              </a:defRPr>
            </a:lvl1pPr>
          </a:lstStyle>
          <a:p>
            <a:r>
              <a:rPr lang="en-US" dirty="0"/>
              <a:t>IPM</a:t>
            </a:r>
          </a:p>
        </p:txBody>
      </p:sp>
      <p:sp>
        <p:nvSpPr>
          <p:cNvPr id="32" name="TextBox 31">
            <a:extLst>
              <a:ext uri="{FF2B5EF4-FFF2-40B4-BE49-F238E27FC236}">
                <a16:creationId xmlns:a16="http://schemas.microsoft.com/office/drawing/2014/main" id="{D309F60C-EF5A-9E3F-BC98-97B8B42A4B59}"/>
              </a:ext>
            </a:extLst>
          </p:cNvPr>
          <p:cNvSpPr txBox="1"/>
          <p:nvPr/>
        </p:nvSpPr>
        <p:spPr>
          <a:xfrm>
            <a:off x="4236629" y="5716634"/>
            <a:ext cx="1164791" cy="261610"/>
          </a:xfrm>
          <a:prstGeom prst="rect">
            <a:avLst/>
          </a:prstGeom>
          <a:solidFill>
            <a:schemeClr val="accent2">
              <a:lumMod val="75000"/>
            </a:schemeClr>
          </a:solidFill>
        </p:spPr>
        <p:txBody>
          <a:bodyPr wrap="square">
            <a:spAutoFit/>
          </a:bodyPr>
          <a:lstStyle>
            <a:defPPr>
              <a:defRPr lang="th-TH"/>
            </a:defPPr>
            <a:lvl1pPr>
              <a:defRPr sz="1100" b="1">
                <a:solidFill>
                  <a:schemeClr val="bg1"/>
                </a:solidFill>
              </a:defRPr>
            </a:lvl1pPr>
          </a:lstStyle>
          <a:p>
            <a:r>
              <a:rPr lang="en-US" dirty="0"/>
              <a:t>New /  Rework</a:t>
            </a:r>
          </a:p>
        </p:txBody>
      </p:sp>
      <p:sp>
        <p:nvSpPr>
          <p:cNvPr id="42" name="TextBox 41">
            <a:extLst>
              <a:ext uri="{FF2B5EF4-FFF2-40B4-BE49-F238E27FC236}">
                <a16:creationId xmlns:a16="http://schemas.microsoft.com/office/drawing/2014/main" id="{F8743AD1-67E8-0579-4E3E-451703B29402}"/>
              </a:ext>
            </a:extLst>
          </p:cNvPr>
          <p:cNvSpPr txBox="1"/>
          <p:nvPr/>
        </p:nvSpPr>
        <p:spPr>
          <a:xfrm>
            <a:off x="910046" y="3101234"/>
            <a:ext cx="5274257" cy="430887"/>
          </a:xfrm>
          <a:prstGeom prst="rect">
            <a:avLst/>
          </a:prstGeom>
          <a:noFill/>
        </p:spPr>
        <p:txBody>
          <a:bodyPr wrap="square">
            <a:spAutoFit/>
          </a:bodyPr>
          <a:lstStyle/>
          <a:p>
            <a:r>
              <a:rPr lang="th-TH" sz="1100" b="1" dirty="0" err="1"/>
              <a:t>Nothing</a:t>
            </a:r>
            <a:r>
              <a:rPr lang="th-TH" sz="1100" b="1" dirty="0"/>
              <a:t> </a:t>
            </a:r>
            <a:r>
              <a:rPr lang="th-TH" sz="1100" b="1" dirty="0" err="1"/>
              <a:t>starts</a:t>
            </a:r>
            <a:r>
              <a:rPr lang="th-TH" sz="1100" b="1" dirty="0"/>
              <a:t> </a:t>
            </a:r>
            <a:r>
              <a:rPr lang="th-TH" sz="1100" b="1" dirty="0" err="1"/>
              <a:t>until</a:t>
            </a:r>
            <a:r>
              <a:rPr lang="th-TH" sz="1100" b="1" dirty="0"/>
              <a:t> </a:t>
            </a:r>
            <a:r>
              <a:rPr lang="th-TH" sz="1100" b="1" dirty="0" err="1"/>
              <a:t>the</a:t>
            </a:r>
            <a:r>
              <a:rPr lang="th-TH" sz="1100" b="1" dirty="0"/>
              <a:t> </a:t>
            </a:r>
            <a:r>
              <a:rPr lang="th-TH" sz="1100" b="1" dirty="0" err="1"/>
              <a:t>parts</a:t>
            </a:r>
            <a:r>
              <a:rPr lang="th-TH" sz="1100" b="1" dirty="0"/>
              <a:t> </a:t>
            </a:r>
            <a:r>
              <a:rPr lang="th-TH" sz="1100" b="1" dirty="0" err="1"/>
              <a:t>are</a:t>
            </a:r>
            <a:r>
              <a:rPr lang="th-TH" sz="1100" b="1" dirty="0"/>
              <a:t> </a:t>
            </a:r>
            <a:r>
              <a:rPr lang="th-TH" sz="1100" b="1" dirty="0" err="1"/>
              <a:t>entered</a:t>
            </a:r>
            <a:r>
              <a:rPr lang="th-TH" sz="1100" dirty="0"/>
              <a:t> The </a:t>
            </a:r>
            <a:r>
              <a:rPr lang="th-TH" sz="1100" dirty="0" err="1"/>
              <a:t>queue</a:t>
            </a:r>
            <a:r>
              <a:rPr lang="th-TH" sz="1100" dirty="0"/>
              <a:t> </a:t>
            </a:r>
            <a:r>
              <a:rPr lang="th-TH" sz="1100" dirty="0" err="1"/>
              <a:t>the</a:t>
            </a:r>
            <a:r>
              <a:rPr lang="th-TH" sz="1100" dirty="0"/>
              <a:t> </a:t>
            </a:r>
            <a:r>
              <a:rPr lang="th-TH" sz="1100" dirty="0" err="1"/>
              <a:t>operator</a:t>
            </a:r>
            <a:r>
              <a:rPr lang="th-TH" sz="1100" dirty="0"/>
              <a:t> </a:t>
            </a:r>
            <a:r>
              <a:rPr lang="th-TH" sz="1100" dirty="0" err="1"/>
              <a:t>builds</a:t>
            </a:r>
            <a:r>
              <a:rPr lang="th-TH" sz="1100" dirty="0"/>
              <a:t> </a:t>
            </a:r>
            <a:r>
              <a:rPr lang="th-TH" sz="1100" dirty="0" err="1"/>
              <a:t>here</a:t>
            </a:r>
            <a:r>
              <a:rPr lang="th-TH" sz="1100" dirty="0"/>
              <a:t> </a:t>
            </a:r>
            <a:r>
              <a:rPr lang="th-TH" sz="1100" dirty="0" err="1"/>
              <a:t>is</a:t>
            </a:r>
            <a:r>
              <a:rPr lang="th-TH" sz="1100" dirty="0"/>
              <a:t> </a:t>
            </a:r>
            <a:r>
              <a:rPr lang="th-TH" sz="1100" dirty="0" err="1"/>
              <a:t>what</a:t>
            </a:r>
            <a:r>
              <a:rPr lang="th-TH" sz="1100" dirty="0"/>
              <a:t> </a:t>
            </a:r>
            <a:r>
              <a:rPr lang="th-TH" sz="1100" dirty="0" err="1"/>
              <a:t>the</a:t>
            </a:r>
            <a:r>
              <a:rPr lang="th-TH" sz="1100" dirty="0"/>
              <a:t> </a:t>
            </a:r>
            <a:r>
              <a:rPr lang="th-TH" sz="1100" dirty="0" err="1"/>
              <a:t>machine</a:t>
            </a:r>
            <a:r>
              <a:rPr lang="th-TH" sz="1100" dirty="0"/>
              <a:t> </a:t>
            </a:r>
            <a:r>
              <a:rPr lang="th-TH" sz="1100" dirty="0" err="1"/>
              <a:t>will</a:t>
            </a:r>
            <a:r>
              <a:rPr lang="th-TH" sz="1100" dirty="0"/>
              <a:t> </a:t>
            </a:r>
            <a:r>
              <a:rPr lang="th-TH" sz="1100" dirty="0" err="1"/>
              <a:t>measure</a:t>
            </a:r>
            <a:r>
              <a:rPr lang="th-TH" sz="1100" dirty="0"/>
              <a:t>, </a:t>
            </a:r>
            <a:r>
              <a:rPr lang="th-TH" sz="1100" dirty="0" err="1"/>
              <a:t>in</a:t>
            </a:r>
            <a:r>
              <a:rPr lang="th-TH" sz="1100" dirty="0"/>
              <a:t> </a:t>
            </a:r>
            <a:r>
              <a:rPr lang="th-TH" sz="1100" dirty="0" err="1"/>
              <a:t>that</a:t>
            </a:r>
            <a:r>
              <a:rPr lang="th-TH" sz="1100" dirty="0"/>
              <a:t> </a:t>
            </a:r>
            <a:r>
              <a:rPr lang="th-TH" sz="1100" dirty="0" err="1"/>
              <a:t>order</a:t>
            </a:r>
            <a:endParaRPr lang="th-TH" sz="1100" dirty="0"/>
          </a:p>
        </p:txBody>
      </p:sp>
      <p:sp>
        <p:nvSpPr>
          <p:cNvPr id="11" name="Rectangle 10">
            <a:extLst>
              <a:ext uri="{FF2B5EF4-FFF2-40B4-BE49-F238E27FC236}">
                <a16:creationId xmlns:a16="http://schemas.microsoft.com/office/drawing/2014/main" id="{D7ECD712-E23B-78ED-A110-CB3F8839AC63}"/>
              </a:ext>
            </a:extLst>
          </p:cNvPr>
          <p:cNvSpPr/>
          <p:nvPr/>
        </p:nvSpPr>
        <p:spPr>
          <a:xfrm>
            <a:off x="6955808" y="1031794"/>
            <a:ext cx="4555524" cy="5755867"/>
          </a:xfrm>
          <a:prstGeom prst="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14" name="Rectangle 13">
            <a:extLst>
              <a:ext uri="{FF2B5EF4-FFF2-40B4-BE49-F238E27FC236}">
                <a16:creationId xmlns:a16="http://schemas.microsoft.com/office/drawing/2014/main" id="{1D49FBCF-5CA3-FBCA-84C1-B12B0C85EB5D}"/>
              </a:ext>
            </a:extLst>
          </p:cNvPr>
          <p:cNvSpPr/>
          <p:nvPr/>
        </p:nvSpPr>
        <p:spPr>
          <a:xfrm>
            <a:off x="7164696" y="1428579"/>
            <a:ext cx="4041280" cy="1888098"/>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pic>
        <p:nvPicPr>
          <p:cNvPr id="16" name="Picture 15">
            <a:extLst>
              <a:ext uri="{FF2B5EF4-FFF2-40B4-BE49-F238E27FC236}">
                <a16:creationId xmlns:a16="http://schemas.microsoft.com/office/drawing/2014/main" id="{7F80935F-D1D7-2782-1AD6-4BC8D020F40C}"/>
              </a:ext>
            </a:extLst>
          </p:cNvPr>
          <p:cNvPicPr>
            <a:picLocks noChangeAspect="1"/>
          </p:cNvPicPr>
          <p:nvPr/>
        </p:nvPicPr>
        <p:blipFill>
          <a:blip r:embed="rId8"/>
          <a:stretch>
            <a:fillRect/>
          </a:stretch>
        </p:blipFill>
        <p:spPr>
          <a:xfrm>
            <a:off x="7164696" y="1547873"/>
            <a:ext cx="4000274" cy="1680663"/>
          </a:xfrm>
          <a:prstGeom prst="rect">
            <a:avLst/>
          </a:prstGeom>
        </p:spPr>
      </p:pic>
      <p:sp>
        <p:nvSpPr>
          <p:cNvPr id="20" name="Rectangle 19">
            <a:extLst>
              <a:ext uri="{FF2B5EF4-FFF2-40B4-BE49-F238E27FC236}">
                <a16:creationId xmlns:a16="http://schemas.microsoft.com/office/drawing/2014/main" id="{E3AE9182-2A58-8876-08C7-10A14AD1C1A5}"/>
              </a:ext>
            </a:extLst>
          </p:cNvPr>
          <p:cNvSpPr/>
          <p:nvPr/>
        </p:nvSpPr>
        <p:spPr>
          <a:xfrm>
            <a:off x="7242692" y="4138030"/>
            <a:ext cx="4042639" cy="1784206"/>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pic>
        <p:nvPicPr>
          <p:cNvPr id="23" name="Picture 22">
            <a:extLst>
              <a:ext uri="{FF2B5EF4-FFF2-40B4-BE49-F238E27FC236}">
                <a16:creationId xmlns:a16="http://schemas.microsoft.com/office/drawing/2014/main" id="{53F8A09A-A650-BECF-FFD9-28BC456FB3BB}"/>
              </a:ext>
            </a:extLst>
          </p:cNvPr>
          <p:cNvPicPr>
            <a:picLocks noChangeAspect="1"/>
          </p:cNvPicPr>
          <p:nvPr/>
        </p:nvPicPr>
        <p:blipFill>
          <a:blip r:embed="rId9"/>
          <a:stretch>
            <a:fillRect/>
          </a:stretch>
        </p:blipFill>
        <p:spPr>
          <a:xfrm>
            <a:off x="7387571" y="4248258"/>
            <a:ext cx="3769231" cy="1577948"/>
          </a:xfrm>
          <a:prstGeom prst="rect">
            <a:avLst/>
          </a:prstGeom>
        </p:spPr>
      </p:pic>
      <p:sp>
        <p:nvSpPr>
          <p:cNvPr id="26" name="TextBox 25">
            <a:extLst>
              <a:ext uri="{FF2B5EF4-FFF2-40B4-BE49-F238E27FC236}">
                <a16:creationId xmlns:a16="http://schemas.microsoft.com/office/drawing/2014/main" id="{5ECEBF7D-CF80-5BE3-CFEE-974D1B178D2C}"/>
              </a:ext>
            </a:extLst>
          </p:cNvPr>
          <p:cNvSpPr txBox="1"/>
          <p:nvPr/>
        </p:nvSpPr>
        <p:spPr>
          <a:xfrm>
            <a:off x="7142115" y="3642648"/>
            <a:ext cx="4151660" cy="430887"/>
          </a:xfrm>
          <a:prstGeom prst="rect">
            <a:avLst/>
          </a:prstGeom>
          <a:noFill/>
        </p:spPr>
        <p:txBody>
          <a:bodyPr wrap="square">
            <a:spAutoFit/>
          </a:bodyPr>
          <a:lstStyle/>
          <a:p>
            <a:r>
              <a:rPr lang="th-TH" sz="1100" dirty="0"/>
              <a:t>One </a:t>
            </a:r>
            <a:r>
              <a:rPr lang="th-TH" sz="1100" dirty="0" err="1"/>
              <a:t>screen</a:t>
            </a:r>
            <a:r>
              <a:rPr lang="th-TH" sz="1100" dirty="0"/>
              <a:t> </a:t>
            </a:r>
            <a:r>
              <a:rPr lang="th-TH" sz="1100" dirty="0" err="1"/>
              <a:t>while</a:t>
            </a:r>
            <a:r>
              <a:rPr lang="th-TH" sz="1100" dirty="0"/>
              <a:t> </a:t>
            </a:r>
            <a:r>
              <a:rPr lang="th-TH" sz="1100" dirty="0" err="1"/>
              <a:t>measuring</a:t>
            </a:r>
            <a:r>
              <a:rPr lang="th-TH" sz="1100" dirty="0"/>
              <a:t> The </a:t>
            </a:r>
            <a:r>
              <a:rPr lang="th-TH" sz="1100" dirty="0" err="1"/>
              <a:t>value</a:t>
            </a:r>
            <a:r>
              <a:rPr lang="th-TH" sz="1100" dirty="0"/>
              <a:t>, </a:t>
            </a:r>
            <a:r>
              <a:rPr lang="th-TH" sz="1100" dirty="0" err="1"/>
              <a:t>the</a:t>
            </a:r>
            <a:r>
              <a:rPr lang="th-TH" sz="1100" dirty="0"/>
              <a:t> </a:t>
            </a:r>
            <a:r>
              <a:rPr lang="th-TH" sz="1100" dirty="0" err="1"/>
              <a:t>verdict</a:t>
            </a:r>
            <a:r>
              <a:rPr lang="th-TH" sz="1100" dirty="0"/>
              <a:t>, </a:t>
            </a:r>
            <a:r>
              <a:rPr lang="th-TH" sz="1100" dirty="0" err="1"/>
              <a:t>the</a:t>
            </a:r>
            <a:r>
              <a:rPr lang="th-TH" sz="1100" dirty="0"/>
              <a:t> </a:t>
            </a:r>
            <a:r>
              <a:rPr lang="th-TH" sz="1100" dirty="0" err="1"/>
              <a:t>image</a:t>
            </a:r>
            <a:r>
              <a:rPr lang="th-TH" sz="1100" dirty="0"/>
              <a:t> </a:t>
            </a:r>
            <a:r>
              <a:rPr lang="th-TH" sz="1100" dirty="0" err="1"/>
              <a:t>the</a:t>
            </a:r>
            <a:r>
              <a:rPr lang="th-TH" sz="1100" dirty="0"/>
              <a:t> </a:t>
            </a:r>
            <a:r>
              <a:rPr lang="th-TH" sz="1100" dirty="0" err="1"/>
              <a:t>camera</a:t>
            </a:r>
            <a:r>
              <a:rPr lang="th-TH" sz="1100" dirty="0"/>
              <a:t> </a:t>
            </a:r>
            <a:r>
              <a:rPr lang="th-TH" sz="1100" dirty="0" err="1"/>
              <a:t>took</a:t>
            </a:r>
            <a:r>
              <a:rPr lang="th-TH" sz="1100" dirty="0"/>
              <a:t>, and </a:t>
            </a:r>
            <a:r>
              <a:rPr lang="th-TH" sz="1100" dirty="0" err="1"/>
              <a:t>where</a:t>
            </a:r>
            <a:r>
              <a:rPr lang="th-TH" sz="1100" dirty="0"/>
              <a:t> </a:t>
            </a:r>
            <a:r>
              <a:rPr lang="th-TH" sz="1100" dirty="0" err="1"/>
              <a:t>the</a:t>
            </a:r>
            <a:r>
              <a:rPr lang="th-TH" sz="1100" dirty="0"/>
              <a:t> </a:t>
            </a:r>
            <a:r>
              <a:rPr lang="th-TH" sz="1100" dirty="0" err="1"/>
              <a:t>run</a:t>
            </a:r>
            <a:r>
              <a:rPr lang="th-TH" sz="1100" dirty="0"/>
              <a:t> </a:t>
            </a:r>
            <a:r>
              <a:rPr lang="th-TH" sz="1100" dirty="0" err="1"/>
              <a:t>is</a:t>
            </a:r>
            <a:r>
              <a:rPr lang="th-TH" sz="1100" dirty="0"/>
              <a:t> </a:t>
            </a:r>
            <a:r>
              <a:rPr lang="th-TH" sz="1100" dirty="0" err="1"/>
              <a:t>in</a:t>
            </a:r>
            <a:r>
              <a:rPr lang="th-TH" sz="1100" dirty="0"/>
              <a:t> </a:t>
            </a:r>
            <a:r>
              <a:rPr lang="th-TH" sz="1100" dirty="0" err="1"/>
              <a:t>the</a:t>
            </a:r>
            <a:r>
              <a:rPr lang="th-TH" sz="1100" dirty="0"/>
              <a:t> </a:t>
            </a:r>
            <a:r>
              <a:rPr lang="th-TH" sz="1100" dirty="0" err="1"/>
              <a:t>queue</a:t>
            </a:r>
            <a:endParaRPr lang="th-TH" sz="1100" dirty="0"/>
          </a:p>
        </p:txBody>
      </p:sp>
      <p:sp>
        <p:nvSpPr>
          <p:cNvPr id="29" name="TextBox 28">
            <a:extLst>
              <a:ext uri="{FF2B5EF4-FFF2-40B4-BE49-F238E27FC236}">
                <a16:creationId xmlns:a16="http://schemas.microsoft.com/office/drawing/2014/main" id="{BC0E4170-8A8D-E556-5851-6597B364E5CD}"/>
              </a:ext>
            </a:extLst>
          </p:cNvPr>
          <p:cNvSpPr txBox="1"/>
          <p:nvPr/>
        </p:nvSpPr>
        <p:spPr>
          <a:xfrm>
            <a:off x="7142115" y="6270468"/>
            <a:ext cx="4151660" cy="430887"/>
          </a:xfrm>
          <a:prstGeom prst="rect">
            <a:avLst/>
          </a:prstGeom>
          <a:noFill/>
        </p:spPr>
        <p:txBody>
          <a:bodyPr wrap="square">
            <a:spAutoFit/>
          </a:bodyPr>
          <a:lstStyle/>
          <a:p>
            <a:r>
              <a:rPr lang="th-TH" sz="1100" b="1" dirty="0" err="1"/>
              <a:t>Every</a:t>
            </a:r>
            <a:r>
              <a:rPr lang="th-TH" sz="1100" b="1" dirty="0"/>
              <a:t> </a:t>
            </a:r>
            <a:r>
              <a:rPr lang="th-TH" sz="1100" b="1" dirty="0" err="1"/>
              <a:t>reading</a:t>
            </a:r>
            <a:r>
              <a:rPr lang="th-TH" sz="1100" b="1" dirty="0"/>
              <a:t> </a:t>
            </a:r>
            <a:r>
              <a:rPr lang="th-TH" sz="1100" b="1" dirty="0" err="1"/>
              <a:t>is</a:t>
            </a:r>
            <a:r>
              <a:rPr lang="th-TH" sz="1100" b="1" dirty="0"/>
              <a:t> </a:t>
            </a:r>
            <a:r>
              <a:rPr lang="th-TH" sz="1100" b="1" dirty="0" err="1"/>
              <a:t>kept</a:t>
            </a:r>
            <a:r>
              <a:rPr lang="th-TH" sz="1100" b="1" dirty="0"/>
              <a:t>, </a:t>
            </a:r>
            <a:r>
              <a:rPr lang="th-TH" sz="1100" b="1" dirty="0" err="1"/>
              <a:t>not</a:t>
            </a:r>
            <a:r>
              <a:rPr lang="th-TH" sz="1100" b="1" dirty="0"/>
              <a:t> </a:t>
            </a:r>
            <a:r>
              <a:rPr lang="th-TH" sz="1100" b="1" dirty="0" err="1"/>
              <a:t>written</a:t>
            </a:r>
            <a:r>
              <a:rPr lang="th-TH" sz="1100" b="1" dirty="0"/>
              <a:t> </a:t>
            </a:r>
            <a:r>
              <a:rPr lang="th-TH" sz="1100" b="1" dirty="0" err="1"/>
              <a:t>down</a:t>
            </a:r>
            <a:r>
              <a:rPr lang="th-TH" sz="1100" dirty="0"/>
              <a:t> </a:t>
            </a:r>
            <a:r>
              <a:rPr lang="th-TH" sz="1100" dirty="0" err="1"/>
              <a:t>Searchable</a:t>
            </a:r>
            <a:r>
              <a:rPr lang="th-TH" sz="1100" dirty="0"/>
              <a:t> </a:t>
            </a:r>
            <a:r>
              <a:rPr lang="th-TH" sz="1100" dirty="0" err="1"/>
              <a:t>by</a:t>
            </a:r>
            <a:r>
              <a:rPr lang="th-TH" sz="1100" dirty="0"/>
              <a:t> ALPL and </a:t>
            </a:r>
            <a:r>
              <a:rPr lang="th-TH" sz="1100" dirty="0" err="1"/>
              <a:t>by</a:t>
            </a:r>
            <a:r>
              <a:rPr lang="th-TH" sz="1100" dirty="0"/>
              <a:t> </a:t>
            </a:r>
            <a:r>
              <a:rPr lang="th-TH" sz="1100" dirty="0" err="1"/>
              <a:t>date</a:t>
            </a:r>
            <a:r>
              <a:rPr lang="th-TH" sz="1100" dirty="0"/>
              <a:t>, </a:t>
            </a:r>
            <a:r>
              <a:rPr lang="th-TH" sz="1100" dirty="0" err="1"/>
              <a:t>with</a:t>
            </a:r>
            <a:r>
              <a:rPr lang="th-TH" sz="1100" dirty="0"/>
              <a:t> </a:t>
            </a:r>
            <a:r>
              <a:rPr lang="th-TH" sz="1100" dirty="0" err="1"/>
              <a:t>the</a:t>
            </a:r>
            <a:r>
              <a:rPr lang="th-TH" sz="1100" dirty="0"/>
              <a:t> </a:t>
            </a:r>
            <a:r>
              <a:rPr lang="th-TH" sz="1100" dirty="0" err="1"/>
              <a:t>image</a:t>
            </a:r>
            <a:r>
              <a:rPr lang="th-TH" sz="1100" dirty="0"/>
              <a:t> </a:t>
            </a:r>
            <a:r>
              <a:rPr lang="th-TH" sz="1100" dirty="0" err="1"/>
              <a:t>stored</a:t>
            </a:r>
            <a:r>
              <a:rPr lang="th-TH" sz="1100" dirty="0"/>
              <a:t> </a:t>
            </a:r>
            <a:r>
              <a:rPr lang="th-TH" sz="1100" dirty="0" err="1"/>
              <a:t>beside</a:t>
            </a:r>
            <a:r>
              <a:rPr lang="th-TH" sz="1100" dirty="0"/>
              <a:t> </a:t>
            </a:r>
            <a:r>
              <a:rPr lang="th-TH" sz="1100" dirty="0" err="1"/>
              <a:t>each</a:t>
            </a:r>
            <a:r>
              <a:rPr lang="th-TH" sz="1100" dirty="0"/>
              <a:t> </a:t>
            </a:r>
            <a:r>
              <a:rPr lang="th-TH" sz="1100" dirty="0" err="1"/>
              <a:t>row</a:t>
            </a:r>
            <a:endParaRPr lang="th-TH" sz="1100" dirty="0"/>
          </a:p>
        </p:txBody>
      </p:sp>
      <p:sp>
        <p:nvSpPr>
          <p:cNvPr id="33" name="TextBox 32">
            <a:extLst>
              <a:ext uri="{FF2B5EF4-FFF2-40B4-BE49-F238E27FC236}">
                <a16:creationId xmlns:a16="http://schemas.microsoft.com/office/drawing/2014/main" id="{484756D1-BAA8-E578-0E0C-39DF215FEE40}"/>
              </a:ext>
            </a:extLst>
          </p:cNvPr>
          <p:cNvSpPr txBox="1"/>
          <p:nvPr/>
        </p:nvSpPr>
        <p:spPr>
          <a:xfrm>
            <a:off x="8824383" y="3385714"/>
            <a:ext cx="895605" cy="261610"/>
          </a:xfrm>
          <a:prstGeom prst="rect">
            <a:avLst/>
          </a:prstGeom>
          <a:solidFill>
            <a:schemeClr val="tx2">
              <a:lumMod val="50000"/>
              <a:lumOff val="50000"/>
            </a:schemeClr>
          </a:solidFill>
        </p:spPr>
        <p:txBody>
          <a:bodyPr wrap="square">
            <a:spAutoFit/>
          </a:bodyPr>
          <a:lstStyle/>
          <a:p>
            <a:r>
              <a:rPr lang="en-US" sz="1100" b="1" dirty="0">
                <a:solidFill>
                  <a:schemeClr val="bg1"/>
                </a:solidFill>
              </a:rPr>
              <a:t>Dashboard</a:t>
            </a:r>
            <a:endParaRPr lang="th-TH" sz="1100" b="1" dirty="0">
              <a:solidFill>
                <a:schemeClr val="bg1"/>
              </a:solidFill>
            </a:endParaRPr>
          </a:p>
        </p:txBody>
      </p:sp>
      <p:sp>
        <p:nvSpPr>
          <p:cNvPr id="37" name="TextBox 36">
            <a:extLst>
              <a:ext uri="{FF2B5EF4-FFF2-40B4-BE49-F238E27FC236}">
                <a16:creationId xmlns:a16="http://schemas.microsoft.com/office/drawing/2014/main" id="{A8BEABBB-8BE7-451B-8186-373B5CE5B616}"/>
              </a:ext>
            </a:extLst>
          </p:cNvPr>
          <p:cNvSpPr txBox="1"/>
          <p:nvPr/>
        </p:nvSpPr>
        <p:spPr>
          <a:xfrm>
            <a:off x="8635338" y="5978244"/>
            <a:ext cx="1463256" cy="261610"/>
          </a:xfrm>
          <a:prstGeom prst="rect">
            <a:avLst/>
          </a:prstGeom>
          <a:solidFill>
            <a:schemeClr val="tx2">
              <a:lumMod val="50000"/>
              <a:lumOff val="50000"/>
            </a:schemeClr>
          </a:solidFill>
        </p:spPr>
        <p:txBody>
          <a:bodyPr wrap="square">
            <a:spAutoFit/>
          </a:bodyPr>
          <a:lstStyle/>
          <a:p>
            <a:r>
              <a:rPr lang="en-US" sz="1100" b="1" dirty="0">
                <a:solidFill>
                  <a:schemeClr val="bg1"/>
                </a:solidFill>
              </a:rPr>
              <a:t>Measurement Table</a:t>
            </a:r>
            <a:endParaRPr lang="th-TH" sz="1100" b="1" dirty="0">
              <a:solidFill>
                <a:schemeClr val="bg1"/>
              </a:solidFill>
            </a:endParaRPr>
          </a:p>
        </p:txBody>
      </p:sp>
      <p:sp>
        <p:nvSpPr>
          <p:cNvPr id="41" name="TextBox 40">
            <a:extLst>
              <a:ext uri="{FF2B5EF4-FFF2-40B4-BE49-F238E27FC236}">
                <a16:creationId xmlns:a16="http://schemas.microsoft.com/office/drawing/2014/main" id="{FBDA398D-D3F0-C0D0-880E-3158DCD4A4E8}"/>
              </a:ext>
            </a:extLst>
          </p:cNvPr>
          <p:cNvSpPr txBox="1"/>
          <p:nvPr/>
        </p:nvSpPr>
        <p:spPr>
          <a:xfrm>
            <a:off x="3053413" y="2743105"/>
            <a:ext cx="820220" cy="261610"/>
          </a:xfrm>
          <a:prstGeom prst="rect">
            <a:avLst/>
          </a:prstGeom>
          <a:solidFill>
            <a:schemeClr val="accent2">
              <a:lumMod val="75000"/>
            </a:schemeClr>
          </a:solidFill>
        </p:spPr>
        <p:txBody>
          <a:bodyPr wrap="square">
            <a:spAutoFit/>
          </a:bodyPr>
          <a:lstStyle/>
          <a:p>
            <a:r>
              <a:rPr lang="en-US" sz="1100" b="1" dirty="0">
                <a:solidFill>
                  <a:schemeClr val="bg1"/>
                </a:solidFill>
              </a:rPr>
              <a:t>Part Entry</a:t>
            </a:r>
            <a:endParaRPr lang="th-TH" sz="1100" b="1" dirty="0">
              <a:solidFill>
                <a:schemeClr val="bg1"/>
              </a:solidFill>
            </a:endParaRPr>
          </a:p>
        </p:txBody>
      </p:sp>
      <p:sp>
        <p:nvSpPr>
          <p:cNvPr id="45" name="TextBox 44">
            <a:extLst>
              <a:ext uri="{FF2B5EF4-FFF2-40B4-BE49-F238E27FC236}">
                <a16:creationId xmlns:a16="http://schemas.microsoft.com/office/drawing/2014/main" id="{69155118-CB43-8722-047D-0BD4CE7720B1}"/>
              </a:ext>
            </a:extLst>
          </p:cNvPr>
          <p:cNvSpPr txBox="1"/>
          <p:nvPr/>
        </p:nvSpPr>
        <p:spPr>
          <a:xfrm>
            <a:off x="798574" y="1323728"/>
            <a:ext cx="5476565" cy="369332"/>
          </a:xfrm>
          <a:prstGeom prst="rect">
            <a:avLst/>
          </a:prstGeom>
          <a:solidFill>
            <a:schemeClr val="accent2">
              <a:lumMod val="75000"/>
            </a:schemeClr>
          </a:solidFill>
        </p:spPr>
        <p:txBody>
          <a:bodyPr wrap="square">
            <a:spAutoFit/>
          </a:bodyPr>
          <a:lstStyle/>
          <a:p>
            <a:pPr algn="ctr"/>
            <a:r>
              <a:rPr lang="en-US" sz="1800" b="1" dirty="0">
                <a:solidFill>
                  <a:schemeClr val="bg1"/>
                </a:solidFill>
              </a:rPr>
              <a:t>BEFORE RUN</a:t>
            </a:r>
            <a:endParaRPr lang="th-TH" sz="1800" b="1" dirty="0">
              <a:solidFill>
                <a:schemeClr val="bg1"/>
              </a:solidFill>
            </a:endParaRPr>
          </a:p>
        </p:txBody>
      </p:sp>
      <p:sp>
        <p:nvSpPr>
          <p:cNvPr id="48" name="TextBox 47">
            <a:extLst>
              <a:ext uri="{FF2B5EF4-FFF2-40B4-BE49-F238E27FC236}">
                <a16:creationId xmlns:a16="http://schemas.microsoft.com/office/drawing/2014/main" id="{C8DE1813-5776-ED75-E4EA-6D2ECE197E5E}"/>
              </a:ext>
            </a:extLst>
          </p:cNvPr>
          <p:cNvSpPr txBox="1"/>
          <p:nvPr/>
        </p:nvSpPr>
        <p:spPr>
          <a:xfrm>
            <a:off x="6955808" y="1026587"/>
            <a:ext cx="4582191" cy="369332"/>
          </a:xfrm>
          <a:prstGeom prst="rect">
            <a:avLst/>
          </a:prstGeom>
          <a:solidFill>
            <a:schemeClr val="tx2">
              <a:lumMod val="50000"/>
              <a:lumOff val="50000"/>
            </a:schemeClr>
          </a:solidFill>
        </p:spPr>
        <p:txBody>
          <a:bodyPr wrap="square">
            <a:spAutoFit/>
          </a:bodyPr>
          <a:lstStyle/>
          <a:p>
            <a:pPr algn="ctr"/>
            <a:r>
              <a:rPr lang="en-US" sz="1800" b="1" dirty="0">
                <a:solidFill>
                  <a:schemeClr val="bg1"/>
                </a:solidFill>
              </a:rPr>
              <a:t>DURING THE RUN</a:t>
            </a:r>
            <a:endParaRPr lang="th-TH" sz="1800" b="1" dirty="0">
              <a:solidFill>
                <a:schemeClr val="bg1"/>
              </a:solidFill>
            </a:endParaRPr>
          </a:p>
        </p:txBody>
      </p:sp>
    </p:spTree>
    <p:extLst>
      <p:ext uri="{BB962C8B-B14F-4D97-AF65-F5344CB8AC3E}">
        <p14:creationId xmlns:p14="http://schemas.microsoft.com/office/powerpoint/2010/main" val="12581159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7B6D2-7667-B864-F329-E276762AA1B8}"/>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45729A8F-D34C-7362-3ACB-85CC1E56F46C}"/>
              </a:ext>
            </a:extLst>
          </p:cNvPr>
          <p:cNvSpPr/>
          <p:nvPr/>
        </p:nvSpPr>
        <p:spPr>
          <a:xfrm>
            <a:off x="7763725" y="1169802"/>
            <a:ext cx="4106024" cy="5091082"/>
          </a:xfrm>
          <a:prstGeom prst="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30" name="Rectangle 29">
            <a:extLst>
              <a:ext uri="{FF2B5EF4-FFF2-40B4-BE49-F238E27FC236}">
                <a16:creationId xmlns:a16="http://schemas.microsoft.com/office/drawing/2014/main" id="{8634F812-E2D6-148E-91DF-35BDF6199654}"/>
              </a:ext>
            </a:extLst>
          </p:cNvPr>
          <p:cNvSpPr/>
          <p:nvPr/>
        </p:nvSpPr>
        <p:spPr>
          <a:xfrm>
            <a:off x="113454" y="1347323"/>
            <a:ext cx="7341705" cy="4913561"/>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16" name="Rectangle 15">
            <a:extLst>
              <a:ext uri="{FF2B5EF4-FFF2-40B4-BE49-F238E27FC236}">
                <a16:creationId xmlns:a16="http://schemas.microsoft.com/office/drawing/2014/main" id="{11EE933F-48EF-A5C7-1133-A8EDDF50BCD1}"/>
              </a:ext>
            </a:extLst>
          </p:cNvPr>
          <p:cNvSpPr/>
          <p:nvPr/>
        </p:nvSpPr>
        <p:spPr>
          <a:xfrm>
            <a:off x="1572287" y="4175683"/>
            <a:ext cx="4339995" cy="1332948"/>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13" name="Rectangle 12">
            <a:extLst>
              <a:ext uri="{FF2B5EF4-FFF2-40B4-BE49-F238E27FC236}">
                <a16:creationId xmlns:a16="http://schemas.microsoft.com/office/drawing/2014/main" id="{8B701B70-1E43-6F61-B2F3-45D0F64081C4}"/>
              </a:ext>
            </a:extLst>
          </p:cNvPr>
          <p:cNvSpPr/>
          <p:nvPr/>
        </p:nvSpPr>
        <p:spPr>
          <a:xfrm>
            <a:off x="4056352" y="1862694"/>
            <a:ext cx="3220879" cy="1490803"/>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8" name="Rectangle 7">
            <a:extLst>
              <a:ext uri="{FF2B5EF4-FFF2-40B4-BE49-F238E27FC236}">
                <a16:creationId xmlns:a16="http://schemas.microsoft.com/office/drawing/2014/main" id="{9D9D2CF7-2DE1-3541-5ADD-D535C9ED4107}"/>
              </a:ext>
            </a:extLst>
          </p:cNvPr>
          <p:cNvSpPr/>
          <p:nvPr/>
        </p:nvSpPr>
        <p:spPr>
          <a:xfrm>
            <a:off x="232611" y="1862694"/>
            <a:ext cx="3564948" cy="1470453"/>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9" name="สี่เหลี่ยมผืนผ้า 22">
            <a:extLst>
              <a:ext uri="{FF2B5EF4-FFF2-40B4-BE49-F238E27FC236}">
                <a16:creationId xmlns:a16="http://schemas.microsoft.com/office/drawing/2014/main" id="{117FC2AD-201A-3A61-C7B9-F71A4586A035}"/>
              </a:ext>
            </a:extLst>
          </p:cNvPr>
          <p:cNvSpPr/>
          <p:nvPr/>
        </p:nvSpPr>
        <p:spPr>
          <a:xfrm>
            <a:off x="2315040" y="642698"/>
            <a:ext cx="2471912" cy="465978"/>
          </a:xfrm>
          <a:prstGeom prst="rect">
            <a:avLst/>
          </a:prstGeom>
          <a:solidFill>
            <a:schemeClr val="accent2">
              <a:lumMod val="60000"/>
              <a:lumOff val="40000"/>
              <a:alpha val="1803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000" b="1" dirty="0"/>
          </a:p>
        </p:txBody>
      </p:sp>
      <p:pic>
        <p:nvPicPr>
          <p:cNvPr id="5" name="Picture 2" descr="Analog Devices | Disruptive Technology for Clinical Trials">
            <a:extLst>
              <a:ext uri="{FF2B5EF4-FFF2-40B4-BE49-F238E27FC236}">
                <a16:creationId xmlns:a16="http://schemas.microsoft.com/office/drawing/2014/main" id="{C975CE7E-C9AE-0C55-E5B3-58558E9CD6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233193" y="433793"/>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0" name="Picture 2" descr="LOGO_ENkku_color – Faculty of Engineering , Khon Kaen University">
            <a:extLst>
              <a:ext uri="{FF2B5EF4-FFF2-40B4-BE49-F238E27FC236}">
                <a16:creationId xmlns:a16="http://schemas.microsoft.com/office/drawing/2014/main" id="{BBBAF4DB-3BAB-EF17-447A-171BE7949DB6}"/>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411206" y="360124"/>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B79F072-A057-F837-CAD8-6AD834D12A7A}"/>
              </a:ext>
            </a:extLst>
          </p:cNvPr>
          <p:cNvSpPr txBox="1"/>
          <p:nvPr/>
        </p:nvSpPr>
        <p:spPr>
          <a:xfrm>
            <a:off x="2451710" y="708565"/>
            <a:ext cx="2223482" cy="400110"/>
          </a:xfrm>
          <a:prstGeom prst="rect">
            <a:avLst/>
          </a:prstGeom>
          <a:noFill/>
        </p:spPr>
        <p:txBody>
          <a:bodyPr wrap="square" rtlCol="0">
            <a:spAutoFit/>
          </a:bodyPr>
          <a:lstStyle/>
          <a:p>
            <a:r>
              <a:rPr lang="en-US" sz="2000" b="1" dirty="0"/>
              <a:t>Web Application</a:t>
            </a:r>
            <a:endParaRPr lang="th-TH" sz="2000" b="1" dirty="0"/>
          </a:p>
        </p:txBody>
      </p:sp>
      <p:sp>
        <p:nvSpPr>
          <p:cNvPr id="27" name="กล่องข้อความ 13">
            <a:extLst>
              <a:ext uri="{FF2B5EF4-FFF2-40B4-BE49-F238E27FC236}">
                <a16:creationId xmlns:a16="http://schemas.microsoft.com/office/drawing/2014/main" id="{7D72B835-DCC2-F4E5-B54D-3F4D05F251DA}"/>
              </a:ext>
            </a:extLst>
          </p:cNvPr>
          <p:cNvSpPr txBox="1">
            <a:spLocks/>
          </p:cNvSpPr>
          <p:nvPr/>
        </p:nvSpPr>
        <p:spPr>
          <a:xfrm>
            <a:off x="798575" y="597115"/>
            <a:ext cx="1883665" cy="523220"/>
          </a:xfrm>
          <a:prstGeom prst="rect">
            <a:avLst/>
          </a:prstGeom>
          <a:noFill/>
        </p:spPr>
        <p:txBody>
          <a:bodyPr wrap="square" rtlCol="0">
            <a:spAutoFit/>
          </a:bodyPr>
          <a:lstStyle/>
          <a:p>
            <a:r>
              <a:rPr lang="en-US" b="1" dirty="0">
                <a:solidFill>
                  <a:srgbClr val="002060"/>
                </a:solidFill>
                <a:latin typeface="Helvetica" panose="020B0604020202020204" pitchFamily="34" charset="0"/>
                <a:cs typeface="Helvetica" panose="020B0604020202020204" pitchFamily="34" charset="0"/>
              </a:rPr>
              <a:t>Actions</a:t>
            </a:r>
            <a:endParaRPr lang="th-TH" b="1" dirty="0">
              <a:solidFill>
                <a:srgbClr val="002060"/>
              </a:solidFill>
              <a:latin typeface="Helvetica" panose="020B0604020202020204" pitchFamily="34" charset="0"/>
              <a:cs typeface="Mitr" panose="00000500000000000000" pitchFamily="2" charset="-34"/>
            </a:endParaRPr>
          </a:p>
        </p:txBody>
      </p:sp>
      <p:pic>
        <p:nvPicPr>
          <p:cNvPr id="3" name="Picture 2">
            <a:extLst>
              <a:ext uri="{FF2B5EF4-FFF2-40B4-BE49-F238E27FC236}">
                <a16:creationId xmlns:a16="http://schemas.microsoft.com/office/drawing/2014/main" id="{401D702A-C1F8-A5A3-CED5-A7BB84EAFE7D}"/>
              </a:ext>
            </a:extLst>
          </p:cNvPr>
          <p:cNvPicPr>
            <a:picLocks noChangeAspect="1"/>
          </p:cNvPicPr>
          <p:nvPr/>
        </p:nvPicPr>
        <p:blipFill>
          <a:blip r:embed="rId5"/>
          <a:stretch>
            <a:fillRect/>
          </a:stretch>
        </p:blipFill>
        <p:spPr>
          <a:xfrm>
            <a:off x="380083" y="2013984"/>
            <a:ext cx="3274283" cy="1251004"/>
          </a:xfrm>
          <a:prstGeom prst="rect">
            <a:avLst/>
          </a:prstGeom>
        </p:spPr>
      </p:pic>
      <p:pic>
        <p:nvPicPr>
          <p:cNvPr id="12" name="Picture 11">
            <a:extLst>
              <a:ext uri="{FF2B5EF4-FFF2-40B4-BE49-F238E27FC236}">
                <a16:creationId xmlns:a16="http://schemas.microsoft.com/office/drawing/2014/main" id="{2C4082E8-7421-B678-ABE8-8A4AB8ADD7C4}"/>
              </a:ext>
            </a:extLst>
          </p:cNvPr>
          <p:cNvPicPr>
            <a:picLocks noChangeAspect="1"/>
          </p:cNvPicPr>
          <p:nvPr/>
        </p:nvPicPr>
        <p:blipFill>
          <a:blip r:embed="rId6"/>
          <a:stretch>
            <a:fillRect/>
          </a:stretch>
        </p:blipFill>
        <p:spPr>
          <a:xfrm>
            <a:off x="4179468" y="1993635"/>
            <a:ext cx="2957804" cy="1274342"/>
          </a:xfrm>
          <a:prstGeom prst="rect">
            <a:avLst/>
          </a:prstGeom>
        </p:spPr>
      </p:pic>
      <p:pic>
        <p:nvPicPr>
          <p:cNvPr id="14" name="Picture 13">
            <a:extLst>
              <a:ext uri="{FF2B5EF4-FFF2-40B4-BE49-F238E27FC236}">
                <a16:creationId xmlns:a16="http://schemas.microsoft.com/office/drawing/2014/main" id="{DAE664BE-869D-5054-347E-E471300E7531}"/>
              </a:ext>
            </a:extLst>
          </p:cNvPr>
          <p:cNvPicPr>
            <a:picLocks noChangeAspect="1"/>
          </p:cNvPicPr>
          <p:nvPr/>
        </p:nvPicPr>
        <p:blipFill>
          <a:blip r:embed="rId7"/>
          <a:stretch>
            <a:fillRect/>
          </a:stretch>
        </p:blipFill>
        <p:spPr>
          <a:xfrm>
            <a:off x="1728685" y="4288999"/>
            <a:ext cx="4057208" cy="1079507"/>
          </a:xfrm>
          <a:prstGeom prst="rect">
            <a:avLst/>
          </a:prstGeom>
        </p:spPr>
      </p:pic>
      <p:sp>
        <p:nvSpPr>
          <p:cNvPr id="18" name="Rectangle 17">
            <a:extLst>
              <a:ext uri="{FF2B5EF4-FFF2-40B4-BE49-F238E27FC236}">
                <a16:creationId xmlns:a16="http://schemas.microsoft.com/office/drawing/2014/main" id="{A38F16D1-1D30-C544-74E4-97A4A7814C01}"/>
              </a:ext>
            </a:extLst>
          </p:cNvPr>
          <p:cNvSpPr/>
          <p:nvPr/>
        </p:nvSpPr>
        <p:spPr>
          <a:xfrm>
            <a:off x="8001289" y="3473010"/>
            <a:ext cx="3645893" cy="1944381"/>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0" name="Rectangle 19">
            <a:extLst>
              <a:ext uri="{FF2B5EF4-FFF2-40B4-BE49-F238E27FC236}">
                <a16:creationId xmlns:a16="http://schemas.microsoft.com/office/drawing/2014/main" id="{FB3A90F9-326D-D0EB-C98C-638CFCB2EFED}"/>
              </a:ext>
            </a:extLst>
          </p:cNvPr>
          <p:cNvSpPr/>
          <p:nvPr/>
        </p:nvSpPr>
        <p:spPr>
          <a:xfrm>
            <a:off x="8001289" y="1689621"/>
            <a:ext cx="3645893" cy="1148748"/>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pic>
        <p:nvPicPr>
          <p:cNvPr id="22" name="Picture 21">
            <a:extLst>
              <a:ext uri="{FF2B5EF4-FFF2-40B4-BE49-F238E27FC236}">
                <a16:creationId xmlns:a16="http://schemas.microsoft.com/office/drawing/2014/main" id="{0CAEA173-2293-97CA-C84A-DF3B09A98EDA}"/>
              </a:ext>
            </a:extLst>
          </p:cNvPr>
          <p:cNvPicPr>
            <a:picLocks noChangeAspect="1"/>
          </p:cNvPicPr>
          <p:nvPr/>
        </p:nvPicPr>
        <p:blipFill>
          <a:blip r:embed="rId8"/>
          <a:stretch>
            <a:fillRect/>
          </a:stretch>
        </p:blipFill>
        <p:spPr>
          <a:xfrm>
            <a:off x="8135535" y="1780304"/>
            <a:ext cx="3413929" cy="999703"/>
          </a:xfrm>
          <a:prstGeom prst="rect">
            <a:avLst/>
          </a:prstGeom>
        </p:spPr>
      </p:pic>
      <p:pic>
        <p:nvPicPr>
          <p:cNvPr id="24" name="Picture 23">
            <a:extLst>
              <a:ext uri="{FF2B5EF4-FFF2-40B4-BE49-F238E27FC236}">
                <a16:creationId xmlns:a16="http://schemas.microsoft.com/office/drawing/2014/main" id="{901F55F6-8182-0823-D2D4-EFD038879233}"/>
              </a:ext>
            </a:extLst>
          </p:cNvPr>
          <p:cNvPicPr>
            <a:picLocks noChangeAspect="1"/>
          </p:cNvPicPr>
          <p:nvPr/>
        </p:nvPicPr>
        <p:blipFill>
          <a:blip r:embed="rId9"/>
          <a:stretch>
            <a:fillRect/>
          </a:stretch>
        </p:blipFill>
        <p:spPr>
          <a:xfrm>
            <a:off x="8135534" y="3602549"/>
            <a:ext cx="3426791" cy="1640125"/>
          </a:xfrm>
          <a:prstGeom prst="rect">
            <a:avLst/>
          </a:prstGeom>
        </p:spPr>
      </p:pic>
      <p:sp>
        <p:nvSpPr>
          <p:cNvPr id="37" name="TextBox 36">
            <a:extLst>
              <a:ext uri="{FF2B5EF4-FFF2-40B4-BE49-F238E27FC236}">
                <a16:creationId xmlns:a16="http://schemas.microsoft.com/office/drawing/2014/main" id="{8E9DD028-7AA3-5253-644A-098B9C00D3CD}"/>
              </a:ext>
            </a:extLst>
          </p:cNvPr>
          <p:cNvSpPr txBox="1"/>
          <p:nvPr/>
        </p:nvSpPr>
        <p:spPr>
          <a:xfrm>
            <a:off x="416502" y="3689512"/>
            <a:ext cx="3197166" cy="430887"/>
          </a:xfrm>
          <a:prstGeom prst="rect">
            <a:avLst/>
          </a:prstGeom>
          <a:noFill/>
        </p:spPr>
        <p:txBody>
          <a:bodyPr wrap="square">
            <a:spAutoFit/>
          </a:bodyPr>
          <a:lstStyle/>
          <a:p>
            <a:r>
              <a:rPr lang="th-TH" sz="1100" dirty="0" err="1"/>
              <a:t>Register</a:t>
            </a:r>
            <a:r>
              <a:rPr lang="th-TH" sz="1100" dirty="0"/>
              <a:t> a </a:t>
            </a:r>
            <a:r>
              <a:rPr lang="th-TH" sz="1100" dirty="0" err="1"/>
              <a:t>new</a:t>
            </a:r>
            <a:r>
              <a:rPr lang="th-TH" sz="1100" dirty="0"/>
              <a:t> ALPL, </a:t>
            </a:r>
            <a:r>
              <a:rPr lang="th-TH" sz="1100" dirty="0" err="1"/>
              <a:t>or</a:t>
            </a:r>
            <a:r>
              <a:rPr lang="th-TH" sz="1100" dirty="0"/>
              <a:t> </a:t>
            </a:r>
            <a:r>
              <a:rPr lang="th-TH" sz="1100" dirty="0" err="1"/>
              <a:t>correct</a:t>
            </a:r>
            <a:r>
              <a:rPr lang="th-TH" sz="1100" dirty="0"/>
              <a:t> </a:t>
            </a:r>
            <a:r>
              <a:rPr lang="th-TH" sz="1100" dirty="0" err="1"/>
              <a:t>the</a:t>
            </a:r>
            <a:r>
              <a:rPr lang="th-TH" sz="1100" dirty="0"/>
              <a:t> </a:t>
            </a:r>
            <a:r>
              <a:rPr lang="th-TH" sz="1100" dirty="0" err="1"/>
              <a:t>specification</a:t>
            </a:r>
            <a:r>
              <a:rPr lang="th-TH" sz="1100" dirty="0"/>
              <a:t> </a:t>
            </a:r>
            <a:r>
              <a:rPr lang="th-TH" sz="1100" dirty="0" err="1"/>
              <a:t>it</a:t>
            </a:r>
            <a:r>
              <a:rPr lang="th-TH" sz="1100" dirty="0"/>
              <a:t> </a:t>
            </a:r>
            <a:r>
              <a:rPr lang="th-TH" sz="1100" dirty="0" err="1"/>
              <a:t>was</a:t>
            </a:r>
            <a:r>
              <a:rPr lang="th-TH" sz="1100" dirty="0"/>
              <a:t> </a:t>
            </a:r>
            <a:r>
              <a:rPr lang="th-TH" sz="1100" dirty="0" err="1"/>
              <a:t>set</a:t>
            </a:r>
            <a:r>
              <a:rPr lang="th-TH" sz="1100" dirty="0"/>
              <a:t> </a:t>
            </a:r>
            <a:r>
              <a:rPr lang="th-TH" sz="1100" dirty="0" err="1"/>
              <a:t>up</a:t>
            </a:r>
            <a:r>
              <a:rPr lang="th-TH" sz="1100" dirty="0"/>
              <a:t> </a:t>
            </a:r>
            <a:r>
              <a:rPr lang="th-TH" sz="1100" dirty="0" err="1"/>
              <a:t>with</a:t>
            </a:r>
            <a:endParaRPr lang="th-TH" sz="1100" dirty="0"/>
          </a:p>
        </p:txBody>
      </p:sp>
      <p:sp>
        <p:nvSpPr>
          <p:cNvPr id="39" name="TextBox 38">
            <a:extLst>
              <a:ext uri="{FF2B5EF4-FFF2-40B4-BE49-F238E27FC236}">
                <a16:creationId xmlns:a16="http://schemas.microsoft.com/office/drawing/2014/main" id="{7EC3A29D-3FF0-D2BD-AF36-CCC605C910C4}"/>
              </a:ext>
            </a:extLst>
          </p:cNvPr>
          <p:cNvSpPr txBox="1"/>
          <p:nvPr/>
        </p:nvSpPr>
        <p:spPr>
          <a:xfrm>
            <a:off x="4056352" y="3688138"/>
            <a:ext cx="3220879" cy="430887"/>
          </a:xfrm>
          <a:prstGeom prst="rect">
            <a:avLst/>
          </a:prstGeom>
          <a:noFill/>
        </p:spPr>
        <p:txBody>
          <a:bodyPr wrap="square">
            <a:spAutoFit/>
          </a:bodyPr>
          <a:lstStyle/>
          <a:p>
            <a:r>
              <a:rPr lang="th-TH" sz="1100" dirty="0"/>
              <a:t>The ALPL and </a:t>
            </a:r>
            <a:r>
              <a:rPr lang="th-TH" sz="1100" dirty="0" err="1"/>
              <a:t>the</a:t>
            </a:r>
            <a:r>
              <a:rPr lang="th-TH" sz="1100" dirty="0"/>
              <a:t> </a:t>
            </a:r>
            <a:r>
              <a:rPr lang="th-TH" sz="1100" dirty="0" err="1"/>
              <a:t>operator</a:t>
            </a:r>
            <a:r>
              <a:rPr lang="th-TH" sz="1100" dirty="0"/>
              <a:t> </a:t>
            </a:r>
            <a:r>
              <a:rPr lang="th-TH" sz="1100" dirty="0" err="1"/>
              <a:t>can</a:t>
            </a:r>
            <a:r>
              <a:rPr lang="th-TH" sz="1100" dirty="0"/>
              <a:t> </a:t>
            </a:r>
            <a:r>
              <a:rPr lang="th-TH" sz="1100" dirty="0" err="1"/>
              <a:t>be</a:t>
            </a:r>
            <a:r>
              <a:rPr lang="th-TH" sz="1100" dirty="0"/>
              <a:t> </a:t>
            </a:r>
            <a:r>
              <a:rPr lang="th-TH" sz="1100" dirty="0" err="1"/>
              <a:t>fixed</a:t>
            </a:r>
            <a:r>
              <a:rPr lang="th-TH" sz="1100" dirty="0"/>
              <a:t> — </a:t>
            </a:r>
            <a:r>
              <a:rPr lang="th-TH" sz="1100" dirty="0" err="1"/>
              <a:t>the</a:t>
            </a:r>
            <a:r>
              <a:rPr lang="th-TH" sz="1100" dirty="0"/>
              <a:t> </a:t>
            </a:r>
            <a:r>
              <a:rPr lang="th-TH" sz="1100" dirty="0" err="1"/>
              <a:t>measured</a:t>
            </a:r>
            <a:r>
              <a:rPr lang="th-TH" sz="1100" dirty="0"/>
              <a:t> </a:t>
            </a:r>
            <a:r>
              <a:rPr lang="th-TH" sz="1100" dirty="0" err="1"/>
              <a:t>values</a:t>
            </a:r>
            <a:r>
              <a:rPr lang="th-TH" sz="1100" dirty="0"/>
              <a:t> </a:t>
            </a:r>
            <a:r>
              <a:rPr lang="th-TH" sz="1100" dirty="0" err="1"/>
              <a:t>stay</a:t>
            </a:r>
            <a:r>
              <a:rPr lang="th-TH" sz="1100" dirty="0"/>
              <a:t> </a:t>
            </a:r>
            <a:r>
              <a:rPr lang="th-TH" sz="1100" dirty="0" err="1"/>
              <a:t>locked</a:t>
            </a:r>
            <a:endParaRPr lang="th-TH" sz="1100" dirty="0"/>
          </a:p>
        </p:txBody>
      </p:sp>
      <p:sp>
        <p:nvSpPr>
          <p:cNvPr id="41" name="TextBox 40">
            <a:extLst>
              <a:ext uri="{FF2B5EF4-FFF2-40B4-BE49-F238E27FC236}">
                <a16:creationId xmlns:a16="http://schemas.microsoft.com/office/drawing/2014/main" id="{34184111-8429-DD93-659B-2C7D9FFD9199}"/>
              </a:ext>
            </a:extLst>
          </p:cNvPr>
          <p:cNvSpPr txBox="1"/>
          <p:nvPr/>
        </p:nvSpPr>
        <p:spPr>
          <a:xfrm>
            <a:off x="2451710" y="5836032"/>
            <a:ext cx="2792413" cy="261610"/>
          </a:xfrm>
          <a:prstGeom prst="rect">
            <a:avLst/>
          </a:prstGeom>
          <a:noFill/>
        </p:spPr>
        <p:txBody>
          <a:bodyPr wrap="square">
            <a:spAutoFit/>
          </a:bodyPr>
          <a:lstStyle/>
          <a:p>
            <a:r>
              <a:rPr lang="th-TH" sz="1100" dirty="0"/>
              <a:t>One </a:t>
            </a:r>
            <a:r>
              <a:rPr lang="th-TH" sz="1100" dirty="0" err="1"/>
              <a:t>list</a:t>
            </a:r>
            <a:r>
              <a:rPr lang="th-TH" sz="1100" dirty="0"/>
              <a:t> </a:t>
            </a:r>
            <a:r>
              <a:rPr lang="th-TH" sz="1100" dirty="0" err="1"/>
              <a:t>per</a:t>
            </a:r>
            <a:r>
              <a:rPr lang="th-TH" sz="1100" dirty="0"/>
              <a:t> </a:t>
            </a:r>
            <a:r>
              <a:rPr lang="th-TH" sz="1100" dirty="0" err="1"/>
              <a:t>dropdown</a:t>
            </a:r>
            <a:r>
              <a:rPr lang="th-TH" sz="1100" dirty="0"/>
              <a:t>, </a:t>
            </a:r>
            <a:r>
              <a:rPr lang="th-TH" sz="1100" dirty="0" err="1"/>
              <a:t>edited</a:t>
            </a:r>
            <a:r>
              <a:rPr lang="th-TH" sz="1100" dirty="0"/>
              <a:t> </a:t>
            </a:r>
            <a:r>
              <a:rPr lang="th-TH" sz="1100" dirty="0" err="1"/>
              <a:t>in</a:t>
            </a:r>
            <a:r>
              <a:rPr lang="th-TH" sz="1100" dirty="0"/>
              <a:t> </a:t>
            </a:r>
            <a:r>
              <a:rPr lang="th-TH" sz="1100" dirty="0" err="1"/>
              <a:t>one</a:t>
            </a:r>
            <a:r>
              <a:rPr lang="th-TH" sz="1100" dirty="0"/>
              <a:t> </a:t>
            </a:r>
            <a:r>
              <a:rPr lang="th-TH" sz="1100" dirty="0" err="1"/>
              <a:t>place</a:t>
            </a:r>
            <a:endParaRPr lang="th-TH" sz="1100" dirty="0"/>
          </a:p>
        </p:txBody>
      </p:sp>
      <p:sp>
        <p:nvSpPr>
          <p:cNvPr id="43" name="TextBox 42">
            <a:extLst>
              <a:ext uri="{FF2B5EF4-FFF2-40B4-BE49-F238E27FC236}">
                <a16:creationId xmlns:a16="http://schemas.microsoft.com/office/drawing/2014/main" id="{E3FE67B0-5828-4668-D00A-34C3A15D951D}"/>
              </a:ext>
            </a:extLst>
          </p:cNvPr>
          <p:cNvSpPr txBox="1"/>
          <p:nvPr/>
        </p:nvSpPr>
        <p:spPr>
          <a:xfrm>
            <a:off x="1597502" y="3415393"/>
            <a:ext cx="835165" cy="261610"/>
          </a:xfrm>
          <a:prstGeom prst="rect">
            <a:avLst/>
          </a:prstGeom>
          <a:solidFill>
            <a:schemeClr val="accent2">
              <a:lumMod val="75000"/>
            </a:schemeClr>
          </a:solidFill>
        </p:spPr>
        <p:txBody>
          <a:bodyPr wrap="square">
            <a:spAutoFit/>
          </a:bodyPr>
          <a:lstStyle/>
          <a:p>
            <a:r>
              <a:rPr lang="en-US" sz="1100" b="1" dirty="0">
                <a:solidFill>
                  <a:schemeClr val="bg1"/>
                </a:solidFill>
              </a:rPr>
              <a:t>Part Table</a:t>
            </a:r>
            <a:endParaRPr lang="th-TH" sz="1100" b="1" dirty="0">
              <a:solidFill>
                <a:schemeClr val="bg1"/>
              </a:solidFill>
            </a:endParaRPr>
          </a:p>
        </p:txBody>
      </p:sp>
      <p:sp>
        <p:nvSpPr>
          <p:cNvPr id="45" name="TextBox 44">
            <a:extLst>
              <a:ext uri="{FF2B5EF4-FFF2-40B4-BE49-F238E27FC236}">
                <a16:creationId xmlns:a16="http://schemas.microsoft.com/office/drawing/2014/main" id="{C797AF5B-787D-DA44-DFDE-11E00FE62578}"/>
              </a:ext>
            </a:extLst>
          </p:cNvPr>
          <p:cNvSpPr txBox="1"/>
          <p:nvPr/>
        </p:nvSpPr>
        <p:spPr>
          <a:xfrm>
            <a:off x="9334726" y="2885263"/>
            <a:ext cx="1028405" cy="261610"/>
          </a:xfrm>
          <a:prstGeom prst="rect">
            <a:avLst/>
          </a:prstGeom>
          <a:solidFill>
            <a:schemeClr val="accent1">
              <a:lumMod val="60000"/>
              <a:lumOff val="40000"/>
            </a:schemeClr>
          </a:solidFill>
        </p:spPr>
        <p:txBody>
          <a:bodyPr wrap="square">
            <a:spAutoFit/>
          </a:bodyPr>
          <a:lstStyle/>
          <a:p>
            <a:r>
              <a:rPr lang="en-US" sz="1100" b="1" dirty="0">
                <a:solidFill>
                  <a:schemeClr val="bg1"/>
                </a:solidFill>
              </a:rPr>
              <a:t>History Table</a:t>
            </a:r>
            <a:endParaRPr lang="th-TH" sz="1100" b="1" dirty="0">
              <a:solidFill>
                <a:schemeClr val="bg1"/>
              </a:solidFill>
            </a:endParaRPr>
          </a:p>
        </p:txBody>
      </p:sp>
      <p:sp>
        <p:nvSpPr>
          <p:cNvPr id="47" name="TextBox 46">
            <a:extLst>
              <a:ext uri="{FF2B5EF4-FFF2-40B4-BE49-F238E27FC236}">
                <a16:creationId xmlns:a16="http://schemas.microsoft.com/office/drawing/2014/main" id="{0A386793-94DF-68F5-0285-E64565136D1F}"/>
              </a:ext>
            </a:extLst>
          </p:cNvPr>
          <p:cNvSpPr txBox="1"/>
          <p:nvPr/>
        </p:nvSpPr>
        <p:spPr>
          <a:xfrm>
            <a:off x="3321225" y="5574422"/>
            <a:ext cx="1053381" cy="261610"/>
          </a:xfrm>
          <a:prstGeom prst="rect">
            <a:avLst/>
          </a:prstGeom>
          <a:solidFill>
            <a:schemeClr val="accent2">
              <a:lumMod val="75000"/>
            </a:schemeClr>
          </a:solidFill>
        </p:spPr>
        <p:txBody>
          <a:bodyPr wrap="square">
            <a:spAutoFit/>
          </a:bodyPr>
          <a:lstStyle/>
          <a:p>
            <a:r>
              <a:rPr lang="en-US" sz="1100" b="1" dirty="0">
                <a:solidFill>
                  <a:schemeClr val="bg1"/>
                </a:solidFill>
              </a:rPr>
              <a:t>Lookup Table</a:t>
            </a:r>
            <a:endParaRPr lang="th-TH" sz="1100" b="1" dirty="0">
              <a:solidFill>
                <a:schemeClr val="bg1"/>
              </a:solidFill>
            </a:endParaRPr>
          </a:p>
        </p:txBody>
      </p:sp>
      <p:sp>
        <p:nvSpPr>
          <p:cNvPr id="49" name="TextBox 48">
            <a:extLst>
              <a:ext uri="{FF2B5EF4-FFF2-40B4-BE49-F238E27FC236}">
                <a16:creationId xmlns:a16="http://schemas.microsoft.com/office/drawing/2014/main" id="{1DB10D9B-A998-CF26-CE41-A1FB4A9C1F6E}"/>
              </a:ext>
            </a:extLst>
          </p:cNvPr>
          <p:cNvSpPr txBox="1"/>
          <p:nvPr/>
        </p:nvSpPr>
        <p:spPr>
          <a:xfrm>
            <a:off x="113454" y="1341503"/>
            <a:ext cx="7341705" cy="369332"/>
          </a:xfrm>
          <a:prstGeom prst="rect">
            <a:avLst/>
          </a:prstGeom>
          <a:solidFill>
            <a:schemeClr val="accent2">
              <a:lumMod val="75000"/>
            </a:schemeClr>
          </a:solidFill>
          <a:ln>
            <a:solidFill>
              <a:schemeClr val="tx1"/>
            </a:solidFill>
          </a:ln>
        </p:spPr>
        <p:txBody>
          <a:bodyPr wrap="square">
            <a:spAutoFit/>
          </a:bodyPr>
          <a:lstStyle/>
          <a:p>
            <a:pPr algn="ctr"/>
            <a:r>
              <a:rPr lang="en-US" sz="1800" b="1" dirty="0">
                <a:solidFill>
                  <a:schemeClr val="bg1"/>
                </a:solidFill>
              </a:rPr>
              <a:t>WHAT CAN BE CHANGE</a:t>
            </a:r>
            <a:endParaRPr lang="th-TH" sz="1800" b="1" dirty="0">
              <a:solidFill>
                <a:schemeClr val="bg1"/>
              </a:solidFill>
            </a:endParaRPr>
          </a:p>
        </p:txBody>
      </p:sp>
      <p:sp>
        <p:nvSpPr>
          <p:cNvPr id="51" name="TextBox 50">
            <a:extLst>
              <a:ext uri="{FF2B5EF4-FFF2-40B4-BE49-F238E27FC236}">
                <a16:creationId xmlns:a16="http://schemas.microsoft.com/office/drawing/2014/main" id="{3F3C1EE2-1FDA-E8FB-27B3-4CB426D487FD}"/>
              </a:ext>
            </a:extLst>
          </p:cNvPr>
          <p:cNvSpPr txBox="1"/>
          <p:nvPr/>
        </p:nvSpPr>
        <p:spPr>
          <a:xfrm>
            <a:off x="7763725" y="1178818"/>
            <a:ext cx="4106024" cy="369332"/>
          </a:xfrm>
          <a:prstGeom prst="rect">
            <a:avLst/>
          </a:prstGeom>
          <a:solidFill>
            <a:schemeClr val="accent1">
              <a:lumMod val="60000"/>
              <a:lumOff val="40000"/>
            </a:schemeClr>
          </a:solidFill>
          <a:ln>
            <a:solidFill>
              <a:schemeClr val="tx1"/>
            </a:solidFill>
          </a:ln>
        </p:spPr>
        <p:txBody>
          <a:bodyPr wrap="square">
            <a:spAutoFit/>
          </a:bodyPr>
          <a:lstStyle/>
          <a:p>
            <a:pPr algn="ctr"/>
            <a:r>
              <a:rPr lang="th-TH" sz="1800" b="1" dirty="0">
                <a:solidFill>
                  <a:schemeClr val="bg1"/>
                </a:solidFill>
              </a:rPr>
              <a:t>WHAT PROTECTS IT</a:t>
            </a:r>
          </a:p>
        </p:txBody>
      </p:sp>
      <p:sp>
        <p:nvSpPr>
          <p:cNvPr id="53" name="TextBox 52">
            <a:extLst>
              <a:ext uri="{FF2B5EF4-FFF2-40B4-BE49-F238E27FC236}">
                <a16:creationId xmlns:a16="http://schemas.microsoft.com/office/drawing/2014/main" id="{0D215E39-5565-BD32-B7FA-FFA7F5919B9D}"/>
              </a:ext>
            </a:extLst>
          </p:cNvPr>
          <p:cNvSpPr txBox="1"/>
          <p:nvPr/>
        </p:nvSpPr>
        <p:spPr>
          <a:xfrm>
            <a:off x="7951814" y="3134183"/>
            <a:ext cx="3695368" cy="261610"/>
          </a:xfrm>
          <a:prstGeom prst="rect">
            <a:avLst/>
          </a:prstGeom>
          <a:noFill/>
        </p:spPr>
        <p:txBody>
          <a:bodyPr wrap="square">
            <a:spAutoFit/>
          </a:bodyPr>
          <a:lstStyle/>
          <a:p>
            <a:r>
              <a:rPr lang="th-TH" sz="1100" dirty="0" err="1"/>
              <a:t>Every</a:t>
            </a:r>
            <a:r>
              <a:rPr lang="th-TH" sz="1100" dirty="0"/>
              <a:t> </a:t>
            </a:r>
            <a:r>
              <a:rPr lang="th-TH" sz="1100" dirty="0" err="1"/>
              <a:t>change</a:t>
            </a:r>
            <a:r>
              <a:rPr lang="th-TH" sz="1100" dirty="0"/>
              <a:t> </a:t>
            </a:r>
            <a:r>
              <a:rPr lang="th-TH" sz="1100" dirty="0" err="1"/>
              <a:t>is</a:t>
            </a:r>
            <a:r>
              <a:rPr lang="th-TH" sz="1100" dirty="0"/>
              <a:t> </a:t>
            </a:r>
            <a:r>
              <a:rPr lang="th-TH" sz="1100" dirty="0" err="1"/>
              <a:t>recorded</a:t>
            </a:r>
            <a:r>
              <a:rPr lang="th-TH" sz="1100" dirty="0"/>
              <a:t> </a:t>
            </a:r>
            <a:r>
              <a:rPr lang="th-TH" sz="1100" dirty="0" err="1"/>
              <a:t>with</a:t>
            </a:r>
            <a:r>
              <a:rPr lang="th-TH" sz="1100" dirty="0"/>
              <a:t> </a:t>
            </a:r>
            <a:r>
              <a:rPr lang="th-TH" sz="1100" dirty="0" err="1"/>
              <a:t>the</a:t>
            </a:r>
            <a:r>
              <a:rPr lang="th-TH" sz="1100" dirty="0"/>
              <a:t> </a:t>
            </a:r>
            <a:r>
              <a:rPr lang="th-TH" sz="1100" dirty="0" err="1"/>
              <a:t>value</a:t>
            </a:r>
            <a:r>
              <a:rPr lang="th-TH" sz="1100" dirty="0"/>
              <a:t> </a:t>
            </a:r>
            <a:r>
              <a:rPr lang="th-TH" sz="1100" dirty="0" err="1"/>
              <a:t>before</a:t>
            </a:r>
            <a:r>
              <a:rPr lang="th-TH" sz="1100" dirty="0"/>
              <a:t> and </a:t>
            </a:r>
            <a:r>
              <a:rPr lang="th-TH" sz="1100" dirty="0" err="1"/>
              <a:t>after</a:t>
            </a:r>
            <a:r>
              <a:rPr lang="th-TH" sz="1100" dirty="0"/>
              <a:t> </a:t>
            </a:r>
            <a:r>
              <a:rPr lang="th-TH" sz="1100" dirty="0" err="1"/>
              <a:t>it</a:t>
            </a:r>
            <a:endParaRPr lang="th-TH" sz="1100" dirty="0"/>
          </a:p>
        </p:txBody>
      </p:sp>
      <p:sp>
        <p:nvSpPr>
          <p:cNvPr id="55" name="TextBox 54">
            <a:extLst>
              <a:ext uri="{FF2B5EF4-FFF2-40B4-BE49-F238E27FC236}">
                <a16:creationId xmlns:a16="http://schemas.microsoft.com/office/drawing/2014/main" id="{9F59B7A9-050B-22CC-4F19-A8FB5F197C4C}"/>
              </a:ext>
            </a:extLst>
          </p:cNvPr>
          <p:cNvSpPr txBox="1"/>
          <p:nvPr/>
        </p:nvSpPr>
        <p:spPr>
          <a:xfrm>
            <a:off x="8001289" y="5743528"/>
            <a:ext cx="3645893" cy="430887"/>
          </a:xfrm>
          <a:prstGeom prst="rect">
            <a:avLst/>
          </a:prstGeom>
          <a:noFill/>
        </p:spPr>
        <p:txBody>
          <a:bodyPr wrap="square">
            <a:spAutoFit/>
          </a:bodyPr>
          <a:lstStyle/>
          <a:p>
            <a:r>
              <a:rPr lang="th-TH" sz="1100" dirty="0" err="1"/>
              <a:t>Deleted</a:t>
            </a:r>
            <a:r>
              <a:rPr lang="th-TH" sz="1100" dirty="0"/>
              <a:t> </a:t>
            </a:r>
            <a:r>
              <a:rPr lang="th-TH" sz="1100" dirty="0" err="1"/>
              <a:t>records</a:t>
            </a:r>
            <a:r>
              <a:rPr lang="th-TH" sz="1100" dirty="0"/>
              <a:t> </a:t>
            </a:r>
            <a:r>
              <a:rPr lang="th-TH" sz="1100" dirty="0" err="1"/>
              <a:t>are</a:t>
            </a:r>
            <a:r>
              <a:rPr lang="th-TH" sz="1100" dirty="0"/>
              <a:t> </a:t>
            </a:r>
            <a:r>
              <a:rPr lang="th-TH" sz="1100" dirty="0" err="1"/>
              <a:t>not</a:t>
            </a:r>
            <a:r>
              <a:rPr lang="th-TH" sz="1100" dirty="0"/>
              <a:t> </a:t>
            </a:r>
            <a:r>
              <a:rPr lang="th-TH" sz="1100" dirty="0" err="1"/>
              <a:t>gone</a:t>
            </a:r>
            <a:r>
              <a:rPr lang="th-TH" sz="1100" dirty="0"/>
              <a:t> — </a:t>
            </a:r>
            <a:r>
              <a:rPr lang="th-TH" sz="1100" dirty="0" err="1"/>
              <a:t>they</a:t>
            </a:r>
            <a:r>
              <a:rPr lang="th-TH" sz="1100" dirty="0"/>
              <a:t> </a:t>
            </a:r>
            <a:r>
              <a:rPr lang="th-TH" sz="1100" dirty="0" err="1"/>
              <a:t>stay</a:t>
            </a:r>
            <a:r>
              <a:rPr lang="th-TH" sz="1100" dirty="0"/>
              <a:t> </a:t>
            </a:r>
            <a:r>
              <a:rPr lang="th-TH" sz="1100" dirty="0" err="1"/>
              <a:t>recoverable</a:t>
            </a:r>
            <a:r>
              <a:rPr lang="th-TH" sz="1100" dirty="0"/>
              <a:t> </a:t>
            </a:r>
            <a:r>
              <a:rPr lang="th-TH" sz="1100" dirty="0" err="1"/>
              <a:t>for</a:t>
            </a:r>
            <a:r>
              <a:rPr lang="th-TH" sz="1100" dirty="0"/>
              <a:t> 30 </a:t>
            </a:r>
            <a:r>
              <a:rPr lang="th-TH" sz="1100" dirty="0" err="1"/>
              <a:t>days</a:t>
            </a:r>
            <a:endParaRPr lang="th-TH" sz="1100" dirty="0"/>
          </a:p>
        </p:txBody>
      </p:sp>
      <p:sp>
        <p:nvSpPr>
          <p:cNvPr id="57" name="TextBox 56">
            <a:extLst>
              <a:ext uri="{FF2B5EF4-FFF2-40B4-BE49-F238E27FC236}">
                <a16:creationId xmlns:a16="http://schemas.microsoft.com/office/drawing/2014/main" id="{3311A100-DAD3-4489-CB25-1604F717C06C}"/>
              </a:ext>
            </a:extLst>
          </p:cNvPr>
          <p:cNvSpPr txBox="1"/>
          <p:nvPr/>
        </p:nvSpPr>
        <p:spPr>
          <a:xfrm>
            <a:off x="5048239" y="3426528"/>
            <a:ext cx="1475307" cy="261610"/>
          </a:xfrm>
          <a:prstGeom prst="rect">
            <a:avLst/>
          </a:prstGeom>
          <a:solidFill>
            <a:schemeClr val="accent2">
              <a:lumMod val="75000"/>
            </a:schemeClr>
          </a:solidFill>
        </p:spPr>
        <p:txBody>
          <a:bodyPr wrap="square">
            <a:spAutoFit/>
          </a:bodyPr>
          <a:lstStyle/>
          <a:p>
            <a:r>
              <a:rPr lang="en-US" sz="1100" b="1" dirty="0">
                <a:solidFill>
                  <a:schemeClr val="bg1"/>
                </a:solidFill>
              </a:rPr>
              <a:t>Measurement Table</a:t>
            </a:r>
            <a:endParaRPr lang="th-TH" sz="1100" b="1" dirty="0">
              <a:solidFill>
                <a:schemeClr val="bg1"/>
              </a:solidFill>
            </a:endParaRPr>
          </a:p>
        </p:txBody>
      </p:sp>
      <p:sp>
        <p:nvSpPr>
          <p:cNvPr id="59" name="TextBox 58">
            <a:extLst>
              <a:ext uri="{FF2B5EF4-FFF2-40B4-BE49-F238E27FC236}">
                <a16:creationId xmlns:a16="http://schemas.microsoft.com/office/drawing/2014/main" id="{D91E1AC9-60C7-F155-3D7A-E6913E4D4A1C}"/>
              </a:ext>
            </a:extLst>
          </p:cNvPr>
          <p:cNvSpPr txBox="1"/>
          <p:nvPr/>
        </p:nvSpPr>
        <p:spPr>
          <a:xfrm>
            <a:off x="9425179" y="5504149"/>
            <a:ext cx="937952" cy="261610"/>
          </a:xfrm>
          <a:prstGeom prst="rect">
            <a:avLst/>
          </a:prstGeom>
          <a:solidFill>
            <a:schemeClr val="accent1">
              <a:lumMod val="60000"/>
              <a:lumOff val="40000"/>
            </a:schemeClr>
          </a:solidFill>
        </p:spPr>
        <p:txBody>
          <a:bodyPr wrap="square">
            <a:spAutoFit/>
          </a:bodyPr>
          <a:lstStyle/>
          <a:p>
            <a:r>
              <a:rPr lang="en-US" sz="1100" b="1" dirty="0">
                <a:solidFill>
                  <a:schemeClr val="bg1"/>
                </a:solidFill>
              </a:rPr>
              <a:t>Trash Table</a:t>
            </a:r>
            <a:endParaRPr lang="th-TH" sz="1100" b="1" dirty="0">
              <a:solidFill>
                <a:schemeClr val="bg1"/>
              </a:solidFill>
            </a:endParaRPr>
          </a:p>
        </p:txBody>
      </p:sp>
      <p:sp>
        <p:nvSpPr>
          <p:cNvPr id="4" name="สี่เหลี่ยมผืนผ้า: มุมมน 3">
            <a:extLst>
              <a:ext uri="{FF2B5EF4-FFF2-40B4-BE49-F238E27FC236}">
                <a16:creationId xmlns:a16="http://schemas.microsoft.com/office/drawing/2014/main" id="{93826C8E-FB67-E413-B319-ABA95A140BC1}"/>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Tree>
    <p:extLst>
      <p:ext uri="{BB962C8B-B14F-4D97-AF65-F5344CB8AC3E}">
        <p14:creationId xmlns:p14="http://schemas.microsoft.com/office/powerpoint/2010/main" val="39486649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E2DFA-D2C1-BE6E-74E4-984588A54C5C}"/>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29890033-2423-5936-8210-2AB890E9B296}"/>
              </a:ext>
            </a:extLst>
          </p:cNvPr>
          <p:cNvSpPr/>
          <p:nvPr/>
        </p:nvSpPr>
        <p:spPr>
          <a:xfrm>
            <a:off x="7557796" y="1339243"/>
            <a:ext cx="4170157" cy="5084964"/>
          </a:xfrm>
          <a:prstGeom prst="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29" name="Rectangle 28">
            <a:extLst>
              <a:ext uri="{FF2B5EF4-FFF2-40B4-BE49-F238E27FC236}">
                <a16:creationId xmlns:a16="http://schemas.microsoft.com/office/drawing/2014/main" id="{CD3E1783-9D81-81EB-0FE6-5FF896915517}"/>
              </a:ext>
            </a:extLst>
          </p:cNvPr>
          <p:cNvSpPr/>
          <p:nvPr/>
        </p:nvSpPr>
        <p:spPr>
          <a:xfrm>
            <a:off x="113454" y="1324947"/>
            <a:ext cx="6996473" cy="4766495"/>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16" name="Rectangle 15">
            <a:extLst>
              <a:ext uri="{FF2B5EF4-FFF2-40B4-BE49-F238E27FC236}">
                <a16:creationId xmlns:a16="http://schemas.microsoft.com/office/drawing/2014/main" id="{A2EFC8A2-0CD1-B179-6449-6DF8EF782B31}"/>
              </a:ext>
            </a:extLst>
          </p:cNvPr>
          <p:cNvSpPr/>
          <p:nvPr/>
        </p:nvSpPr>
        <p:spPr>
          <a:xfrm>
            <a:off x="314411" y="3617153"/>
            <a:ext cx="2435675" cy="1826332"/>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3" name="Rectangle 12">
            <a:extLst>
              <a:ext uri="{FF2B5EF4-FFF2-40B4-BE49-F238E27FC236}">
                <a16:creationId xmlns:a16="http://schemas.microsoft.com/office/drawing/2014/main" id="{FE75FCB7-19C5-5926-0A01-CAA0D52B1F8A}"/>
              </a:ext>
            </a:extLst>
          </p:cNvPr>
          <p:cNvSpPr/>
          <p:nvPr/>
        </p:nvSpPr>
        <p:spPr>
          <a:xfrm>
            <a:off x="7779948" y="1864948"/>
            <a:ext cx="3631258" cy="1888874"/>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8" name="Rectangle 7">
            <a:extLst>
              <a:ext uri="{FF2B5EF4-FFF2-40B4-BE49-F238E27FC236}">
                <a16:creationId xmlns:a16="http://schemas.microsoft.com/office/drawing/2014/main" id="{AFBA9CB8-284E-F745-D547-E55537F4DDB5}"/>
              </a:ext>
            </a:extLst>
          </p:cNvPr>
          <p:cNvSpPr/>
          <p:nvPr/>
        </p:nvSpPr>
        <p:spPr>
          <a:xfrm>
            <a:off x="284015" y="1871612"/>
            <a:ext cx="4735657" cy="1305061"/>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9" name="สี่เหลี่ยมผืนผ้า 22">
            <a:extLst>
              <a:ext uri="{FF2B5EF4-FFF2-40B4-BE49-F238E27FC236}">
                <a16:creationId xmlns:a16="http://schemas.microsoft.com/office/drawing/2014/main" id="{8BFA716B-2BCF-A38C-26F6-E5B4A83479E8}"/>
              </a:ext>
            </a:extLst>
          </p:cNvPr>
          <p:cNvSpPr/>
          <p:nvPr/>
        </p:nvSpPr>
        <p:spPr>
          <a:xfrm>
            <a:off x="2418291" y="597115"/>
            <a:ext cx="2471912" cy="465978"/>
          </a:xfrm>
          <a:prstGeom prst="rect">
            <a:avLst/>
          </a:prstGeom>
          <a:solidFill>
            <a:schemeClr val="accent2">
              <a:lumMod val="60000"/>
              <a:lumOff val="40000"/>
              <a:alpha val="1803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000" b="1" dirty="0"/>
          </a:p>
        </p:txBody>
      </p:sp>
      <p:pic>
        <p:nvPicPr>
          <p:cNvPr id="5" name="Picture 2" descr="Analog Devices | Disruptive Technology for Clinical Trials">
            <a:extLst>
              <a:ext uri="{FF2B5EF4-FFF2-40B4-BE49-F238E27FC236}">
                <a16:creationId xmlns:a16="http://schemas.microsoft.com/office/drawing/2014/main" id="{D5AF0B43-EE27-8A00-363B-5B3E446930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233193" y="433793"/>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0" name="Picture 2" descr="LOGO_ENkku_color – Faculty of Engineering , Khon Kaen University">
            <a:extLst>
              <a:ext uri="{FF2B5EF4-FFF2-40B4-BE49-F238E27FC236}">
                <a16:creationId xmlns:a16="http://schemas.microsoft.com/office/drawing/2014/main" id="{07EAAF29-AC7E-9FB7-E326-255C34434385}"/>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411206" y="360124"/>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99C1088-3303-765C-112F-C727042EF07B}"/>
              </a:ext>
            </a:extLst>
          </p:cNvPr>
          <p:cNvSpPr txBox="1"/>
          <p:nvPr/>
        </p:nvSpPr>
        <p:spPr>
          <a:xfrm>
            <a:off x="2554961" y="662982"/>
            <a:ext cx="2223482" cy="400110"/>
          </a:xfrm>
          <a:prstGeom prst="rect">
            <a:avLst/>
          </a:prstGeom>
          <a:noFill/>
        </p:spPr>
        <p:txBody>
          <a:bodyPr wrap="square" rtlCol="0">
            <a:spAutoFit/>
          </a:bodyPr>
          <a:lstStyle/>
          <a:p>
            <a:r>
              <a:rPr lang="en-US" sz="2000" b="1" dirty="0"/>
              <a:t>Web Application</a:t>
            </a:r>
            <a:endParaRPr lang="th-TH" sz="2000" b="1" dirty="0"/>
          </a:p>
        </p:txBody>
      </p:sp>
      <p:sp>
        <p:nvSpPr>
          <p:cNvPr id="27" name="กล่องข้อความ 13">
            <a:extLst>
              <a:ext uri="{FF2B5EF4-FFF2-40B4-BE49-F238E27FC236}">
                <a16:creationId xmlns:a16="http://schemas.microsoft.com/office/drawing/2014/main" id="{310AFADD-3DF1-EB23-5750-6A0B6AD2C4EA}"/>
              </a:ext>
            </a:extLst>
          </p:cNvPr>
          <p:cNvSpPr txBox="1">
            <a:spLocks/>
          </p:cNvSpPr>
          <p:nvPr/>
        </p:nvSpPr>
        <p:spPr>
          <a:xfrm>
            <a:off x="798575" y="597115"/>
            <a:ext cx="1883665" cy="523220"/>
          </a:xfrm>
          <a:prstGeom prst="rect">
            <a:avLst/>
          </a:prstGeom>
          <a:noFill/>
        </p:spPr>
        <p:txBody>
          <a:bodyPr wrap="square" rtlCol="0">
            <a:spAutoFit/>
          </a:bodyPr>
          <a:lstStyle/>
          <a:p>
            <a:r>
              <a:rPr lang="en-US" b="1" dirty="0">
                <a:solidFill>
                  <a:srgbClr val="002060"/>
                </a:solidFill>
                <a:latin typeface="Helvetica" panose="020B0604020202020204" pitchFamily="34" charset="0"/>
                <a:cs typeface="Helvetica" panose="020B0604020202020204" pitchFamily="34" charset="0"/>
              </a:rPr>
              <a:t>Actions</a:t>
            </a:r>
            <a:endParaRPr lang="th-TH" b="1" dirty="0">
              <a:solidFill>
                <a:srgbClr val="002060"/>
              </a:solidFill>
              <a:latin typeface="Helvetica" panose="020B0604020202020204" pitchFamily="34" charset="0"/>
              <a:cs typeface="Mitr" panose="00000500000000000000" pitchFamily="2" charset="-34"/>
            </a:endParaRPr>
          </a:p>
        </p:txBody>
      </p:sp>
      <p:pic>
        <p:nvPicPr>
          <p:cNvPr id="3" name="Picture 2">
            <a:extLst>
              <a:ext uri="{FF2B5EF4-FFF2-40B4-BE49-F238E27FC236}">
                <a16:creationId xmlns:a16="http://schemas.microsoft.com/office/drawing/2014/main" id="{1DB9D6B7-EE53-D949-35EA-A3846322C121}"/>
              </a:ext>
            </a:extLst>
          </p:cNvPr>
          <p:cNvPicPr>
            <a:picLocks noChangeAspect="1"/>
          </p:cNvPicPr>
          <p:nvPr/>
        </p:nvPicPr>
        <p:blipFill>
          <a:blip r:embed="rId5"/>
          <a:stretch>
            <a:fillRect/>
          </a:stretch>
        </p:blipFill>
        <p:spPr>
          <a:xfrm>
            <a:off x="414989" y="2005114"/>
            <a:ext cx="4436732" cy="1064603"/>
          </a:xfrm>
          <a:prstGeom prst="rect">
            <a:avLst/>
          </a:prstGeom>
        </p:spPr>
      </p:pic>
      <p:pic>
        <p:nvPicPr>
          <p:cNvPr id="12" name="Picture 11">
            <a:extLst>
              <a:ext uri="{FF2B5EF4-FFF2-40B4-BE49-F238E27FC236}">
                <a16:creationId xmlns:a16="http://schemas.microsoft.com/office/drawing/2014/main" id="{6C41E577-7A37-E431-67DF-9BB6B30B0B04}"/>
              </a:ext>
            </a:extLst>
          </p:cNvPr>
          <p:cNvPicPr>
            <a:picLocks noChangeAspect="1"/>
          </p:cNvPicPr>
          <p:nvPr/>
        </p:nvPicPr>
        <p:blipFill>
          <a:blip r:embed="rId6"/>
          <a:stretch>
            <a:fillRect/>
          </a:stretch>
        </p:blipFill>
        <p:spPr>
          <a:xfrm>
            <a:off x="464047" y="3777930"/>
            <a:ext cx="2169308" cy="1564915"/>
          </a:xfrm>
          <a:prstGeom prst="rect">
            <a:avLst/>
          </a:prstGeom>
        </p:spPr>
      </p:pic>
      <p:pic>
        <p:nvPicPr>
          <p:cNvPr id="18" name="Picture 17">
            <a:extLst>
              <a:ext uri="{FF2B5EF4-FFF2-40B4-BE49-F238E27FC236}">
                <a16:creationId xmlns:a16="http://schemas.microsoft.com/office/drawing/2014/main" id="{83BE667F-C53D-D15E-BB01-8A26FAE0C3CB}"/>
              </a:ext>
            </a:extLst>
          </p:cNvPr>
          <p:cNvPicPr>
            <a:picLocks noChangeAspect="1"/>
          </p:cNvPicPr>
          <p:nvPr/>
        </p:nvPicPr>
        <p:blipFill>
          <a:blip r:embed="rId7"/>
          <a:stretch>
            <a:fillRect/>
          </a:stretch>
        </p:blipFill>
        <p:spPr>
          <a:xfrm>
            <a:off x="7986976" y="1985228"/>
            <a:ext cx="3307341" cy="1673595"/>
          </a:xfrm>
          <a:prstGeom prst="rect">
            <a:avLst/>
          </a:prstGeom>
        </p:spPr>
      </p:pic>
      <p:sp>
        <p:nvSpPr>
          <p:cNvPr id="20" name="Rectangle 19">
            <a:extLst>
              <a:ext uri="{FF2B5EF4-FFF2-40B4-BE49-F238E27FC236}">
                <a16:creationId xmlns:a16="http://schemas.microsoft.com/office/drawing/2014/main" id="{64B82E1C-662E-D3A5-A296-64D35620F2CE}"/>
              </a:ext>
            </a:extLst>
          </p:cNvPr>
          <p:cNvSpPr/>
          <p:nvPr/>
        </p:nvSpPr>
        <p:spPr>
          <a:xfrm>
            <a:off x="2957114" y="3617153"/>
            <a:ext cx="3885545" cy="1826332"/>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pic>
        <p:nvPicPr>
          <p:cNvPr id="22" name="Picture 21">
            <a:extLst>
              <a:ext uri="{FF2B5EF4-FFF2-40B4-BE49-F238E27FC236}">
                <a16:creationId xmlns:a16="http://schemas.microsoft.com/office/drawing/2014/main" id="{920C14FD-6674-910C-A45F-C2D4D2217683}"/>
              </a:ext>
            </a:extLst>
          </p:cNvPr>
          <p:cNvPicPr>
            <a:picLocks noChangeAspect="1"/>
          </p:cNvPicPr>
          <p:nvPr/>
        </p:nvPicPr>
        <p:blipFill>
          <a:blip r:embed="rId8"/>
          <a:stretch>
            <a:fillRect/>
          </a:stretch>
        </p:blipFill>
        <p:spPr>
          <a:xfrm>
            <a:off x="3055120" y="3712377"/>
            <a:ext cx="3608181" cy="1630467"/>
          </a:xfrm>
          <a:prstGeom prst="rect">
            <a:avLst/>
          </a:prstGeom>
        </p:spPr>
      </p:pic>
      <p:sp>
        <p:nvSpPr>
          <p:cNvPr id="24" name="Rectangle 23">
            <a:extLst>
              <a:ext uri="{FF2B5EF4-FFF2-40B4-BE49-F238E27FC236}">
                <a16:creationId xmlns:a16="http://schemas.microsoft.com/office/drawing/2014/main" id="{9372D821-1938-37E2-94C6-AE48D6594A39}"/>
              </a:ext>
            </a:extLst>
          </p:cNvPr>
          <p:cNvSpPr/>
          <p:nvPr/>
        </p:nvSpPr>
        <p:spPr>
          <a:xfrm>
            <a:off x="7762166" y="4188559"/>
            <a:ext cx="3631257" cy="1888874"/>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pic>
        <p:nvPicPr>
          <p:cNvPr id="26" name="Picture 25">
            <a:extLst>
              <a:ext uri="{FF2B5EF4-FFF2-40B4-BE49-F238E27FC236}">
                <a16:creationId xmlns:a16="http://schemas.microsoft.com/office/drawing/2014/main" id="{FF6656E4-B3E4-8A75-6E7B-00EA3FDD3D8A}"/>
              </a:ext>
            </a:extLst>
          </p:cNvPr>
          <p:cNvPicPr>
            <a:picLocks noChangeAspect="1"/>
          </p:cNvPicPr>
          <p:nvPr/>
        </p:nvPicPr>
        <p:blipFill>
          <a:blip r:embed="rId9"/>
          <a:stretch>
            <a:fillRect/>
          </a:stretch>
        </p:blipFill>
        <p:spPr>
          <a:xfrm>
            <a:off x="7872523" y="4252672"/>
            <a:ext cx="3404013" cy="1711174"/>
          </a:xfrm>
          <a:prstGeom prst="rect">
            <a:avLst/>
          </a:prstGeom>
        </p:spPr>
      </p:pic>
      <p:sp>
        <p:nvSpPr>
          <p:cNvPr id="33" name="TextBox 32">
            <a:extLst>
              <a:ext uri="{FF2B5EF4-FFF2-40B4-BE49-F238E27FC236}">
                <a16:creationId xmlns:a16="http://schemas.microsoft.com/office/drawing/2014/main" id="{DCD8BACE-D092-CA89-2E74-86139ED4AB3D}"/>
              </a:ext>
            </a:extLst>
          </p:cNvPr>
          <p:cNvSpPr txBox="1"/>
          <p:nvPr/>
        </p:nvSpPr>
        <p:spPr>
          <a:xfrm>
            <a:off x="113454" y="1316440"/>
            <a:ext cx="6996473" cy="369332"/>
          </a:xfrm>
          <a:prstGeom prst="rect">
            <a:avLst/>
          </a:prstGeom>
          <a:solidFill>
            <a:schemeClr val="accent2">
              <a:lumMod val="75000"/>
            </a:schemeClr>
          </a:solidFill>
          <a:ln>
            <a:solidFill>
              <a:schemeClr val="tx1"/>
            </a:solidFill>
          </a:ln>
        </p:spPr>
        <p:txBody>
          <a:bodyPr wrap="square">
            <a:spAutoFit/>
          </a:bodyPr>
          <a:lstStyle/>
          <a:p>
            <a:pPr algn="ctr"/>
            <a:r>
              <a:rPr lang="en-US" sz="1800" b="1" dirty="0">
                <a:solidFill>
                  <a:schemeClr val="bg1"/>
                </a:solidFill>
              </a:rPr>
              <a:t>SELECT OR CREATE NEW TEMPLATE</a:t>
            </a:r>
            <a:endParaRPr lang="th-TH" sz="1800" b="1" dirty="0">
              <a:solidFill>
                <a:schemeClr val="bg1"/>
              </a:solidFill>
            </a:endParaRPr>
          </a:p>
        </p:txBody>
      </p:sp>
      <p:sp>
        <p:nvSpPr>
          <p:cNvPr id="35" name="TextBox 34">
            <a:extLst>
              <a:ext uri="{FF2B5EF4-FFF2-40B4-BE49-F238E27FC236}">
                <a16:creationId xmlns:a16="http://schemas.microsoft.com/office/drawing/2014/main" id="{303250E6-D955-36E1-ECF5-C2FE6EA03D73}"/>
              </a:ext>
            </a:extLst>
          </p:cNvPr>
          <p:cNvSpPr txBox="1"/>
          <p:nvPr/>
        </p:nvSpPr>
        <p:spPr>
          <a:xfrm>
            <a:off x="7557796" y="1328693"/>
            <a:ext cx="4170157" cy="369332"/>
          </a:xfrm>
          <a:prstGeom prst="rect">
            <a:avLst/>
          </a:prstGeom>
          <a:solidFill>
            <a:schemeClr val="accent1">
              <a:lumMod val="60000"/>
              <a:lumOff val="40000"/>
            </a:schemeClr>
          </a:solidFill>
          <a:ln>
            <a:solidFill>
              <a:schemeClr val="tx1"/>
            </a:solidFill>
          </a:ln>
        </p:spPr>
        <p:txBody>
          <a:bodyPr wrap="square">
            <a:spAutoFit/>
          </a:bodyPr>
          <a:lstStyle/>
          <a:p>
            <a:pPr algn="ctr"/>
            <a:r>
              <a:rPr lang="en-US" sz="1800" b="1" dirty="0">
                <a:solidFill>
                  <a:schemeClr val="bg1"/>
                </a:solidFill>
              </a:rPr>
              <a:t>EXAMINE &amp; EXPORT</a:t>
            </a:r>
            <a:endParaRPr lang="th-TH" sz="1800" b="1" dirty="0">
              <a:solidFill>
                <a:schemeClr val="bg1"/>
              </a:solidFill>
            </a:endParaRPr>
          </a:p>
        </p:txBody>
      </p:sp>
      <p:sp>
        <p:nvSpPr>
          <p:cNvPr id="36" name="Rectangle 35">
            <a:extLst>
              <a:ext uri="{FF2B5EF4-FFF2-40B4-BE49-F238E27FC236}">
                <a16:creationId xmlns:a16="http://schemas.microsoft.com/office/drawing/2014/main" id="{24D54B1F-29FB-4F9B-D760-12D7D0FA4843}"/>
              </a:ext>
            </a:extLst>
          </p:cNvPr>
          <p:cNvSpPr/>
          <p:nvPr/>
        </p:nvSpPr>
        <p:spPr>
          <a:xfrm>
            <a:off x="464047" y="2684585"/>
            <a:ext cx="4314396" cy="19929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cxnSp>
        <p:nvCxnSpPr>
          <p:cNvPr id="38" name="Straight Arrow Connector 37">
            <a:extLst>
              <a:ext uri="{FF2B5EF4-FFF2-40B4-BE49-F238E27FC236}">
                <a16:creationId xmlns:a16="http://schemas.microsoft.com/office/drawing/2014/main" id="{9E1DC976-3684-1D22-C207-6286669A940E}"/>
              </a:ext>
            </a:extLst>
          </p:cNvPr>
          <p:cNvCxnSpPr/>
          <p:nvPr/>
        </p:nvCxnSpPr>
        <p:spPr>
          <a:xfrm>
            <a:off x="1611923" y="2883877"/>
            <a:ext cx="0" cy="6506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FEFB2047-5B5F-CF4A-58CD-E6AA2BA6FC44}"/>
              </a:ext>
            </a:extLst>
          </p:cNvPr>
          <p:cNvCxnSpPr/>
          <p:nvPr/>
        </p:nvCxnSpPr>
        <p:spPr>
          <a:xfrm>
            <a:off x="3634153" y="2883877"/>
            <a:ext cx="0" cy="6506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38544F73-4D7B-32E2-24EF-AB6B4CDEEC16}"/>
              </a:ext>
            </a:extLst>
          </p:cNvPr>
          <p:cNvSpPr txBox="1"/>
          <p:nvPr/>
        </p:nvSpPr>
        <p:spPr>
          <a:xfrm>
            <a:off x="1275078" y="5533053"/>
            <a:ext cx="465329" cy="261610"/>
          </a:xfrm>
          <a:prstGeom prst="rect">
            <a:avLst/>
          </a:prstGeom>
          <a:solidFill>
            <a:schemeClr val="accent2">
              <a:lumMod val="75000"/>
            </a:schemeClr>
          </a:solidFill>
        </p:spPr>
        <p:txBody>
          <a:bodyPr wrap="square">
            <a:spAutoFit/>
          </a:bodyPr>
          <a:lstStyle/>
          <a:p>
            <a:r>
              <a:rPr lang="en-US" sz="1100" b="1" dirty="0">
                <a:solidFill>
                  <a:schemeClr val="bg1"/>
                </a:solidFill>
              </a:rPr>
              <a:t>CSV</a:t>
            </a:r>
            <a:endParaRPr lang="th-TH" sz="1100" b="1" dirty="0">
              <a:solidFill>
                <a:schemeClr val="bg1"/>
              </a:solidFill>
            </a:endParaRPr>
          </a:p>
        </p:txBody>
      </p:sp>
      <p:sp>
        <p:nvSpPr>
          <p:cNvPr id="43" name="TextBox 42">
            <a:extLst>
              <a:ext uri="{FF2B5EF4-FFF2-40B4-BE49-F238E27FC236}">
                <a16:creationId xmlns:a16="http://schemas.microsoft.com/office/drawing/2014/main" id="{0ED5E407-E97C-50E1-5CEA-CB6D9B6D9A1E}"/>
              </a:ext>
            </a:extLst>
          </p:cNvPr>
          <p:cNvSpPr txBox="1"/>
          <p:nvPr/>
        </p:nvSpPr>
        <p:spPr>
          <a:xfrm>
            <a:off x="4778443" y="5533053"/>
            <a:ext cx="901388" cy="261610"/>
          </a:xfrm>
          <a:prstGeom prst="rect">
            <a:avLst/>
          </a:prstGeom>
          <a:solidFill>
            <a:schemeClr val="accent2">
              <a:lumMod val="75000"/>
            </a:schemeClr>
          </a:solidFill>
        </p:spPr>
        <p:txBody>
          <a:bodyPr wrap="square">
            <a:spAutoFit/>
          </a:bodyPr>
          <a:lstStyle/>
          <a:p>
            <a:r>
              <a:rPr lang="en-US" sz="1100" b="1" dirty="0">
                <a:solidFill>
                  <a:schemeClr val="bg1"/>
                </a:solidFill>
              </a:rPr>
              <a:t>PDF, Excel</a:t>
            </a:r>
            <a:endParaRPr lang="th-TH" sz="1100" b="1" dirty="0">
              <a:solidFill>
                <a:schemeClr val="bg1"/>
              </a:solidFill>
            </a:endParaRPr>
          </a:p>
        </p:txBody>
      </p:sp>
      <p:sp>
        <p:nvSpPr>
          <p:cNvPr id="45" name="TextBox 44">
            <a:extLst>
              <a:ext uri="{FF2B5EF4-FFF2-40B4-BE49-F238E27FC236}">
                <a16:creationId xmlns:a16="http://schemas.microsoft.com/office/drawing/2014/main" id="{90C5C860-9C24-872F-90CE-7058D9CF6B5C}"/>
              </a:ext>
            </a:extLst>
          </p:cNvPr>
          <p:cNvSpPr txBox="1"/>
          <p:nvPr/>
        </p:nvSpPr>
        <p:spPr>
          <a:xfrm>
            <a:off x="9333162" y="3812772"/>
            <a:ext cx="470588" cy="261610"/>
          </a:xfrm>
          <a:prstGeom prst="rect">
            <a:avLst/>
          </a:prstGeom>
          <a:solidFill>
            <a:schemeClr val="accent2">
              <a:lumMod val="75000"/>
            </a:schemeClr>
          </a:solidFill>
        </p:spPr>
        <p:txBody>
          <a:bodyPr wrap="square">
            <a:spAutoFit/>
          </a:bodyPr>
          <a:lstStyle/>
          <a:p>
            <a:r>
              <a:rPr lang="en-US" sz="1100" b="1" dirty="0">
                <a:solidFill>
                  <a:schemeClr val="bg1"/>
                </a:solidFill>
              </a:rPr>
              <a:t>CSV</a:t>
            </a:r>
            <a:endParaRPr lang="th-TH" sz="1100" b="1" dirty="0">
              <a:solidFill>
                <a:schemeClr val="bg1"/>
              </a:solidFill>
            </a:endParaRPr>
          </a:p>
        </p:txBody>
      </p:sp>
      <p:sp>
        <p:nvSpPr>
          <p:cNvPr id="47" name="TextBox 46">
            <a:extLst>
              <a:ext uri="{FF2B5EF4-FFF2-40B4-BE49-F238E27FC236}">
                <a16:creationId xmlns:a16="http://schemas.microsoft.com/office/drawing/2014/main" id="{CC14B308-047D-E510-DF6E-25B756980207}"/>
              </a:ext>
            </a:extLst>
          </p:cNvPr>
          <p:cNvSpPr txBox="1"/>
          <p:nvPr/>
        </p:nvSpPr>
        <p:spPr>
          <a:xfrm>
            <a:off x="9207217" y="6121130"/>
            <a:ext cx="866857" cy="261610"/>
          </a:xfrm>
          <a:prstGeom prst="rect">
            <a:avLst/>
          </a:prstGeom>
          <a:solidFill>
            <a:schemeClr val="accent2">
              <a:lumMod val="75000"/>
            </a:schemeClr>
          </a:solidFill>
        </p:spPr>
        <p:txBody>
          <a:bodyPr wrap="square">
            <a:spAutoFit/>
          </a:bodyPr>
          <a:lstStyle/>
          <a:p>
            <a:r>
              <a:rPr lang="en-US" sz="1100" b="1" dirty="0">
                <a:solidFill>
                  <a:schemeClr val="bg1"/>
                </a:solidFill>
              </a:rPr>
              <a:t>PDF, Excel</a:t>
            </a:r>
            <a:endParaRPr lang="th-TH" sz="1100" b="1" dirty="0">
              <a:solidFill>
                <a:schemeClr val="bg1"/>
              </a:solidFill>
            </a:endParaRPr>
          </a:p>
        </p:txBody>
      </p:sp>
      <p:sp>
        <p:nvSpPr>
          <p:cNvPr id="4" name="สี่เหลี่ยมผืนผ้า: มุมมน 3">
            <a:extLst>
              <a:ext uri="{FF2B5EF4-FFF2-40B4-BE49-F238E27FC236}">
                <a16:creationId xmlns:a16="http://schemas.microsoft.com/office/drawing/2014/main" id="{C967C3C1-2C2B-D518-DB76-E20AEDAF7A58}"/>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Tree>
    <p:extLst>
      <p:ext uri="{BB962C8B-B14F-4D97-AF65-F5344CB8AC3E}">
        <p14:creationId xmlns:p14="http://schemas.microsoft.com/office/powerpoint/2010/main" val="22993294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63EB6-80EE-3BBB-7451-43C8E5B4E8A0}"/>
            </a:ext>
          </a:extLst>
        </p:cNvPr>
        <p:cNvGrpSpPr/>
        <p:nvPr/>
      </p:nvGrpSpPr>
      <p:grpSpPr>
        <a:xfrm>
          <a:off x="0" y="0"/>
          <a:ext cx="0" cy="0"/>
          <a:chOff x="0" y="0"/>
          <a:chExt cx="0" cy="0"/>
        </a:xfrm>
      </p:grpSpPr>
      <p:pic>
        <p:nvPicPr>
          <p:cNvPr id="6" name="Picture 2" descr="Analog Devices | Disruptive Technology for Clinical Trials">
            <a:extLst>
              <a:ext uri="{FF2B5EF4-FFF2-40B4-BE49-F238E27FC236}">
                <a16:creationId xmlns:a16="http://schemas.microsoft.com/office/drawing/2014/main" id="{1C2DCD59-6576-E9DD-63BE-F022667E2A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233193" y="433793"/>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0" name="Picture 2" descr="LOGO_ENkku_color – Faculty of Engineering , Khon Kaen University">
            <a:extLst>
              <a:ext uri="{FF2B5EF4-FFF2-40B4-BE49-F238E27FC236}">
                <a16:creationId xmlns:a16="http://schemas.microsoft.com/office/drawing/2014/main" id="{94204DF4-21F2-4948-3A05-DD83BF6765C5}"/>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411206" y="360124"/>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16" name="กล่องข้อความ 13">
            <a:extLst>
              <a:ext uri="{FF2B5EF4-FFF2-40B4-BE49-F238E27FC236}">
                <a16:creationId xmlns:a16="http://schemas.microsoft.com/office/drawing/2014/main" id="{5A81F26F-4BBB-2AB9-9AB5-B85BFF037279}"/>
              </a:ext>
            </a:extLst>
          </p:cNvPr>
          <p:cNvSpPr txBox="1">
            <a:spLocks/>
          </p:cNvSpPr>
          <p:nvPr/>
        </p:nvSpPr>
        <p:spPr>
          <a:xfrm>
            <a:off x="798575" y="597115"/>
            <a:ext cx="1883665" cy="523220"/>
          </a:xfrm>
          <a:prstGeom prst="rect">
            <a:avLst/>
          </a:prstGeom>
          <a:noFill/>
        </p:spPr>
        <p:txBody>
          <a:bodyPr wrap="square" rtlCol="0">
            <a:spAutoFit/>
          </a:bodyPr>
          <a:lstStyle/>
          <a:p>
            <a:r>
              <a:rPr lang="en-US" b="1" dirty="0">
                <a:solidFill>
                  <a:srgbClr val="002060"/>
                </a:solidFill>
                <a:latin typeface="Helvetica" panose="020B0604020202020204" pitchFamily="34" charset="0"/>
                <a:cs typeface="Helvetica" panose="020B0604020202020204" pitchFamily="34" charset="0"/>
              </a:rPr>
              <a:t>Actions</a:t>
            </a:r>
            <a:endParaRPr lang="th-TH" b="1" dirty="0">
              <a:solidFill>
                <a:srgbClr val="002060"/>
              </a:solidFill>
              <a:latin typeface="Helvetica" panose="020B0604020202020204" pitchFamily="34" charset="0"/>
              <a:cs typeface="Mitr" panose="00000500000000000000" pitchFamily="2" charset="-34"/>
            </a:endParaRPr>
          </a:p>
        </p:txBody>
      </p:sp>
      <p:sp>
        <p:nvSpPr>
          <p:cNvPr id="106" name="สี่เหลี่ยมผืนผ้า 22">
            <a:extLst>
              <a:ext uri="{FF2B5EF4-FFF2-40B4-BE49-F238E27FC236}">
                <a16:creationId xmlns:a16="http://schemas.microsoft.com/office/drawing/2014/main" id="{4AA67D04-0757-0359-064B-29B14368F0A4}"/>
              </a:ext>
            </a:extLst>
          </p:cNvPr>
          <p:cNvSpPr/>
          <p:nvPr/>
        </p:nvSpPr>
        <p:spPr>
          <a:xfrm>
            <a:off x="2400344" y="610992"/>
            <a:ext cx="3333272" cy="465978"/>
          </a:xfrm>
          <a:prstGeom prst="rect">
            <a:avLst/>
          </a:prstGeom>
          <a:solidFill>
            <a:schemeClr val="accent2">
              <a:lumMod val="75000"/>
              <a:alpha val="1803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108" name="TextBox 107">
            <a:extLst>
              <a:ext uri="{FF2B5EF4-FFF2-40B4-BE49-F238E27FC236}">
                <a16:creationId xmlns:a16="http://schemas.microsoft.com/office/drawing/2014/main" id="{D34021F8-455B-9404-3F20-825FAF69C9CC}"/>
              </a:ext>
            </a:extLst>
          </p:cNvPr>
          <p:cNvSpPr txBox="1"/>
          <p:nvPr/>
        </p:nvSpPr>
        <p:spPr>
          <a:xfrm>
            <a:off x="2501210" y="679617"/>
            <a:ext cx="3232406" cy="400110"/>
          </a:xfrm>
          <a:prstGeom prst="rect">
            <a:avLst/>
          </a:prstGeom>
          <a:noFill/>
        </p:spPr>
        <p:txBody>
          <a:bodyPr wrap="square" rtlCol="0">
            <a:spAutoFit/>
          </a:bodyPr>
          <a:lstStyle/>
          <a:p>
            <a:r>
              <a:rPr lang="en-US" sz="2000" b="1" dirty="0">
                <a:latin typeface="Helvetica" panose="020B0604020202020204" pitchFamily="34" charset="0"/>
                <a:cs typeface="Helvetica" panose="020B0604020202020204" pitchFamily="34" charset="0"/>
              </a:rPr>
              <a:t>Backend (Core Service)</a:t>
            </a:r>
            <a:endParaRPr lang="th-TH" sz="2000" b="1" dirty="0">
              <a:latin typeface="Helvetica" panose="020B0604020202020204" pitchFamily="34" charset="0"/>
            </a:endParaRPr>
          </a:p>
        </p:txBody>
      </p:sp>
      <p:graphicFrame>
        <p:nvGraphicFramePr>
          <p:cNvPr id="5" name="ตาราง 13">
            <a:extLst>
              <a:ext uri="{FF2B5EF4-FFF2-40B4-BE49-F238E27FC236}">
                <a16:creationId xmlns:a16="http://schemas.microsoft.com/office/drawing/2014/main" id="{B0EBCD80-E027-CF9A-F0B3-944455DC3ADA}"/>
              </a:ext>
            </a:extLst>
          </p:cNvPr>
          <p:cNvGraphicFramePr>
            <a:graphicFrameLocks noGrp="1"/>
          </p:cNvGraphicFramePr>
          <p:nvPr/>
        </p:nvGraphicFramePr>
        <p:xfrm>
          <a:off x="277065" y="1449215"/>
          <a:ext cx="11236418" cy="4532254"/>
        </p:xfrm>
        <a:graphic>
          <a:graphicData uri="http://schemas.openxmlformats.org/drawingml/2006/table">
            <a:tbl>
              <a:tblPr/>
              <a:tblGrid>
                <a:gridCol w="2807660">
                  <a:extLst>
                    <a:ext uri="{9D8B030D-6E8A-4147-A177-3AD203B41FA5}">
                      <a16:colId xmlns:a16="http://schemas.microsoft.com/office/drawing/2014/main" val="3066147821"/>
                    </a:ext>
                  </a:extLst>
                </a:gridCol>
                <a:gridCol w="3148094">
                  <a:extLst>
                    <a:ext uri="{9D8B030D-6E8A-4147-A177-3AD203B41FA5}">
                      <a16:colId xmlns:a16="http://schemas.microsoft.com/office/drawing/2014/main" val="1393184914"/>
                    </a:ext>
                  </a:extLst>
                </a:gridCol>
                <a:gridCol w="2640332">
                  <a:extLst>
                    <a:ext uri="{9D8B030D-6E8A-4147-A177-3AD203B41FA5}">
                      <a16:colId xmlns:a16="http://schemas.microsoft.com/office/drawing/2014/main" val="1764521080"/>
                    </a:ext>
                  </a:extLst>
                </a:gridCol>
                <a:gridCol w="2640332">
                  <a:extLst>
                    <a:ext uri="{9D8B030D-6E8A-4147-A177-3AD203B41FA5}">
                      <a16:colId xmlns:a16="http://schemas.microsoft.com/office/drawing/2014/main" val="1643920673"/>
                    </a:ext>
                  </a:extLst>
                </a:gridCol>
              </a:tblGrid>
              <a:tr h="463138">
                <a:tc>
                  <a:txBody>
                    <a:bodyPr/>
                    <a:lstStyle/>
                    <a:p>
                      <a:pPr algn="ctr" fontAlgn="ctr">
                        <a:buNone/>
                      </a:pPr>
                      <a:r>
                        <a:rPr lang="en-US" sz="1400" b="1" dirty="0">
                          <a:solidFill>
                            <a:schemeClr val="bg1"/>
                          </a:solidFill>
                          <a:latin typeface="Helvetica" panose="020B0604020202020204" pitchFamily="34" charset="0"/>
                          <a:cs typeface="+mn-cs"/>
                        </a:rPr>
                        <a:t>Module</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th-TH" sz="1400" b="1" kern="1200" dirty="0" err="1">
                          <a:solidFill>
                            <a:schemeClr val="bg1"/>
                          </a:solidFill>
                          <a:latin typeface="Helvetica" panose="020B0604020202020204" pitchFamily="34" charset="0"/>
                          <a:ea typeface="+mn-ea"/>
                          <a:cs typeface="+mn-cs"/>
                        </a:rPr>
                        <a:t>Key</a:t>
                      </a:r>
                      <a:r>
                        <a:rPr lang="th-TH" sz="1400" b="1" kern="1200" dirty="0">
                          <a:solidFill>
                            <a:schemeClr val="bg1"/>
                          </a:solidFill>
                          <a:latin typeface="Helvetica" panose="020B0604020202020204" pitchFamily="34" charset="0"/>
                          <a:ea typeface="+mn-ea"/>
                          <a:cs typeface="+mn-cs"/>
                        </a:rPr>
                        <a:t> </a:t>
                      </a:r>
                      <a:r>
                        <a:rPr lang="th-TH" sz="1400" b="1" kern="1200" dirty="0" err="1">
                          <a:solidFill>
                            <a:schemeClr val="bg1"/>
                          </a:solidFill>
                          <a:latin typeface="Helvetica" panose="020B0604020202020204" pitchFamily="34" charset="0"/>
                          <a:ea typeface="+mn-ea"/>
                          <a:cs typeface="+mn-cs"/>
                        </a:rPr>
                        <a:t>Responsibilities</a:t>
                      </a:r>
                      <a:endParaRPr lang="en-US" sz="1400" b="1" kern="1200" dirty="0">
                        <a:solidFill>
                          <a:schemeClr val="bg1"/>
                        </a:solidFill>
                        <a:latin typeface="Helvetica" panose="020B0604020202020204" pitchFamily="34" charset="0"/>
                        <a:ea typeface="+mn-ea"/>
                        <a:cs typeface="+mn-cs"/>
                      </a:endParaRP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kern="1200" dirty="0">
                          <a:solidFill>
                            <a:schemeClr val="bg1"/>
                          </a:solidFill>
                          <a:latin typeface="Helvetica" panose="020B0604020202020204" pitchFamily="34" charset="0"/>
                          <a:ea typeface="+mn-ea"/>
                          <a:cs typeface="+mn-cs"/>
                        </a:rPr>
                        <a:t>Objective</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kern="1200" dirty="0">
                          <a:solidFill>
                            <a:schemeClr val="bg1"/>
                          </a:solidFill>
                          <a:latin typeface="Helvetica" panose="020B0604020202020204" pitchFamily="34" charset="0"/>
                          <a:ea typeface="+mn-ea"/>
                          <a:cs typeface="+mn-cs"/>
                        </a:rPr>
                        <a:t>Status</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786322214"/>
                  </a:ext>
                </a:extLst>
              </a:tr>
              <a:tr h="741501">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sz="1400" b="1" i="0" kern="1200" dirty="0">
                          <a:solidFill>
                            <a:srgbClr val="002060"/>
                          </a:solidFill>
                          <a:effectLst/>
                          <a:latin typeface="Helvetica" panose="020B0604020202020204" pitchFamily="34" charset="0"/>
                          <a:ea typeface="+mn-ea"/>
                          <a:cs typeface="Helvetica" panose="020B0604020202020204" pitchFamily="34" charset="0"/>
                        </a:rPr>
                        <a:t>Measurement Session Control</a:t>
                      </a:r>
                      <a:endParaRPr lang="th-TH" sz="1400" b="1" i="0" kern="1200" dirty="0">
                        <a:solidFill>
                          <a:srgbClr val="002060"/>
                        </a:solidFill>
                        <a:effectLst/>
                        <a:latin typeface="Helvetica" panose="020B0604020202020204" pitchFamily="34" charset="0"/>
                        <a:ea typeface="+mn-ea"/>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th-TH" sz="1100" dirty="0" err="1">
                          <a:solidFill>
                            <a:srgbClr val="002060"/>
                          </a:solidFill>
                        </a:rPr>
                        <a:t>Receive</a:t>
                      </a:r>
                      <a:r>
                        <a:rPr lang="th-TH" sz="1100" dirty="0">
                          <a:solidFill>
                            <a:srgbClr val="002060"/>
                          </a:solidFill>
                        </a:rPr>
                        <a:t> </a:t>
                      </a:r>
                      <a:r>
                        <a:rPr lang="th-TH" sz="1100" dirty="0" err="1">
                          <a:solidFill>
                            <a:srgbClr val="002060"/>
                          </a:solidFill>
                        </a:rPr>
                        <a:t>Start</a:t>
                      </a:r>
                      <a:r>
                        <a:rPr lang="th-TH" sz="1100" dirty="0">
                          <a:solidFill>
                            <a:srgbClr val="002060"/>
                          </a:solidFill>
                        </a:rPr>
                        <a:t> / </a:t>
                      </a:r>
                      <a:r>
                        <a:rPr lang="th-TH" sz="1100" dirty="0" err="1">
                          <a:solidFill>
                            <a:srgbClr val="002060"/>
                          </a:solidFill>
                        </a:rPr>
                        <a:t>Stop</a:t>
                      </a:r>
                      <a:r>
                        <a:rPr lang="th-TH" sz="1100" dirty="0">
                          <a:solidFill>
                            <a:srgbClr val="002060"/>
                          </a:solidFill>
                        </a:rPr>
                        <a:t> </a:t>
                      </a:r>
                      <a:r>
                        <a:rPr lang="th-TH" sz="1100" dirty="0" err="1">
                          <a:solidFill>
                            <a:srgbClr val="002060"/>
                          </a:solidFill>
                        </a:rPr>
                        <a:t>from</a:t>
                      </a:r>
                      <a:r>
                        <a:rPr lang="th-TH" sz="1100" dirty="0">
                          <a:solidFill>
                            <a:srgbClr val="002060"/>
                          </a:solidFill>
                        </a:rPr>
                        <a:t> </a:t>
                      </a:r>
                      <a:r>
                        <a:rPr lang="th-TH" sz="1100" dirty="0" err="1">
                          <a:solidFill>
                            <a:srgbClr val="002060"/>
                          </a:solidFill>
                        </a:rPr>
                        <a:t>the</a:t>
                      </a:r>
                      <a:r>
                        <a:rPr lang="th-TH" sz="1100" dirty="0">
                          <a:solidFill>
                            <a:srgbClr val="002060"/>
                          </a:solidFill>
                        </a:rPr>
                        <a:t> </a:t>
                      </a:r>
                      <a:r>
                        <a:rPr lang="th-TH" sz="1100" dirty="0" err="1">
                          <a:solidFill>
                            <a:srgbClr val="002060"/>
                          </a:solidFill>
                        </a:rPr>
                        <a:t>web</a:t>
                      </a:r>
                      <a:endParaRPr lang="th-TH" sz="1100" dirty="0">
                        <a:solidFill>
                          <a:srgbClr val="002060"/>
                        </a:solidFill>
                      </a:endParaRPr>
                    </a:p>
                    <a:p>
                      <a:pPr marL="171450" indent="-171450">
                        <a:buFont typeface="Arial" panose="020B0604020202020204" pitchFamily="34" charset="0"/>
                        <a:buChar char="•"/>
                      </a:pPr>
                      <a:r>
                        <a:rPr lang="th-TH" sz="1100" dirty="0" err="1">
                          <a:solidFill>
                            <a:srgbClr val="002060"/>
                          </a:solidFill>
                        </a:rPr>
                        <a:t>Send</a:t>
                      </a:r>
                      <a:r>
                        <a:rPr lang="th-TH" sz="1100" dirty="0">
                          <a:solidFill>
                            <a:srgbClr val="002060"/>
                          </a:solidFill>
                        </a:rPr>
                        <a:t> </a:t>
                      </a:r>
                      <a:r>
                        <a:rPr lang="th-TH" sz="1100" dirty="0" err="1">
                          <a:solidFill>
                            <a:srgbClr val="002060"/>
                          </a:solidFill>
                        </a:rPr>
                        <a:t>the</a:t>
                      </a:r>
                      <a:r>
                        <a:rPr lang="th-TH" sz="1100" dirty="0">
                          <a:solidFill>
                            <a:srgbClr val="002060"/>
                          </a:solidFill>
                        </a:rPr>
                        <a:t> </a:t>
                      </a:r>
                      <a:r>
                        <a:rPr lang="th-TH" sz="1100" dirty="0" err="1">
                          <a:solidFill>
                            <a:srgbClr val="002060"/>
                          </a:solidFill>
                        </a:rPr>
                        <a:t>measurement</a:t>
                      </a:r>
                      <a:r>
                        <a:rPr lang="th-TH" sz="1100" dirty="0">
                          <a:solidFill>
                            <a:srgbClr val="002060"/>
                          </a:solidFill>
                        </a:rPr>
                        <a:t> </a:t>
                      </a:r>
                      <a:r>
                        <a:rPr lang="th-TH" sz="1100" dirty="0" err="1">
                          <a:solidFill>
                            <a:srgbClr val="002060"/>
                          </a:solidFill>
                        </a:rPr>
                        <a:t>plan</a:t>
                      </a:r>
                      <a:r>
                        <a:rPr lang="th-TH" sz="1100" dirty="0">
                          <a:solidFill>
                            <a:srgbClr val="002060"/>
                          </a:solidFill>
                        </a:rPr>
                        <a:t> </a:t>
                      </a:r>
                      <a:r>
                        <a:rPr lang="th-TH" sz="1100" dirty="0" err="1">
                          <a:solidFill>
                            <a:srgbClr val="002060"/>
                          </a:solidFill>
                        </a:rPr>
                        <a:t>to</a:t>
                      </a:r>
                      <a:r>
                        <a:rPr lang="th-TH" sz="1100" dirty="0">
                          <a:solidFill>
                            <a:srgbClr val="002060"/>
                          </a:solidFill>
                        </a:rPr>
                        <a:t> </a:t>
                      </a:r>
                      <a:r>
                        <a:rPr lang="th-TH" sz="1100" dirty="0" err="1">
                          <a:solidFill>
                            <a:srgbClr val="002060"/>
                          </a:solidFill>
                        </a:rPr>
                        <a:t>the</a:t>
                      </a:r>
                      <a:r>
                        <a:rPr lang="th-TH" sz="1100" dirty="0">
                          <a:solidFill>
                            <a:srgbClr val="002060"/>
                          </a:solidFill>
                        </a:rPr>
                        <a:t> </a:t>
                      </a:r>
                      <a:r>
                        <a:rPr lang="th-TH" sz="1100" dirty="0" err="1">
                          <a:solidFill>
                            <a:srgbClr val="002060"/>
                          </a:solidFill>
                        </a:rPr>
                        <a:t>Pi</a:t>
                      </a:r>
                      <a:endParaRPr lang="th-TH" sz="1100" dirty="0">
                        <a:solidFill>
                          <a:srgbClr val="002060"/>
                        </a:solidFill>
                      </a:endParaRPr>
                    </a:p>
                    <a:p>
                      <a:pPr marL="171450" indent="-171450">
                        <a:buFont typeface="Arial" panose="020B0604020202020204" pitchFamily="34" charset="0"/>
                        <a:buChar char="•"/>
                      </a:pPr>
                      <a:r>
                        <a:rPr lang="th-TH" sz="1100" dirty="0" err="1">
                          <a:solidFill>
                            <a:srgbClr val="002060"/>
                          </a:solidFill>
                        </a:rPr>
                        <a:t>Detect</a:t>
                      </a:r>
                      <a:r>
                        <a:rPr lang="th-TH" sz="1100" dirty="0">
                          <a:solidFill>
                            <a:srgbClr val="002060"/>
                          </a:solidFill>
                        </a:rPr>
                        <a:t> </a:t>
                      </a:r>
                      <a:r>
                        <a:rPr lang="th-TH" sz="1100" dirty="0" err="1">
                          <a:solidFill>
                            <a:srgbClr val="002060"/>
                          </a:solidFill>
                        </a:rPr>
                        <a:t>when</a:t>
                      </a:r>
                      <a:r>
                        <a:rPr lang="th-TH" sz="1100" dirty="0">
                          <a:solidFill>
                            <a:srgbClr val="002060"/>
                          </a:solidFill>
                        </a:rPr>
                        <a:t> </a:t>
                      </a:r>
                      <a:r>
                        <a:rPr lang="th-TH" sz="1100" dirty="0" err="1">
                          <a:solidFill>
                            <a:srgbClr val="002060"/>
                          </a:solidFill>
                        </a:rPr>
                        <a:t>the</a:t>
                      </a:r>
                      <a:r>
                        <a:rPr lang="th-TH" sz="1100" dirty="0">
                          <a:solidFill>
                            <a:srgbClr val="002060"/>
                          </a:solidFill>
                        </a:rPr>
                        <a:t> </a:t>
                      </a:r>
                      <a:r>
                        <a:rPr lang="th-TH" sz="1100" dirty="0" err="1">
                          <a:solidFill>
                            <a:srgbClr val="002060"/>
                          </a:solidFill>
                        </a:rPr>
                        <a:t>Pi</a:t>
                      </a:r>
                      <a:r>
                        <a:rPr lang="th-TH" sz="1100" dirty="0">
                          <a:solidFill>
                            <a:srgbClr val="002060"/>
                          </a:solidFill>
                        </a:rPr>
                        <a:t> </a:t>
                      </a:r>
                      <a:r>
                        <a:rPr lang="th-TH" sz="1100" dirty="0" err="1">
                          <a:solidFill>
                            <a:srgbClr val="002060"/>
                          </a:solidFill>
                        </a:rPr>
                        <a:t>or</a:t>
                      </a:r>
                      <a:r>
                        <a:rPr lang="th-TH" sz="1100" dirty="0">
                          <a:solidFill>
                            <a:srgbClr val="002060"/>
                          </a:solidFill>
                        </a:rPr>
                        <a:t> </a:t>
                      </a:r>
                      <a:r>
                        <a:rPr lang="th-TH" sz="1100" dirty="0" err="1">
                          <a:solidFill>
                            <a:srgbClr val="002060"/>
                          </a:solidFill>
                        </a:rPr>
                        <a:t>the</a:t>
                      </a:r>
                      <a:r>
                        <a:rPr lang="th-TH" sz="1100" dirty="0">
                          <a:solidFill>
                            <a:srgbClr val="002060"/>
                          </a:solidFill>
                        </a:rPr>
                        <a:t> </a:t>
                      </a:r>
                      <a:r>
                        <a:rPr lang="th-TH" sz="1100" dirty="0" err="1">
                          <a:solidFill>
                            <a:srgbClr val="002060"/>
                          </a:solidFill>
                        </a:rPr>
                        <a:t>database</a:t>
                      </a:r>
                      <a:r>
                        <a:rPr lang="th-TH" sz="1100" dirty="0">
                          <a:solidFill>
                            <a:srgbClr val="002060"/>
                          </a:solidFill>
                        </a:rPr>
                        <a:t> </a:t>
                      </a:r>
                      <a:r>
                        <a:rPr lang="th-TH" sz="1100" dirty="0" err="1">
                          <a:solidFill>
                            <a:srgbClr val="002060"/>
                          </a:solidFill>
                        </a:rPr>
                        <a:t>drops</a:t>
                      </a:r>
                      <a:r>
                        <a:rPr lang="th-TH" sz="1100" dirty="0">
                          <a:solidFill>
                            <a:srgbClr val="002060"/>
                          </a:solidFill>
                        </a:rPr>
                        <a:t> </a:t>
                      </a:r>
                      <a:r>
                        <a:rPr lang="th-TH" sz="1100" dirty="0" err="1">
                          <a:solidFill>
                            <a:srgbClr val="002060"/>
                          </a:solidFill>
                        </a:rPr>
                        <a:t>out</a:t>
                      </a:r>
                      <a:endParaRPr lang="en-US" sz="1100" dirty="0">
                        <a:solidFill>
                          <a:srgbClr val="002060"/>
                        </a:solidFill>
                        <a:latin typeface="Helvetica" panose="020B0604020202020204" pitchFamily="34" charset="0"/>
                        <a:cs typeface="Helvetica" panose="020B0604020202020204" pitchFamily="34" charset="0"/>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100" kern="1200" dirty="0">
                          <a:solidFill>
                            <a:srgbClr val="002060"/>
                          </a:solidFill>
                          <a:latin typeface="+mn-lt"/>
                          <a:ea typeface="+mn-ea"/>
                          <a:cs typeface="+mn-cs"/>
                        </a:rPr>
                        <a:t>Control measurement session in each round</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sz="1400" b="0" i="0" kern="1200" dirty="0">
                          <a:solidFill>
                            <a:schemeClr val="accent3">
                              <a:lumMod val="60000"/>
                              <a:lumOff val="40000"/>
                            </a:schemeClr>
                          </a:solidFill>
                          <a:effectLst/>
                          <a:latin typeface="Helvetica" panose="020B0604020202020204" pitchFamily="34" charset="0"/>
                          <a:ea typeface="+mn-ea"/>
                          <a:cs typeface="Helvetica" panose="020B0604020202020204" pitchFamily="34" charset="0"/>
                        </a:rPr>
                        <a:t>Completed</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32952113"/>
                  </a:ext>
                </a:extLst>
              </a:tr>
              <a:tr h="727788">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th-TH" sz="1400" b="1" i="0" kern="1200" dirty="0" err="1">
                          <a:solidFill>
                            <a:srgbClr val="002060"/>
                          </a:solidFill>
                          <a:effectLst/>
                          <a:latin typeface="Helvetica" panose="020B0604020202020204" pitchFamily="34" charset="0"/>
                          <a:ea typeface="+mn-ea"/>
                        </a:rPr>
                        <a:t>Validation</a:t>
                      </a:r>
                      <a:r>
                        <a:rPr lang="th-TH" sz="1400" b="1" i="0" kern="1200" dirty="0">
                          <a:solidFill>
                            <a:srgbClr val="002060"/>
                          </a:solidFill>
                          <a:effectLst/>
                          <a:latin typeface="Helvetica" panose="020B0604020202020204" pitchFamily="34" charset="0"/>
                          <a:ea typeface="+mn-ea"/>
                        </a:rPr>
                        <a:t> </a:t>
                      </a:r>
                      <a:r>
                        <a:rPr lang="en-US" sz="1400" b="1" i="0" kern="1200" dirty="0">
                          <a:solidFill>
                            <a:srgbClr val="002060"/>
                          </a:solidFill>
                          <a:effectLst/>
                          <a:latin typeface="Helvetica" panose="020B0604020202020204" pitchFamily="34" charset="0"/>
                          <a:ea typeface="+mn-ea"/>
                          <a:cs typeface="Helvetica" panose="020B0604020202020204" pitchFamily="34" charset="0"/>
                        </a:rPr>
                        <a:t>&amp;</a:t>
                      </a:r>
                      <a:r>
                        <a:rPr lang="th-TH" sz="1400" b="1" i="0" kern="1200" dirty="0">
                          <a:solidFill>
                            <a:srgbClr val="002060"/>
                          </a:solidFill>
                          <a:effectLst/>
                          <a:latin typeface="Helvetica" panose="020B0604020202020204" pitchFamily="34" charset="0"/>
                          <a:ea typeface="+mn-ea"/>
                        </a:rPr>
                        <a:t> </a:t>
                      </a:r>
                      <a:r>
                        <a:rPr lang="th-TH" sz="1400" b="1" i="0" kern="1200" dirty="0" err="1">
                          <a:solidFill>
                            <a:srgbClr val="002060"/>
                          </a:solidFill>
                          <a:effectLst/>
                          <a:latin typeface="Helvetica" panose="020B0604020202020204" pitchFamily="34" charset="0"/>
                          <a:ea typeface="+mn-ea"/>
                        </a:rPr>
                        <a:t>Decision</a:t>
                      </a:r>
                      <a:endParaRPr lang="th-TH" sz="1400" b="1" i="0" kern="1200" dirty="0">
                        <a:solidFill>
                          <a:srgbClr val="002060"/>
                        </a:solidFill>
                        <a:effectLst/>
                        <a:latin typeface="Helvetica" panose="020B0604020202020204" pitchFamily="34" charset="0"/>
                        <a:ea typeface="+mn-ea"/>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th-TH" sz="1100" dirty="0" err="1">
                          <a:solidFill>
                            <a:srgbClr val="002060"/>
                          </a:solidFill>
                        </a:rPr>
                        <a:t>Receive</a:t>
                      </a:r>
                      <a:r>
                        <a:rPr lang="th-TH" sz="1100" dirty="0">
                          <a:solidFill>
                            <a:srgbClr val="002060"/>
                          </a:solidFill>
                        </a:rPr>
                        <a:t> </a:t>
                      </a:r>
                      <a:r>
                        <a:rPr lang="th-TH" sz="1100" dirty="0" err="1">
                          <a:solidFill>
                            <a:srgbClr val="002060"/>
                          </a:solidFill>
                        </a:rPr>
                        <a:t>values</a:t>
                      </a:r>
                      <a:r>
                        <a:rPr lang="th-TH" sz="1100" dirty="0">
                          <a:solidFill>
                            <a:srgbClr val="002060"/>
                          </a:solidFill>
                        </a:rPr>
                        <a:t> </a:t>
                      </a:r>
                      <a:r>
                        <a:rPr lang="th-TH" sz="1100" dirty="0" err="1">
                          <a:solidFill>
                            <a:srgbClr val="002060"/>
                          </a:solidFill>
                        </a:rPr>
                        <a:t>from</a:t>
                      </a:r>
                      <a:r>
                        <a:rPr lang="th-TH" sz="1100" dirty="0">
                          <a:solidFill>
                            <a:srgbClr val="002060"/>
                          </a:solidFill>
                        </a:rPr>
                        <a:t> </a:t>
                      </a:r>
                      <a:r>
                        <a:rPr lang="th-TH" sz="1100" dirty="0" err="1">
                          <a:solidFill>
                            <a:srgbClr val="002060"/>
                          </a:solidFill>
                        </a:rPr>
                        <a:t>the</a:t>
                      </a:r>
                      <a:r>
                        <a:rPr lang="th-TH" sz="1100" dirty="0">
                          <a:solidFill>
                            <a:srgbClr val="002060"/>
                          </a:solidFill>
                        </a:rPr>
                        <a:t> Data </a:t>
                      </a:r>
                      <a:r>
                        <a:rPr lang="th-TH" sz="1100" dirty="0" err="1">
                          <a:solidFill>
                            <a:srgbClr val="002060"/>
                          </a:solidFill>
                        </a:rPr>
                        <a:t>Receiver</a:t>
                      </a:r>
                      <a:endParaRPr lang="th-TH" sz="1100" dirty="0">
                        <a:solidFill>
                          <a:srgbClr val="002060"/>
                        </a:solidFill>
                      </a:endParaRPr>
                    </a:p>
                    <a:p>
                      <a:pPr marL="171450" indent="-171450">
                        <a:buFont typeface="Arial" panose="020B0604020202020204" pitchFamily="34" charset="0"/>
                        <a:buChar char="•"/>
                      </a:pPr>
                      <a:r>
                        <a:rPr lang="th-TH" sz="1100" dirty="0" err="1">
                          <a:solidFill>
                            <a:srgbClr val="002060"/>
                          </a:solidFill>
                        </a:rPr>
                        <a:t>Decide</a:t>
                      </a:r>
                      <a:r>
                        <a:rPr lang="th-TH" sz="1100" dirty="0">
                          <a:solidFill>
                            <a:srgbClr val="002060"/>
                          </a:solidFill>
                        </a:rPr>
                        <a:t> OK / NG</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100" kern="1200" dirty="0">
                          <a:solidFill>
                            <a:srgbClr val="002060"/>
                          </a:solidFill>
                          <a:latin typeface="+mn-lt"/>
                          <a:ea typeface="+mn-ea"/>
                          <a:cs typeface="+mn-cs"/>
                        </a:rPr>
                        <a:t>Check that measurement ALPL value is in range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sz="1400" b="0" i="0" dirty="0">
                          <a:solidFill>
                            <a:srgbClr val="FFC000"/>
                          </a:solidFill>
                          <a:effectLst/>
                          <a:latin typeface="Helvetica" panose="020B0604020202020204" pitchFamily="34" charset="0"/>
                          <a:cs typeface="Helvetica" panose="020B0604020202020204" pitchFamily="34" charset="0"/>
                        </a:rPr>
                        <a:t>On track</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7472765"/>
                  </a:ext>
                </a:extLst>
              </a:tr>
              <a:tr h="1144253">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GB" sz="1400" b="1" i="0" kern="1200" dirty="0">
                          <a:solidFill>
                            <a:srgbClr val="002060"/>
                          </a:solidFill>
                          <a:effectLst/>
                          <a:latin typeface="Helvetica" panose="020B0604020202020204" pitchFamily="34" charset="0"/>
                          <a:ea typeface="+mn-ea"/>
                          <a:cs typeface="Helvetica" panose="020B0604020202020204" pitchFamily="34" charset="0"/>
                        </a:rPr>
                        <a:t>Data Management</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71450" indent="-171450" algn="l" defTabSz="914400" rtl="0" eaLnBrk="1" latinLnBrk="0" hangingPunct="1">
                        <a:buFont typeface="Arial" panose="020B0604020202020204" pitchFamily="34" charset="0"/>
                        <a:buChar char="•"/>
                      </a:pPr>
                      <a:r>
                        <a:rPr lang="th-TH" sz="1100" dirty="0" err="1">
                          <a:solidFill>
                            <a:srgbClr val="002060"/>
                          </a:solidFill>
                        </a:rPr>
                        <a:t>Store</a:t>
                      </a:r>
                      <a:r>
                        <a:rPr lang="th-TH" sz="1100" dirty="0">
                          <a:solidFill>
                            <a:srgbClr val="002060"/>
                          </a:solidFill>
                        </a:rPr>
                        <a:t> </a:t>
                      </a:r>
                      <a:r>
                        <a:rPr lang="th-TH" sz="1100" dirty="0" err="1">
                          <a:solidFill>
                            <a:srgbClr val="002060"/>
                          </a:solidFill>
                        </a:rPr>
                        <a:t>results</a:t>
                      </a:r>
                      <a:r>
                        <a:rPr lang="th-TH" sz="1100" dirty="0">
                          <a:solidFill>
                            <a:srgbClr val="002060"/>
                          </a:solidFill>
                        </a:rPr>
                        <a:t> </a:t>
                      </a:r>
                      <a:r>
                        <a:rPr lang="th-TH" sz="1100" dirty="0" err="1">
                          <a:solidFill>
                            <a:srgbClr val="002060"/>
                          </a:solidFill>
                        </a:rPr>
                        <a:t>in</a:t>
                      </a:r>
                      <a:r>
                        <a:rPr lang="th-TH" sz="1100" dirty="0">
                          <a:solidFill>
                            <a:srgbClr val="002060"/>
                          </a:solidFill>
                        </a:rPr>
                        <a:t> </a:t>
                      </a:r>
                      <a:r>
                        <a:rPr lang="th-TH" sz="1100" dirty="0" err="1">
                          <a:solidFill>
                            <a:srgbClr val="002060"/>
                          </a:solidFill>
                        </a:rPr>
                        <a:t>the</a:t>
                      </a:r>
                      <a:r>
                        <a:rPr lang="th-TH" sz="1100" dirty="0">
                          <a:solidFill>
                            <a:srgbClr val="002060"/>
                          </a:solidFill>
                        </a:rPr>
                        <a:t> </a:t>
                      </a:r>
                      <a:r>
                        <a:rPr lang="th-TH" sz="1100" dirty="0" err="1">
                          <a:solidFill>
                            <a:srgbClr val="002060"/>
                          </a:solidFill>
                        </a:rPr>
                        <a:t>database</a:t>
                      </a:r>
                      <a:r>
                        <a:rPr lang="th-TH" sz="1100" dirty="0">
                          <a:solidFill>
                            <a:srgbClr val="002060"/>
                          </a:solidFill>
                        </a:rPr>
                        <a:t>, </a:t>
                      </a:r>
                      <a:r>
                        <a:rPr lang="th-TH" sz="1100" dirty="0" err="1">
                          <a:solidFill>
                            <a:srgbClr val="002060"/>
                          </a:solidFill>
                        </a:rPr>
                        <a:t>images</a:t>
                      </a:r>
                      <a:r>
                        <a:rPr lang="th-TH" sz="1100" dirty="0">
                          <a:solidFill>
                            <a:srgbClr val="002060"/>
                          </a:solidFill>
                        </a:rPr>
                        <a:t> </a:t>
                      </a:r>
                      <a:r>
                        <a:rPr lang="th-TH" sz="1100" dirty="0" err="1">
                          <a:solidFill>
                            <a:srgbClr val="002060"/>
                          </a:solidFill>
                        </a:rPr>
                        <a:t>on</a:t>
                      </a:r>
                      <a:r>
                        <a:rPr lang="th-TH" sz="1100" dirty="0">
                          <a:solidFill>
                            <a:srgbClr val="002060"/>
                          </a:solidFill>
                        </a:rPr>
                        <a:t> </a:t>
                      </a:r>
                      <a:r>
                        <a:rPr lang="th-TH" sz="1100" dirty="0" err="1">
                          <a:solidFill>
                            <a:srgbClr val="002060"/>
                          </a:solidFill>
                        </a:rPr>
                        <a:t>disk</a:t>
                      </a:r>
                      <a:endParaRPr lang="th-TH" sz="1100" dirty="0">
                        <a:solidFill>
                          <a:srgbClr val="002060"/>
                        </a:solidFill>
                      </a:endParaRPr>
                    </a:p>
                    <a:p>
                      <a:pPr marL="171450" indent="-171450" algn="l" defTabSz="914400" rtl="0" eaLnBrk="1" latinLnBrk="0" hangingPunct="1">
                        <a:buFont typeface="Arial" panose="020B0604020202020204" pitchFamily="34" charset="0"/>
                        <a:buChar char="•"/>
                      </a:pPr>
                      <a:r>
                        <a:rPr lang="th-TH" sz="1100" dirty="0" err="1">
                          <a:solidFill>
                            <a:srgbClr val="002060"/>
                          </a:solidFill>
                        </a:rPr>
                        <a:t>Edit</a:t>
                      </a:r>
                      <a:r>
                        <a:rPr lang="th-TH" sz="1100" dirty="0">
                          <a:solidFill>
                            <a:srgbClr val="002060"/>
                          </a:solidFill>
                        </a:rPr>
                        <a:t> and </a:t>
                      </a:r>
                      <a:r>
                        <a:rPr lang="th-TH" sz="1100" dirty="0" err="1">
                          <a:solidFill>
                            <a:srgbClr val="002060"/>
                          </a:solidFill>
                        </a:rPr>
                        <a:t>delete</a:t>
                      </a:r>
                      <a:r>
                        <a:rPr lang="th-TH" sz="1100" dirty="0">
                          <a:solidFill>
                            <a:srgbClr val="002060"/>
                          </a:solidFill>
                        </a:rPr>
                        <a:t> </a:t>
                      </a:r>
                      <a:r>
                        <a:rPr lang="th-TH" sz="1100" dirty="0" err="1">
                          <a:solidFill>
                            <a:srgbClr val="002060"/>
                          </a:solidFill>
                        </a:rPr>
                        <a:t>records</a:t>
                      </a:r>
                      <a:endParaRPr lang="th-TH" sz="1100" dirty="0">
                        <a:solidFill>
                          <a:srgbClr val="002060"/>
                        </a:solidFill>
                      </a:endParaRPr>
                    </a:p>
                    <a:p>
                      <a:pPr marL="171450" indent="-171450" algn="l" defTabSz="914400" rtl="0" eaLnBrk="1" latinLnBrk="0" hangingPunct="1">
                        <a:buFont typeface="Arial" panose="020B0604020202020204" pitchFamily="34" charset="0"/>
                        <a:buChar char="•"/>
                      </a:pPr>
                      <a:r>
                        <a:rPr lang="th-TH" sz="1100" dirty="0" err="1">
                          <a:solidFill>
                            <a:srgbClr val="002060"/>
                          </a:solidFill>
                        </a:rPr>
                        <a:t>Keep</a:t>
                      </a:r>
                      <a:r>
                        <a:rPr lang="th-TH" sz="1100" dirty="0">
                          <a:solidFill>
                            <a:srgbClr val="002060"/>
                          </a:solidFill>
                        </a:rPr>
                        <a:t> </a:t>
                      </a:r>
                      <a:r>
                        <a:rPr lang="th-TH" sz="1100" dirty="0" err="1">
                          <a:solidFill>
                            <a:srgbClr val="002060"/>
                          </a:solidFill>
                        </a:rPr>
                        <a:t>deleted</a:t>
                      </a:r>
                      <a:r>
                        <a:rPr lang="th-TH" sz="1100" dirty="0">
                          <a:solidFill>
                            <a:srgbClr val="002060"/>
                          </a:solidFill>
                        </a:rPr>
                        <a:t> </a:t>
                      </a:r>
                      <a:r>
                        <a:rPr lang="th-TH" sz="1100" dirty="0" err="1">
                          <a:solidFill>
                            <a:srgbClr val="002060"/>
                          </a:solidFill>
                        </a:rPr>
                        <a:t>records</a:t>
                      </a:r>
                      <a:r>
                        <a:rPr lang="th-TH" sz="1100" dirty="0">
                          <a:solidFill>
                            <a:srgbClr val="002060"/>
                          </a:solidFill>
                        </a:rPr>
                        <a:t> </a:t>
                      </a:r>
                      <a:r>
                        <a:rPr lang="th-TH" sz="1100" dirty="0" err="1">
                          <a:solidFill>
                            <a:srgbClr val="002060"/>
                          </a:solidFill>
                        </a:rPr>
                        <a:t>for</a:t>
                      </a:r>
                      <a:r>
                        <a:rPr lang="th-TH" sz="1100" dirty="0">
                          <a:solidFill>
                            <a:srgbClr val="002060"/>
                          </a:solidFill>
                        </a:rPr>
                        <a:t> 30 </a:t>
                      </a:r>
                      <a:r>
                        <a:rPr lang="th-TH" sz="1100" dirty="0" err="1">
                          <a:solidFill>
                            <a:srgbClr val="002060"/>
                          </a:solidFill>
                        </a:rPr>
                        <a:t>days</a:t>
                      </a:r>
                      <a:endParaRPr lang="th-TH" sz="1100" dirty="0">
                        <a:solidFill>
                          <a:srgbClr val="002060"/>
                        </a:solidFill>
                      </a:endParaRPr>
                    </a:p>
                    <a:p>
                      <a:pPr marL="171450" indent="-171450" algn="l" defTabSz="914400" rtl="0" eaLnBrk="1" latinLnBrk="0" hangingPunct="1">
                        <a:buFont typeface="Arial" panose="020B0604020202020204" pitchFamily="34" charset="0"/>
                        <a:buChar char="•"/>
                      </a:pPr>
                      <a:r>
                        <a:rPr lang="th-TH" sz="1100" dirty="0" err="1">
                          <a:solidFill>
                            <a:srgbClr val="002060"/>
                          </a:solidFill>
                        </a:rPr>
                        <a:t>Log</a:t>
                      </a:r>
                      <a:r>
                        <a:rPr lang="th-TH" sz="1100" dirty="0">
                          <a:solidFill>
                            <a:srgbClr val="002060"/>
                          </a:solidFill>
                        </a:rPr>
                        <a:t> </a:t>
                      </a:r>
                      <a:r>
                        <a:rPr lang="th-TH" sz="1100" dirty="0" err="1">
                          <a:solidFill>
                            <a:srgbClr val="002060"/>
                          </a:solidFill>
                        </a:rPr>
                        <a:t>every</a:t>
                      </a:r>
                      <a:r>
                        <a:rPr lang="th-TH" sz="1100" dirty="0">
                          <a:solidFill>
                            <a:srgbClr val="002060"/>
                          </a:solidFill>
                        </a:rPr>
                        <a:t> </a:t>
                      </a:r>
                      <a:r>
                        <a:rPr lang="th-TH" sz="1100" dirty="0" err="1">
                          <a:solidFill>
                            <a:srgbClr val="002060"/>
                          </a:solidFill>
                        </a:rPr>
                        <a:t>change</a:t>
                      </a:r>
                      <a:r>
                        <a:rPr lang="th-TH" sz="1100" dirty="0">
                          <a:solidFill>
                            <a:srgbClr val="002060"/>
                          </a:solidFill>
                        </a:rPr>
                        <a:t> </a:t>
                      </a:r>
                      <a:r>
                        <a:rPr lang="th-TH" sz="1100" dirty="0" err="1">
                          <a:solidFill>
                            <a:srgbClr val="002060"/>
                          </a:solidFill>
                        </a:rPr>
                        <a:t>with</a:t>
                      </a:r>
                      <a:r>
                        <a:rPr lang="th-TH" sz="1100" dirty="0">
                          <a:solidFill>
                            <a:srgbClr val="002060"/>
                          </a:solidFill>
                        </a:rPr>
                        <a:t> </a:t>
                      </a:r>
                      <a:r>
                        <a:rPr lang="th-TH" sz="1100" dirty="0" err="1">
                          <a:solidFill>
                            <a:srgbClr val="002060"/>
                          </a:solidFill>
                        </a:rPr>
                        <a:t>before</a:t>
                      </a:r>
                      <a:r>
                        <a:rPr lang="th-TH" sz="1100" dirty="0">
                          <a:solidFill>
                            <a:srgbClr val="002060"/>
                          </a:solidFill>
                        </a:rPr>
                        <a:t> / </a:t>
                      </a:r>
                      <a:r>
                        <a:rPr lang="th-TH" sz="1100" dirty="0" err="1">
                          <a:solidFill>
                            <a:srgbClr val="002060"/>
                          </a:solidFill>
                        </a:rPr>
                        <a:t>after</a:t>
                      </a:r>
                      <a:endParaRPr lang="th-TH" sz="1100" kern="1200" dirty="0">
                        <a:solidFill>
                          <a:srgbClr val="002060"/>
                        </a:solidFill>
                        <a:latin typeface="Helvetica" panose="020B0604020202020204" pitchFamily="34" charset="0"/>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100" kern="1200" dirty="0">
                          <a:solidFill>
                            <a:srgbClr val="002060"/>
                          </a:solidFill>
                          <a:latin typeface="+mn-lt"/>
                          <a:ea typeface="+mn-ea"/>
                          <a:cs typeface="+mn-cs"/>
                        </a:rPr>
                        <a:t>To manage the data that send from TM-X and require from user to add edit delete data in database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sz="1400" b="0" i="0" dirty="0">
                          <a:solidFill>
                            <a:schemeClr val="accent3">
                              <a:lumMod val="60000"/>
                              <a:lumOff val="40000"/>
                            </a:schemeClr>
                          </a:solidFill>
                          <a:effectLst/>
                          <a:latin typeface="Helvetica" panose="020B0604020202020204" pitchFamily="34" charset="0"/>
                          <a:cs typeface="Helvetica" panose="020B0604020202020204" pitchFamily="34" charset="0"/>
                        </a:rPr>
                        <a:t>Completed</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90769145"/>
                  </a:ext>
                </a:extLst>
              </a:tr>
              <a:tr h="727787">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th-TH" sz="1400" b="1" i="0" kern="1200" dirty="0" err="1">
                          <a:solidFill>
                            <a:srgbClr val="002060"/>
                          </a:solidFill>
                          <a:effectLst/>
                          <a:latin typeface="Helvetica" panose="020B0604020202020204" pitchFamily="34" charset="0"/>
                          <a:ea typeface="+mn-ea"/>
                        </a:rPr>
                        <a:t>Real</a:t>
                      </a:r>
                      <a:r>
                        <a:rPr lang="th-TH" sz="1400" b="1" i="0" kern="1200" dirty="0">
                          <a:solidFill>
                            <a:srgbClr val="002060"/>
                          </a:solidFill>
                          <a:effectLst/>
                          <a:latin typeface="Helvetica" panose="020B0604020202020204" pitchFamily="34" charset="0"/>
                          <a:ea typeface="+mn-ea"/>
                        </a:rPr>
                        <a:t>-Time </a:t>
                      </a:r>
                      <a:r>
                        <a:rPr lang="th-TH" sz="1400" b="1" i="0" kern="1200" dirty="0" err="1">
                          <a:solidFill>
                            <a:srgbClr val="002060"/>
                          </a:solidFill>
                          <a:effectLst/>
                          <a:latin typeface="Helvetica" panose="020B0604020202020204" pitchFamily="34" charset="0"/>
                          <a:ea typeface="+mn-ea"/>
                        </a:rPr>
                        <a:t>Monitoring</a:t>
                      </a:r>
                      <a:endParaRPr lang="th-TH" sz="1400" b="1" i="0" kern="1200" dirty="0">
                        <a:solidFill>
                          <a:srgbClr val="002060"/>
                        </a:solidFill>
                        <a:effectLst/>
                        <a:latin typeface="Helvetica" panose="020B0604020202020204" pitchFamily="34" charset="0"/>
                        <a:ea typeface="+mn-ea"/>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71450" indent="-171450" algn="l" defTabSz="914400" rtl="0" eaLnBrk="1" latinLnBrk="0" hangingPunct="1">
                        <a:buFont typeface="Arial" panose="020B0604020202020204" pitchFamily="34" charset="0"/>
                        <a:buChar char="•"/>
                      </a:pPr>
                      <a:r>
                        <a:rPr lang="th-TH" sz="1100" dirty="0" err="1">
                          <a:solidFill>
                            <a:srgbClr val="002060"/>
                          </a:solidFill>
                        </a:rPr>
                        <a:t>Push</a:t>
                      </a:r>
                      <a:r>
                        <a:rPr lang="th-TH" sz="1100" dirty="0">
                          <a:solidFill>
                            <a:srgbClr val="002060"/>
                          </a:solidFill>
                        </a:rPr>
                        <a:t> </a:t>
                      </a:r>
                      <a:r>
                        <a:rPr lang="th-TH" sz="1100" dirty="0" err="1">
                          <a:solidFill>
                            <a:srgbClr val="002060"/>
                          </a:solidFill>
                        </a:rPr>
                        <a:t>live</a:t>
                      </a:r>
                      <a:r>
                        <a:rPr lang="th-TH" sz="1100" dirty="0">
                          <a:solidFill>
                            <a:srgbClr val="002060"/>
                          </a:solidFill>
                        </a:rPr>
                        <a:t> </a:t>
                      </a:r>
                      <a:r>
                        <a:rPr lang="th-TH" sz="1100" dirty="0" err="1">
                          <a:solidFill>
                            <a:srgbClr val="002060"/>
                          </a:solidFill>
                        </a:rPr>
                        <a:t>results</a:t>
                      </a:r>
                      <a:r>
                        <a:rPr lang="th-TH" sz="1100" dirty="0">
                          <a:solidFill>
                            <a:srgbClr val="002060"/>
                          </a:solidFill>
                        </a:rPr>
                        <a:t> </a:t>
                      </a:r>
                      <a:r>
                        <a:rPr lang="th-TH" sz="1100" dirty="0" err="1">
                          <a:solidFill>
                            <a:srgbClr val="002060"/>
                          </a:solidFill>
                        </a:rPr>
                        <a:t>to</a:t>
                      </a:r>
                      <a:r>
                        <a:rPr lang="th-TH" sz="1100" dirty="0">
                          <a:solidFill>
                            <a:srgbClr val="002060"/>
                          </a:solidFill>
                        </a:rPr>
                        <a:t> </a:t>
                      </a:r>
                      <a:r>
                        <a:rPr lang="th-TH" sz="1100" dirty="0" err="1">
                          <a:solidFill>
                            <a:srgbClr val="002060"/>
                          </a:solidFill>
                        </a:rPr>
                        <a:t>the</a:t>
                      </a:r>
                      <a:r>
                        <a:rPr lang="th-TH" sz="1100" dirty="0">
                          <a:solidFill>
                            <a:srgbClr val="002060"/>
                          </a:solidFill>
                        </a:rPr>
                        <a:t> </a:t>
                      </a:r>
                      <a:r>
                        <a:rPr lang="th-TH" sz="1100" dirty="0" err="1">
                          <a:solidFill>
                            <a:srgbClr val="002060"/>
                          </a:solidFill>
                        </a:rPr>
                        <a:t>web</a:t>
                      </a:r>
                      <a:r>
                        <a:rPr lang="th-TH" sz="1100" dirty="0">
                          <a:solidFill>
                            <a:srgbClr val="002060"/>
                          </a:solidFill>
                        </a:rPr>
                        <a:t> </a:t>
                      </a:r>
                      <a:r>
                        <a:rPr lang="th-TH" sz="1100" dirty="0" err="1">
                          <a:solidFill>
                            <a:srgbClr val="002060"/>
                          </a:solidFill>
                        </a:rPr>
                        <a:t>over</a:t>
                      </a:r>
                      <a:r>
                        <a:rPr lang="th-TH" sz="1100" dirty="0">
                          <a:solidFill>
                            <a:srgbClr val="002060"/>
                          </a:solidFill>
                        </a:rPr>
                        <a:t> SSE</a:t>
                      </a:r>
                      <a:endParaRPr lang="th-TH" sz="1100" kern="1200" dirty="0">
                        <a:solidFill>
                          <a:srgbClr val="002060"/>
                        </a:solidFill>
                        <a:latin typeface="Helvetica" panose="020B0604020202020204" pitchFamily="34" charset="0"/>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100" kern="1200" dirty="0">
                          <a:solidFill>
                            <a:srgbClr val="002060"/>
                          </a:solidFill>
                          <a:latin typeface="+mn-lt"/>
                          <a:ea typeface="+mn-ea"/>
                          <a:cs typeface="+mn-cs"/>
                        </a:rPr>
                        <a:t>Real-time update data in Web Application </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sz="1400" b="0" i="0" kern="1200" dirty="0">
                          <a:solidFill>
                            <a:schemeClr val="accent3">
                              <a:lumMod val="60000"/>
                              <a:lumOff val="40000"/>
                            </a:schemeClr>
                          </a:solidFill>
                          <a:effectLst/>
                          <a:latin typeface="Helvetica" panose="020B0604020202020204" pitchFamily="34" charset="0"/>
                          <a:ea typeface="+mn-ea"/>
                          <a:cs typeface="Helvetica" panose="020B0604020202020204" pitchFamily="34" charset="0"/>
                        </a:rPr>
                        <a:t>Completed</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395341892"/>
                  </a:ext>
                </a:extLst>
              </a:tr>
              <a:tr h="727787">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th-TH" sz="1400" b="1" i="0" kern="1200" dirty="0" err="1">
                          <a:solidFill>
                            <a:srgbClr val="002060"/>
                          </a:solidFill>
                          <a:effectLst/>
                          <a:latin typeface="Helvetica" panose="020B0604020202020204" pitchFamily="34" charset="0"/>
                          <a:ea typeface="+mn-ea"/>
                        </a:rPr>
                        <a:t>Export</a:t>
                      </a:r>
                      <a:r>
                        <a:rPr lang="th-TH" sz="1400" b="1" i="0" kern="1200" dirty="0">
                          <a:solidFill>
                            <a:srgbClr val="002060"/>
                          </a:solidFill>
                          <a:effectLst/>
                          <a:latin typeface="Helvetica" panose="020B0604020202020204" pitchFamily="34" charset="0"/>
                          <a:ea typeface="+mn-ea"/>
                        </a:rPr>
                        <a:t> </a:t>
                      </a:r>
                      <a:r>
                        <a:rPr lang="en-US" sz="1400" b="1" i="0" kern="1200" dirty="0">
                          <a:solidFill>
                            <a:srgbClr val="002060"/>
                          </a:solidFill>
                          <a:effectLst/>
                          <a:latin typeface="Helvetica" panose="020B0604020202020204" pitchFamily="34" charset="0"/>
                          <a:ea typeface="+mn-ea"/>
                          <a:cs typeface="Helvetica" panose="020B0604020202020204" pitchFamily="34" charset="0"/>
                        </a:rPr>
                        <a:t>Data</a:t>
                      </a:r>
                      <a:endParaRPr lang="th-TH" sz="1400" b="1" i="0" kern="1200" dirty="0">
                        <a:solidFill>
                          <a:srgbClr val="002060"/>
                        </a:solidFill>
                        <a:effectLst/>
                        <a:latin typeface="Helvetica" panose="020B0604020202020204" pitchFamily="34" charset="0"/>
                        <a:ea typeface="+mn-ea"/>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th-TH" sz="1100" dirty="0" err="1">
                          <a:solidFill>
                            <a:srgbClr val="002060"/>
                          </a:solidFill>
                        </a:rPr>
                        <a:t>Export</a:t>
                      </a:r>
                      <a:r>
                        <a:rPr lang="th-TH" sz="1100" dirty="0">
                          <a:solidFill>
                            <a:srgbClr val="002060"/>
                          </a:solidFill>
                        </a:rPr>
                        <a:t> </a:t>
                      </a:r>
                      <a:r>
                        <a:rPr lang="th-TH" sz="1100" dirty="0" err="1">
                          <a:solidFill>
                            <a:srgbClr val="002060"/>
                          </a:solidFill>
                        </a:rPr>
                        <a:t>filtered</a:t>
                      </a:r>
                      <a:r>
                        <a:rPr lang="th-TH" sz="1100" dirty="0">
                          <a:solidFill>
                            <a:srgbClr val="002060"/>
                          </a:solidFill>
                        </a:rPr>
                        <a:t> </a:t>
                      </a:r>
                      <a:r>
                        <a:rPr lang="th-TH" sz="1100" dirty="0" err="1">
                          <a:solidFill>
                            <a:srgbClr val="002060"/>
                          </a:solidFill>
                        </a:rPr>
                        <a:t>results</a:t>
                      </a:r>
                      <a:r>
                        <a:rPr lang="th-TH" sz="1100" dirty="0">
                          <a:solidFill>
                            <a:srgbClr val="002060"/>
                          </a:solidFill>
                        </a:rPr>
                        <a:t> </a:t>
                      </a:r>
                      <a:r>
                        <a:rPr lang="th-TH" sz="1100" dirty="0" err="1">
                          <a:solidFill>
                            <a:srgbClr val="002060"/>
                          </a:solidFill>
                        </a:rPr>
                        <a:t>as</a:t>
                      </a:r>
                      <a:r>
                        <a:rPr lang="th-TH" sz="1100" dirty="0">
                          <a:solidFill>
                            <a:srgbClr val="002060"/>
                          </a:solidFill>
                        </a:rPr>
                        <a:t> CSV, Excel </a:t>
                      </a:r>
                      <a:r>
                        <a:rPr lang="th-TH" sz="1100" dirty="0" err="1">
                          <a:solidFill>
                            <a:srgbClr val="002060"/>
                          </a:solidFill>
                        </a:rPr>
                        <a:t>or</a:t>
                      </a:r>
                      <a:r>
                        <a:rPr lang="th-TH" sz="1100" dirty="0">
                          <a:solidFill>
                            <a:srgbClr val="002060"/>
                          </a:solidFill>
                        </a:rPr>
                        <a:t> PDF</a:t>
                      </a:r>
                      <a:endParaRPr lang="th-TH" sz="1100" kern="1200" dirty="0">
                        <a:solidFill>
                          <a:srgbClr val="002060"/>
                        </a:solidFill>
                        <a:latin typeface="Helvetica" panose="020B0604020202020204" pitchFamily="34" charset="0"/>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100" kern="1200" dirty="0">
                          <a:solidFill>
                            <a:srgbClr val="002060"/>
                          </a:solidFill>
                          <a:latin typeface="+mn-lt"/>
                          <a:ea typeface="+mn-ea"/>
                          <a:cs typeface="+mn-cs"/>
                        </a:rPr>
                        <a:t>In  New coming The Operator need to Export data and send to planner</a:t>
                      </a:r>
                      <a:endParaRPr lang="th-TH" sz="1100" kern="1200" dirty="0">
                        <a:solidFill>
                          <a:srgbClr val="002060"/>
                        </a:solidFill>
                        <a:latin typeface="+mn-lt"/>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sz="1400" b="0" i="0" kern="1200" dirty="0">
                          <a:solidFill>
                            <a:schemeClr val="accent3">
                              <a:lumMod val="60000"/>
                              <a:lumOff val="40000"/>
                            </a:schemeClr>
                          </a:solidFill>
                          <a:effectLst/>
                          <a:latin typeface="Helvetica" panose="020B0604020202020204" pitchFamily="34" charset="0"/>
                          <a:ea typeface="+mn-ea"/>
                          <a:cs typeface="Helvetica" panose="020B0604020202020204" pitchFamily="34" charset="0"/>
                        </a:rPr>
                        <a:t>Completed</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84642317"/>
                  </a:ext>
                </a:extLst>
              </a:tr>
            </a:tbl>
          </a:graphicData>
        </a:graphic>
      </p:graphicFrame>
      <p:sp>
        <p:nvSpPr>
          <p:cNvPr id="3" name="สี่เหลี่ยมผืนผ้า: มุมมน 2">
            <a:extLst>
              <a:ext uri="{FF2B5EF4-FFF2-40B4-BE49-F238E27FC236}">
                <a16:creationId xmlns:a16="http://schemas.microsoft.com/office/drawing/2014/main" id="{760CE72D-D434-6542-C393-28EE4AEEAC6A}"/>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Tree>
    <p:extLst>
      <p:ext uri="{BB962C8B-B14F-4D97-AF65-F5344CB8AC3E}">
        <p14:creationId xmlns:p14="http://schemas.microsoft.com/office/powerpoint/2010/main" val="31801068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D1277-A1B3-72E9-0CD4-6370D1BC4D26}"/>
            </a:ext>
          </a:extLst>
        </p:cNvPr>
        <p:cNvGrpSpPr/>
        <p:nvPr/>
      </p:nvGrpSpPr>
      <p:grpSpPr>
        <a:xfrm>
          <a:off x="0" y="0"/>
          <a:ext cx="0" cy="0"/>
          <a:chOff x="0" y="0"/>
          <a:chExt cx="0" cy="0"/>
        </a:xfrm>
      </p:grpSpPr>
      <p:pic>
        <p:nvPicPr>
          <p:cNvPr id="6" name="Picture 2" descr="Analog Devices | Disruptive Technology for Clinical Trials">
            <a:extLst>
              <a:ext uri="{FF2B5EF4-FFF2-40B4-BE49-F238E27FC236}">
                <a16:creationId xmlns:a16="http://schemas.microsoft.com/office/drawing/2014/main" id="{E8B515C1-D8FB-562E-576B-BC2C590723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233193" y="433793"/>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0" name="Picture 2" descr="LOGO_ENkku_color – Faculty of Engineering , Khon Kaen University">
            <a:extLst>
              <a:ext uri="{FF2B5EF4-FFF2-40B4-BE49-F238E27FC236}">
                <a16:creationId xmlns:a16="http://schemas.microsoft.com/office/drawing/2014/main" id="{8E2CF4A9-84A6-28B1-6D7E-E696BDC47CA3}"/>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411206" y="360124"/>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16" name="กล่องข้อความ 13">
            <a:extLst>
              <a:ext uri="{FF2B5EF4-FFF2-40B4-BE49-F238E27FC236}">
                <a16:creationId xmlns:a16="http://schemas.microsoft.com/office/drawing/2014/main" id="{9F7948E1-1777-865D-679B-376004E1A002}"/>
              </a:ext>
            </a:extLst>
          </p:cNvPr>
          <p:cNvSpPr txBox="1">
            <a:spLocks/>
          </p:cNvSpPr>
          <p:nvPr/>
        </p:nvSpPr>
        <p:spPr>
          <a:xfrm>
            <a:off x="798575" y="597115"/>
            <a:ext cx="1883665" cy="523220"/>
          </a:xfrm>
          <a:prstGeom prst="rect">
            <a:avLst/>
          </a:prstGeom>
          <a:noFill/>
        </p:spPr>
        <p:txBody>
          <a:bodyPr wrap="square" rtlCol="0">
            <a:spAutoFit/>
          </a:bodyPr>
          <a:lstStyle/>
          <a:p>
            <a:r>
              <a:rPr lang="en-US" b="1" dirty="0">
                <a:solidFill>
                  <a:srgbClr val="002060"/>
                </a:solidFill>
                <a:latin typeface="Helvetica" panose="020B0604020202020204" pitchFamily="34" charset="0"/>
                <a:cs typeface="Helvetica" panose="020B0604020202020204" pitchFamily="34" charset="0"/>
              </a:rPr>
              <a:t>Actions</a:t>
            </a:r>
            <a:endParaRPr lang="th-TH" b="1" dirty="0">
              <a:solidFill>
                <a:srgbClr val="002060"/>
              </a:solidFill>
              <a:latin typeface="Helvetica" panose="020B0604020202020204" pitchFamily="34" charset="0"/>
              <a:cs typeface="Mitr" panose="00000500000000000000" pitchFamily="2" charset="-34"/>
            </a:endParaRPr>
          </a:p>
        </p:txBody>
      </p:sp>
      <p:sp>
        <p:nvSpPr>
          <p:cNvPr id="106" name="สี่เหลี่ยมผืนผ้า 22">
            <a:extLst>
              <a:ext uri="{FF2B5EF4-FFF2-40B4-BE49-F238E27FC236}">
                <a16:creationId xmlns:a16="http://schemas.microsoft.com/office/drawing/2014/main" id="{0FD7DBE5-0E1C-EE38-01E4-A88E1929E0E1}"/>
              </a:ext>
            </a:extLst>
          </p:cNvPr>
          <p:cNvSpPr/>
          <p:nvPr/>
        </p:nvSpPr>
        <p:spPr>
          <a:xfrm>
            <a:off x="2400344" y="610992"/>
            <a:ext cx="3333272" cy="465978"/>
          </a:xfrm>
          <a:prstGeom prst="rect">
            <a:avLst/>
          </a:prstGeom>
          <a:solidFill>
            <a:schemeClr val="accent2">
              <a:lumMod val="75000"/>
              <a:alpha val="1803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108" name="TextBox 107">
            <a:extLst>
              <a:ext uri="{FF2B5EF4-FFF2-40B4-BE49-F238E27FC236}">
                <a16:creationId xmlns:a16="http://schemas.microsoft.com/office/drawing/2014/main" id="{E25D73A7-D086-24DB-349F-B73B24ACFD08}"/>
              </a:ext>
            </a:extLst>
          </p:cNvPr>
          <p:cNvSpPr txBox="1"/>
          <p:nvPr/>
        </p:nvSpPr>
        <p:spPr>
          <a:xfrm>
            <a:off x="2501210" y="679617"/>
            <a:ext cx="3232406" cy="400110"/>
          </a:xfrm>
          <a:prstGeom prst="rect">
            <a:avLst/>
          </a:prstGeom>
          <a:noFill/>
        </p:spPr>
        <p:txBody>
          <a:bodyPr wrap="square" rtlCol="0">
            <a:spAutoFit/>
          </a:bodyPr>
          <a:lstStyle/>
          <a:p>
            <a:r>
              <a:rPr lang="en-US" sz="2000" b="1" dirty="0">
                <a:latin typeface="Helvetica" panose="020B0604020202020204" pitchFamily="34" charset="0"/>
                <a:cs typeface="Helvetica" panose="020B0604020202020204" pitchFamily="34" charset="0"/>
              </a:rPr>
              <a:t>Backend (Data Receiver)</a:t>
            </a:r>
            <a:endParaRPr lang="th-TH" sz="2000" b="1" dirty="0">
              <a:latin typeface="Helvetica" panose="020B0604020202020204" pitchFamily="34" charset="0"/>
            </a:endParaRPr>
          </a:p>
        </p:txBody>
      </p:sp>
      <p:graphicFrame>
        <p:nvGraphicFramePr>
          <p:cNvPr id="5" name="ตาราง 13">
            <a:extLst>
              <a:ext uri="{FF2B5EF4-FFF2-40B4-BE49-F238E27FC236}">
                <a16:creationId xmlns:a16="http://schemas.microsoft.com/office/drawing/2014/main" id="{395DD845-C902-47FD-F5BE-FD962F864E71}"/>
              </a:ext>
            </a:extLst>
          </p:cNvPr>
          <p:cNvGraphicFramePr>
            <a:graphicFrameLocks noGrp="1"/>
          </p:cNvGraphicFramePr>
          <p:nvPr/>
        </p:nvGraphicFramePr>
        <p:xfrm>
          <a:off x="277065" y="1449215"/>
          <a:ext cx="11236418" cy="3804467"/>
        </p:xfrm>
        <a:graphic>
          <a:graphicData uri="http://schemas.openxmlformats.org/drawingml/2006/table">
            <a:tbl>
              <a:tblPr/>
              <a:tblGrid>
                <a:gridCol w="2807660">
                  <a:extLst>
                    <a:ext uri="{9D8B030D-6E8A-4147-A177-3AD203B41FA5}">
                      <a16:colId xmlns:a16="http://schemas.microsoft.com/office/drawing/2014/main" val="3066147821"/>
                    </a:ext>
                  </a:extLst>
                </a:gridCol>
                <a:gridCol w="3148094">
                  <a:extLst>
                    <a:ext uri="{9D8B030D-6E8A-4147-A177-3AD203B41FA5}">
                      <a16:colId xmlns:a16="http://schemas.microsoft.com/office/drawing/2014/main" val="1393184914"/>
                    </a:ext>
                  </a:extLst>
                </a:gridCol>
                <a:gridCol w="2640332">
                  <a:extLst>
                    <a:ext uri="{9D8B030D-6E8A-4147-A177-3AD203B41FA5}">
                      <a16:colId xmlns:a16="http://schemas.microsoft.com/office/drawing/2014/main" val="1764521080"/>
                    </a:ext>
                  </a:extLst>
                </a:gridCol>
                <a:gridCol w="2640332">
                  <a:extLst>
                    <a:ext uri="{9D8B030D-6E8A-4147-A177-3AD203B41FA5}">
                      <a16:colId xmlns:a16="http://schemas.microsoft.com/office/drawing/2014/main" val="1643920673"/>
                    </a:ext>
                  </a:extLst>
                </a:gridCol>
              </a:tblGrid>
              <a:tr h="463138">
                <a:tc>
                  <a:txBody>
                    <a:bodyPr/>
                    <a:lstStyle/>
                    <a:p>
                      <a:pPr algn="ctr" fontAlgn="ctr">
                        <a:buNone/>
                      </a:pPr>
                      <a:r>
                        <a:rPr lang="en-US" sz="1400" b="1" dirty="0">
                          <a:solidFill>
                            <a:schemeClr val="bg1"/>
                          </a:solidFill>
                          <a:latin typeface="Helvetica" panose="020B0604020202020204" pitchFamily="34" charset="0"/>
                          <a:cs typeface="+mn-cs"/>
                        </a:rPr>
                        <a:t>Module</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th-TH" sz="1400" b="1" kern="1200" dirty="0" err="1">
                          <a:solidFill>
                            <a:schemeClr val="bg1"/>
                          </a:solidFill>
                          <a:latin typeface="Helvetica" panose="020B0604020202020204" pitchFamily="34" charset="0"/>
                          <a:ea typeface="+mn-ea"/>
                          <a:cs typeface="+mn-cs"/>
                        </a:rPr>
                        <a:t>Key</a:t>
                      </a:r>
                      <a:r>
                        <a:rPr lang="th-TH" sz="1400" b="1" kern="1200" dirty="0">
                          <a:solidFill>
                            <a:schemeClr val="bg1"/>
                          </a:solidFill>
                          <a:latin typeface="Helvetica" panose="020B0604020202020204" pitchFamily="34" charset="0"/>
                          <a:ea typeface="+mn-ea"/>
                          <a:cs typeface="+mn-cs"/>
                        </a:rPr>
                        <a:t> </a:t>
                      </a:r>
                      <a:r>
                        <a:rPr lang="th-TH" sz="1400" b="1" kern="1200" dirty="0" err="1">
                          <a:solidFill>
                            <a:schemeClr val="bg1"/>
                          </a:solidFill>
                          <a:latin typeface="Helvetica" panose="020B0604020202020204" pitchFamily="34" charset="0"/>
                          <a:ea typeface="+mn-ea"/>
                          <a:cs typeface="+mn-cs"/>
                        </a:rPr>
                        <a:t>Responsibilities</a:t>
                      </a:r>
                      <a:endParaRPr lang="en-US" sz="1400" b="1" kern="1200" dirty="0">
                        <a:solidFill>
                          <a:schemeClr val="bg1"/>
                        </a:solidFill>
                        <a:latin typeface="Helvetica" panose="020B0604020202020204" pitchFamily="34" charset="0"/>
                        <a:ea typeface="+mn-ea"/>
                        <a:cs typeface="+mn-cs"/>
                      </a:endParaRP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kern="1200" dirty="0">
                          <a:solidFill>
                            <a:schemeClr val="bg1"/>
                          </a:solidFill>
                          <a:latin typeface="Helvetica" panose="020B0604020202020204" pitchFamily="34" charset="0"/>
                          <a:ea typeface="+mn-ea"/>
                          <a:cs typeface="+mn-cs"/>
                        </a:rPr>
                        <a:t>Objective</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kern="1200" dirty="0">
                          <a:solidFill>
                            <a:schemeClr val="bg1"/>
                          </a:solidFill>
                          <a:latin typeface="Helvetica" panose="020B0604020202020204" pitchFamily="34" charset="0"/>
                          <a:ea typeface="+mn-ea"/>
                          <a:cs typeface="+mn-cs"/>
                        </a:rPr>
                        <a:t>Status</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786322214"/>
                  </a:ext>
                </a:extLst>
              </a:tr>
              <a:tr h="741501">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th-TH" sz="1400" b="1" i="0" kern="1200" dirty="0">
                          <a:solidFill>
                            <a:srgbClr val="002060"/>
                          </a:solidFill>
                          <a:effectLst/>
                          <a:latin typeface="Helvetica" panose="020B0604020202020204" pitchFamily="34" charset="0"/>
                          <a:ea typeface="+mn-ea"/>
                          <a:cs typeface="+mn-cs"/>
                        </a:rPr>
                        <a:t>FTP Server</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lang="th-TH" sz="1100" kern="1200" dirty="0" err="1">
                          <a:solidFill>
                            <a:srgbClr val="002060"/>
                          </a:solidFill>
                          <a:latin typeface="+mn-lt"/>
                          <a:ea typeface="+mn-ea"/>
                          <a:cs typeface="+mn-cs"/>
                        </a:rPr>
                        <a:t>Receive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values</a:t>
                      </a:r>
                      <a:r>
                        <a:rPr lang="th-TH" sz="1100" kern="1200" dirty="0">
                          <a:solidFill>
                            <a:srgbClr val="002060"/>
                          </a:solidFill>
                          <a:latin typeface="+mn-lt"/>
                          <a:ea typeface="+mn-ea"/>
                          <a:cs typeface="+mn-cs"/>
                        </a:rPr>
                        <a:t> (.txt) and </a:t>
                      </a:r>
                      <a:r>
                        <a:rPr lang="th-TH" sz="1100" kern="1200" dirty="0" err="1">
                          <a:solidFill>
                            <a:srgbClr val="002060"/>
                          </a:solidFill>
                          <a:latin typeface="+mn-lt"/>
                          <a:ea typeface="+mn-ea"/>
                          <a:cs typeface="+mn-cs"/>
                        </a:rPr>
                        <a:t>images</a:t>
                      </a:r>
                      <a:r>
                        <a:rPr lang="th-TH" sz="1100" kern="1200" dirty="0">
                          <a:solidFill>
                            <a:srgbClr val="002060"/>
                          </a:solidFill>
                          <a:latin typeface="+mn-lt"/>
                          <a:ea typeface="+mn-ea"/>
                          <a:cs typeface="+mn-cs"/>
                        </a:rPr>
                        <a:t> (.bmp) </a:t>
                      </a:r>
                      <a:r>
                        <a:rPr lang="th-TH" sz="1100" kern="1200" dirty="0" err="1">
                          <a:solidFill>
                            <a:srgbClr val="002060"/>
                          </a:solidFill>
                          <a:latin typeface="+mn-lt"/>
                          <a:ea typeface="+mn-ea"/>
                          <a:cs typeface="+mn-cs"/>
                        </a:rPr>
                        <a:t>from</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TM-</a:t>
                      </a:r>
                      <a:r>
                        <a:rPr lang="th-TH" sz="1100" kern="1200" dirty="0" err="1">
                          <a:solidFill>
                            <a:srgbClr val="002060"/>
                          </a:solidFill>
                          <a:latin typeface="+mn-lt"/>
                          <a:ea typeface="+mn-ea"/>
                          <a:cs typeface="+mn-cs"/>
                        </a:rPr>
                        <a:t>Xt</a:t>
                      </a:r>
                      <a:endParaRPr lang="en-US" sz="1100" kern="1200" dirty="0">
                        <a:solidFill>
                          <a:srgbClr val="002060"/>
                        </a:solidFill>
                        <a:latin typeface="+mn-lt"/>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th-TH" sz="1100" kern="1200" dirty="0" err="1">
                          <a:solidFill>
                            <a:srgbClr val="002060"/>
                          </a:solidFill>
                          <a:latin typeface="+mn-lt"/>
                          <a:ea typeface="+mn-ea"/>
                          <a:cs typeface="+mn-cs"/>
                        </a:rPr>
                        <a:t>Give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TM-X </a:t>
                      </a:r>
                      <a:r>
                        <a:rPr lang="th-TH" sz="1100" kern="1200" dirty="0" err="1">
                          <a:solidFill>
                            <a:srgbClr val="002060"/>
                          </a:solidFill>
                          <a:latin typeface="+mn-lt"/>
                          <a:ea typeface="+mn-ea"/>
                          <a:cs typeface="+mn-cs"/>
                        </a:rPr>
                        <a:t>somewhere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to</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send</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to</a:t>
                      </a:r>
                      <a:endParaRPr lang="en-US" sz="1100" kern="1200" dirty="0">
                        <a:solidFill>
                          <a:srgbClr val="002060"/>
                        </a:solidFill>
                        <a:latin typeface="+mn-lt"/>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sz="1400" b="0" i="0" kern="1200" dirty="0">
                          <a:solidFill>
                            <a:schemeClr val="accent3">
                              <a:lumMod val="60000"/>
                              <a:lumOff val="40000"/>
                            </a:schemeClr>
                          </a:solidFill>
                          <a:effectLst/>
                          <a:latin typeface="Helvetica" panose="020B0604020202020204" pitchFamily="34" charset="0"/>
                          <a:ea typeface="+mn-ea"/>
                          <a:cs typeface="Helvetica" panose="020B0604020202020204" pitchFamily="34" charset="0"/>
                        </a:rPr>
                        <a:t>Completed</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32952113"/>
                  </a:ext>
                </a:extLst>
              </a:tr>
              <a:tr h="727788">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th-TH" sz="1400" b="1" i="0" kern="1200" dirty="0" err="1">
                          <a:solidFill>
                            <a:srgbClr val="002060"/>
                          </a:solidFill>
                          <a:effectLst/>
                          <a:latin typeface="Helvetica" panose="020B0604020202020204" pitchFamily="34" charset="0"/>
                          <a:ea typeface="+mn-ea"/>
                          <a:cs typeface="+mn-cs"/>
                        </a:rPr>
                        <a:t>Pair</a:t>
                      </a:r>
                      <a:r>
                        <a:rPr lang="th-TH" sz="1400" b="1" i="0" kern="1200" dirty="0">
                          <a:solidFill>
                            <a:srgbClr val="002060"/>
                          </a:solidFill>
                          <a:effectLst/>
                          <a:latin typeface="Helvetica" panose="020B0604020202020204" pitchFamily="34" charset="0"/>
                          <a:ea typeface="+mn-ea"/>
                          <a:cs typeface="+mn-cs"/>
                        </a:rPr>
                        <a:t> </a:t>
                      </a:r>
                      <a:r>
                        <a:rPr lang="th-TH" sz="1400" b="1" i="0" kern="1200" dirty="0" err="1">
                          <a:solidFill>
                            <a:srgbClr val="002060"/>
                          </a:solidFill>
                          <a:effectLst/>
                          <a:latin typeface="Helvetica" panose="020B0604020202020204" pitchFamily="34" charset="0"/>
                          <a:ea typeface="+mn-ea"/>
                          <a:cs typeface="+mn-cs"/>
                        </a:rPr>
                        <a:t>each</a:t>
                      </a:r>
                      <a:r>
                        <a:rPr lang="th-TH" sz="1400" b="1" i="0" kern="1200" dirty="0">
                          <a:solidFill>
                            <a:srgbClr val="002060"/>
                          </a:solidFill>
                          <a:effectLst/>
                          <a:latin typeface="Helvetica" panose="020B0604020202020204" pitchFamily="34" charset="0"/>
                          <a:ea typeface="+mn-ea"/>
                          <a:cs typeface="+mn-cs"/>
                        </a:rPr>
                        <a:t> </a:t>
                      </a:r>
                      <a:r>
                        <a:rPr lang="th-TH" sz="1400" b="1" i="0" kern="1200" dirty="0" err="1">
                          <a:solidFill>
                            <a:srgbClr val="002060"/>
                          </a:solidFill>
                          <a:effectLst/>
                          <a:latin typeface="Helvetica" panose="020B0604020202020204" pitchFamily="34" charset="0"/>
                          <a:ea typeface="+mn-ea"/>
                          <a:cs typeface="+mn-cs"/>
                        </a:rPr>
                        <a:t>image</a:t>
                      </a:r>
                      <a:r>
                        <a:rPr lang="th-TH" sz="1400" b="1" i="0" kern="1200" dirty="0">
                          <a:solidFill>
                            <a:srgbClr val="002060"/>
                          </a:solidFill>
                          <a:effectLst/>
                          <a:latin typeface="Helvetica" panose="020B0604020202020204" pitchFamily="34" charset="0"/>
                          <a:ea typeface="+mn-ea"/>
                          <a:cs typeface="+mn-cs"/>
                        </a:rPr>
                        <a:t> </a:t>
                      </a:r>
                      <a:r>
                        <a:rPr lang="th-TH" sz="1400" b="1" i="0" kern="1200" dirty="0" err="1">
                          <a:solidFill>
                            <a:srgbClr val="002060"/>
                          </a:solidFill>
                          <a:effectLst/>
                          <a:latin typeface="Helvetica" panose="020B0604020202020204" pitchFamily="34" charset="0"/>
                          <a:ea typeface="+mn-ea"/>
                          <a:cs typeface="+mn-cs"/>
                        </a:rPr>
                        <a:t>with</a:t>
                      </a:r>
                      <a:r>
                        <a:rPr lang="th-TH" sz="1400" b="1" i="0" kern="1200" dirty="0">
                          <a:solidFill>
                            <a:srgbClr val="002060"/>
                          </a:solidFill>
                          <a:effectLst/>
                          <a:latin typeface="Helvetica" panose="020B0604020202020204" pitchFamily="34" charset="0"/>
                          <a:ea typeface="+mn-ea"/>
                          <a:cs typeface="+mn-cs"/>
                        </a:rPr>
                        <a:t> </a:t>
                      </a:r>
                      <a:r>
                        <a:rPr lang="th-TH" sz="1400" b="1" i="0" kern="1200" dirty="0" err="1">
                          <a:solidFill>
                            <a:srgbClr val="002060"/>
                          </a:solidFill>
                          <a:effectLst/>
                          <a:latin typeface="Helvetica" panose="020B0604020202020204" pitchFamily="34" charset="0"/>
                          <a:ea typeface="+mn-ea"/>
                          <a:cs typeface="+mn-cs"/>
                        </a:rPr>
                        <a:t>its</a:t>
                      </a:r>
                      <a:r>
                        <a:rPr lang="th-TH" sz="1400" b="1" i="0" kern="1200" dirty="0">
                          <a:solidFill>
                            <a:srgbClr val="002060"/>
                          </a:solidFill>
                          <a:effectLst/>
                          <a:latin typeface="Helvetica" panose="020B0604020202020204" pitchFamily="34" charset="0"/>
                          <a:ea typeface="+mn-ea"/>
                          <a:cs typeface="+mn-cs"/>
                        </a:rPr>
                        <a:t> </a:t>
                      </a:r>
                      <a:r>
                        <a:rPr lang="th-TH" sz="1400" b="1" i="0" kern="1200" dirty="0" err="1">
                          <a:solidFill>
                            <a:srgbClr val="002060"/>
                          </a:solidFill>
                          <a:effectLst/>
                          <a:latin typeface="Helvetica" panose="020B0604020202020204" pitchFamily="34" charset="0"/>
                          <a:ea typeface="+mn-ea"/>
                          <a:cs typeface="+mn-cs"/>
                        </a:rPr>
                        <a:t>value</a:t>
                      </a:r>
                      <a:endParaRPr lang="th-TH" sz="1400" b="1" i="0" kern="1200" dirty="0">
                        <a:solidFill>
                          <a:srgbClr val="002060"/>
                        </a:solidFill>
                        <a:effectLst/>
                        <a:latin typeface="Helvetica" panose="020B0604020202020204" pitchFamily="34" charset="0"/>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lang="th-TH" sz="1100" kern="1200" dirty="0" err="1">
                          <a:solidFill>
                            <a:srgbClr val="002060"/>
                          </a:solidFill>
                          <a:latin typeface="+mn-lt"/>
                          <a:ea typeface="+mn-ea"/>
                          <a:cs typeface="+mn-cs"/>
                        </a:rPr>
                        <a:t>Match</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image</a:t>
                      </a:r>
                      <a:r>
                        <a:rPr lang="th-TH" sz="1100" kern="1200" dirty="0">
                          <a:solidFill>
                            <a:srgbClr val="002060"/>
                          </a:solidFill>
                          <a:latin typeface="+mn-lt"/>
                          <a:ea typeface="+mn-ea"/>
                          <a:cs typeface="+mn-cs"/>
                        </a:rPr>
                        <a:t> N </a:t>
                      </a:r>
                      <a:r>
                        <a:rPr lang="th-TH" sz="1100" kern="1200" dirty="0" err="1">
                          <a:solidFill>
                            <a:srgbClr val="002060"/>
                          </a:solidFill>
                          <a:latin typeface="+mn-lt"/>
                          <a:ea typeface="+mn-ea"/>
                          <a:cs typeface="+mn-cs"/>
                        </a:rPr>
                        <a:t>with</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line</a:t>
                      </a:r>
                      <a:r>
                        <a:rPr lang="th-TH" sz="1100" kern="1200" dirty="0">
                          <a:solidFill>
                            <a:srgbClr val="002060"/>
                          </a:solidFill>
                          <a:latin typeface="+mn-lt"/>
                          <a:ea typeface="+mn-ea"/>
                          <a:cs typeface="+mn-cs"/>
                        </a:rPr>
                        <a:t> N of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.txt</a:t>
                      </a:r>
                    </a:p>
                    <a:p>
                      <a:pPr marL="171450" marR="0" lvl="0" indent="-1714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lang="th-TH" sz="1100" kern="1200" dirty="0" err="1">
                          <a:solidFill>
                            <a:srgbClr val="002060"/>
                          </a:solidFill>
                          <a:latin typeface="+mn-lt"/>
                          <a:ea typeface="+mn-ea"/>
                          <a:cs typeface="+mn-cs"/>
                        </a:rPr>
                        <a:t>Discard</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image</a:t>
                      </a:r>
                      <a:r>
                        <a:rPr lang="th-TH" sz="1100" kern="1200" dirty="0">
                          <a:solidFill>
                            <a:srgbClr val="002060"/>
                          </a:solidFill>
                          <a:latin typeface="+mn-lt"/>
                          <a:ea typeface="+mn-ea"/>
                          <a:cs typeface="+mn-cs"/>
                        </a:rPr>
                        <a:t> and </a:t>
                      </a:r>
                      <a:r>
                        <a:rPr lang="th-TH" sz="1100" kern="1200" dirty="0" err="1">
                          <a:solidFill>
                            <a:srgbClr val="002060"/>
                          </a:solidFill>
                          <a:latin typeface="+mn-lt"/>
                          <a:ea typeface="+mn-ea"/>
                          <a:cs typeface="+mn-cs"/>
                        </a:rPr>
                        <a:t>report</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if</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no</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line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arrives</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within</a:t>
                      </a:r>
                      <a:r>
                        <a:rPr lang="th-TH" sz="1100" kern="1200" dirty="0">
                          <a:solidFill>
                            <a:srgbClr val="002060"/>
                          </a:solidFill>
                          <a:latin typeface="+mn-lt"/>
                          <a:ea typeface="+mn-ea"/>
                          <a:cs typeface="+mn-cs"/>
                        </a:rPr>
                        <a:t> 5 s</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th-TH" sz="1100" kern="1200" dirty="0" err="1">
                          <a:solidFill>
                            <a:srgbClr val="002060"/>
                          </a:solidFill>
                          <a:latin typeface="+mn-lt"/>
                          <a:ea typeface="+mn-ea"/>
                          <a:cs typeface="+mn-cs"/>
                        </a:rPr>
                        <a:t>Make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sure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every</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reading</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carries</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image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that</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belongs</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to</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it</a:t>
                      </a:r>
                      <a:endParaRPr lang="en-US" sz="1100" kern="1200" dirty="0">
                        <a:solidFill>
                          <a:srgbClr val="002060"/>
                        </a:solidFill>
                        <a:latin typeface="+mn-lt"/>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sz="1400" b="0" i="0" kern="1200" dirty="0">
                          <a:solidFill>
                            <a:schemeClr val="accent3">
                              <a:lumMod val="60000"/>
                              <a:lumOff val="40000"/>
                            </a:schemeClr>
                          </a:solidFill>
                          <a:effectLst/>
                          <a:latin typeface="Helvetica" panose="020B0604020202020204" pitchFamily="34" charset="0"/>
                          <a:ea typeface="+mn-ea"/>
                          <a:cs typeface="Helvetica" panose="020B0604020202020204" pitchFamily="34" charset="0"/>
                        </a:rPr>
                        <a:t>Completed</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7472765"/>
                  </a:ext>
                </a:extLst>
              </a:tr>
              <a:tr h="1144253">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th-TH" sz="1400" b="1" i="0" kern="1200" dirty="0" err="1">
                          <a:solidFill>
                            <a:srgbClr val="002060"/>
                          </a:solidFill>
                          <a:effectLst/>
                          <a:latin typeface="Helvetica" panose="020B0604020202020204" pitchFamily="34" charset="0"/>
                          <a:ea typeface="+mn-ea"/>
                          <a:cs typeface="+mn-cs"/>
                        </a:rPr>
                        <a:t>Filter</a:t>
                      </a:r>
                      <a:r>
                        <a:rPr lang="th-TH" sz="1400" b="1" i="0" kern="1200" dirty="0">
                          <a:solidFill>
                            <a:srgbClr val="002060"/>
                          </a:solidFill>
                          <a:effectLst/>
                          <a:latin typeface="Helvetica" panose="020B0604020202020204" pitchFamily="34" charset="0"/>
                          <a:ea typeface="+mn-ea"/>
                          <a:cs typeface="+mn-cs"/>
                        </a:rPr>
                        <a:t> </a:t>
                      </a:r>
                      <a:r>
                        <a:rPr lang="th-TH" sz="1400" b="1" i="0" kern="1200" dirty="0" err="1">
                          <a:solidFill>
                            <a:srgbClr val="002060"/>
                          </a:solidFill>
                          <a:effectLst/>
                          <a:latin typeface="Helvetica" panose="020B0604020202020204" pitchFamily="34" charset="0"/>
                          <a:ea typeface="+mn-ea"/>
                          <a:cs typeface="+mn-cs"/>
                        </a:rPr>
                        <a:t>invalid</a:t>
                      </a:r>
                      <a:r>
                        <a:rPr lang="th-TH" sz="1400" b="1" i="0" kern="1200" dirty="0">
                          <a:solidFill>
                            <a:srgbClr val="002060"/>
                          </a:solidFill>
                          <a:effectLst/>
                          <a:latin typeface="Helvetica" panose="020B0604020202020204" pitchFamily="34" charset="0"/>
                          <a:ea typeface="+mn-ea"/>
                          <a:cs typeface="+mn-cs"/>
                        </a:rPr>
                        <a:t> </a:t>
                      </a:r>
                      <a:r>
                        <a:rPr lang="th-TH" sz="1400" b="1" i="0" kern="1200" dirty="0" err="1">
                          <a:solidFill>
                            <a:srgbClr val="002060"/>
                          </a:solidFill>
                          <a:effectLst/>
                          <a:latin typeface="Helvetica" panose="020B0604020202020204" pitchFamily="34" charset="0"/>
                          <a:ea typeface="+mn-ea"/>
                          <a:cs typeface="+mn-cs"/>
                        </a:rPr>
                        <a:t>data</a:t>
                      </a:r>
                      <a:endParaRPr lang="en-GB" sz="1400" b="1" i="0" kern="1200" dirty="0">
                        <a:solidFill>
                          <a:srgbClr val="002060"/>
                        </a:solidFill>
                        <a:effectLst/>
                        <a:latin typeface="Helvetica" panose="020B0604020202020204" pitchFamily="34" charset="0"/>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lang="th-TH" sz="1100" kern="1200" dirty="0" err="1">
                          <a:solidFill>
                            <a:srgbClr val="002060"/>
                          </a:solidFill>
                          <a:latin typeface="+mn-lt"/>
                          <a:ea typeface="+mn-ea"/>
                          <a:cs typeface="+mn-cs"/>
                        </a:rPr>
                        <a:t>Treat</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any</a:t>
                      </a:r>
                      <a:r>
                        <a:rPr lang="th-TH" sz="1100" kern="1200" dirty="0">
                          <a:solidFill>
                            <a:srgbClr val="002060"/>
                          </a:solidFill>
                          <a:latin typeface="+mn-lt"/>
                          <a:ea typeface="+mn-ea"/>
                          <a:cs typeface="+mn-cs"/>
                        </a:rPr>
                        <a:t> of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8 </a:t>
                      </a:r>
                      <a:r>
                        <a:rPr lang="th-TH" sz="1100" kern="1200" dirty="0" err="1">
                          <a:solidFill>
                            <a:srgbClr val="002060"/>
                          </a:solidFill>
                          <a:latin typeface="+mn-lt"/>
                          <a:ea typeface="+mn-ea"/>
                          <a:cs typeface="+mn-cs"/>
                        </a:rPr>
                        <a:t>values</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below</a:t>
                      </a:r>
                      <a:r>
                        <a:rPr lang="th-TH" sz="1100" kern="1200" dirty="0">
                          <a:solidFill>
                            <a:srgbClr val="002060"/>
                          </a:solidFill>
                          <a:latin typeface="+mn-lt"/>
                          <a:ea typeface="+mn-ea"/>
                          <a:cs typeface="+mn-cs"/>
                        </a:rPr>
                        <a:t> −9000 </a:t>
                      </a:r>
                      <a:r>
                        <a:rPr lang="th-TH" sz="1100" kern="1200" dirty="0" err="1">
                          <a:solidFill>
                            <a:srgbClr val="002060"/>
                          </a:solidFill>
                          <a:latin typeface="+mn-lt"/>
                          <a:ea typeface="+mn-ea"/>
                          <a:cs typeface="+mn-cs"/>
                        </a:rPr>
                        <a:t>as</a:t>
                      </a:r>
                      <a:r>
                        <a:rPr lang="th-TH" sz="1100" kern="1200" dirty="0">
                          <a:solidFill>
                            <a:srgbClr val="002060"/>
                          </a:solidFill>
                          <a:latin typeface="+mn-lt"/>
                          <a:ea typeface="+mn-ea"/>
                          <a:cs typeface="+mn-cs"/>
                        </a:rPr>
                        <a:t> a </a:t>
                      </a:r>
                      <a:r>
                        <a:rPr lang="th-TH" sz="1100" kern="1200" dirty="0" err="1">
                          <a:solidFill>
                            <a:srgbClr val="002060"/>
                          </a:solidFill>
                          <a:latin typeface="+mn-lt"/>
                          <a:ea typeface="+mn-ea"/>
                          <a:cs typeface="+mn-cs"/>
                        </a:rPr>
                        <a:t>failed</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measurement</a:t>
                      </a:r>
                      <a:endParaRPr lang="th-TH" sz="1100" kern="1200" dirty="0">
                        <a:solidFill>
                          <a:srgbClr val="002060"/>
                        </a:solidFill>
                        <a:latin typeface="+mn-lt"/>
                        <a:ea typeface="+mn-ea"/>
                        <a:cs typeface="+mn-cs"/>
                      </a:endParaRPr>
                    </a:p>
                    <a:p>
                      <a:pPr marL="171450" marR="0" lvl="0" indent="-1714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lang="th-TH" sz="1100" kern="1200" dirty="0" err="1">
                          <a:solidFill>
                            <a:srgbClr val="002060"/>
                          </a:solidFill>
                          <a:latin typeface="+mn-lt"/>
                          <a:ea typeface="+mn-ea"/>
                          <a:cs typeface="+mn-cs"/>
                        </a:rPr>
                        <a:t>Discard</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value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delete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image</a:t>
                      </a:r>
                      <a:r>
                        <a:rPr lang="th-TH" sz="1100" kern="1200" dirty="0">
                          <a:solidFill>
                            <a:srgbClr val="002060"/>
                          </a:solidFill>
                          <a:latin typeface="+mn-lt"/>
                          <a:ea typeface="+mn-ea"/>
                          <a:cs typeface="+mn-cs"/>
                        </a:rPr>
                        <a:t> and </a:t>
                      </a:r>
                      <a:r>
                        <a:rPr lang="th-TH" sz="1100" kern="1200" dirty="0" err="1">
                          <a:solidFill>
                            <a:srgbClr val="002060"/>
                          </a:solidFill>
                          <a:latin typeface="+mn-lt"/>
                          <a:ea typeface="+mn-ea"/>
                          <a:cs typeface="+mn-cs"/>
                        </a:rPr>
                        <a:t>report</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it</a:t>
                      </a:r>
                      <a:endParaRPr lang="th-TH" sz="1100" kern="1200" dirty="0">
                        <a:solidFill>
                          <a:srgbClr val="002060"/>
                        </a:solidFill>
                        <a:latin typeface="+mn-lt"/>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th-TH" sz="1100" kern="1200" dirty="0" err="1">
                          <a:solidFill>
                            <a:srgbClr val="002060"/>
                          </a:solidFill>
                          <a:latin typeface="+mn-lt"/>
                          <a:ea typeface="+mn-ea"/>
                          <a:cs typeface="+mn-cs"/>
                        </a:rPr>
                        <a:t>Keep</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failed</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measurements</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out</a:t>
                      </a:r>
                      <a:r>
                        <a:rPr lang="th-TH" sz="1100" kern="1200" dirty="0">
                          <a:solidFill>
                            <a:srgbClr val="002060"/>
                          </a:solidFill>
                          <a:latin typeface="+mn-lt"/>
                          <a:ea typeface="+mn-ea"/>
                          <a:cs typeface="+mn-cs"/>
                        </a:rPr>
                        <a:t> of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database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so</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no</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false</a:t>
                      </a:r>
                      <a:r>
                        <a:rPr lang="th-TH" sz="1100" kern="1200" dirty="0">
                          <a:solidFill>
                            <a:srgbClr val="002060"/>
                          </a:solidFill>
                          <a:latin typeface="+mn-lt"/>
                          <a:ea typeface="+mn-ea"/>
                          <a:cs typeface="+mn-cs"/>
                        </a:rPr>
                        <a:t> NG </a:t>
                      </a:r>
                      <a:r>
                        <a:rPr lang="th-TH" sz="1100" kern="1200" dirty="0" err="1">
                          <a:solidFill>
                            <a:srgbClr val="002060"/>
                          </a:solidFill>
                          <a:latin typeface="+mn-lt"/>
                          <a:ea typeface="+mn-ea"/>
                          <a:cs typeface="+mn-cs"/>
                        </a:rPr>
                        <a:t>is</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ever</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recorded</a:t>
                      </a:r>
                      <a:endParaRPr lang="en-US" sz="1100" kern="1200" dirty="0">
                        <a:solidFill>
                          <a:srgbClr val="002060"/>
                        </a:solidFill>
                        <a:latin typeface="+mn-lt"/>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sz="1400" b="0" i="0" dirty="0">
                          <a:solidFill>
                            <a:schemeClr val="accent3">
                              <a:lumMod val="60000"/>
                              <a:lumOff val="40000"/>
                            </a:schemeClr>
                          </a:solidFill>
                          <a:effectLst/>
                          <a:latin typeface="Helvetica" panose="020B0604020202020204" pitchFamily="34" charset="0"/>
                          <a:cs typeface="Helvetica" panose="020B0604020202020204" pitchFamily="34" charset="0"/>
                        </a:rPr>
                        <a:t>Completed</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90769145"/>
                  </a:ext>
                </a:extLst>
              </a:tr>
              <a:tr h="727787">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th-TH" sz="1400" b="1" i="0" kern="1200" dirty="0" err="1">
                          <a:solidFill>
                            <a:srgbClr val="002060"/>
                          </a:solidFill>
                          <a:effectLst/>
                          <a:latin typeface="Helvetica" panose="020B0604020202020204" pitchFamily="34" charset="0"/>
                          <a:ea typeface="+mn-ea"/>
                          <a:cs typeface="+mn-cs"/>
                        </a:rPr>
                        <a:t>Forward</a:t>
                      </a:r>
                      <a:r>
                        <a:rPr lang="th-TH" sz="1400" b="1" i="0" kern="1200" dirty="0">
                          <a:solidFill>
                            <a:srgbClr val="002060"/>
                          </a:solidFill>
                          <a:effectLst/>
                          <a:latin typeface="Helvetica" panose="020B0604020202020204" pitchFamily="34" charset="0"/>
                          <a:ea typeface="+mn-ea"/>
                          <a:cs typeface="+mn-cs"/>
                        </a:rPr>
                        <a:t> </a:t>
                      </a:r>
                      <a:r>
                        <a:rPr lang="th-TH" sz="1400" b="1" i="0" kern="1200" dirty="0" err="1">
                          <a:solidFill>
                            <a:srgbClr val="002060"/>
                          </a:solidFill>
                          <a:effectLst/>
                          <a:latin typeface="Helvetica" panose="020B0604020202020204" pitchFamily="34" charset="0"/>
                          <a:ea typeface="+mn-ea"/>
                          <a:cs typeface="+mn-cs"/>
                        </a:rPr>
                        <a:t>to</a:t>
                      </a:r>
                      <a:r>
                        <a:rPr lang="th-TH" sz="1400" b="1" i="0" kern="1200" dirty="0">
                          <a:solidFill>
                            <a:srgbClr val="002060"/>
                          </a:solidFill>
                          <a:effectLst/>
                          <a:latin typeface="Helvetica" panose="020B0604020202020204" pitchFamily="34" charset="0"/>
                          <a:ea typeface="+mn-ea"/>
                          <a:cs typeface="+mn-cs"/>
                        </a:rPr>
                        <a:t> Core Service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lang="th-TH" sz="1100" kern="1200" dirty="0" err="1">
                          <a:solidFill>
                            <a:srgbClr val="002060"/>
                          </a:solidFill>
                          <a:latin typeface="+mn-lt"/>
                          <a:ea typeface="+mn-ea"/>
                          <a:cs typeface="+mn-cs"/>
                        </a:rPr>
                        <a:t>Check</a:t>
                      </a:r>
                      <a:r>
                        <a:rPr lang="th-TH" sz="1100" kern="1200" dirty="0">
                          <a:solidFill>
                            <a:srgbClr val="002060"/>
                          </a:solidFill>
                          <a:latin typeface="+mn-lt"/>
                          <a:ea typeface="+mn-ea"/>
                          <a:cs typeface="+mn-cs"/>
                        </a:rPr>
                        <a:t> a </a:t>
                      </a:r>
                      <a:r>
                        <a:rPr lang="th-TH" sz="1100" kern="1200" dirty="0" err="1">
                          <a:solidFill>
                            <a:srgbClr val="002060"/>
                          </a:solidFill>
                          <a:latin typeface="+mn-lt"/>
                          <a:ea typeface="+mn-ea"/>
                          <a:cs typeface="+mn-cs"/>
                        </a:rPr>
                        <a:t>session</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is</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running</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otherwise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discard</a:t>
                      </a:r>
                      <a:endParaRPr lang="th-TH" sz="1100" kern="1200" dirty="0">
                        <a:solidFill>
                          <a:srgbClr val="002060"/>
                        </a:solidFill>
                        <a:latin typeface="+mn-lt"/>
                        <a:ea typeface="+mn-ea"/>
                        <a:cs typeface="+mn-cs"/>
                      </a:endParaRPr>
                    </a:p>
                    <a:p>
                      <a:pPr marL="171450" marR="0" lvl="0" indent="-1714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lang="th-TH" sz="1100" kern="1200" dirty="0">
                          <a:solidFill>
                            <a:srgbClr val="002060"/>
                          </a:solidFill>
                          <a:latin typeface="+mn-lt"/>
                          <a:ea typeface="+mn-ea"/>
                          <a:cs typeface="+mn-cs"/>
                        </a:rPr>
                        <a:t>Post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values</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then</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upload</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image</a:t>
                      </a:r>
                      <a:endParaRPr lang="th-TH" sz="1100" kern="1200" dirty="0">
                        <a:solidFill>
                          <a:srgbClr val="002060"/>
                        </a:solidFill>
                        <a:latin typeface="+mn-lt"/>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th-TH" sz="1100" kern="1200" dirty="0" err="1">
                          <a:solidFill>
                            <a:srgbClr val="002060"/>
                          </a:solidFill>
                          <a:latin typeface="+mn-lt"/>
                          <a:ea typeface="+mn-ea"/>
                          <a:cs typeface="+mn-cs"/>
                        </a:rPr>
                        <a:t>Keep</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Core Service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only</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thing</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that</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writes</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to</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database</a:t>
                      </a:r>
                      <a:endParaRPr lang="th-TH" sz="1100" kern="1200" dirty="0">
                        <a:solidFill>
                          <a:srgbClr val="002060"/>
                        </a:solidFill>
                        <a:latin typeface="+mn-lt"/>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sz="1400" b="0" i="0" kern="1200" dirty="0">
                          <a:solidFill>
                            <a:schemeClr val="accent3">
                              <a:lumMod val="60000"/>
                              <a:lumOff val="40000"/>
                            </a:schemeClr>
                          </a:solidFill>
                          <a:effectLst/>
                          <a:latin typeface="Helvetica" panose="020B0604020202020204" pitchFamily="34" charset="0"/>
                          <a:ea typeface="+mn-ea"/>
                          <a:cs typeface="Helvetica" panose="020B0604020202020204" pitchFamily="34" charset="0"/>
                        </a:rPr>
                        <a:t>Completed</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84642317"/>
                  </a:ext>
                </a:extLst>
              </a:tr>
            </a:tbl>
          </a:graphicData>
        </a:graphic>
      </p:graphicFrame>
      <p:sp>
        <p:nvSpPr>
          <p:cNvPr id="3" name="สี่เหลี่ยมผืนผ้า: มุมมน 2">
            <a:extLst>
              <a:ext uri="{FF2B5EF4-FFF2-40B4-BE49-F238E27FC236}">
                <a16:creationId xmlns:a16="http://schemas.microsoft.com/office/drawing/2014/main" id="{318B0BC3-0033-10C3-2E32-CFA404DD117D}"/>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Tree>
    <p:extLst>
      <p:ext uri="{BB962C8B-B14F-4D97-AF65-F5344CB8AC3E}">
        <p14:creationId xmlns:p14="http://schemas.microsoft.com/office/powerpoint/2010/main" val="29771348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4C083-DAFD-0206-6CC1-81BE2DC5AD1F}"/>
            </a:ext>
          </a:extLst>
        </p:cNvPr>
        <p:cNvGrpSpPr/>
        <p:nvPr/>
      </p:nvGrpSpPr>
      <p:grpSpPr>
        <a:xfrm>
          <a:off x="0" y="0"/>
          <a:ext cx="0" cy="0"/>
          <a:chOff x="0" y="0"/>
          <a:chExt cx="0" cy="0"/>
        </a:xfrm>
      </p:grpSpPr>
      <p:pic>
        <p:nvPicPr>
          <p:cNvPr id="6" name="Picture 2" descr="Analog Devices | Disruptive Technology for Clinical Trials">
            <a:extLst>
              <a:ext uri="{FF2B5EF4-FFF2-40B4-BE49-F238E27FC236}">
                <a16:creationId xmlns:a16="http://schemas.microsoft.com/office/drawing/2014/main" id="{E4B40274-DF78-E756-30DD-F040227940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233193" y="433793"/>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0" name="Picture 2" descr="LOGO_ENkku_color – Faculty of Engineering , Khon Kaen University">
            <a:extLst>
              <a:ext uri="{FF2B5EF4-FFF2-40B4-BE49-F238E27FC236}">
                <a16:creationId xmlns:a16="http://schemas.microsoft.com/office/drawing/2014/main" id="{DBC001E7-99D9-9EC7-E982-0A1C15BD7A9C}"/>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411206" y="360124"/>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16" name="กล่องข้อความ 13">
            <a:extLst>
              <a:ext uri="{FF2B5EF4-FFF2-40B4-BE49-F238E27FC236}">
                <a16:creationId xmlns:a16="http://schemas.microsoft.com/office/drawing/2014/main" id="{2BD3322E-05D3-687C-DD0E-0778AEA41D70}"/>
              </a:ext>
            </a:extLst>
          </p:cNvPr>
          <p:cNvSpPr txBox="1">
            <a:spLocks/>
          </p:cNvSpPr>
          <p:nvPr/>
        </p:nvSpPr>
        <p:spPr>
          <a:xfrm>
            <a:off x="798575" y="597115"/>
            <a:ext cx="1883665" cy="523220"/>
          </a:xfrm>
          <a:prstGeom prst="rect">
            <a:avLst/>
          </a:prstGeom>
          <a:noFill/>
        </p:spPr>
        <p:txBody>
          <a:bodyPr wrap="square" rtlCol="0">
            <a:spAutoFit/>
          </a:bodyPr>
          <a:lstStyle/>
          <a:p>
            <a:r>
              <a:rPr lang="en-US" b="1" dirty="0">
                <a:solidFill>
                  <a:srgbClr val="002060"/>
                </a:solidFill>
                <a:latin typeface="Helvetica" panose="020B0604020202020204" pitchFamily="34" charset="0"/>
                <a:cs typeface="Helvetica" panose="020B0604020202020204" pitchFamily="34" charset="0"/>
              </a:rPr>
              <a:t>Actions</a:t>
            </a:r>
            <a:endParaRPr lang="th-TH" b="1" dirty="0">
              <a:solidFill>
                <a:srgbClr val="002060"/>
              </a:solidFill>
              <a:latin typeface="Helvetica" panose="020B0604020202020204" pitchFamily="34" charset="0"/>
              <a:cs typeface="Mitr" panose="00000500000000000000" pitchFamily="2" charset="-34"/>
            </a:endParaRPr>
          </a:p>
        </p:txBody>
      </p:sp>
      <p:sp>
        <p:nvSpPr>
          <p:cNvPr id="106" name="สี่เหลี่ยมผืนผ้า 22">
            <a:extLst>
              <a:ext uri="{FF2B5EF4-FFF2-40B4-BE49-F238E27FC236}">
                <a16:creationId xmlns:a16="http://schemas.microsoft.com/office/drawing/2014/main" id="{0EB91138-4C79-0CE9-F762-BA15AD85427A}"/>
              </a:ext>
            </a:extLst>
          </p:cNvPr>
          <p:cNvSpPr/>
          <p:nvPr/>
        </p:nvSpPr>
        <p:spPr>
          <a:xfrm>
            <a:off x="2400344" y="610992"/>
            <a:ext cx="3333272" cy="465978"/>
          </a:xfrm>
          <a:prstGeom prst="rect">
            <a:avLst/>
          </a:prstGeom>
          <a:solidFill>
            <a:schemeClr val="accent2">
              <a:lumMod val="75000"/>
              <a:alpha val="1803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108" name="TextBox 107">
            <a:extLst>
              <a:ext uri="{FF2B5EF4-FFF2-40B4-BE49-F238E27FC236}">
                <a16:creationId xmlns:a16="http://schemas.microsoft.com/office/drawing/2014/main" id="{C8C55118-D8CB-701B-AE3D-FD73DCDFF6CD}"/>
              </a:ext>
            </a:extLst>
          </p:cNvPr>
          <p:cNvSpPr txBox="1"/>
          <p:nvPr/>
        </p:nvSpPr>
        <p:spPr>
          <a:xfrm>
            <a:off x="2501210" y="679617"/>
            <a:ext cx="3232406" cy="400110"/>
          </a:xfrm>
          <a:prstGeom prst="rect">
            <a:avLst/>
          </a:prstGeom>
          <a:noFill/>
        </p:spPr>
        <p:txBody>
          <a:bodyPr wrap="square" rtlCol="0">
            <a:spAutoFit/>
          </a:bodyPr>
          <a:lstStyle/>
          <a:p>
            <a:r>
              <a:rPr lang="en-US" sz="2000" b="1" dirty="0">
                <a:latin typeface="Helvetica" panose="020B0604020202020204" pitchFamily="34" charset="0"/>
                <a:cs typeface="Helvetica" panose="020B0604020202020204" pitchFamily="34" charset="0"/>
              </a:rPr>
              <a:t>Backend (Image Sever)</a:t>
            </a:r>
            <a:endParaRPr lang="th-TH" sz="2000" b="1" dirty="0">
              <a:latin typeface="Helvetica" panose="020B0604020202020204" pitchFamily="34" charset="0"/>
            </a:endParaRPr>
          </a:p>
        </p:txBody>
      </p:sp>
      <p:graphicFrame>
        <p:nvGraphicFramePr>
          <p:cNvPr id="5" name="ตาราง 13">
            <a:extLst>
              <a:ext uri="{FF2B5EF4-FFF2-40B4-BE49-F238E27FC236}">
                <a16:creationId xmlns:a16="http://schemas.microsoft.com/office/drawing/2014/main" id="{0964BD16-EF46-CF29-B63E-E54075423F4C}"/>
              </a:ext>
            </a:extLst>
          </p:cNvPr>
          <p:cNvGraphicFramePr>
            <a:graphicFrameLocks noGrp="1"/>
          </p:cNvGraphicFramePr>
          <p:nvPr/>
        </p:nvGraphicFramePr>
        <p:xfrm>
          <a:off x="277065" y="1449215"/>
          <a:ext cx="11236418" cy="2824205"/>
        </p:xfrm>
        <a:graphic>
          <a:graphicData uri="http://schemas.openxmlformats.org/drawingml/2006/table">
            <a:tbl>
              <a:tblPr/>
              <a:tblGrid>
                <a:gridCol w="2807660">
                  <a:extLst>
                    <a:ext uri="{9D8B030D-6E8A-4147-A177-3AD203B41FA5}">
                      <a16:colId xmlns:a16="http://schemas.microsoft.com/office/drawing/2014/main" val="3066147821"/>
                    </a:ext>
                  </a:extLst>
                </a:gridCol>
                <a:gridCol w="3148094">
                  <a:extLst>
                    <a:ext uri="{9D8B030D-6E8A-4147-A177-3AD203B41FA5}">
                      <a16:colId xmlns:a16="http://schemas.microsoft.com/office/drawing/2014/main" val="1393184914"/>
                    </a:ext>
                  </a:extLst>
                </a:gridCol>
                <a:gridCol w="2640332">
                  <a:extLst>
                    <a:ext uri="{9D8B030D-6E8A-4147-A177-3AD203B41FA5}">
                      <a16:colId xmlns:a16="http://schemas.microsoft.com/office/drawing/2014/main" val="1764521080"/>
                    </a:ext>
                  </a:extLst>
                </a:gridCol>
                <a:gridCol w="2640332">
                  <a:extLst>
                    <a:ext uri="{9D8B030D-6E8A-4147-A177-3AD203B41FA5}">
                      <a16:colId xmlns:a16="http://schemas.microsoft.com/office/drawing/2014/main" val="1643920673"/>
                    </a:ext>
                  </a:extLst>
                </a:gridCol>
              </a:tblGrid>
              <a:tr h="463138">
                <a:tc>
                  <a:txBody>
                    <a:bodyPr/>
                    <a:lstStyle/>
                    <a:p>
                      <a:pPr algn="ctr" fontAlgn="ctr">
                        <a:buNone/>
                      </a:pPr>
                      <a:r>
                        <a:rPr lang="en-US" sz="1400" b="1" dirty="0">
                          <a:solidFill>
                            <a:schemeClr val="bg1"/>
                          </a:solidFill>
                          <a:latin typeface="Helvetica" panose="020B0604020202020204" pitchFamily="34" charset="0"/>
                          <a:cs typeface="+mn-cs"/>
                        </a:rPr>
                        <a:t>Module</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th-TH" sz="1400" b="1" kern="1200" dirty="0" err="1">
                          <a:solidFill>
                            <a:schemeClr val="bg1"/>
                          </a:solidFill>
                          <a:latin typeface="Helvetica" panose="020B0604020202020204" pitchFamily="34" charset="0"/>
                          <a:ea typeface="+mn-ea"/>
                          <a:cs typeface="+mn-cs"/>
                        </a:rPr>
                        <a:t>Key</a:t>
                      </a:r>
                      <a:r>
                        <a:rPr lang="th-TH" sz="1400" b="1" kern="1200" dirty="0">
                          <a:solidFill>
                            <a:schemeClr val="bg1"/>
                          </a:solidFill>
                          <a:latin typeface="Helvetica" panose="020B0604020202020204" pitchFamily="34" charset="0"/>
                          <a:ea typeface="+mn-ea"/>
                          <a:cs typeface="+mn-cs"/>
                        </a:rPr>
                        <a:t> </a:t>
                      </a:r>
                      <a:r>
                        <a:rPr lang="th-TH" sz="1400" b="1" kern="1200" dirty="0" err="1">
                          <a:solidFill>
                            <a:schemeClr val="bg1"/>
                          </a:solidFill>
                          <a:latin typeface="Helvetica" panose="020B0604020202020204" pitchFamily="34" charset="0"/>
                          <a:ea typeface="+mn-ea"/>
                          <a:cs typeface="+mn-cs"/>
                        </a:rPr>
                        <a:t>Responsibilities</a:t>
                      </a:r>
                      <a:endParaRPr lang="en-US" sz="1400" b="1" kern="1200" dirty="0">
                        <a:solidFill>
                          <a:schemeClr val="bg1"/>
                        </a:solidFill>
                        <a:latin typeface="Helvetica" panose="020B0604020202020204" pitchFamily="34" charset="0"/>
                        <a:ea typeface="+mn-ea"/>
                        <a:cs typeface="+mn-cs"/>
                      </a:endParaRP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kern="1200" dirty="0">
                          <a:solidFill>
                            <a:schemeClr val="bg1"/>
                          </a:solidFill>
                          <a:latin typeface="Helvetica" panose="020B0604020202020204" pitchFamily="34" charset="0"/>
                          <a:ea typeface="+mn-ea"/>
                          <a:cs typeface="+mn-cs"/>
                        </a:rPr>
                        <a:t>Objective</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kern="1200" dirty="0">
                          <a:solidFill>
                            <a:schemeClr val="bg1"/>
                          </a:solidFill>
                          <a:latin typeface="Helvetica" panose="020B0604020202020204" pitchFamily="34" charset="0"/>
                          <a:ea typeface="+mn-ea"/>
                          <a:cs typeface="+mn-cs"/>
                        </a:rPr>
                        <a:t>Status</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786322214"/>
                  </a:ext>
                </a:extLst>
              </a:tr>
              <a:tr h="741501">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th-TH" sz="1400" b="1" i="0" kern="1200" dirty="0" err="1">
                          <a:solidFill>
                            <a:srgbClr val="002060"/>
                          </a:solidFill>
                          <a:effectLst/>
                          <a:latin typeface="Helvetica" panose="020B0604020202020204" pitchFamily="34" charset="0"/>
                          <a:ea typeface="+mn-ea"/>
                          <a:cs typeface="+mn-cs"/>
                        </a:rPr>
                        <a:t>Serve</a:t>
                      </a:r>
                      <a:r>
                        <a:rPr lang="th-TH" sz="1400" b="1" i="0" kern="1200" dirty="0">
                          <a:solidFill>
                            <a:srgbClr val="002060"/>
                          </a:solidFill>
                          <a:effectLst/>
                          <a:latin typeface="Helvetica" panose="020B0604020202020204" pitchFamily="34" charset="0"/>
                          <a:ea typeface="+mn-ea"/>
                          <a:cs typeface="+mn-cs"/>
                        </a:rPr>
                        <a:t> </a:t>
                      </a:r>
                      <a:r>
                        <a:rPr lang="th-TH" sz="1400" b="1" i="0" kern="1200" dirty="0" err="1">
                          <a:solidFill>
                            <a:srgbClr val="002060"/>
                          </a:solidFill>
                          <a:effectLst/>
                          <a:latin typeface="Helvetica" panose="020B0604020202020204" pitchFamily="34" charset="0"/>
                          <a:ea typeface="+mn-ea"/>
                          <a:cs typeface="+mn-cs"/>
                        </a:rPr>
                        <a:t>images</a:t>
                      </a:r>
                      <a:r>
                        <a:rPr lang="th-TH" sz="1400" b="1" i="0" kern="1200" dirty="0">
                          <a:solidFill>
                            <a:srgbClr val="002060"/>
                          </a:solidFill>
                          <a:effectLst/>
                          <a:latin typeface="Helvetica" panose="020B0604020202020204" pitchFamily="34" charset="0"/>
                          <a:ea typeface="+mn-ea"/>
                          <a:cs typeface="+mn-cs"/>
                        </a:rPr>
                        <a:t> </a:t>
                      </a:r>
                      <a:r>
                        <a:rPr lang="th-TH" sz="1400" b="1" i="0" kern="1200" dirty="0" err="1">
                          <a:solidFill>
                            <a:srgbClr val="002060"/>
                          </a:solidFill>
                          <a:effectLst/>
                          <a:latin typeface="Helvetica" panose="020B0604020202020204" pitchFamily="34" charset="0"/>
                          <a:ea typeface="+mn-ea"/>
                          <a:cs typeface="+mn-cs"/>
                        </a:rPr>
                        <a:t>to</a:t>
                      </a:r>
                      <a:r>
                        <a:rPr lang="th-TH" sz="1400" b="1" i="0" kern="1200" dirty="0">
                          <a:solidFill>
                            <a:srgbClr val="002060"/>
                          </a:solidFill>
                          <a:effectLst/>
                          <a:latin typeface="Helvetica" panose="020B0604020202020204" pitchFamily="34" charset="0"/>
                          <a:ea typeface="+mn-ea"/>
                          <a:cs typeface="+mn-cs"/>
                        </a:rPr>
                        <a:t> Power BI</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th-TH" sz="1100" kern="1200" dirty="0" err="1">
                          <a:solidFill>
                            <a:srgbClr val="002060"/>
                          </a:solidFill>
                          <a:latin typeface="+mn-lt"/>
                          <a:ea typeface="+mn-ea"/>
                          <a:cs typeface="+mn-cs"/>
                        </a:rPr>
                        <a:t>Return</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stored</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image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when</a:t>
                      </a:r>
                      <a:r>
                        <a:rPr lang="th-TH" sz="1100" kern="1200" dirty="0">
                          <a:solidFill>
                            <a:srgbClr val="002060"/>
                          </a:solidFill>
                          <a:latin typeface="+mn-lt"/>
                          <a:ea typeface="+mn-ea"/>
                          <a:cs typeface="+mn-cs"/>
                        </a:rPr>
                        <a:t> a </a:t>
                      </a:r>
                      <a:r>
                        <a:rPr lang="th-TH" sz="1100" kern="1200" dirty="0" err="1">
                          <a:solidFill>
                            <a:srgbClr val="002060"/>
                          </a:solidFill>
                          <a:latin typeface="+mn-lt"/>
                          <a:ea typeface="+mn-ea"/>
                          <a:cs typeface="+mn-cs"/>
                        </a:rPr>
                        <a:t>link</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is</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clicked</a:t>
                      </a:r>
                      <a:endParaRPr lang="th-TH" sz="1100" kern="1200" dirty="0">
                        <a:solidFill>
                          <a:srgbClr val="002060"/>
                        </a:solidFill>
                        <a:latin typeface="+mn-lt"/>
                        <a:ea typeface="+mn-ea"/>
                        <a:cs typeface="+mn-cs"/>
                      </a:endParaRPr>
                    </a:p>
                    <a:p>
                      <a:pPr marL="171450" indent="-171450">
                        <a:buFont typeface="Arial" panose="020B0604020202020204" pitchFamily="34" charset="0"/>
                        <a:buChar char="•"/>
                      </a:pP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Run</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on</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its</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own</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port</a:t>
                      </a:r>
                      <a:r>
                        <a:rPr lang="th-TH" sz="1100" kern="1200" dirty="0">
                          <a:solidFill>
                            <a:srgbClr val="002060"/>
                          </a:solidFill>
                          <a:latin typeface="+mn-lt"/>
                          <a:ea typeface="+mn-ea"/>
                          <a:cs typeface="+mn-cs"/>
                        </a:rPr>
                        <a:t> (8080)</a:t>
                      </a:r>
                      <a:endParaRPr lang="en-US" sz="1100" kern="1200" dirty="0">
                        <a:solidFill>
                          <a:srgbClr val="002060"/>
                        </a:solidFill>
                        <a:latin typeface="+mn-lt"/>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th-TH" sz="1100" kern="1200" dirty="0" err="1">
                          <a:solidFill>
                            <a:srgbClr val="002060"/>
                          </a:solidFill>
                          <a:latin typeface="+mn-lt"/>
                          <a:ea typeface="+mn-ea"/>
                          <a:cs typeface="+mn-cs"/>
                        </a:rPr>
                        <a:t>Let</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a:t>
                      </a:r>
                      <a:r>
                        <a:rPr lang="en-US" sz="1100" kern="1200" dirty="0">
                          <a:solidFill>
                            <a:srgbClr val="002060"/>
                          </a:solidFill>
                          <a:latin typeface="+mn-lt"/>
                          <a:ea typeface="+mn-ea"/>
                          <a:cs typeface="+mn-cs"/>
                        </a:rPr>
                        <a:t>user view</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an</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image</a:t>
                      </a:r>
                      <a:r>
                        <a:rPr lang="th-TH" sz="1100" kern="1200" dirty="0">
                          <a:solidFill>
                            <a:srgbClr val="002060"/>
                          </a:solidFill>
                          <a:latin typeface="+mn-lt"/>
                          <a:ea typeface="+mn-ea"/>
                          <a:cs typeface="+mn-cs"/>
                        </a:rPr>
                        <a:t> </a:t>
                      </a:r>
                      <a:r>
                        <a:rPr lang="en-US" sz="1100" kern="1200" dirty="0">
                          <a:solidFill>
                            <a:srgbClr val="002060"/>
                          </a:solidFill>
                          <a:latin typeface="+mn-lt"/>
                          <a:ea typeface="+mn-ea"/>
                          <a:cs typeface="+mn-cs"/>
                        </a:rPr>
                        <a:t>from Power BI Dashboard</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sz="1400" b="0" i="0" kern="1200" dirty="0">
                          <a:solidFill>
                            <a:schemeClr val="accent3">
                              <a:lumMod val="60000"/>
                              <a:lumOff val="40000"/>
                            </a:schemeClr>
                          </a:solidFill>
                          <a:effectLst/>
                          <a:latin typeface="Helvetica" panose="020B0604020202020204" pitchFamily="34" charset="0"/>
                          <a:ea typeface="+mn-ea"/>
                          <a:cs typeface="Helvetica" panose="020B0604020202020204" pitchFamily="34" charset="0"/>
                        </a:rPr>
                        <a:t>Completed</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32952113"/>
                  </a:ext>
                </a:extLst>
              </a:tr>
              <a:tr h="727788">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th-TH" sz="1400" b="1" i="0" kern="1200" dirty="0" err="1">
                          <a:solidFill>
                            <a:srgbClr val="002060"/>
                          </a:solidFill>
                          <a:effectLst/>
                          <a:latin typeface="Helvetica" panose="020B0604020202020204" pitchFamily="34" charset="0"/>
                          <a:ea typeface="+mn-ea"/>
                          <a:cs typeface="+mn-cs"/>
                        </a:rPr>
                        <a:t>Restrict</a:t>
                      </a:r>
                      <a:r>
                        <a:rPr lang="th-TH" sz="1400" b="1" i="0" kern="1200" dirty="0">
                          <a:solidFill>
                            <a:srgbClr val="002060"/>
                          </a:solidFill>
                          <a:effectLst/>
                          <a:latin typeface="Helvetica" panose="020B0604020202020204" pitchFamily="34" charset="0"/>
                          <a:ea typeface="+mn-ea"/>
                          <a:cs typeface="+mn-cs"/>
                        </a:rPr>
                        <a:t> </a:t>
                      </a:r>
                      <a:r>
                        <a:rPr lang="th-TH" sz="1400" b="1" i="0" kern="1200" dirty="0" err="1">
                          <a:solidFill>
                            <a:srgbClr val="002060"/>
                          </a:solidFill>
                          <a:effectLst/>
                          <a:latin typeface="Helvetica" panose="020B0604020202020204" pitchFamily="34" charset="0"/>
                          <a:ea typeface="+mn-ea"/>
                          <a:cs typeface="+mn-cs"/>
                        </a:rPr>
                        <a:t>access</a:t>
                      </a:r>
                      <a:r>
                        <a:rPr lang="th-TH" sz="1400" b="1" i="0" kern="1200" dirty="0">
                          <a:solidFill>
                            <a:srgbClr val="002060"/>
                          </a:solidFill>
                          <a:effectLst/>
                          <a:latin typeface="Helvetica" panose="020B0604020202020204" pitchFamily="34" charset="0"/>
                          <a:ea typeface="+mn-ea"/>
                          <a:cs typeface="+mn-cs"/>
                        </a:rPr>
                        <a:t> </a:t>
                      </a:r>
                      <a:r>
                        <a:rPr lang="th-TH" sz="1400" b="1" i="0" kern="1200" dirty="0" err="1">
                          <a:solidFill>
                            <a:srgbClr val="002060"/>
                          </a:solidFill>
                          <a:effectLst/>
                          <a:latin typeface="Helvetica" panose="020B0604020202020204" pitchFamily="34" charset="0"/>
                          <a:ea typeface="+mn-ea"/>
                          <a:cs typeface="+mn-cs"/>
                        </a:rPr>
                        <a:t>by</a:t>
                      </a:r>
                      <a:r>
                        <a:rPr lang="th-TH" sz="1400" b="1" i="0" kern="1200" dirty="0">
                          <a:solidFill>
                            <a:srgbClr val="002060"/>
                          </a:solidFill>
                          <a:effectLst/>
                          <a:latin typeface="Helvetica" panose="020B0604020202020204" pitchFamily="34" charset="0"/>
                          <a:ea typeface="+mn-ea"/>
                          <a:cs typeface="+mn-cs"/>
                        </a:rPr>
                        <a:t> IP</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th-TH" sz="1100" kern="1200" dirty="0" err="1">
                          <a:solidFill>
                            <a:srgbClr val="002060"/>
                          </a:solidFill>
                          <a:latin typeface="+mn-lt"/>
                          <a:ea typeface="+mn-ea"/>
                          <a:cs typeface="+mn-cs"/>
                        </a:rPr>
                        <a:t>Answer</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internal</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subnet</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only</a:t>
                      </a:r>
                      <a:r>
                        <a:rPr lang="th-TH" sz="1100" kern="1200" dirty="0">
                          <a:solidFill>
                            <a:srgbClr val="002060"/>
                          </a:solidFill>
                          <a:latin typeface="+mn-lt"/>
                          <a:ea typeface="+mn-ea"/>
                          <a:cs typeface="+mn-cs"/>
                        </a:rPr>
                        <a:t> — </a:t>
                      </a:r>
                      <a:r>
                        <a:rPr lang="th-TH" sz="1100" kern="1200" dirty="0" err="1">
                          <a:solidFill>
                            <a:srgbClr val="002060"/>
                          </a:solidFill>
                          <a:latin typeface="+mn-lt"/>
                          <a:ea typeface="+mn-ea"/>
                          <a:cs typeface="+mn-cs"/>
                        </a:rPr>
                        <a:t>every</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other</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address</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gets</a:t>
                      </a:r>
                      <a:r>
                        <a:rPr lang="th-TH" sz="1100" kern="1200" dirty="0">
                          <a:solidFill>
                            <a:srgbClr val="002060"/>
                          </a:solidFill>
                          <a:latin typeface="+mn-lt"/>
                          <a:ea typeface="+mn-ea"/>
                          <a:cs typeface="+mn-cs"/>
                        </a:rPr>
                        <a:t> 403</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th-TH" sz="1100" kern="1200" dirty="0" err="1">
                          <a:solidFill>
                            <a:srgbClr val="002060"/>
                          </a:solidFill>
                          <a:latin typeface="+mn-lt"/>
                          <a:ea typeface="+mn-ea"/>
                          <a:cs typeface="+mn-cs"/>
                        </a:rPr>
                        <a:t>Limit</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who</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can</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reach</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images</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since</a:t>
                      </a:r>
                      <a:r>
                        <a:rPr lang="th-TH" sz="1100" kern="1200" dirty="0">
                          <a:solidFill>
                            <a:srgbClr val="002060"/>
                          </a:solidFill>
                          <a:latin typeface="+mn-lt"/>
                          <a:ea typeface="+mn-ea"/>
                          <a:cs typeface="+mn-cs"/>
                        </a:rPr>
                        <a:t> Power BI </a:t>
                      </a:r>
                      <a:r>
                        <a:rPr lang="th-TH" sz="1100" kern="1200" dirty="0" err="1">
                          <a:solidFill>
                            <a:srgbClr val="002060"/>
                          </a:solidFill>
                          <a:latin typeface="+mn-lt"/>
                          <a:ea typeface="+mn-ea"/>
                          <a:cs typeface="+mn-cs"/>
                        </a:rPr>
                        <a:t>cannot</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sign</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in</a:t>
                      </a:r>
                      <a:endParaRPr lang="en-US" sz="1100" kern="1200" dirty="0">
                        <a:solidFill>
                          <a:srgbClr val="002060"/>
                        </a:solidFill>
                        <a:latin typeface="+mn-lt"/>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sz="1400" b="0" i="0" kern="1200" dirty="0">
                          <a:solidFill>
                            <a:schemeClr val="accent3">
                              <a:lumMod val="60000"/>
                              <a:lumOff val="40000"/>
                            </a:schemeClr>
                          </a:solidFill>
                          <a:effectLst/>
                          <a:latin typeface="Helvetica" panose="020B0604020202020204" pitchFamily="34" charset="0"/>
                          <a:ea typeface="+mn-ea"/>
                          <a:cs typeface="Helvetica" panose="020B0604020202020204" pitchFamily="34" charset="0"/>
                        </a:rPr>
                        <a:t>Completed</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7472765"/>
                  </a:ext>
                </a:extLst>
              </a:tr>
              <a:tr h="891778">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th-TH" sz="1400" b="1" i="0" kern="1200" dirty="0">
                          <a:solidFill>
                            <a:srgbClr val="002060"/>
                          </a:solidFill>
                          <a:effectLst/>
                          <a:latin typeface="Helvetica" panose="020B0604020202020204" pitchFamily="34" charset="0"/>
                          <a:ea typeface="+mn-ea"/>
                          <a:cs typeface="+mn-cs"/>
                        </a:rPr>
                        <a:t>Block </a:t>
                      </a:r>
                      <a:r>
                        <a:rPr lang="th-TH" sz="1400" b="1" i="0" kern="1200" dirty="0" err="1">
                          <a:solidFill>
                            <a:srgbClr val="002060"/>
                          </a:solidFill>
                          <a:effectLst/>
                          <a:latin typeface="Helvetica" panose="020B0604020202020204" pitchFamily="34" charset="0"/>
                          <a:ea typeface="+mn-ea"/>
                          <a:cs typeface="+mn-cs"/>
                        </a:rPr>
                        <a:t>path</a:t>
                      </a:r>
                      <a:r>
                        <a:rPr lang="th-TH" sz="1400" b="1" i="0" kern="1200" dirty="0">
                          <a:solidFill>
                            <a:srgbClr val="002060"/>
                          </a:solidFill>
                          <a:effectLst/>
                          <a:latin typeface="Helvetica" panose="020B0604020202020204" pitchFamily="34" charset="0"/>
                          <a:ea typeface="+mn-ea"/>
                          <a:cs typeface="+mn-cs"/>
                        </a:rPr>
                        <a:t> </a:t>
                      </a:r>
                      <a:r>
                        <a:rPr lang="th-TH" sz="1400" b="1" i="0" kern="1200" dirty="0" err="1">
                          <a:solidFill>
                            <a:srgbClr val="002060"/>
                          </a:solidFill>
                          <a:effectLst/>
                          <a:latin typeface="Helvetica" panose="020B0604020202020204" pitchFamily="34" charset="0"/>
                          <a:ea typeface="+mn-ea"/>
                          <a:cs typeface="+mn-cs"/>
                        </a:rPr>
                        <a:t>traversal</a:t>
                      </a:r>
                      <a:endParaRPr lang="en-GB" sz="1400" b="1" i="0" kern="1200" dirty="0">
                        <a:solidFill>
                          <a:srgbClr val="002060"/>
                        </a:solidFill>
                        <a:effectLst/>
                        <a:latin typeface="Helvetica" panose="020B0604020202020204" pitchFamily="34" charset="0"/>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71450" indent="-171450" algn="l" defTabSz="914400" rtl="0" eaLnBrk="1" latinLnBrk="0" hangingPunct="1">
                        <a:buFont typeface="Arial" panose="020B0604020202020204" pitchFamily="34" charset="0"/>
                        <a:buChar char="•"/>
                      </a:pPr>
                      <a:r>
                        <a:rPr lang="th-TH" sz="1100" kern="1200" dirty="0" err="1">
                          <a:solidFill>
                            <a:srgbClr val="002060"/>
                          </a:solidFill>
                          <a:latin typeface="+mn-lt"/>
                          <a:ea typeface="+mn-ea"/>
                          <a:cs typeface="+mn-cs"/>
                        </a:rPr>
                        <a:t>Resolve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every</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path</a:t>
                      </a:r>
                      <a:r>
                        <a:rPr lang="th-TH" sz="1100" kern="1200" dirty="0">
                          <a:solidFill>
                            <a:srgbClr val="002060"/>
                          </a:solidFill>
                          <a:latin typeface="+mn-lt"/>
                          <a:ea typeface="+mn-ea"/>
                          <a:cs typeface="+mn-cs"/>
                        </a:rPr>
                        <a:t> and </a:t>
                      </a:r>
                      <a:r>
                        <a:rPr lang="th-TH" sz="1100" kern="1200" dirty="0" err="1">
                          <a:solidFill>
                            <a:srgbClr val="002060"/>
                          </a:solidFill>
                          <a:latin typeface="+mn-lt"/>
                          <a:ea typeface="+mn-ea"/>
                          <a:cs typeface="+mn-cs"/>
                        </a:rPr>
                        <a:t>reject</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anything</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outside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image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folder</a:t>
                      </a:r>
                      <a:endParaRPr lang="th-TH" sz="1100" kern="1200" dirty="0">
                        <a:solidFill>
                          <a:srgbClr val="002060"/>
                        </a:solidFill>
                        <a:latin typeface="+mn-lt"/>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th-TH" sz="1100" kern="1200" dirty="0" err="1">
                          <a:solidFill>
                            <a:srgbClr val="002060"/>
                          </a:solidFill>
                          <a:latin typeface="+mn-lt"/>
                          <a:ea typeface="+mn-ea"/>
                          <a:cs typeface="+mn-cs"/>
                        </a:rPr>
                        <a:t>Stop</a:t>
                      </a:r>
                      <a:r>
                        <a:rPr lang="th-TH" sz="1100" kern="1200" dirty="0">
                          <a:solidFill>
                            <a:srgbClr val="002060"/>
                          </a:solidFill>
                          <a:latin typeface="+mn-lt"/>
                          <a:ea typeface="+mn-ea"/>
                          <a:cs typeface="+mn-cs"/>
                        </a:rPr>
                        <a:t> a </a:t>
                      </a:r>
                      <a:r>
                        <a:rPr lang="th-TH" sz="1100" kern="1200" dirty="0" err="1">
                          <a:solidFill>
                            <a:srgbClr val="002060"/>
                          </a:solidFill>
                          <a:latin typeface="+mn-lt"/>
                          <a:ea typeface="+mn-ea"/>
                          <a:cs typeface="+mn-cs"/>
                        </a:rPr>
                        <a:t>crafted</a:t>
                      </a:r>
                      <a:r>
                        <a:rPr lang="th-TH" sz="1100" kern="1200" dirty="0">
                          <a:solidFill>
                            <a:srgbClr val="002060"/>
                          </a:solidFill>
                          <a:latin typeface="+mn-lt"/>
                          <a:ea typeface="+mn-ea"/>
                          <a:cs typeface="+mn-cs"/>
                        </a:rPr>
                        <a:t> URL </a:t>
                      </a:r>
                      <a:r>
                        <a:rPr lang="th-TH" sz="1100" kern="1200" dirty="0" err="1">
                          <a:solidFill>
                            <a:srgbClr val="002060"/>
                          </a:solidFill>
                          <a:latin typeface="+mn-lt"/>
                          <a:ea typeface="+mn-ea"/>
                          <a:cs typeface="+mn-cs"/>
                        </a:rPr>
                        <a:t>from</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reading</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any</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file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outside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the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image</a:t>
                      </a:r>
                      <a:r>
                        <a:rPr lang="th-TH" sz="1100" kern="1200" dirty="0">
                          <a:solidFill>
                            <a:srgbClr val="002060"/>
                          </a:solidFill>
                          <a:latin typeface="+mn-lt"/>
                          <a:ea typeface="+mn-ea"/>
                          <a:cs typeface="+mn-cs"/>
                        </a:rPr>
                        <a:t> </a:t>
                      </a:r>
                      <a:r>
                        <a:rPr lang="th-TH" sz="1100" kern="1200" dirty="0" err="1">
                          <a:solidFill>
                            <a:srgbClr val="002060"/>
                          </a:solidFill>
                          <a:latin typeface="+mn-lt"/>
                          <a:ea typeface="+mn-ea"/>
                          <a:cs typeface="+mn-cs"/>
                        </a:rPr>
                        <a:t>folder</a:t>
                      </a:r>
                      <a:endParaRPr lang="en-US" sz="1100" kern="1200" dirty="0">
                        <a:solidFill>
                          <a:srgbClr val="002060"/>
                        </a:solidFill>
                        <a:latin typeface="+mn-lt"/>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sz="1400" b="0" i="0" dirty="0">
                          <a:solidFill>
                            <a:schemeClr val="accent3">
                              <a:lumMod val="60000"/>
                              <a:lumOff val="40000"/>
                            </a:schemeClr>
                          </a:solidFill>
                          <a:effectLst/>
                          <a:latin typeface="Helvetica" panose="020B0604020202020204" pitchFamily="34" charset="0"/>
                          <a:cs typeface="Helvetica" panose="020B0604020202020204" pitchFamily="34" charset="0"/>
                        </a:rPr>
                        <a:t>Completed</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90769145"/>
                  </a:ext>
                </a:extLst>
              </a:tr>
            </a:tbl>
          </a:graphicData>
        </a:graphic>
      </p:graphicFrame>
      <p:sp>
        <p:nvSpPr>
          <p:cNvPr id="3" name="สี่เหลี่ยมผืนผ้า: มุมมน 2">
            <a:extLst>
              <a:ext uri="{FF2B5EF4-FFF2-40B4-BE49-F238E27FC236}">
                <a16:creationId xmlns:a16="http://schemas.microsoft.com/office/drawing/2014/main" id="{F0E54D52-CF9C-F668-E71D-9C2A3256C3B2}"/>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Tree>
    <p:extLst>
      <p:ext uri="{BB962C8B-B14F-4D97-AF65-F5344CB8AC3E}">
        <p14:creationId xmlns:p14="http://schemas.microsoft.com/office/powerpoint/2010/main" val="33949374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560EC-0ABB-C30D-26A9-9645E1C20A10}"/>
            </a:ext>
          </a:extLst>
        </p:cNvPr>
        <p:cNvGrpSpPr/>
        <p:nvPr/>
      </p:nvGrpSpPr>
      <p:grpSpPr>
        <a:xfrm>
          <a:off x="0" y="0"/>
          <a:ext cx="0" cy="0"/>
          <a:chOff x="0" y="0"/>
          <a:chExt cx="0" cy="0"/>
        </a:xfrm>
      </p:grpSpPr>
      <p:sp>
        <p:nvSpPr>
          <p:cNvPr id="14" name="สี่เหลี่ยมผืนผ้า 22">
            <a:extLst>
              <a:ext uri="{FF2B5EF4-FFF2-40B4-BE49-F238E27FC236}">
                <a16:creationId xmlns:a16="http://schemas.microsoft.com/office/drawing/2014/main" id="{FA6F9540-18A8-0824-5DE0-421494F7D7AE}"/>
              </a:ext>
            </a:extLst>
          </p:cNvPr>
          <p:cNvSpPr/>
          <p:nvPr/>
        </p:nvSpPr>
        <p:spPr>
          <a:xfrm>
            <a:off x="2354024" y="600513"/>
            <a:ext cx="2545204" cy="465978"/>
          </a:xfrm>
          <a:prstGeom prst="rect">
            <a:avLst/>
          </a:prstGeom>
          <a:solidFill>
            <a:schemeClr val="accent2">
              <a:lumMod val="75000"/>
              <a:alpha val="1803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pic>
        <p:nvPicPr>
          <p:cNvPr id="9" name="Picture 2" descr="Analog Devices | Disruptive Technology for Clinical Trials">
            <a:extLst>
              <a:ext uri="{FF2B5EF4-FFF2-40B4-BE49-F238E27FC236}">
                <a16:creationId xmlns:a16="http://schemas.microsoft.com/office/drawing/2014/main" id="{F742F10D-FC8F-60CD-C3C3-1813771884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233193" y="433793"/>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2" name="Picture 2" descr="LOGO_ENkku_color – Faculty of Engineering , Khon Kaen University">
            <a:extLst>
              <a:ext uri="{FF2B5EF4-FFF2-40B4-BE49-F238E27FC236}">
                <a16:creationId xmlns:a16="http://schemas.microsoft.com/office/drawing/2014/main" id="{1B0EB23C-E978-2087-604C-09E5B7C95CB3}"/>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411206" y="360124"/>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14D2ACF-E3D6-7D18-6E89-CAF731D08358}"/>
              </a:ext>
            </a:extLst>
          </p:cNvPr>
          <p:cNvSpPr txBox="1"/>
          <p:nvPr/>
        </p:nvSpPr>
        <p:spPr>
          <a:xfrm>
            <a:off x="2486104" y="663623"/>
            <a:ext cx="2110004" cy="400110"/>
          </a:xfrm>
          <a:prstGeom prst="rect">
            <a:avLst/>
          </a:prstGeom>
          <a:noFill/>
        </p:spPr>
        <p:txBody>
          <a:bodyPr wrap="square" rtlCol="0">
            <a:spAutoFit/>
          </a:bodyPr>
          <a:lstStyle/>
          <a:p>
            <a:r>
              <a:rPr lang="en-US" sz="2000" b="1" dirty="0"/>
              <a:t>Edge Controller</a:t>
            </a:r>
            <a:endParaRPr lang="th-TH" sz="2000" b="1" dirty="0"/>
          </a:p>
        </p:txBody>
      </p:sp>
      <p:sp>
        <p:nvSpPr>
          <p:cNvPr id="18" name="กล่องข้อความ 13">
            <a:extLst>
              <a:ext uri="{FF2B5EF4-FFF2-40B4-BE49-F238E27FC236}">
                <a16:creationId xmlns:a16="http://schemas.microsoft.com/office/drawing/2014/main" id="{7FCADB2B-B4FB-F932-A64C-89745B8FE4B7}"/>
              </a:ext>
            </a:extLst>
          </p:cNvPr>
          <p:cNvSpPr txBox="1">
            <a:spLocks/>
          </p:cNvSpPr>
          <p:nvPr/>
        </p:nvSpPr>
        <p:spPr>
          <a:xfrm>
            <a:off x="798575" y="597115"/>
            <a:ext cx="1883665" cy="523220"/>
          </a:xfrm>
          <a:prstGeom prst="rect">
            <a:avLst/>
          </a:prstGeom>
          <a:noFill/>
        </p:spPr>
        <p:txBody>
          <a:bodyPr wrap="square" rtlCol="0">
            <a:spAutoFit/>
          </a:bodyPr>
          <a:lstStyle/>
          <a:p>
            <a:r>
              <a:rPr lang="en-US" b="1" dirty="0">
                <a:solidFill>
                  <a:srgbClr val="002060"/>
                </a:solidFill>
                <a:latin typeface="Helvetica" panose="020B0604020202020204" pitchFamily="34" charset="0"/>
                <a:cs typeface="Helvetica" panose="020B0604020202020204" pitchFamily="34" charset="0"/>
              </a:rPr>
              <a:t>Actions</a:t>
            </a:r>
            <a:endParaRPr lang="th-TH" b="1" dirty="0">
              <a:solidFill>
                <a:srgbClr val="002060"/>
              </a:solidFill>
              <a:latin typeface="Helvetica" panose="020B0604020202020204" pitchFamily="34" charset="0"/>
              <a:cs typeface="Mitr" panose="00000500000000000000" pitchFamily="2" charset="-34"/>
            </a:endParaRPr>
          </a:p>
        </p:txBody>
      </p:sp>
      <p:graphicFrame>
        <p:nvGraphicFramePr>
          <p:cNvPr id="3" name="ตาราง 13">
            <a:extLst>
              <a:ext uri="{FF2B5EF4-FFF2-40B4-BE49-F238E27FC236}">
                <a16:creationId xmlns:a16="http://schemas.microsoft.com/office/drawing/2014/main" id="{E1AF42D4-F666-D891-44CE-BF409E458940}"/>
              </a:ext>
            </a:extLst>
          </p:cNvPr>
          <p:cNvGraphicFramePr>
            <a:graphicFrameLocks noGrp="1"/>
          </p:cNvGraphicFramePr>
          <p:nvPr/>
        </p:nvGraphicFramePr>
        <p:xfrm>
          <a:off x="503853" y="1498502"/>
          <a:ext cx="10993822" cy="3888654"/>
        </p:xfrm>
        <a:graphic>
          <a:graphicData uri="http://schemas.openxmlformats.org/drawingml/2006/table">
            <a:tbl>
              <a:tblPr/>
              <a:tblGrid>
                <a:gridCol w="2771192">
                  <a:extLst>
                    <a:ext uri="{9D8B030D-6E8A-4147-A177-3AD203B41FA5}">
                      <a16:colId xmlns:a16="http://schemas.microsoft.com/office/drawing/2014/main" val="3066147821"/>
                    </a:ext>
                  </a:extLst>
                </a:gridCol>
                <a:gridCol w="2894878">
                  <a:extLst>
                    <a:ext uri="{9D8B030D-6E8A-4147-A177-3AD203B41FA5}">
                      <a16:colId xmlns:a16="http://schemas.microsoft.com/office/drawing/2014/main" val="1393184914"/>
                    </a:ext>
                  </a:extLst>
                </a:gridCol>
                <a:gridCol w="2663876">
                  <a:extLst>
                    <a:ext uri="{9D8B030D-6E8A-4147-A177-3AD203B41FA5}">
                      <a16:colId xmlns:a16="http://schemas.microsoft.com/office/drawing/2014/main" val="1764521080"/>
                    </a:ext>
                  </a:extLst>
                </a:gridCol>
                <a:gridCol w="2663876">
                  <a:extLst>
                    <a:ext uri="{9D8B030D-6E8A-4147-A177-3AD203B41FA5}">
                      <a16:colId xmlns:a16="http://schemas.microsoft.com/office/drawing/2014/main" val="1643920673"/>
                    </a:ext>
                  </a:extLst>
                </a:gridCol>
              </a:tblGrid>
              <a:tr h="463138">
                <a:tc>
                  <a:txBody>
                    <a:bodyPr/>
                    <a:lstStyle/>
                    <a:p>
                      <a:pPr algn="ctr" fontAlgn="ctr">
                        <a:buNone/>
                      </a:pPr>
                      <a:r>
                        <a:rPr lang="en-US" sz="1400" b="1" dirty="0">
                          <a:solidFill>
                            <a:schemeClr val="bg1"/>
                          </a:solidFill>
                          <a:latin typeface="Helvetica" panose="020B0604020202020204" pitchFamily="34" charset="0"/>
                          <a:cs typeface="+mn-cs"/>
                        </a:rPr>
                        <a:t>Module</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th-TH" sz="1400" b="1" kern="1200" dirty="0" err="1">
                          <a:solidFill>
                            <a:schemeClr val="bg1"/>
                          </a:solidFill>
                          <a:latin typeface="Helvetica" panose="020B0604020202020204" pitchFamily="34" charset="0"/>
                          <a:ea typeface="+mn-ea"/>
                          <a:cs typeface="+mn-cs"/>
                        </a:rPr>
                        <a:t>Key</a:t>
                      </a:r>
                      <a:r>
                        <a:rPr lang="th-TH" sz="1400" b="1" kern="1200" dirty="0">
                          <a:solidFill>
                            <a:schemeClr val="bg1"/>
                          </a:solidFill>
                          <a:latin typeface="Helvetica" panose="020B0604020202020204" pitchFamily="34" charset="0"/>
                          <a:ea typeface="+mn-ea"/>
                          <a:cs typeface="+mn-cs"/>
                        </a:rPr>
                        <a:t> </a:t>
                      </a:r>
                      <a:r>
                        <a:rPr lang="th-TH" sz="1400" b="1" kern="1200" dirty="0" err="1">
                          <a:solidFill>
                            <a:schemeClr val="bg1"/>
                          </a:solidFill>
                          <a:latin typeface="Helvetica" panose="020B0604020202020204" pitchFamily="34" charset="0"/>
                          <a:ea typeface="+mn-ea"/>
                          <a:cs typeface="+mn-cs"/>
                        </a:rPr>
                        <a:t>Responsibilities</a:t>
                      </a:r>
                      <a:endParaRPr lang="en-US" sz="1400" b="1" kern="1200" dirty="0">
                        <a:solidFill>
                          <a:schemeClr val="bg1"/>
                        </a:solidFill>
                        <a:latin typeface="Helvetica" panose="020B0604020202020204" pitchFamily="34" charset="0"/>
                        <a:ea typeface="+mn-ea"/>
                        <a:cs typeface="+mn-cs"/>
                      </a:endParaRP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kern="1200" dirty="0">
                          <a:solidFill>
                            <a:schemeClr val="bg1"/>
                          </a:solidFill>
                          <a:latin typeface="Helvetica" panose="020B0604020202020204" pitchFamily="34" charset="0"/>
                          <a:ea typeface="+mn-ea"/>
                          <a:cs typeface="+mn-cs"/>
                        </a:rPr>
                        <a:t>Objective</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kern="1200" dirty="0">
                          <a:solidFill>
                            <a:schemeClr val="bg1"/>
                          </a:solidFill>
                          <a:latin typeface="Helvetica" panose="020B0604020202020204" pitchFamily="34" charset="0"/>
                          <a:ea typeface="+mn-ea"/>
                          <a:cs typeface="+mn-cs"/>
                        </a:rPr>
                        <a:t>Status</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786322214"/>
                  </a:ext>
                </a:extLst>
              </a:tr>
              <a:tr h="996164">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th-TH" sz="1400" b="1" i="0" kern="1200" dirty="0" err="1">
                          <a:solidFill>
                            <a:srgbClr val="002060"/>
                          </a:solidFill>
                          <a:effectLst/>
                          <a:latin typeface="Helvetica" panose="020B0604020202020204" pitchFamily="34" charset="0"/>
                          <a:ea typeface="+mn-ea"/>
                        </a:rPr>
                        <a:t>Receive</a:t>
                      </a:r>
                      <a:r>
                        <a:rPr lang="th-TH" sz="1400" b="1" i="0" kern="1200" dirty="0">
                          <a:solidFill>
                            <a:srgbClr val="002060"/>
                          </a:solidFill>
                          <a:effectLst/>
                          <a:latin typeface="Helvetica" panose="020B0604020202020204" pitchFamily="34" charset="0"/>
                          <a:ea typeface="+mn-ea"/>
                        </a:rPr>
                        <a:t> </a:t>
                      </a:r>
                      <a:r>
                        <a:rPr lang="th-TH" sz="1400" b="1" i="0" kern="1200" dirty="0" err="1">
                          <a:solidFill>
                            <a:srgbClr val="002060"/>
                          </a:solidFill>
                          <a:effectLst/>
                          <a:latin typeface="Helvetica" panose="020B0604020202020204" pitchFamily="34" charset="0"/>
                          <a:ea typeface="+mn-ea"/>
                        </a:rPr>
                        <a:t>commands</a:t>
                      </a:r>
                      <a:r>
                        <a:rPr lang="th-TH" sz="1400" b="1" i="0" kern="1200" dirty="0">
                          <a:solidFill>
                            <a:srgbClr val="002060"/>
                          </a:solidFill>
                          <a:effectLst/>
                          <a:latin typeface="Helvetica" panose="020B0604020202020204" pitchFamily="34" charset="0"/>
                          <a:ea typeface="+mn-ea"/>
                        </a:rPr>
                        <a:t> </a:t>
                      </a:r>
                      <a:r>
                        <a:rPr lang="th-TH" sz="1400" b="1" i="0" kern="1200" dirty="0" err="1">
                          <a:solidFill>
                            <a:srgbClr val="002060"/>
                          </a:solidFill>
                          <a:effectLst/>
                          <a:latin typeface="Helvetica" panose="020B0604020202020204" pitchFamily="34" charset="0"/>
                          <a:ea typeface="+mn-ea"/>
                        </a:rPr>
                        <a:t>from</a:t>
                      </a:r>
                      <a:r>
                        <a:rPr lang="th-TH" sz="1400" b="1" i="0" kern="1200" dirty="0">
                          <a:solidFill>
                            <a:srgbClr val="002060"/>
                          </a:solidFill>
                          <a:effectLst/>
                          <a:latin typeface="Helvetica" panose="020B0604020202020204" pitchFamily="34" charset="0"/>
                          <a:ea typeface="+mn-ea"/>
                        </a:rPr>
                        <a:t> Core Service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th-TH" sz="1100" b="0" i="0" kern="1200" dirty="0" err="1">
                          <a:solidFill>
                            <a:srgbClr val="002060"/>
                          </a:solidFill>
                          <a:effectLst/>
                          <a:latin typeface="Helvetica" panose="020B0604020202020204" pitchFamily="34" charset="0"/>
                          <a:ea typeface="+mn-ea"/>
                        </a:rPr>
                        <a:t>Receive</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Start</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with</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the</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plan</a:t>
                      </a:r>
                      <a:r>
                        <a:rPr lang="th-TH" sz="1100" b="0" i="0" kern="1200" dirty="0">
                          <a:solidFill>
                            <a:srgbClr val="002060"/>
                          </a:solidFill>
                          <a:effectLst/>
                          <a:latin typeface="Helvetica" panose="020B0604020202020204" pitchFamily="34" charset="0"/>
                          <a:ea typeface="+mn-ea"/>
                        </a:rPr>
                        <a:t> — ALPL </a:t>
                      </a:r>
                      <a:r>
                        <a:rPr lang="th-TH" sz="1100" b="0" i="0" kern="1200" dirty="0" err="1">
                          <a:solidFill>
                            <a:srgbClr val="002060"/>
                          </a:solidFill>
                          <a:effectLst/>
                          <a:latin typeface="Helvetica" panose="020B0604020202020204" pitchFamily="34" charset="0"/>
                          <a:ea typeface="+mn-ea"/>
                        </a:rPr>
                        <a:t>queue</a:t>
                      </a:r>
                      <a:r>
                        <a:rPr lang="th-TH" sz="1100" b="0" i="0" kern="1200" dirty="0">
                          <a:solidFill>
                            <a:srgbClr val="002060"/>
                          </a:solidFill>
                          <a:effectLst/>
                          <a:latin typeface="Helvetica" panose="020B0604020202020204" pitchFamily="34" charset="0"/>
                          <a:ea typeface="+mn-ea"/>
                        </a:rPr>
                        <a:t> · TM-X </a:t>
                      </a:r>
                      <a:r>
                        <a:rPr lang="th-TH" sz="1100" b="0" i="0" kern="1200" dirty="0" err="1">
                          <a:solidFill>
                            <a:srgbClr val="002060"/>
                          </a:solidFill>
                          <a:effectLst/>
                          <a:latin typeface="Helvetica" panose="020B0604020202020204" pitchFamily="34" charset="0"/>
                          <a:ea typeface="+mn-ea"/>
                        </a:rPr>
                        <a:t>program</a:t>
                      </a:r>
                      <a:r>
                        <a:rPr lang="th-TH" sz="1100" b="0" i="0" kern="1200" dirty="0">
                          <a:solidFill>
                            <a:srgbClr val="002060"/>
                          </a:solidFill>
                          <a:effectLst/>
                          <a:latin typeface="Helvetica" panose="020B0604020202020204" pitchFamily="34" charset="0"/>
                          <a:ea typeface="+mn-ea"/>
                        </a:rPr>
                        <a:t> · </a:t>
                      </a:r>
                      <a:r>
                        <a:rPr lang="th-TH" sz="1100" b="0" i="0" kern="1200" dirty="0" err="1">
                          <a:solidFill>
                            <a:srgbClr val="002060"/>
                          </a:solidFill>
                          <a:effectLst/>
                          <a:latin typeface="Helvetica" panose="020B0604020202020204" pitchFamily="34" charset="0"/>
                          <a:ea typeface="+mn-ea"/>
                        </a:rPr>
                        <a:t>limits</a:t>
                      </a:r>
                      <a:endParaRPr lang="th-TH" sz="1100" b="0" i="0" kern="1200" dirty="0">
                        <a:solidFill>
                          <a:srgbClr val="002060"/>
                        </a:solidFill>
                        <a:effectLst/>
                        <a:latin typeface="Helvetica" panose="020B0604020202020204" pitchFamily="34" charset="0"/>
                        <a:ea typeface="+mn-ea"/>
                      </a:endParaRPr>
                    </a:p>
                    <a:p>
                      <a:pPr marL="171450" indent="-171450">
                        <a:buFont typeface="Arial" panose="020B0604020202020204" pitchFamily="34" charset="0"/>
                        <a:buChar char="•"/>
                      </a:pPr>
                      <a:r>
                        <a:rPr lang="th-TH" sz="1100" b="0" i="0" kern="1200" dirty="0" err="1">
                          <a:solidFill>
                            <a:srgbClr val="002060"/>
                          </a:solidFill>
                          <a:effectLst/>
                          <a:latin typeface="Helvetica" panose="020B0604020202020204" pitchFamily="34" charset="0"/>
                          <a:ea typeface="+mn-ea"/>
                        </a:rPr>
                        <a:t>Receive</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Stop</a:t>
                      </a:r>
                      <a:r>
                        <a:rPr lang="th-TH" sz="1100" b="0" i="0" kern="1200" dirty="0">
                          <a:solidFill>
                            <a:srgbClr val="002060"/>
                          </a:solidFill>
                          <a:effectLst/>
                          <a:latin typeface="Helvetica" panose="020B0604020202020204" pitchFamily="34" charset="0"/>
                          <a:ea typeface="+mn-ea"/>
                        </a:rPr>
                        <a:t> / </a:t>
                      </a:r>
                      <a:r>
                        <a:rPr lang="th-TH" sz="1100" b="0" i="0" kern="1200" dirty="0" err="1">
                          <a:solidFill>
                            <a:srgbClr val="002060"/>
                          </a:solidFill>
                          <a:effectLst/>
                          <a:latin typeface="Helvetica" panose="020B0604020202020204" pitchFamily="34" charset="0"/>
                          <a:ea typeface="+mn-ea"/>
                        </a:rPr>
                        <a:t>Retry</a:t>
                      </a:r>
                      <a:r>
                        <a:rPr lang="th-TH" sz="1100" b="0" i="0" kern="1200" dirty="0">
                          <a:solidFill>
                            <a:srgbClr val="002060"/>
                          </a:solidFill>
                          <a:effectLst/>
                          <a:latin typeface="Helvetica" panose="020B0604020202020204" pitchFamily="34" charset="0"/>
                          <a:ea typeface="+mn-ea"/>
                        </a:rPr>
                        <a:t> / </a:t>
                      </a:r>
                      <a:r>
                        <a:rPr lang="th-TH" sz="1100" b="0" i="0" kern="1200" dirty="0" err="1">
                          <a:solidFill>
                            <a:srgbClr val="002060"/>
                          </a:solidFill>
                          <a:effectLst/>
                          <a:latin typeface="Helvetica" panose="020B0604020202020204" pitchFamily="34" charset="0"/>
                          <a:ea typeface="+mn-ea"/>
                        </a:rPr>
                        <a:t>Accept</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from</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the</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operator</a:t>
                      </a:r>
                      <a:endParaRPr lang="th-TH" sz="1100" b="0" i="0" kern="1200" dirty="0">
                        <a:solidFill>
                          <a:srgbClr val="002060"/>
                        </a:solidFill>
                        <a:effectLst/>
                        <a:latin typeface="Helvetica" panose="020B0604020202020204" pitchFamily="34" charset="0"/>
                        <a:ea typeface="+mn-ea"/>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100" b="0" i="0" kern="1200" dirty="0">
                          <a:solidFill>
                            <a:srgbClr val="002060"/>
                          </a:solidFill>
                          <a:effectLst/>
                          <a:latin typeface="Helvetica" panose="020B0604020202020204" pitchFamily="34" charset="0"/>
                          <a:ea typeface="+mn-ea"/>
                          <a:cs typeface="+mn-cs"/>
                        </a:rPr>
                        <a:t>Receive command &amp; measurement plan from Backend to proceed </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sz="1400" b="0" i="0" kern="1200" dirty="0">
                          <a:solidFill>
                            <a:schemeClr val="accent3">
                              <a:lumMod val="60000"/>
                              <a:lumOff val="40000"/>
                            </a:schemeClr>
                          </a:solidFill>
                          <a:effectLst/>
                          <a:latin typeface="Helvetica" panose="020B0604020202020204" pitchFamily="34" charset="0"/>
                          <a:ea typeface="+mn-ea"/>
                          <a:cs typeface="Helvetica" panose="020B0604020202020204" pitchFamily="34" charset="0"/>
                        </a:rPr>
                        <a:t>Completed</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32952113"/>
                  </a:ext>
                </a:extLst>
              </a:tr>
              <a:tr h="727788">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th-TH" sz="1400" b="1" i="0" kern="1200" dirty="0" err="1">
                          <a:solidFill>
                            <a:srgbClr val="002060"/>
                          </a:solidFill>
                          <a:effectLst/>
                          <a:latin typeface="Helvetica" panose="020B0604020202020204" pitchFamily="34" charset="0"/>
                          <a:ea typeface="+mn-ea"/>
                        </a:rPr>
                        <a:t>Control</a:t>
                      </a:r>
                      <a:r>
                        <a:rPr lang="th-TH" sz="1400" b="1" i="0" kern="1200" dirty="0">
                          <a:solidFill>
                            <a:srgbClr val="002060"/>
                          </a:solidFill>
                          <a:effectLst/>
                          <a:latin typeface="Helvetica" panose="020B0604020202020204" pitchFamily="34" charset="0"/>
                          <a:ea typeface="+mn-ea"/>
                        </a:rPr>
                        <a:t> TM-X </a:t>
                      </a:r>
                      <a:r>
                        <a:rPr lang="th-TH" sz="1400" b="1" i="0" kern="1200" dirty="0" err="1">
                          <a:solidFill>
                            <a:srgbClr val="002060"/>
                          </a:solidFill>
                          <a:effectLst/>
                          <a:latin typeface="Helvetica" panose="020B0604020202020204" pitchFamily="34" charset="0"/>
                          <a:ea typeface="+mn-ea"/>
                        </a:rPr>
                        <a:t>Controller</a:t>
                      </a:r>
                      <a:r>
                        <a:rPr lang="th-TH" sz="1400" b="1" i="0" kern="1200" dirty="0">
                          <a:solidFill>
                            <a:srgbClr val="002060"/>
                          </a:solidFill>
                          <a:effectLst/>
                          <a:latin typeface="Helvetica" panose="020B0604020202020204" pitchFamily="34" charset="0"/>
                          <a:ea typeface="+mn-ea"/>
                        </a:rPr>
                        <a:t> (TCP)</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th-TH" sz="1100" b="0" i="0" kern="1200" dirty="0" err="1">
                          <a:solidFill>
                            <a:srgbClr val="002060"/>
                          </a:solidFill>
                          <a:effectLst/>
                          <a:latin typeface="Helvetica" panose="020B0604020202020204" pitchFamily="34" charset="0"/>
                          <a:ea typeface="+mn-ea"/>
                        </a:rPr>
                        <a:t>Once</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per</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session</a:t>
                      </a:r>
                      <a:r>
                        <a:rPr lang="th-TH" sz="1100" b="0" i="0" kern="1200" dirty="0">
                          <a:solidFill>
                            <a:srgbClr val="002060"/>
                          </a:solidFill>
                          <a:effectLst/>
                          <a:latin typeface="Helvetica" panose="020B0604020202020204" pitchFamily="34" charset="0"/>
                          <a:ea typeface="+mn-ea"/>
                        </a:rPr>
                        <a:t> — R0, PW,1,</a:t>
                      </a:r>
                      <a:r>
                        <a:rPr lang="th-TH" sz="1100" b="0" i="0" kern="1200" dirty="0" err="1">
                          <a:solidFill>
                            <a:srgbClr val="002060"/>
                          </a:solidFill>
                          <a:effectLst/>
                          <a:latin typeface="Helvetica" panose="020B0604020202020204" pitchFamily="34" charset="0"/>
                          <a:ea typeface="+mn-ea"/>
                        </a:rPr>
                        <a:t>nnn</a:t>
                      </a:r>
                      <a:endParaRPr lang="th-TH" sz="1100" b="0" i="0" kern="1200" dirty="0">
                        <a:solidFill>
                          <a:srgbClr val="002060"/>
                        </a:solidFill>
                        <a:effectLst/>
                        <a:latin typeface="Helvetica" panose="020B0604020202020204" pitchFamily="34" charset="0"/>
                        <a:ea typeface="+mn-ea"/>
                      </a:endParaRPr>
                    </a:p>
                    <a:p>
                      <a:pPr marL="171450" indent="-171450">
                        <a:buFont typeface="Arial" panose="020B0604020202020204" pitchFamily="34" charset="0"/>
                        <a:buChar char="•"/>
                      </a:pPr>
                      <a:r>
                        <a:rPr lang="th-TH" sz="1100" b="0" i="0" kern="1200" dirty="0" err="1">
                          <a:solidFill>
                            <a:srgbClr val="002060"/>
                          </a:solidFill>
                          <a:effectLst/>
                          <a:latin typeface="Helvetica" panose="020B0604020202020204" pitchFamily="34" charset="0"/>
                          <a:ea typeface="+mn-ea"/>
                        </a:rPr>
                        <a:t>Per</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piece</a:t>
                      </a:r>
                      <a:r>
                        <a:rPr lang="th-TH" sz="1100" b="0" i="0" kern="1200" dirty="0">
                          <a:solidFill>
                            <a:srgbClr val="002060"/>
                          </a:solidFill>
                          <a:effectLst/>
                          <a:latin typeface="Helvetica" panose="020B0604020202020204" pitchFamily="34" charset="0"/>
                          <a:ea typeface="+mn-ea"/>
                        </a:rPr>
                        <a:t> — MRS, T1, GM,3,0</a:t>
                      </a:r>
                      <a:endParaRPr lang="th-TH" sz="1100" b="0" i="0" kern="1200" dirty="0">
                        <a:solidFill>
                          <a:srgbClr val="002060"/>
                        </a:solidFill>
                        <a:effectLst/>
                        <a:latin typeface="Helvetica" panose="020B0604020202020204" pitchFamily="34" charset="0"/>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100" b="0" i="0" kern="1200" dirty="0">
                          <a:solidFill>
                            <a:srgbClr val="002060"/>
                          </a:solidFill>
                          <a:effectLst/>
                          <a:latin typeface="Helvetica" panose="020B0604020202020204" pitchFamily="34" charset="0"/>
                          <a:ea typeface="+mn-ea"/>
                          <a:cs typeface="+mn-cs"/>
                        </a:rPr>
                        <a:t>Trigger TM-X to send measurement value &amp; image to Backend and get measurement</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sz="1400" b="0" i="0" kern="1200" dirty="0">
                          <a:solidFill>
                            <a:schemeClr val="accent3">
                              <a:lumMod val="60000"/>
                              <a:lumOff val="40000"/>
                            </a:schemeClr>
                          </a:solidFill>
                          <a:effectLst/>
                          <a:latin typeface="Helvetica" panose="020B0604020202020204" pitchFamily="34" charset="0"/>
                          <a:ea typeface="+mn-ea"/>
                          <a:cs typeface="Helvetica" panose="020B0604020202020204" pitchFamily="34" charset="0"/>
                        </a:rPr>
                        <a:t>Completed</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7472765"/>
                  </a:ext>
                </a:extLst>
              </a:tr>
              <a:tr h="1001768">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th-TH" sz="1400" b="1" i="0" kern="1200" dirty="0" err="1">
                          <a:solidFill>
                            <a:srgbClr val="002060"/>
                          </a:solidFill>
                          <a:effectLst/>
                          <a:latin typeface="Helvetica" panose="020B0604020202020204" pitchFamily="34" charset="0"/>
                          <a:ea typeface="+mn-ea"/>
                        </a:rPr>
                        <a:t>Judge</a:t>
                      </a:r>
                      <a:r>
                        <a:rPr lang="th-TH" sz="1400" b="1" i="0" kern="1200" dirty="0">
                          <a:solidFill>
                            <a:srgbClr val="002060"/>
                          </a:solidFill>
                          <a:effectLst/>
                          <a:latin typeface="Helvetica" panose="020B0604020202020204" pitchFamily="34" charset="0"/>
                          <a:ea typeface="+mn-ea"/>
                        </a:rPr>
                        <a:t> and </a:t>
                      </a:r>
                      <a:r>
                        <a:rPr lang="en-US" sz="1400" b="1" i="0" kern="1200" dirty="0">
                          <a:solidFill>
                            <a:srgbClr val="002060"/>
                          </a:solidFill>
                          <a:effectLst/>
                          <a:latin typeface="Helvetica" panose="020B0604020202020204" pitchFamily="34" charset="0"/>
                          <a:ea typeface="+mn-ea"/>
                          <a:cs typeface="Helvetica" panose="020B0604020202020204" pitchFamily="34" charset="0"/>
                        </a:rPr>
                        <a:t>send to MCU</a:t>
                      </a:r>
                      <a:endParaRPr lang="th-TH" sz="1400" b="1" i="0" kern="1200" dirty="0">
                        <a:solidFill>
                          <a:srgbClr val="002060"/>
                        </a:solidFill>
                        <a:effectLst/>
                        <a:latin typeface="Helvetica" panose="020B0604020202020204" pitchFamily="34" charset="0"/>
                        <a:ea typeface="+mn-ea"/>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th-TH" sz="1100" b="0" i="0" kern="1200" dirty="0" err="1">
                          <a:solidFill>
                            <a:srgbClr val="002060"/>
                          </a:solidFill>
                          <a:effectLst/>
                          <a:latin typeface="Helvetica" panose="020B0604020202020204" pitchFamily="34" charset="0"/>
                          <a:ea typeface="+mn-ea"/>
                        </a:rPr>
                        <a:t>Compare</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against</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the</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limits</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from</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the</a:t>
                      </a:r>
                      <a:r>
                        <a:rPr lang="th-TH" sz="1100" b="0" i="0" kern="1200" dirty="0">
                          <a:solidFill>
                            <a:srgbClr val="002060"/>
                          </a:solidFill>
                          <a:effectLst/>
                          <a:latin typeface="Helvetica" panose="020B0604020202020204" pitchFamily="34" charset="0"/>
                          <a:ea typeface="+mn-ea"/>
                        </a:rPr>
                        <a:t> Core Service</a:t>
                      </a:r>
                    </a:p>
                    <a:p>
                      <a:pPr marL="171450" indent="-171450">
                        <a:buFont typeface="Arial" panose="020B0604020202020204" pitchFamily="34" charset="0"/>
                        <a:buChar char="•"/>
                      </a:pPr>
                      <a:r>
                        <a:rPr lang="th-TH" sz="1100" b="0" i="0" kern="1200" dirty="0" err="1">
                          <a:solidFill>
                            <a:srgbClr val="002060"/>
                          </a:solidFill>
                          <a:effectLst/>
                          <a:latin typeface="Helvetica" panose="020B0604020202020204" pitchFamily="34" charset="0"/>
                          <a:ea typeface="+mn-ea"/>
                        </a:rPr>
                        <a:t>Send</a:t>
                      </a:r>
                      <a:r>
                        <a:rPr lang="th-TH" sz="1100" b="0" i="0" kern="1200" dirty="0">
                          <a:solidFill>
                            <a:srgbClr val="002060"/>
                          </a:solidFill>
                          <a:effectLst/>
                          <a:latin typeface="Helvetica" panose="020B0604020202020204" pitchFamily="34" charset="0"/>
                          <a:ea typeface="+mn-ea"/>
                        </a:rPr>
                        <a:t> OK / NG </a:t>
                      </a:r>
                      <a:r>
                        <a:rPr lang="th-TH" sz="1100" b="0" i="0" kern="1200" dirty="0" err="1">
                          <a:solidFill>
                            <a:srgbClr val="002060"/>
                          </a:solidFill>
                          <a:effectLst/>
                          <a:latin typeface="Helvetica" panose="020B0604020202020204" pitchFamily="34" charset="0"/>
                          <a:ea typeface="+mn-ea"/>
                        </a:rPr>
                        <a:t>to</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the</a:t>
                      </a:r>
                      <a:r>
                        <a:rPr lang="th-TH" sz="1100" b="0" i="0" kern="1200" dirty="0">
                          <a:solidFill>
                            <a:srgbClr val="002060"/>
                          </a:solidFill>
                          <a:effectLst/>
                          <a:latin typeface="Helvetica" panose="020B0604020202020204" pitchFamily="34" charset="0"/>
                          <a:ea typeface="+mn-ea"/>
                        </a:rPr>
                        <a:t> MCU</a:t>
                      </a:r>
                    </a:p>
                    <a:p>
                      <a:pPr marL="171450" indent="-171450">
                        <a:buFont typeface="Arial" panose="020B0604020202020204" pitchFamily="34" charset="0"/>
                        <a:buChar char="•"/>
                      </a:pPr>
                      <a:r>
                        <a:rPr lang="th-TH" sz="1100" b="0" i="0" kern="1200" dirty="0" err="1">
                          <a:solidFill>
                            <a:srgbClr val="002060"/>
                          </a:solidFill>
                          <a:effectLst/>
                          <a:latin typeface="Helvetica" panose="020B0604020202020204" pitchFamily="34" charset="0"/>
                          <a:ea typeface="+mn-ea"/>
                        </a:rPr>
                        <a:t>Confirm</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the</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value</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reached</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the</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database</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before</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the</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next</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piece</a:t>
                      </a:r>
                      <a:endParaRPr lang="th-TH" sz="1100" b="0" i="0" kern="1200" dirty="0">
                        <a:solidFill>
                          <a:srgbClr val="002060"/>
                        </a:solidFill>
                        <a:effectLst/>
                        <a:latin typeface="Helvetica" panose="020B0604020202020204" pitchFamily="34" charset="0"/>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100" b="0" i="0" kern="1200" dirty="0">
                          <a:solidFill>
                            <a:srgbClr val="002060"/>
                          </a:solidFill>
                          <a:effectLst/>
                          <a:latin typeface="Helvetica" panose="020B0604020202020204" pitchFamily="34" charset="0"/>
                          <a:ea typeface="+mn-ea"/>
                          <a:cs typeface="+mn-cs"/>
                        </a:rPr>
                        <a:t>MCU will use that result to sort the ALPL by OK/NG</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sz="1400" b="0" i="0" dirty="0">
                          <a:solidFill>
                            <a:srgbClr val="FFC000"/>
                          </a:solidFill>
                          <a:effectLst/>
                          <a:latin typeface="Helvetica" panose="020B0604020202020204" pitchFamily="34" charset="0"/>
                          <a:cs typeface="Helvetica" panose="020B0604020202020204" pitchFamily="34" charset="0"/>
                        </a:rPr>
                        <a:t>Ontrack</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90769145"/>
                  </a:ext>
                </a:extLst>
              </a:tr>
              <a:tr h="699796">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sz="1400" b="1" i="0" kern="1200" dirty="0">
                          <a:solidFill>
                            <a:srgbClr val="002060"/>
                          </a:solidFill>
                          <a:effectLst/>
                          <a:latin typeface="Helvetica" panose="020B0604020202020204" pitchFamily="34" charset="0"/>
                          <a:ea typeface="+mn-ea"/>
                          <a:cs typeface="Helvetica" panose="020B0604020202020204" pitchFamily="34" charset="0"/>
                        </a:rPr>
                        <a:t>Heartbeat</a:t>
                      </a:r>
                      <a:endParaRPr lang="th-TH" sz="1400" b="1" i="0" kern="1200" dirty="0">
                        <a:solidFill>
                          <a:srgbClr val="002060"/>
                        </a:solidFill>
                        <a:effectLst/>
                        <a:latin typeface="Helvetica" panose="020B0604020202020204" pitchFamily="34" charset="0"/>
                        <a:ea typeface="+mn-ea"/>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th-TH" sz="1100" b="0" i="0" kern="1200" dirty="0" err="1">
                          <a:solidFill>
                            <a:srgbClr val="002060"/>
                          </a:solidFill>
                          <a:effectLst/>
                          <a:latin typeface="Helvetica" panose="020B0604020202020204" pitchFamily="34" charset="0"/>
                          <a:ea typeface="+mn-ea"/>
                        </a:rPr>
                        <a:t>Send</a:t>
                      </a:r>
                      <a:r>
                        <a:rPr lang="th-TH" sz="1100" b="0" i="0" kern="1200" dirty="0">
                          <a:solidFill>
                            <a:srgbClr val="002060"/>
                          </a:solidFill>
                          <a:effectLst/>
                          <a:latin typeface="Helvetica" panose="020B0604020202020204" pitchFamily="34" charset="0"/>
                          <a:ea typeface="+mn-ea"/>
                        </a:rPr>
                        <a:t> a </a:t>
                      </a:r>
                      <a:r>
                        <a:rPr lang="th-TH" sz="1100" b="0" i="0" kern="1200" dirty="0" err="1">
                          <a:solidFill>
                            <a:srgbClr val="002060"/>
                          </a:solidFill>
                          <a:effectLst/>
                          <a:latin typeface="Helvetica" panose="020B0604020202020204" pitchFamily="34" charset="0"/>
                          <a:ea typeface="+mn-ea"/>
                        </a:rPr>
                        <a:t>heartbeat</a:t>
                      </a:r>
                      <a:r>
                        <a:rPr lang="th-TH" sz="1100" b="0" i="0" kern="1200" dirty="0">
                          <a:solidFill>
                            <a:srgbClr val="002060"/>
                          </a:solidFill>
                          <a:effectLst/>
                          <a:latin typeface="Helvetica" panose="020B0604020202020204" pitchFamily="34" charset="0"/>
                          <a:ea typeface="+mn-ea"/>
                        </a:rPr>
                        <a:t> </a:t>
                      </a:r>
                      <a:r>
                        <a:rPr lang="th-TH" sz="1100" b="0" i="0" kern="1200" dirty="0" err="1">
                          <a:solidFill>
                            <a:srgbClr val="002060"/>
                          </a:solidFill>
                          <a:effectLst/>
                          <a:latin typeface="Helvetica" panose="020B0604020202020204" pitchFamily="34" charset="0"/>
                          <a:ea typeface="+mn-ea"/>
                        </a:rPr>
                        <a:t>every</a:t>
                      </a:r>
                      <a:r>
                        <a:rPr lang="th-TH" sz="1100" b="0" i="0" kern="1200" dirty="0">
                          <a:solidFill>
                            <a:srgbClr val="002060"/>
                          </a:solidFill>
                          <a:effectLst/>
                          <a:latin typeface="Helvetica" panose="020B0604020202020204" pitchFamily="34" charset="0"/>
                          <a:ea typeface="+mn-ea"/>
                        </a:rPr>
                        <a:t> 2 s</a:t>
                      </a:r>
                      <a:endParaRPr lang="th-TH" sz="1100" b="0" i="0" kern="1200" dirty="0">
                        <a:solidFill>
                          <a:srgbClr val="002060"/>
                        </a:solidFill>
                        <a:effectLst/>
                        <a:latin typeface="Helvetica" panose="020B0604020202020204" pitchFamily="34" charset="0"/>
                        <a:ea typeface="+mn-ea"/>
                        <a:cs typeface="+mn-cs"/>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100" b="0" i="0" kern="1200" dirty="0">
                          <a:solidFill>
                            <a:srgbClr val="002060"/>
                          </a:solidFill>
                          <a:effectLst/>
                          <a:latin typeface="Helvetica" panose="020B0604020202020204" pitchFamily="34" charset="0"/>
                          <a:ea typeface="+mn-ea"/>
                          <a:cs typeface="+mn-cs"/>
                        </a:rPr>
                        <a:t>To let the Backend know that Pi still alive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sz="1400" b="0" i="0" dirty="0">
                          <a:solidFill>
                            <a:schemeClr val="accent3">
                              <a:lumMod val="60000"/>
                              <a:lumOff val="40000"/>
                            </a:schemeClr>
                          </a:solidFill>
                          <a:effectLst/>
                          <a:latin typeface="Helvetica" panose="020B0604020202020204" pitchFamily="34" charset="0"/>
                          <a:cs typeface="Helvetica" panose="020B0604020202020204" pitchFamily="34" charset="0"/>
                        </a:rPr>
                        <a:t>Completed</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60609044"/>
                  </a:ext>
                </a:extLst>
              </a:tr>
            </a:tbl>
          </a:graphicData>
        </a:graphic>
      </p:graphicFrame>
      <p:sp>
        <p:nvSpPr>
          <p:cNvPr id="4" name="สี่เหลี่ยมผืนผ้า: มุมมน 3">
            <a:extLst>
              <a:ext uri="{FF2B5EF4-FFF2-40B4-BE49-F238E27FC236}">
                <a16:creationId xmlns:a16="http://schemas.microsoft.com/office/drawing/2014/main" id="{7D7705C6-093A-4FFD-BC5E-C81CEDF1034F}"/>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Tree>
    <p:extLst>
      <p:ext uri="{BB962C8B-B14F-4D97-AF65-F5344CB8AC3E}">
        <p14:creationId xmlns:p14="http://schemas.microsoft.com/office/powerpoint/2010/main" val="34537172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71114-262A-7E80-ED5A-D55143319A7D}"/>
            </a:ext>
          </a:extLst>
        </p:cNvPr>
        <p:cNvGrpSpPr/>
        <p:nvPr/>
      </p:nvGrpSpPr>
      <p:grpSpPr>
        <a:xfrm>
          <a:off x="0" y="0"/>
          <a:ext cx="0" cy="0"/>
          <a:chOff x="0" y="0"/>
          <a:chExt cx="0" cy="0"/>
        </a:xfrm>
      </p:grpSpPr>
      <p:pic>
        <p:nvPicPr>
          <p:cNvPr id="5" name="Picture 2" descr="Analog Devices | Disruptive Technology for Clinical Trials">
            <a:extLst>
              <a:ext uri="{FF2B5EF4-FFF2-40B4-BE49-F238E27FC236}">
                <a16:creationId xmlns:a16="http://schemas.microsoft.com/office/drawing/2014/main" id="{55896DD5-5671-19F4-B42F-E18502E2BB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233193" y="433793"/>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 name="Picture 2" descr="LOGO_ENkku_color – Faculty of Engineering , Khon Kaen University">
            <a:extLst>
              <a:ext uri="{FF2B5EF4-FFF2-40B4-BE49-F238E27FC236}">
                <a16:creationId xmlns:a16="http://schemas.microsoft.com/office/drawing/2014/main" id="{029A24F1-11DD-EF99-6F0E-6814A50F1815}"/>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411206" y="360124"/>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A71B0CA-00A5-0C0C-5835-4947917968CC}"/>
              </a:ext>
            </a:extLst>
          </p:cNvPr>
          <p:cNvSpPr txBox="1"/>
          <p:nvPr/>
        </p:nvSpPr>
        <p:spPr>
          <a:xfrm>
            <a:off x="2488585" y="720225"/>
            <a:ext cx="3475335" cy="400110"/>
          </a:xfrm>
          <a:prstGeom prst="rect">
            <a:avLst/>
          </a:prstGeom>
          <a:noFill/>
        </p:spPr>
        <p:txBody>
          <a:bodyPr wrap="square" rtlCol="0">
            <a:spAutoFit/>
          </a:bodyPr>
          <a:lstStyle/>
          <a:p>
            <a:r>
              <a:rPr lang="en-US" sz="2000" b="1" dirty="0"/>
              <a:t>Power BI Dashboard</a:t>
            </a:r>
            <a:endParaRPr lang="th-TH" sz="2000" b="1" dirty="0"/>
          </a:p>
        </p:txBody>
      </p:sp>
      <p:sp>
        <p:nvSpPr>
          <p:cNvPr id="11" name="สี่เหลี่ยมผืนผ้า 22">
            <a:extLst>
              <a:ext uri="{FF2B5EF4-FFF2-40B4-BE49-F238E27FC236}">
                <a16:creationId xmlns:a16="http://schemas.microsoft.com/office/drawing/2014/main" id="{418DCEA0-67B9-8FCA-F051-E8757F6F8B85}"/>
              </a:ext>
            </a:extLst>
          </p:cNvPr>
          <p:cNvSpPr/>
          <p:nvPr/>
        </p:nvSpPr>
        <p:spPr>
          <a:xfrm>
            <a:off x="2390633" y="659654"/>
            <a:ext cx="2771276" cy="408999"/>
          </a:xfrm>
          <a:prstGeom prst="rect">
            <a:avLst/>
          </a:prstGeom>
          <a:solidFill>
            <a:schemeClr val="accent2">
              <a:lumMod val="75000"/>
              <a:alpha val="1803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16" name="TextBox 15">
            <a:extLst>
              <a:ext uri="{FF2B5EF4-FFF2-40B4-BE49-F238E27FC236}">
                <a16:creationId xmlns:a16="http://schemas.microsoft.com/office/drawing/2014/main" id="{86F883F9-D858-330C-0CE4-2A160A0702DD}"/>
              </a:ext>
            </a:extLst>
          </p:cNvPr>
          <p:cNvSpPr txBox="1"/>
          <p:nvPr/>
        </p:nvSpPr>
        <p:spPr>
          <a:xfrm>
            <a:off x="1278442" y="6230843"/>
            <a:ext cx="4685478" cy="369332"/>
          </a:xfrm>
          <a:prstGeom prst="rect">
            <a:avLst/>
          </a:prstGeom>
          <a:noFill/>
        </p:spPr>
        <p:txBody>
          <a:bodyPr wrap="square" rtlCol="0">
            <a:spAutoFit/>
          </a:bodyPr>
          <a:lstStyle/>
          <a:p>
            <a:r>
              <a:rPr lang="en-US" sz="1800" dirty="0">
                <a:solidFill>
                  <a:srgbClr val="FF0000"/>
                </a:solidFill>
              </a:rPr>
              <a:t>** Reference from end user requirement **</a:t>
            </a:r>
            <a:endParaRPr lang="th-TH" sz="1800" dirty="0">
              <a:solidFill>
                <a:srgbClr val="FF0000"/>
              </a:solidFill>
            </a:endParaRPr>
          </a:p>
        </p:txBody>
      </p:sp>
      <p:sp>
        <p:nvSpPr>
          <p:cNvPr id="20" name="กล่องข้อความ 13">
            <a:extLst>
              <a:ext uri="{FF2B5EF4-FFF2-40B4-BE49-F238E27FC236}">
                <a16:creationId xmlns:a16="http://schemas.microsoft.com/office/drawing/2014/main" id="{716496BE-C61F-0CAB-B178-7E8146813471}"/>
              </a:ext>
            </a:extLst>
          </p:cNvPr>
          <p:cNvSpPr txBox="1">
            <a:spLocks/>
          </p:cNvSpPr>
          <p:nvPr/>
        </p:nvSpPr>
        <p:spPr>
          <a:xfrm>
            <a:off x="798575" y="597115"/>
            <a:ext cx="1883665" cy="523220"/>
          </a:xfrm>
          <a:prstGeom prst="rect">
            <a:avLst/>
          </a:prstGeom>
          <a:noFill/>
        </p:spPr>
        <p:txBody>
          <a:bodyPr wrap="square" rtlCol="0">
            <a:spAutoFit/>
          </a:bodyPr>
          <a:lstStyle/>
          <a:p>
            <a:r>
              <a:rPr lang="en-US" b="1" dirty="0">
                <a:solidFill>
                  <a:srgbClr val="002060"/>
                </a:solidFill>
                <a:latin typeface="Helvetica" panose="020B0604020202020204" pitchFamily="34" charset="0"/>
                <a:cs typeface="Helvetica" panose="020B0604020202020204" pitchFamily="34" charset="0"/>
              </a:rPr>
              <a:t>Actions</a:t>
            </a:r>
            <a:endParaRPr lang="th-TH" b="1" dirty="0">
              <a:solidFill>
                <a:srgbClr val="002060"/>
              </a:solidFill>
              <a:latin typeface="Helvetica" panose="020B0604020202020204" pitchFamily="34" charset="0"/>
              <a:cs typeface="Mitr" panose="00000500000000000000" pitchFamily="2" charset="-34"/>
            </a:endParaRPr>
          </a:p>
        </p:txBody>
      </p:sp>
      <p:pic>
        <p:nvPicPr>
          <p:cNvPr id="22" name="Picture 21">
            <a:extLst>
              <a:ext uri="{FF2B5EF4-FFF2-40B4-BE49-F238E27FC236}">
                <a16:creationId xmlns:a16="http://schemas.microsoft.com/office/drawing/2014/main" id="{67F08448-4DBE-C8B3-B424-AE42C9FB6AF3}"/>
              </a:ext>
            </a:extLst>
          </p:cNvPr>
          <p:cNvPicPr>
            <a:picLocks noChangeAspect="1"/>
          </p:cNvPicPr>
          <p:nvPr/>
        </p:nvPicPr>
        <p:blipFill>
          <a:blip r:embed="rId5"/>
          <a:stretch>
            <a:fillRect/>
          </a:stretch>
        </p:blipFill>
        <p:spPr>
          <a:xfrm>
            <a:off x="1341130" y="1787761"/>
            <a:ext cx="4781188" cy="2614648"/>
          </a:xfrm>
          <a:prstGeom prst="rect">
            <a:avLst/>
          </a:prstGeom>
        </p:spPr>
      </p:pic>
      <p:sp>
        <p:nvSpPr>
          <p:cNvPr id="2" name="Rectangle 1">
            <a:extLst>
              <a:ext uri="{FF2B5EF4-FFF2-40B4-BE49-F238E27FC236}">
                <a16:creationId xmlns:a16="http://schemas.microsoft.com/office/drawing/2014/main" id="{42A10BB8-2967-D15A-B7DC-2504A3AB3E91}"/>
              </a:ext>
            </a:extLst>
          </p:cNvPr>
          <p:cNvSpPr/>
          <p:nvPr/>
        </p:nvSpPr>
        <p:spPr>
          <a:xfrm>
            <a:off x="1278442" y="1736079"/>
            <a:ext cx="4916618" cy="4586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6" name="Rectangle 5">
            <a:extLst>
              <a:ext uri="{FF2B5EF4-FFF2-40B4-BE49-F238E27FC236}">
                <a16:creationId xmlns:a16="http://schemas.microsoft.com/office/drawing/2014/main" id="{6E743319-2D74-69AA-66AA-6E57FED717C4}"/>
              </a:ext>
            </a:extLst>
          </p:cNvPr>
          <p:cNvSpPr/>
          <p:nvPr/>
        </p:nvSpPr>
        <p:spPr>
          <a:xfrm>
            <a:off x="1278442" y="2232277"/>
            <a:ext cx="2015126" cy="2435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2" name="Rectangle 11">
            <a:extLst>
              <a:ext uri="{FF2B5EF4-FFF2-40B4-BE49-F238E27FC236}">
                <a16:creationId xmlns:a16="http://schemas.microsoft.com/office/drawing/2014/main" id="{790A7794-8252-CC6E-0096-87133C431FE7}"/>
              </a:ext>
            </a:extLst>
          </p:cNvPr>
          <p:cNvSpPr/>
          <p:nvPr/>
        </p:nvSpPr>
        <p:spPr>
          <a:xfrm>
            <a:off x="1278442" y="2475863"/>
            <a:ext cx="4916618" cy="197822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4" name="TextBox 13">
            <a:extLst>
              <a:ext uri="{FF2B5EF4-FFF2-40B4-BE49-F238E27FC236}">
                <a16:creationId xmlns:a16="http://schemas.microsoft.com/office/drawing/2014/main" id="{CE55D53E-19CE-D33F-7EA1-B4511B944E9D}"/>
              </a:ext>
            </a:extLst>
          </p:cNvPr>
          <p:cNvSpPr txBox="1"/>
          <p:nvPr/>
        </p:nvSpPr>
        <p:spPr>
          <a:xfrm>
            <a:off x="626579" y="1831802"/>
            <a:ext cx="60350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400" b="0" i="0" dirty="0">
                <a:solidFill>
                  <a:srgbClr val="002060"/>
                </a:solidFill>
                <a:effectLst/>
                <a:latin typeface="Helvetica" panose="020B0604020202020204" pitchFamily="34" charset="0"/>
                <a:cs typeface="Helvetica" panose="020B0604020202020204" pitchFamily="34" charset="0"/>
              </a:rPr>
              <a:t>Filter</a:t>
            </a:r>
          </a:p>
        </p:txBody>
      </p:sp>
      <p:sp>
        <p:nvSpPr>
          <p:cNvPr id="17" name="TextBox 16">
            <a:extLst>
              <a:ext uri="{FF2B5EF4-FFF2-40B4-BE49-F238E27FC236}">
                <a16:creationId xmlns:a16="http://schemas.microsoft.com/office/drawing/2014/main" id="{1389BE2D-23C4-9BDA-E398-DA9DBA6543E6}"/>
              </a:ext>
            </a:extLst>
          </p:cNvPr>
          <p:cNvSpPr txBox="1"/>
          <p:nvPr/>
        </p:nvSpPr>
        <p:spPr>
          <a:xfrm>
            <a:off x="626579" y="2194679"/>
            <a:ext cx="60350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400" b="0" i="0" dirty="0">
                <a:solidFill>
                  <a:srgbClr val="002060"/>
                </a:solidFill>
                <a:effectLst/>
                <a:latin typeface="Helvetica" panose="020B0604020202020204" pitchFamily="34" charset="0"/>
                <a:cs typeface="Helvetica" panose="020B0604020202020204" pitchFamily="34" charset="0"/>
              </a:rPr>
              <a:t>Card</a:t>
            </a:r>
          </a:p>
        </p:txBody>
      </p:sp>
      <p:sp>
        <p:nvSpPr>
          <p:cNvPr id="19" name="TextBox 18">
            <a:extLst>
              <a:ext uri="{FF2B5EF4-FFF2-40B4-BE49-F238E27FC236}">
                <a16:creationId xmlns:a16="http://schemas.microsoft.com/office/drawing/2014/main" id="{BBAF3B2B-35A1-B273-75E6-21A2602245EB}"/>
              </a:ext>
            </a:extLst>
          </p:cNvPr>
          <p:cNvSpPr txBox="1"/>
          <p:nvPr/>
        </p:nvSpPr>
        <p:spPr>
          <a:xfrm>
            <a:off x="539300" y="3213923"/>
            <a:ext cx="685812"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400" b="0" i="0" dirty="0">
                <a:solidFill>
                  <a:srgbClr val="002060"/>
                </a:solidFill>
                <a:effectLst/>
                <a:latin typeface="Helvetica" panose="020B0604020202020204" pitchFamily="34" charset="0"/>
                <a:cs typeface="Helvetica" panose="020B0604020202020204" pitchFamily="34" charset="0"/>
              </a:rPr>
              <a:t>Table</a:t>
            </a:r>
          </a:p>
        </p:txBody>
      </p:sp>
      <p:sp>
        <p:nvSpPr>
          <p:cNvPr id="23" name="TextBox 22">
            <a:extLst>
              <a:ext uri="{FF2B5EF4-FFF2-40B4-BE49-F238E27FC236}">
                <a16:creationId xmlns:a16="http://schemas.microsoft.com/office/drawing/2014/main" id="{A47D4A6A-16C4-360A-3BBE-C111BD4E6CD5}"/>
              </a:ext>
            </a:extLst>
          </p:cNvPr>
          <p:cNvSpPr txBox="1"/>
          <p:nvPr/>
        </p:nvSpPr>
        <p:spPr>
          <a:xfrm>
            <a:off x="2998475" y="4553455"/>
            <a:ext cx="146649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400" b="1" i="0" dirty="0">
                <a:solidFill>
                  <a:srgbClr val="002060"/>
                </a:solidFill>
                <a:effectLst/>
                <a:latin typeface="Helvetica" panose="020B0604020202020204" pitchFamily="34" charset="0"/>
                <a:cs typeface="Helvetica" panose="020B0604020202020204" pitchFamily="34" charset="0"/>
              </a:rPr>
              <a:t>Raw data Page</a:t>
            </a:r>
          </a:p>
        </p:txBody>
      </p:sp>
      <p:sp>
        <p:nvSpPr>
          <p:cNvPr id="26" name="TextBox 25">
            <a:extLst>
              <a:ext uri="{FF2B5EF4-FFF2-40B4-BE49-F238E27FC236}">
                <a16:creationId xmlns:a16="http://schemas.microsoft.com/office/drawing/2014/main" id="{CA168F99-B596-EE90-14C2-726B800C9718}"/>
              </a:ext>
            </a:extLst>
          </p:cNvPr>
          <p:cNvSpPr txBox="1"/>
          <p:nvPr/>
        </p:nvSpPr>
        <p:spPr>
          <a:xfrm>
            <a:off x="7088933" y="2159102"/>
            <a:ext cx="4614232" cy="1482457"/>
          </a:xfrm>
          <a:prstGeom prst="rect">
            <a:avLst/>
          </a:prstGeom>
          <a:noFill/>
        </p:spPr>
        <p:txBody>
          <a:bodyPr wrap="square">
            <a:spAutoFit/>
          </a:bodyPr>
          <a:lstStyle/>
          <a:p>
            <a:pPr marL="171450" lvl="0" indent="-171450">
              <a:spcAft>
                <a:spcPts val="800"/>
              </a:spcAft>
              <a:buFont typeface="Arial" panose="020B0604020202020204" pitchFamily="34" charset="0"/>
              <a:buChar char="•"/>
              <a:defRPr/>
            </a:pPr>
            <a:r>
              <a:rPr lang="th-TH" sz="1100" b="1" dirty="0" err="1"/>
              <a:t>Interactive</a:t>
            </a:r>
            <a:r>
              <a:rPr lang="th-TH" sz="1100" b="1" dirty="0"/>
              <a:t> </a:t>
            </a:r>
            <a:r>
              <a:rPr lang="th-TH" sz="1100" b="1" dirty="0" err="1"/>
              <a:t>Filtering</a:t>
            </a:r>
            <a:r>
              <a:rPr lang="th-TH" sz="1100" b="1" dirty="0"/>
              <a:t>:</a:t>
            </a:r>
            <a:r>
              <a:rPr lang="th-TH" sz="1100" dirty="0"/>
              <a:t> </a:t>
            </a:r>
            <a:r>
              <a:rPr lang="th-TH" sz="1100" dirty="0" err="1"/>
              <a:t>Enables</a:t>
            </a:r>
            <a:r>
              <a:rPr lang="th-TH" sz="1100" dirty="0"/>
              <a:t> </a:t>
            </a:r>
            <a:r>
              <a:rPr lang="th-TH" sz="1100" dirty="0" err="1"/>
              <a:t>users</a:t>
            </a:r>
            <a:r>
              <a:rPr lang="th-TH" sz="1100" dirty="0"/>
              <a:t> </a:t>
            </a:r>
            <a:r>
              <a:rPr lang="th-TH" sz="1100" dirty="0" err="1"/>
              <a:t>to</a:t>
            </a:r>
            <a:r>
              <a:rPr lang="th-TH" sz="1100" dirty="0"/>
              <a:t> </a:t>
            </a:r>
            <a:r>
              <a:rPr lang="th-TH" sz="1100" dirty="0" err="1"/>
              <a:t>narrow</a:t>
            </a:r>
            <a:r>
              <a:rPr lang="th-TH" sz="1100" dirty="0"/>
              <a:t> </a:t>
            </a:r>
            <a:r>
              <a:rPr lang="th-TH" sz="1100" dirty="0" err="1"/>
              <a:t>down</a:t>
            </a:r>
            <a:r>
              <a:rPr lang="th-TH" sz="1100" dirty="0"/>
              <a:t> </a:t>
            </a:r>
            <a:r>
              <a:rPr lang="th-TH" sz="1100" dirty="0" err="1"/>
              <a:t>data</a:t>
            </a:r>
            <a:r>
              <a:rPr lang="th-TH" sz="1100" dirty="0"/>
              <a:t> </a:t>
            </a:r>
            <a:r>
              <a:rPr lang="th-TH" sz="1100" dirty="0" err="1"/>
              <a:t>by</a:t>
            </a:r>
            <a:r>
              <a:rPr lang="th-TH" sz="1100" dirty="0"/>
              <a:t> </a:t>
            </a:r>
            <a:r>
              <a:rPr lang="th-TH" sz="1100" dirty="0" err="1"/>
              <a:t>specific</a:t>
            </a:r>
            <a:r>
              <a:rPr lang="th-TH" sz="1100" dirty="0"/>
              <a:t> </a:t>
            </a:r>
            <a:r>
              <a:rPr lang="th-TH" sz="1100" dirty="0" err="1"/>
              <a:t>parameters</a:t>
            </a:r>
            <a:r>
              <a:rPr lang="th-TH" sz="1100" dirty="0"/>
              <a:t> </a:t>
            </a:r>
            <a:r>
              <a:rPr lang="th-TH" sz="1100" dirty="0" err="1"/>
              <a:t>such</a:t>
            </a:r>
            <a:r>
              <a:rPr lang="th-TH" sz="1100" dirty="0"/>
              <a:t> </a:t>
            </a:r>
            <a:r>
              <a:rPr lang="th-TH" sz="1100" dirty="0" err="1"/>
              <a:t>as</a:t>
            </a:r>
            <a:r>
              <a:rPr lang="th-TH" sz="1100" dirty="0"/>
              <a:t> </a:t>
            </a:r>
            <a:r>
              <a:rPr lang="th-TH" sz="1100" dirty="0" err="1"/>
              <a:t>Result</a:t>
            </a:r>
            <a:r>
              <a:rPr lang="th-TH" sz="1100" dirty="0"/>
              <a:t> (OK/NG), </a:t>
            </a:r>
            <a:r>
              <a:rPr lang="th-TH" sz="1100" dirty="0" err="1"/>
              <a:t>Measure</a:t>
            </a:r>
            <a:r>
              <a:rPr lang="th-TH" sz="1100" dirty="0"/>
              <a:t> </a:t>
            </a:r>
            <a:r>
              <a:rPr lang="th-TH" sz="1100" dirty="0" err="1"/>
              <a:t>Type</a:t>
            </a:r>
            <a:r>
              <a:rPr lang="th-TH" sz="1100" dirty="0"/>
              <a:t>, </a:t>
            </a:r>
            <a:r>
              <a:rPr lang="th-TH" sz="1100" dirty="0" err="1"/>
              <a:t>View</a:t>
            </a:r>
            <a:r>
              <a:rPr lang="th-TH" sz="1100" dirty="0"/>
              <a:t> </a:t>
            </a:r>
            <a:r>
              <a:rPr lang="th-TH" sz="1100" dirty="0" err="1"/>
              <a:t>Mode</a:t>
            </a:r>
            <a:r>
              <a:rPr lang="th-TH" sz="1100" dirty="0"/>
              <a:t>, and </a:t>
            </a:r>
            <a:r>
              <a:rPr lang="th-TH" sz="1100" dirty="0" err="1"/>
              <a:t>date</a:t>
            </a:r>
            <a:r>
              <a:rPr lang="th-TH" sz="1100" dirty="0"/>
              <a:t> </a:t>
            </a:r>
            <a:r>
              <a:rPr lang="th-TH" sz="1100" dirty="0" err="1"/>
              <a:t>ranges</a:t>
            </a:r>
            <a:r>
              <a:rPr lang="th-TH" sz="1100" dirty="0"/>
              <a:t>. </a:t>
            </a:r>
          </a:p>
          <a:p>
            <a:pPr marL="171450" lvl="0" indent="-171450">
              <a:spcAft>
                <a:spcPts val="800"/>
              </a:spcAft>
              <a:buFont typeface="Arial" panose="020B0604020202020204" pitchFamily="34" charset="0"/>
              <a:buChar char="•"/>
              <a:defRPr/>
            </a:pPr>
            <a:r>
              <a:rPr lang="th-TH" sz="1100" b="1" dirty="0" err="1"/>
              <a:t>Summary</a:t>
            </a:r>
            <a:r>
              <a:rPr lang="th-TH" sz="1100" b="1" dirty="0"/>
              <a:t> </a:t>
            </a:r>
            <a:r>
              <a:rPr lang="th-TH" sz="1100" b="1" dirty="0" err="1"/>
              <a:t>Metrics</a:t>
            </a:r>
            <a:r>
              <a:rPr lang="th-TH" sz="1100" b="1" dirty="0"/>
              <a:t>:</a:t>
            </a:r>
            <a:r>
              <a:rPr lang="th-TH" sz="1100" dirty="0"/>
              <a:t> </a:t>
            </a:r>
            <a:r>
              <a:rPr lang="th-TH" sz="1100" dirty="0" err="1"/>
              <a:t>Displays</a:t>
            </a:r>
            <a:r>
              <a:rPr lang="th-TH" sz="1100" dirty="0"/>
              <a:t> </a:t>
            </a:r>
            <a:r>
              <a:rPr lang="th-TH" sz="1100" dirty="0" err="1"/>
              <a:t>real</a:t>
            </a:r>
            <a:r>
              <a:rPr lang="th-TH" sz="1100" dirty="0"/>
              <a:t>-</a:t>
            </a:r>
            <a:r>
              <a:rPr lang="th-TH" sz="1100" dirty="0" err="1"/>
              <a:t>time</a:t>
            </a:r>
            <a:r>
              <a:rPr lang="th-TH" sz="1100" dirty="0"/>
              <a:t> </a:t>
            </a:r>
            <a:r>
              <a:rPr lang="th-TH" sz="1100" dirty="0" err="1"/>
              <a:t>overview</a:t>
            </a:r>
            <a:r>
              <a:rPr lang="th-TH" sz="1100" dirty="0"/>
              <a:t> </a:t>
            </a:r>
            <a:r>
              <a:rPr lang="th-TH" sz="1100" dirty="0" err="1"/>
              <a:t>counts</a:t>
            </a:r>
            <a:r>
              <a:rPr lang="th-TH" sz="1100" dirty="0"/>
              <a:t> of </a:t>
            </a:r>
            <a:r>
              <a:rPr lang="th-TH" sz="1100" dirty="0" err="1"/>
              <a:t>total</a:t>
            </a:r>
            <a:r>
              <a:rPr lang="th-TH" sz="1100" dirty="0"/>
              <a:t>, </a:t>
            </a:r>
            <a:r>
              <a:rPr lang="th-TH" sz="1100" dirty="0" err="1"/>
              <a:t>good</a:t>
            </a:r>
            <a:r>
              <a:rPr lang="th-TH" sz="1100" dirty="0"/>
              <a:t>, and </a:t>
            </a:r>
            <a:r>
              <a:rPr lang="th-TH" sz="1100" dirty="0" err="1"/>
              <a:t>fail</a:t>
            </a:r>
            <a:r>
              <a:rPr lang="th-TH" sz="1100" dirty="0"/>
              <a:t> </a:t>
            </a:r>
            <a:r>
              <a:rPr lang="th-TH" sz="1100" dirty="0" err="1"/>
              <a:t>measurement</a:t>
            </a:r>
            <a:r>
              <a:rPr lang="th-TH" sz="1100" dirty="0"/>
              <a:t> </a:t>
            </a:r>
            <a:r>
              <a:rPr lang="th-TH" sz="1100" dirty="0" err="1"/>
              <a:t>records</a:t>
            </a:r>
            <a:r>
              <a:rPr lang="th-TH" sz="1100" dirty="0"/>
              <a:t> </a:t>
            </a:r>
            <a:r>
              <a:rPr lang="en-US" sz="1100" dirty="0"/>
              <a:t>from the table</a:t>
            </a:r>
            <a:endParaRPr lang="th-TH" sz="1100" dirty="0"/>
          </a:p>
          <a:p>
            <a:pPr marL="171450" lvl="0" indent="-171450">
              <a:spcAft>
                <a:spcPts val="800"/>
              </a:spcAft>
              <a:buFont typeface="Arial" panose="020B0604020202020204" pitchFamily="34" charset="0"/>
              <a:buChar char="•"/>
              <a:defRPr/>
            </a:pPr>
            <a:r>
              <a:rPr lang="th-TH" sz="1100" b="1" dirty="0" err="1"/>
              <a:t>Detailed</a:t>
            </a:r>
            <a:r>
              <a:rPr lang="th-TH" sz="1100" b="1" dirty="0"/>
              <a:t> Data </a:t>
            </a:r>
            <a:r>
              <a:rPr lang="th-TH" sz="1100" b="1" dirty="0" err="1"/>
              <a:t>Table</a:t>
            </a:r>
            <a:r>
              <a:rPr lang="th-TH" sz="1100" b="1" dirty="0"/>
              <a:t>:</a:t>
            </a:r>
            <a:r>
              <a:rPr lang="th-TH" sz="1100" dirty="0"/>
              <a:t> </a:t>
            </a:r>
            <a:r>
              <a:rPr lang="th-TH" sz="1100" dirty="0" err="1"/>
              <a:t>Presents</a:t>
            </a:r>
            <a:r>
              <a:rPr lang="th-TH" sz="1100" dirty="0"/>
              <a:t> </a:t>
            </a:r>
            <a:r>
              <a:rPr lang="th-TH" sz="1100" dirty="0" err="1"/>
              <a:t>itemized</a:t>
            </a:r>
            <a:r>
              <a:rPr lang="th-TH" sz="1100" dirty="0"/>
              <a:t> </a:t>
            </a:r>
            <a:r>
              <a:rPr lang="th-TH" sz="1100" dirty="0" err="1"/>
              <a:t>measurement</a:t>
            </a:r>
            <a:r>
              <a:rPr lang="th-TH" sz="1100" dirty="0"/>
              <a:t> </a:t>
            </a:r>
            <a:r>
              <a:rPr lang="th-TH" sz="1100" dirty="0" err="1"/>
              <a:t>logs</a:t>
            </a:r>
            <a:r>
              <a:rPr lang="th-TH" sz="1100" dirty="0"/>
              <a:t> </a:t>
            </a:r>
            <a:r>
              <a:rPr lang="th-TH" sz="1100" dirty="0" err="1"/>
              <a:t>directly</a:t>
            </a:r>
            <a:r>
              <a:rPr lang="th-TH" sz="1100" dirty="0"/>
              <a:t> </a:t>
            </a:r>
            <a:r>
              <a:rPr lang="th-TH" sz="1100" dirty="0" err="1"/>
              <a:t>queried</a:t>
            </a:r>
            <a:r>
              <a:rPr lang="th-TH" sz="1100" dirty="0"/>
              <a:t> </a:t>
            </a:r>
            <a:r>
              <a:rPr lang="th-TH" sz="1100" dirty="0" err="1"/>
              <a:t>from</a:t>
            </a:r>
            <a:r>
              <a:rPr lang="th-TH" sz="1100" dirty="0"/>
              <a:t> </a:t>
            </a:r>
            <a:r>
              <a:rPr lang="th-TH" sz="1100" dirty="0" err="1"/>
              <a:t>the</a:t>
            </a:r>
            <a:r>
              <a:rPr lang="th-TH" sz="1100" dirty="0"/>
              <a:t> </a:t>
            </a:r>
            <a:r>
              <a:rPr lang="th-TH" sz="1100" dirty="0" err="1"/>
              <a:t>database</a:t>
            </a:r>
            <a:r>
              <a:rPr lang="th-TH" sz="1100" dirty="0"/>
              <a:t>, </a:t>
            </a:r>
            <a:endParaRPr lang="en-US" sz="1100" b="0" i="0" dirty="0">
              <a:solidFill>
                <a:srgbClr val="002060"/>
              </a:solidFill>
              <a:effectLst/>
              <a:latin typeface="Helvetica" panose="020B0604020202020204" pitchFamily="34" charset="0"/>
              <a:cs typeface="Helvetica" panose="020B0604020202020204" pitchFamily="34" charset="0"/>
            </a:endParaRPr>
          </a:p>
        </p:txBody>
      </p:sp>
      <p:sp>
        <p:nvSpPr>
          <p:cNvPr id="28" name="TextBox 27">
            <a:extLst>
              <a:ext uri="{FF2B5EF4-FFF2-40B4-BE49-F238E27FC236}">
                <a16:creationId xmlns:a16="http://schemas.microsoft.com/office/drawing/2014/main" id="{71D7A0FD-C06E-9FEC-484D-12477BDCB5BF}"/>
              </a:ext>
            </a:extLst>
          </p:cNvPr>
          <p:cNvSpPr txBox="1"/>
          <p:nvPr/>
        </p:nvSpPr>
        <p:spPr>
          <a:xfrm>
            <a:off x="7088933" y="1751961"/>
            <a:ext cx="181917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400" b="1" i="0" dirty="0">
                <a:solidFill>
                  <a:srgbClr val="002060"/>
                </a:solidFill>
                <a:effectLst/>
                <a:latin typeface="Helvetica" panose="020B0604020202020204" pitchFamily="34" charset="0"/>
                <a:cs typeface="Helvetica" panose="020B0604020202020204" pitchFamily="34" charset="0"/>
              </a:rPr>
              <a:t>Status : </a:t>
            </a:r>
            <a:r>
              <a:rPr lang="en-US" sz="1400" b="1" i="0" dirty="0">
                <a:solidFill>
                  <a:srgbClr val="FFC000"/>
                </a:solidFill>
                <a:effectLst/>
                <a:latin typeface="Helvetica" panose="020B0604020202020204" pitchFamily="34" charset="0"/>
                <a:cs typeface="Helvetica" panose="020B0604020202020204" pitchFamily="34" charset="0"/>
              </a:rPr>
              <a:t>Ontrack</a:t>
            </a:r>
          </a:p>
        </p:txBody>
      </p:sp>
      <p:sp>
        <p:nvSpPr>
          <p:cNvPr id="4" name="สี่เหลี่ยมผืนผ้า: มุมมน 3">
            <a:extLst>
              <a:ext uri="{FF2B5EF4-FFF2-40B4-BE49-F238E27FC236}">
                <a16:creationId xmlns:a16="http://schemas.microsoft.com/office/drawing/2014/main" id="{199E1CEF-84AC-6B83-97A8-543C93E68C67}"/>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Tree>
    <p:extLst>
      <p:ext uri="{BB962C8B-B14F-4D97-AF65-F5344CB8AC3E}">
        <p14:creationId xmlns:p14="http://schemas.microsoft.com/office/powerpoint/2010/main" val="25889428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60692-434F-7AA7-84BA-2EF4F1E48C12}"/>
            </a:ext>
          </a:extLst>
        </p:cNvPr>
        <p:cNvGrpSpPr/>
        <p:nvPr/>
      </p:nvGrpSpPr>
      <p:grpSpPr>
        <a:xfrm>
          <a:off x="0" y="0"/>
          <a:ext cx="0" cy="0"/>
          <a:chOff x="0" y="0"/>
          <a:chExt cx="0" cy="0"/>
        </a:xfrm>
      </p:grpSpPr>
      <p:pic>
        <p:nvPicPr>
          <p:cNvPr id="5" name="Picture 2" descr="Analog Devices | Disruptive Technology for Clinical Trials">
            <a:extLst>
              <a:ext uri="{FF2B5EF4-FFF2-40B4-BE49-F238E27FC236}">
                <a16:creationId xmlns:a16="http://schemas.microsoft.com/office/drawing/2014/main" id="{7730BBDB-5827-2CAA-F0F0-C2E685BC2F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233193" y="433793"/>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 name="Picture 2" descr="LOGO_ENkku_color – Faculty of Engineering , Khon Kaen University">
            <a:extLst>
              <a:ext uri="{FF2B5EF4-FFF2-40B4-BE49-F238E27FC236}">
                <a16:creationId xmlns:a16="http://schemas.microsoft.com/office/drawing/2014/main" id="{C934E0F8-AD9F-B8BA-DA76-C8F8597D7824}"/>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411206" y="360124"/>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B64E508-1B9C-CCCC-3CE1-4FD164561D08}"/>
              </a:ext>
            </a:extLst>
          </p:cNvPr>
          <p:cNvSpPr txBox="1"/>
          <p:nvPr/>
        </p:nvSpPr>
        <p:spPr>
          <a:xfrm>
            <a:off x="2488185" y="709815"/>
            <a:ext cx="3475335" cy="400110"/>
          </a:xfrm>
          <a:prstGeom prst="rect">
            <a:avLst/>
          </a:prstGeom>
          <a:noFill/>
        </p:spPr>
        <p:txBody>
          <a:bodyPr wrap="square" rtlCol="0">
            <a:spAutoFit/>
          </a:bodyPr>
          <a:lstStyle/>
          <a:p>
            <a:r>
              <a:rPr lang="en-US" sz="2000" b="1" dirty="0"/>
              <a:t>Power BI Dashboard</a:t>
            </a:r>
            <a:endParaRPr lang="th-TH" sz="2000" b="1" dirty="0"/>
          </a:p>
        </p:txBody>
      </p:sp>
      <p:sp>
        <p:nvSpPr>
          <p:cNvPr id="11" name="สี่เหลี่ยมผืนผ้า 22">
            <a:extLst>
              <a:ext uri="{FF2B5EF4-FFF2-40B4-BE49-F238E27FC236}">
                <a16:creationId xmlns:a16="http://schemas.microsoft.com/office/drawing/2014/main" id="{70D9AAE6-C965-0E86-595A-A5C31E427EBA}"/>
              </a:ext>
            </a:extLst>
          </p:cNvPr>
          <p:cNvSpPr/>
          <p:nvPr/>
        </p:nvSpPr>
        <p:spPr>
          <a:xfrm>
            <a:off x="2390233" y="649244"/>
            <a:ext cx="2771276" cy="408999"/>
          </a:xfrm>
          <a:prstGeom prst="rect">
            <a:avLst/>
          </a:prstGeom>
          <a:solidFill>
            <a:schemeClr val="accent2">
              <a:lumMod val="75000"/>
              <a:alpha val="1803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16" name="TextBox 15">
            <a:extLst>
              <a:ext uri="{FF2B5EF4-FFF2-40B4-BE49-F238E27FC236}">
                <a16:creationId xmlns:a16="http://schemas.microsoft.com/office/drawing/2014/main" id="{DE69C5BA-3D3F-CC75-07FE-C0BE1F39796B}"/>
              </a:ext>
            </a:extLst>
          </p:cNvPr>
          <p:cNvSpPr txBox="1"/>
          <p:nvPr/>
        </p:nvSpPr>
        <p:spPr>
          <a:xfrm>
            <a:off x="1278442" y="6230843"/>
            <a:ext cx="4685478" cy="369332"/>
          </a:xfrm>
          <a:prstGeom prst="rect">
            <a:avLst/>
          </a:prstGeom>
          <a:noFill/>
        </p:spPr>
        <p:txBody>
          <a:bodyPr wrap="square" rtlCol="0">
            <a:spAutoFit/>
          </a:bodyPr>
          <a:lstStyle/>
          <a:p>
            <a:r>
              <a:rPr lang="en-US" sz="1800" dirty="0">
                <a:solidFill>
                  <a:srgbClr val="FF0000"/>
                </a:solidFill>
              </a:rPr>
              <a:t>** Reference from end user requirement **</a:t>
            </a:r>
            <a:endParaRPr lang="th-TH" sz="1800" dirty="0">
              <a:solidFill>
                <a:srgbClr val="FF0000"/>
              </a:solidFill>
            </a:endParaRPr>
          </a:p>
        </p:txBody>
      </p:sp>
      <p:sp>
        <p:nvSpPr>
          <p:cNvPr id="20" name="กล่องข้อความ 13">
            <a:extLst>
              <a:ext uri="{FF2B5EF4-FFF2-40B4-BE49-F238E27FC236}">
                <a16:creationId xmlns:a16="http://schemas.microsoft.com/office/drawing/2014/main" id="{920C4EBC-F39F-6D2B-5397-3C78F44CE7D5}"/>
              </a:ext>
            </a:extLst>
          </p:cNvPr>
          <p:cNvSpPr txBox="1">
            <a:spLocks/>
          </p:cNvSpPr>
          <p:nvPr/>
        </p:nvSpPr>
        <p:spPr>
          <a:xfrm>
            <a:off x="798575" y="597115"/>
            <a:ext cx="1883665" cy="523220"/>
          </a:xfrm>
          <a:prstGeom prst="rect">
            <a:avLst/>
          </a:prstGeom>
          <a:noFill/>
        </p:spPr>
        <p:txBody>
          <a:bodyPr wrap="square" rtlCol="0">
            <a:spAutoFit/>
          </a:bodyPr>
          <a:lstStyle/>
          <a:p>
            <a:r>
              <a:rPr lang="en-US" b="1" dirty="0">
                <a:solidFill>
                  <a:srgbClr val="002060"/>
                </a:solidFill>
                <a:latin typeface="Helvetica" panose="020B0604020202020204" pitchFamily="34" charset="0"/>
                <a:cs typeface="Helvetica" panose="020B0604020202020204" pitchFamily="34" charset="0"/>
              </a:rPr>
              <a:t>Actions</a:t>
            </a:r>
            <a:endParaRPr lang="th-TH" b="1" dirty="0">
              <a:solidFill>
                <a:srgbClr val="002060"/>
              </a:solidFill>
              <a:latin typeface="Helvetica" panose="020B0604020202020204" pitchFamily="34" charset="0"/>
              <a:cs typeface="Mitr" panose="00000500000000000000" pitchFamily="2" charset="-34"/>
            </a:endParaRPr>
          </a:p>
        </p:txBody>
      </p:sp>
      <p:pic>
        <p:nvPicPr>
          <p:cNvPr id="24" name="Picture 23">
            <a:extLst>
              <a:ext uri="{FF2B5EF4-FFF2-40B4-BE49-F238E27FC236}">
                <a16:creationId xmlns:a16="http://schemas.microsoft.com/office/drawing/2014/main" id="{5CE2229C-B142-3B4B-D21F-6AB321F49208}"/>
              </a:ext>
            </a:extLst>
          </p:cNvPr>
          <p:cNvPicPr>
            <a:picLocks noChangeAspect="1"/>
          </p:cNvPicPr>
          <p:nvPr/>
        </p:nvPicPr>
        <p:blipFill>
          <a:blip r:embed="rId5"/>
          <a:stretch>
            <a:fillRect/>
          </a:stretch>
        </p:blipFill>
        <p:spPr>
          <a:xfrm>
            <a:off x="1630486" y="1769690"/>
            <a:ext cx="5090809" cy="2796236"/>
          </a:xfrm>
          <a:prstGeom prst="rect">
            <a:avLst/>
          </a:prstGeom>
        </p:spPr>
      </p:pic>
      <p:sp>
        <p:nvSpPr>
          <p:cNvPr id="3" name="Rectangle 2">
            <a:extLst>
              <a:ext uri="{FF2B5EF4-FFF2-40B4-BE49-F238E27FC236}">
                <a16:creationId xmlns:a16="http://schemas.microsoft.com/office/drawing/2014/main" id="{A2D31684-A986-A4DE-7D9C-897891C9E493}"/>
              </a:ext>
            </a:extLst>
          </p:cNvPr>
          <p:cNvSpPr/>
          <p:nvPr/>
        </p:nvSpPr>
        <p:spPr>
          <a:xfrm>
            <a:off x="1630486" y="2287823"/>
            <a:ext cx="4916618" cy="217722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0" name="Rectangle 9">
            <a:extLst>
              <a:ext uri="{FF2B5EF4-FFF2-40B4-BE49-F238E27FC236}">
                <a16:creationId xmlns:a16="http://schemas.microsoft.com/office/drawing/2014/main" id="{946D531B-950E-6317-30E7-3C71EDBBE30A}"/>
              </a:ext>
            </a:extLst>
          </p:cNvPr>
          <p:cNvSpPr/>
          <p:nvPr/>
        </p:nvSpPr>
        <p:spPr>
          <a:xfrm>
            <a:off x="1630486" y="1717175"/>
            <a:ext cx="4916618" cy="4712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3" name="TextBox 12">
            <a:extLst>
              <a:ext uri="{FF2B5EF4-FFF2-40B4-BE49-F238E27FC236}">
                <a16:creationId xmlns:a16="http://schemas.microsoft.com/office/drawing/2014/main" id="{8F46CC36-FABD-FDB2-E978-6C3053CC6CFF}"/>
              </a:ext>
            </a:extLst>
          </p:cNvPr>
          <p:cNvSpPr txBox="1"/>
          <p:nvPr/>
        </p:nvSpPr>
        <p:spPr>
          <a:xfrm>
            <a:off x="260538" y="1769690"/>
            <a:ext cx="60350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400" b="0" i="0" dirty="0">
                <a:solidFill>
                  <a:srgbClr val="002060"/>
                </a:solidFill>
                <a:effectLst/>
                <a:latin typeface="Helvetica" panose="020B0604020202020204" pitchFamily="34" charset="0"/>
                <a:cs typeface="Helvetica" panose="020B0604020202020204" pitchFamily="34" charset="0"/>
              </a:rPr>
              <a:t>Filter</a:t>
            </a:r>
          </a:p>
        </p:txBody>
      </p:sp>
      <p:sp>
        <p:nvSpPr>
          <p:cNvPr id="15" name="TextBox 14">
            <a:extLst>
              <a:ext uri="{FF2B5EF4-FFF2-40B4-BE49-F238E27FC236}">
                <a16:creationId xmlns:a16="http://schemas.microsoft.com/office/drawing/2014/main" id="{5360B41A-FC7E-3749-6156-58CD0AD92B73}"/>
              </a:ext>
            </a:extLst>
          </p:cNvPr>
          <p:cNvSpPr txBox="1"/>
          <p:nvPr/>
        </p:nvSpPr>
        <p:spPr>
          <a:xfrm>
            <a:off x="260538" y="3086819"/>
            <a:ext cx="1194622" cy="523220"/>
          </a:xfrm>
          <a:prstGeom prst="rect">
            <a:avLst/>
          </a:prstGeom>
          <a:noFill/>
        </p:spPr>
        <p:txBody>
          <a:bodyPr wrap="square">
            <a:spAutoFit/>
          </a:bodyPr>
          <a:lstStyle>
            <a:defPPr>
              <a:defRPr lang="th-TH"/>
            </a:defPPr>
            <a:lvl1pPr marR="0" lvl="0" indent="0" fontAlgn="auto">
              <a:lnSpc>
                <a:spcPct val="100000"/>
              </a:lnSpc>
              <a:spcBef>
                <a:spcPts val="0"/>
              </a:spcBef>
              <a:spcAft>
                <a:spcPts val="800"/>
              </a:spcAft>
              <a:buClrTx/>
              <a:buSzTx/>
              <a:buFontTx/>
              <a:buNone/>
              <a:tabLst/>
              <a:defRPr sz="1400" b="0" i="0">
                <a:solidFill>
                  <a:srgbClr val="002060"/>
                </a:solidFill>
                <a:effectLst/>
                <a:latin typeface="Helvetica" panose="020B0604020202020204" pitchFamily="34" charset="0"/>
                <a:cs typeface="Helvetica" panose="020B0604020202020204" pitchFamily="34" charset="0"/>
              </a:defRPr>
            </a:lvl1pPr>
          </a:lstStyle>
          <a:p>
            <a:r>
              <a:rPr lang="th-TH" err="1"/>
              <a:t>Summarized</a:t>
            </a:r>
            <a:r>
              <a:rPr lang="th-TH"/>
              <a:t> Charts</a:t>
            </a:r>
            <a:endParaRPr lang="en-US" dirty="0"/>
          </a:p>
        </p:txBody>
      </p:sp>
      <p:sp>
        <p:nvSpPr>
          <p:cNvPr id="18" name="TextBox 17">
            <a:extLst>
              <a:ext uri="{FF2B5EF4-FFF2-40B4-BE49-F238E27FC236}">
                <a16:creationId xmlns:a16="http://schemas.microsoft.com/office/drawing/2014/main" id="{D19A44D4-C3AA-E20D-7CD0-5A2FAE0454C2}"/>
              </a:ext>
            </a:extLst>
          </p:cNvPr>
          <p:cNvSpPr txBox="1"/>
          <p:nvPr/>
        </p:nvSpPr>
        <p:spPr>
          <a:xfrm>
            <a:off x="6721295" y="2160386"/>
            <a:ext cx="4962212" cy="872034"/>
          </a:xfrm>
          <a:prstGeom prst="rect">
            <a:avLst/>
          </a:prstGeom>
          <a:noFill/>
        </p:spPr>
        <p:txBody>
          <a:bodyPr wrap="square">
            <a:spAutoFit/>
          </a:bodyPr>
          <a:lstStyle/>
          <a:p>
            <a:pPr marL="285750" indent="-285750">
              <a:spcAft>
                <a:spcPts val="800"/>
              </a:spcAft>
              <a:buFont typeface="Arial" panose="020B0604020202020204" pitchFamily="34" charset="0"/>
              <a:buChar char="•"/>
              <a:defRPr/>
            </a:pPr>
            <a:r>
              <a:rPr lang="th-TH" sz="1100" b="1" dirty="0" err="1"/>
              <a:t>Interactive</a:t>
            </a:r>
            <a:r>
              <a:rPr lang="th-TH" sz="1100" b="1" dirty="0"/>
              <a:t> </a:t>
            </a:r>
            <a:r>
              <a:rPr lang="th-TH" sz="1100" b="1" dirty="0" err="1"/>
              <a:t>Filtering</a:t>
            </a:r>
            <a:r>
              <a:rPr lang="th-TH" sz="1100" b="1" dirty="0"/>
              <a:t>:</a:t>
            </a:r>
            <a:r>
              <a:rPr lang="th-TH" sz="1100" dirty="0"/>
              <a:t> </a:t>
            </a:r>
            <a:r>
              <a:rPr lang="th-TH" sz="1100" dirty="0" err="1"/>
              <a:t>Allows</a:t>
            </a:r>
            <a:r>
              <a:rPr lang="th-TH" sz="1100" dirty="0"/>
              <a:t> </a:t>
            </a:r>
            <a:r>
              <a:rPr lang="th-TH" sz="1100" dirty="0" err="1"/>
              <a:t>users</a:t>
            </a:r>
            <a:r>
              <a:rPr lang="th-TH" sz="1100" dirty="0"/>
              <a:t> </a:t>
            </a:r>
            <a:r>
              <a:rPr lang="th-TH" sz="1100" dirty="0" err="1"/>
              <a:t>to</a:t>
            </a:r>
            <a:r>
              <a:rPr lang="th-TH" sz="1100" dirty="0"/>
              <a:t> </a:t>
            </a:r>
            <a:r>
              <a:rPr lang="th-TH" sz="1100" dirty="0" err="1"/>
              <a:t>filter</a:t>
            </a:r>
            <a:r>
              <a:rPr lang="th-TH" sz="1100" dirty="0"/>
              <a:t> </a:t>
            </a:r>
            <a:r>
              <a:rPr lang="th-TH" sz="1100" dirty="0" err="1"/>
              <a:t>metrics</a:t>
            </a:r>
            <a:r>
              <a:rPr lang="th-TH" sz="1100" dirty="0"/>
              <a:t> </a:t>
            </a:r>
            <a:r>
              <a:rPr lang="th-TH" sz="1100" dirty="0" err="1"/>
              <a:t>dynamically</a:t>
            </a:r>
            <a:r>
              <a:rPr lang="th-TH" sz="1100" dirty="0"/>
              <a:t> </a:t>
            </a:r>
            <a:r>
              <a:rPr lang="th-TH" sz="1100" dirty="0" err="1"/>
              <a:t>by</a:t>
            </a:r>
            <a:r>
              <a:rPr lang="th-TH" sz="1100" dirty="0"/>
              <a:t> </a:t>
            </a:r>
            <a:r>
              <a:rPr lang="th-TH" sz="1100" dirty="0" err="1"/>
              <a:t>Package</a:t>
            </a:r>
            <a:r>
              <a:rPr lang="th-TH" sz="1100" dirty="0"/>
              <a:t> </a:t>
            </a:r>
            <a:r>
              <a:rPr lang="th-TH" sz="1100" dirty="0" err="1"/>
              <a:t>Size</a:t>
            </a:r>
            <a:r>
              <a:rPr lang="th-TH" sz="1100" dirty="0"/>
              <a:t>, </a:t>
            </a:r>
            <a:r>
              <a:rPr lang="th-TH" sz="1100" dirty="0" err="1"/>
              <a:t>Part</a:t>
            </a:r>
            <a:r>
              <a:rPr lang="th-TH" sz="1100" dirty="0"/>
              <a:t> </a:t>
            </a:r>
            <a:r>
              <a:rPr lang="th-TH" sz="1100" dirty="0" err="1"/>
              <a:t>Number</a:t>
            </a:r>
            <a:r>
              <a:rPr lang="th-TH" sz="1100" dirty="0"/>
              <a:t>, </a:t>
            </a:r>
            <a:r>
              <a:rPr lang="th-TH" sz="1100" dirty="0" err="1"/>
              <a:t>Measure</a:t>
            </a:r>
            <a:r>
              <a:rPr lang="th-TH" sz="1100" dirty="0"/>
              <a:t> </a:t>
            </a:r>
            <a:r>
              <a:rPr lang="th-TH" sz="1100" dirty="0" err="1"/>
              <a:t>Type</a:t>
            </a:r>
            <a:r>
              <a:rPr lang="th-TH" sz="1100" dirty="0"/>
              <a:t>, and </a:t>
            </a:r>
            <a:r>
              <a:rPr lang="th-TH" sz="1100" dirty="0" err="1"/>
              <a:t>Date</a:t>
            </a:r>
            <a:r>
              <a:rPr lang="th-TH" sz="1100" dirty="0"/>
              <a:t> </a:t>
            </a:r>
            <a:r>
              <a:rPr lang="th-TH" sz="1100" dirty="0" err="1"/>
              <a:t>Ranges</a:t>
            </a:r>
            <a:r>
              <a:rPr lang="th-TH" sz="1100" dirty="0"/>
              <a:t>.</a:t>
            </a:r>
            <a:endParaRPr lang="th-TH" sz="1100" b="1" dirty="0"/>
          </a:p>
          <a:p>
            <a:pPr marL="285750" lvl="0" indent="-285750">
              <a:spcAft>
                <a:spcPts val="800"/>
              </a:spcAft>
              <a:buFont typeface="Arial" panose="020B0604020202020204" pitchFamily="34" charset="0"/>
              <a:buChar char="•"/>
              <a:defRPr/>
            </a:pPr>
            <a:r>
              <a:rPr lang="th-TH" sz="1100" b="1" dirty="0" err="1"/>
              <a:t>Visual</a:t>
            </a:r>
            <a:r>
              <a:rPr lang="th-TH" sz="1100" b="1" dirty="0"/>
              <a:t> </a:t>
            </a:r>
            <a:r>
              <a:rPr lang="th-TH" sz="1100" b="1" dirty="0" err="1"/>
              <a:t>Analytics</a:t>
            </a:r>
            <a:r>
              <a:rPr lang="th-TH" sz="1100" b="1" dirty="0"/>
              <a:t>:</a:t>
            </a:r>
            <a:r>
              <a:rPr lang="th-TH" sz="1100" dirty="0"/>
              <a:t> </a:t>
            </a:r>
            <a:r>
              <a:rPr lang="th-TH" sz="1100" dirty="0" err="1"/>
              <a:t>Displays</a:t>
            </a:r>
            <a:r>
              <a:rPr lang="th-TH" sz="1100" dirty="0"/>
              <a:t> </a:t>
            </a:r>
            <a:r>
              <a:rPr lang="th-TH" sz="1100" dirty="0" err="1"/>
              <a:t>summarized</a:t>
            </a:r>
            <a:r>
              <a:rPr lang="th-TH" sz="1100" dirty="0"/>
              <a:t> </a:t>
            </a:r>
            <a:r>
              <a:rPr lang="th-TH" sz="1100" dirty="0" err="1"/>
              <a:t>data</a:t>
            </a:r>
            <a:r>
              <a:rPr lang="th-TH" sz="1100" dirty="0"/>
              <a:t> </a:t>
            </a:r>
            <a:r>
              <a:rPr lang="th-TH" sz="1100" dirty="0" err="1"/>
              <a:t>showing</a:t>
            </a:r>
            <a:r>
              <a:rPr lang="th-TH" sz="1100" dirty="0"/>
              <a:t> </a:t>
            </a:r>
            <a:r>
              <a:rPr lang="th-TH" sz="1100" dirty="0" err="1"/>
              <a:t>Good</a:t>
            </a:r>
            <a:r>
              <a:rPr lang="th-TH" sz="1100" dirty="0"/>
              <a:t>/</a:t>
            </a:r>
            <a:r>
              <a:rPr lang="th-TH" sz="1100" dirty="0" err="1"/>
              <a:t>Fail</a:t>
            </a:r>
            <a:r>
              <a:rPr lang="th-TH" sz="1100" dirty="0"/>
              <a:t> </a:t>
            </a:r>
            <a:r>
              <a:rPr lang="th-TH" sz="1100" dirty="0" err="1"/>
              <a:t>counts</a:t>
            </a:r>
            <a:r>
              <a:rPr lang="th-TH" sz="1100" dirty="0"/>
              <a:t> </a:t>
            </a:r>
            <a:r>
              <a:rPr lang="th-TH" sz="1100" dirty="0" err="1"/>
              <a:t>by</a:t>
            </a:r>
            <a:r>
              <a:rPr lang="th-TH" sz="1100" dirty="0"/>
              <a:t> </a:t>
            </a:r>
            <a:r>
              <a:rPr lang="th-TH" sz="1100" dirty="0" err="1"/>
              <a:t>Package</a:t>
            </a:r>
            <a:r>
              <a:rPr lang="th-TH" sz="1100" dirty="0"/>
              <a:t> </a:t>
            </a:r>
            <a:r>
              <a:rPr lang="th-TH" sz="1100" dirty="0" err="1"/>
              <a:t>Size</a:t>
            </a:r>
            <a:r>
              <a:rPr lang="th-TH" sz="1100" dirty="0"/>
              <a:t> and </a:t>
            </a:r>
            <a:r>
              <a:rPr lang="th-TH" sz="1100" dirty="0" err="1"/>
              <a:t>Part</a:t>
            </a:r>
            <a:r>
              <a:rPr lang="th-TH" sz="1100" dirty="0"/>
              <a:t> </a:t>
            </a:r>
            <a:r>
              <a:rPr lang="th-TH" sz="1100" dirty="0" err="1"/>
              <a:t>Number</a:t>
            </a:r>
            <a:r>
              <a:rPr lang="th-TH" sz="1100" dirty="0"/>
              <a:t>, </a:t>
            </a:r>
            <a:r>
              <a:rPr lang="th-TH" sz="1100" dirty="0" err="1"/>
              <a:t>along</a:t>
            </a:r>
            <a:r>
              <a:rPr lang="th-TH" sz="1100" dirty="0"/>
              <a:t> </a:t>
            </a:r>
            <a:r>
              <a:rPr lang="th-TH" sz="1100" dirty="0" err="1"/>
              <a:t>with</a:t>
            </a:r>
            <a:r>
              <a:rPr lang="th-TH" sz="1100" dirty="0"/>
              <a:t> </a:t>
            </a:r>
            <a:r>
              <a:rPr lang="th-TH" sz="1100" dirty="0" err="1"/>
              <a:t>quarterly</a:t>
            </a:r>
            <a:r>
              <a:rPr lang="th-TH" sz="1100" dirty="0"/>
              <a:t> </a:t>
            </a:r>
            <a:r>
              <a:rPr lang="th-TH" sz="1100" dirty="0" err="1"/>
              <a:t>cumulative</a:t>
            </a:r>
            <a:r>
              <a:rPr lang="th-TH" sz="1100" dirty="0"/>
              <a:t> </a:t>
            </a:r>
            <a:r>
              <a:rPr lang="th-TH" sz="1100" dirty="0" err="1"/>
              <a:t>yield</a:t>
            </a:r>
            <a:r>
              <a:rPr lang="th-TH" sz="1100" dirty="0"/>
              <a:t> </a:t>
            </a:r>
            <a:r>
              <a:rPr lang="th-TH" sz="1100" dirty="0" err="1"/>
              <a:t>trend</a:t>
            </a:r>
            <a:endParaRPr lang="th-TH" sz="1400" dirty="0"/>
          </a:p>
        </p:txBody>
      </p:sp>
      <p:sp>
        <p:nvSpPr>
          <p:cNvPr id="21" name="TextBox 20">
            <a:extLst>
              <a:ext uri="{FF2B5EF4-FFF2-40B4-BE49-F238E27FC236}">
                <a16:creationId xmlns:a16="http://schemas.microsoft.com/office/drawing/2014/main" id="{4B511124-D394-DB1C-4285-B4C2693B3D29}"/>
              </a:ext>
            </a:extLst>
          </p:cNvPr>
          <p:cNvSpPr txBox="1"/>
          <p:nvPr/>
        </p:nvSpPr>
        <p:spPr>
          <a:xfrm>
            <a:off x="2973051" y="4569363"/>
            <a:ext cx="2231488" cy="307777"/>
          </a:xfrm>
          <a:prstGeom prst="rect">
            <a:avLst/>
          </a:prstGeom>
          <a:noFill/>
        </p:spPr>
        <p:txBody>
          <a:bodyPr wrap="square">
            <a:spAutoFit/>
          </a:bodyPr>
          <a:lstStyle>
            <a:defPPr>
              <a:defRPr lang="th-TH"/>
            </a:defPPr>
            <a:lvl1pPr lvl="0">
              <a:spcAft>
                <a:spcPts val="800"/>
              </a:spcAft>
              <a:defRPr sz="1400">
                <a:solidFill>
                  <a:srgbClr val="002060"/>
                </a:solidFill>
                <a:latin typeface="Helvetica" panose="020B0604020202020204" pitchFamily="34" charset="0"/>
                <a:cs typeface="Helvetica" panose="020B0604020202020204" pitchFamily="34" charset="0"/>
              </a:defRPr>
            </a:lvl1pPr>
          </a:lstStyle>
          <a:p>
            <a:r>
              <a:rPr lang="th-TH" b="1" dirty="0"/>
              <a:t>Data </a:t>
            </a:r>
            <a:r>
              <a:rPr lang="th-TH" b="1" dirty="0" err="1"/>
              <a:t>Aggregation</a:t>
            </a:r>
            <a:r>
              <a:rPr lang="th-TH" b="1" dirty="0"/>
              <a:t> </a:t>
            </a:r>
            <a:r>
              <a:rPr lang="th-TH" b="1" dirty="0" err="1"/>
              <a:t>Page</a:t>
            </a:r>
            <a:r>
              <a:rPr lang="th-TH" b="1" dirty="0"/>
              <a:t> </a:t>
            </a:r>
          </a:p>
        </p:txBody>
      </p:sp>
      <p:sp>
        <p:nvSpPr>
          <p:cNvPr id="27" name="TextBox 26">
            <a:extLst>
              <a:ext uri="{FF2B5EF4-FFF2-40B4-BE49-F238E27FC236}">
                <a16:creationId xmlns:a16="http://schemas.microsoft.com/office/drawing/2014/main" id="{21E3081D-0A4B-6802-B6F3-FDA8ED15AF38}"/>
              </a:ext>
            </a:extLst>
          </p:cNvPr>
          <p:cNvSpPr txBox="1"/>
          <p:nvPr/>
        </p:nvSpPr>
        <p:spPr>
          <a:xfrm>
            <a:off x="6994630" y="1740884"/>
            <a:ext cx="181917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400" b="1" i="0" dirty="0">
                <a:solidFill>
                  <a:srgbClr val="002060"/>
                </a:solidFill>
                <a:effectLst/>
                <a:latin typeface="Helvetica" panose="020B0604020202020204" pitchFamily="34" charset="0"/>
                <a:cs typeface="Helvetica" panose="020B0604020202020204" pitchFamily="34" charset="0"/>
              </a:rPr>
              <a:t>Status : </a:t>
            </a:r>
            <a:r>
              <a:rPr lang="en-US" sz="1400" b="1" i="0" dirty="0">
                <a:solidFill>
                  <a:srgbClr val="FFC000"/>
                </a:solidFill>
                <a:effectLst/>
                <a:latin typeface="Helvetica" panose="020B0604020202020204" pitchFamily="34" charset="0"/>
                <a:cs typeface="Helvetica" panose="020B0604020202020204" pitchFamily="34" charset="0"/>
              </a:rPr>
              <a:t>Ontrack</a:t>
            </a:r>
          </a:p>
        </p:txBody>
      </p:sp>
      <p:sp>
        <p:nvSpPr>
          <p:cNvPr id="4" name="สี่เหลี่ยมผืนผ้า: มุมมน 3">
            <a:extLst>
              <a:ext uri="{FF2B5EF4-FFF2-40B4-BE49-F238E27FC236}">
                <a16:creationId xmlns:a16="http://schemas.microsoft.com/office/drawing/2014/main" id="{319C0899-F7B0-1944-2484-BF7744D6C016}"/>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Tree>
    <p:extLst>
      <p:ext uri="{BB962C8B-B14F-4D97-AF65-F5344CB8AC3E}">
        <p14:creationId xmlns:p14="http://schemas.microsoft.com/office/powerpoint/2010/main" val="13787724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D236E-C81C-0841-9CA9-048DC64476D3}"/>
            </a:ext>
          </a:extLst>
        </p:cNvPr>
        <p:cNvGrpSpPr/>
        <p:nvPr/>
      </p:nvGrpSpPr>
      <p:grpSpPr>
        <a:xfrm>
          <a:off x="0" y="0"/>
          <a:ext cx="0" cy="0"/>
          <a:chOff x="0" y="0"/>
          <a:chExt cx="0" cy="0"/>
        </a:xfrm>
      </p:grpSpPr>
      <p:sp>
        <p:nvSpPr>
          <p:cNvPr id="11" name="สี่เหลี่ยมผืนผ้า 22">
            <a:extLst>
              <a:ext uri="{FF2B5EF4-FFF2-40B4-BE49-F238E27FC236}">
                <a16:creationId xmlns:a16="http://schemas.microsoft.com/office/drawing/2014/main" id="{4663B8E9-4DC1-D0CE-9086-C02A3891AEB6}"/>
              </a:ext>
            </a:extLst>
          </p:cNvPr>
          <p:cNvSpPr/>
          <p:nvPr/>
        </p:nvSpPr>
        <p:spPr>
          <a:xfrm>
            <a:off x="2414965" y="597115"/>
            <a:ext cx="1696120" cy="465978"/>
          </a:xfrm>
          <a:prstGeom prst="rect">
            <a:avLst/>
          </a:prstGeom>
          <a:solidFill>
            <a:schemeClr val="accent2">
              <a:lumMod val="75000"/>
              <a:alpha val="1803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dirty="0"/>
          </a:p>
        </p:txBody>
      </p:sp>
      <p:pic>
        <p:nvPicPr>
          <p:cNvPr id="5" name="Picture 2" descr="Analog Devices | Disruptive Technology for Clinical Trials">
            <a:extLst>
              <a:ext uri="{FF2B5EF4-FFF2-40B4-BE49-F238E27FC236}">
                <a16:creationId xmlns:a16="http://schemas.microsoft.com/office/drawing/2014/main" id="{0DB29089-8921-3997-2CFA-A5B479F661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233193" y="433793"/>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 name="Picture 2" descr="LOGO_ENkku_color – Faculty of Engineering , Khon Kaen University">
            <a:extLst>
              <a:ext uri="{FF2B5EF4-FFF2-40B4-BE49-F238E27FC236}">
                <a16:creationId xmlns:a16="http://schemas.microsoft.com/office/drawing/2014/main" id="{B85D39A1-72CA-A508-F7C7-065DC87F918E}"/>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411206" y="360124"/>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C87E1E1-12D2-26F1-5567-19914A4B58D7}"/>
              </a:ext>
            </a:extLst>
          </p:cNvPr>
          <p:cNvSpPr txBox="1"/>
          <p:nvPr/>
        </p:nvSpPr>
        <p:spPr>
          <a:xfrm>
            <a:off x="2515831" y="665740"/>
            <a:ext cx="1399312" cy="400110"/>
          </a:xfrm>
          <a:prstGeom prst="rect">
            <a:avLst/>
          </a:prstGeom>
          <a:noFill/>
        </p:spPr>
        <p:txBody>
          <a:bodyPr wrap="square" rtlCol="0">
            <a:spAutoFit/>
          </a:bodyPr>
          <a:lstStyle/>
          <a:p>
            <a:r>
              <a:rPr lang="en-US" sz="2000" b="1" dirty="0"/>
              <a:t>Database</a:t>
            </a:r>
            <a:endParaRPr lang="th-TH" sz="2000" b="1" dirty="0"/>
          </a:p>
        </p:txBody>
      </p:sp>
      <p:sp>
        <p:nvSpPr>
          <p:cNvPr id="20" name="กล่องข้อความ 13">
            <a:extLst>
              <a:ext uri="{FF2B5EF4-FFF2-40B4-BE49-F238E27FC236}">
                <a16:creationId xmlns:a16="http://schemas.microsoft.com/office/drawing/2014/main" id="{3A585AE9-B961-1B0B-4234-7D8FAA6E13BF}"/>
              </a:ext>
            </a:extLst>
          </p:cNvPr>
          <p:cNvSpPr txBox="1">
            <a:spLocks/>
          </p:cNvSpPr>
          <p:nvPr/>
        </p:nvSpPr>
        <p:spPr>
          <a:xfrm>
            <a:off x="798575" y="597115"/>
            <a:ext cx="1883665" cy="523220"/>
          </a:xfrm>
          <a:prstGeom prst="rect">
            <a:avLst/>
          </a:prstGeom>
          <a:noFill/>
        </p:spPr>
        <p:txBody>
          <a:bodyPr wrap="square" rtlCol="0">
            <a:spAutoFit/>
          </a:bodyPr>
          <a:lstStyle/>
          <a:p>
            <a:r>
              <a:rPr lang="en-US" b="1" dirty="0">
                <a:solidFill>
                  <a:srgbClr val="002060"/>
                </a:solidFill>
                <a:latin typeface="Helvetica" panose="020B0604020202020204" pitchFamily="34" charset="0"/>
                <a:cs typeface="Helvetica" panose="020B0604020202020204" pitchFamily="34" charset="0"/>
              </a:rPr>
              <a:t>Actions</a:t>
            </a:r>
            <a:endParaRPr lang="th-TH" b="1" dirty="0">
              <a:solidFill>
                <a:srgbClr val="002060"/>
              </a:solidFill>
              <a:latin typeface="Helvetica" panose="020B0604020202020204" pitchFamily="34" charset="0"/>
              <a:cs typeface="Mitr" panose="00000500000000000000" pitchFamily="2" charset="-34"/>
            </a:endParaRPr>
          </a:p>
        </p:txBody>
      </p:sp>
      <p:pic>
        <p:nvPicPr>
          <p:cNvPr id="23" name="Picture 22">
            <a:extLst>
              <a:ext uri="{FF2B5EF4-FFF2-40B4-BE49-F238E27FC236}">
                <a16:creationId xmlns:a16="http://schemas.microsoft.com/office/drawing/2014/main" id="{9DF9ECCF-DBD4-8A94-BF35-363FBA9A93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92988" y="1315803"/>
            <a:ext cx="9019955" cy="4799078"/>
          </a:xfrm>
          <a:prstGeom prst="rect">
            <a:avLst/>
          </a:prstGeom>
        </p:spPr>
      </p:pic>
      <p:sp>
        <p:nvSpPr>
          <p:cNvPr id="3" name="สี่เหลี่ยมผืนผ้า: มุมมน 2">
            <a:extLst>
              <a:ext uri="{FF2B5EF4-FFF2-40B4-BE49-F238E27FC236}">
                <a16:creationId xmlns:a16="http://schemas.microsoft.com/office/drawing/2014/main" id="{D3D242FE-E91D-9A34-B58D-2135D208B933}"/>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Tree>
    <p:extLst>
      <p:ext uri="{BB962C8B-B14F-4D97-AF65-F5344CB8AC3E}">
        <p14:creationId xmlns:p14="http://schemas.microsoft.com/office/powerpoint/2010/main" val="8268433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0072E-E543-6243-7DE6-F8A7E46EDACD}"/>
            </a:ext>
          </a:extLst>
        </p:cNvPr>
        <p:cNvGrpSpPr/>
        <p:nvPr/>
      </p:nvGrpSpPr>
      <p:grpSpPr>
        <a:xfrm>
          <a:off x="0" y="0"/>
          <a:ext cx="0" cy="0"/>
          <a:chOff x="0" y="0"/>
          <a:chExt cx="0" cy="0"/>
        </a:xfrm>
      </p:grpSpPr>
      <p:sp>
        <p:nvSpPr>
          <p:cNvPr id="5" name="สี่เหลี่ยมผืนผ้า: มุมมน 4">
            <a:extLst>
              <a:ext uri="{FF2B5EF4-FFF2-40B4-BE49-F238E27FC236}">
                <a16:creationId xmlns:a16="http://schemas.microsoft.com/office/drawing/2014/main" id="{890820BA-D799-6BD1-E1C6-D8803F1A6D56}"/>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13" name="Picture 2" descr="Analog Devices | Disruptive Technology for Clinical Trials">
            <a:extLst>
              <a:ext uri="{FF2B5EF4-FFF2-40B4-BE49-F238E27FC236}">
                <a16:creationId xmlns:a16="http://schemas.microsoft.com/office/drawing/2014/main" id="{3F12353E-7ED0-E6A0-A714-119E88225D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5" name="Picture 2" descr="LOGO_ENkku_color – Faculty of Engineering , Khon Kaen University">
            <a:extLst>
              <a:ext uri="{FF2B5EF4-FFF2-40B4-BE49-F238E27FC236}">
                <a16:creationId xmlns:a16="http://schemas.microsoft.com/office/drawing/2014/main" id="{3DE4E388-503C-14CD-573F-82E219BB4F2F}"/>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ตาราง 3">
            <a:extLst>
              <a:ext uri="{FF2B5EF4-FFF2-40B4-BE49-F238E27FC236}">
                <a16:creationId xmlns:a16="http://schemas.microsoft.com/office/drawing/2014/main" id="{6C9DDBA7-65BA-519B-1669-E82F96E99850}"/>
              </a:ext>
            </a:extLst>
          </p:cNvPr>
          <p:cNvGraphicFramePr>
            <a:graphicFrameLocks noGrp="1"/>
          </p:cNvGraphicFramePr>
          <p:nvPr/>
        </p:nvGraphicFramePr>
        <p:xfrm>
          <a:off x="1028026" y="1393570"/>
          <a:ext cx="10304522" cy="4698181"/>
        </p:xfrm>
        <a:graphic>
          <a:graphicData uri="http://schemas.openxmlformats.org/drawingml/2006/table">
            <a:tbl>
              <a:tblPr/>
              <a:tblGrid>
                <a:gridCol w="2834847">
                  <a:extLst>
                    <a:ext uri="{9D8B030D-6E8A-4147-A177-3AD203B41FA5}">
                      <a16:colId xmlns:a16="http://schemas.microsoft.com/office/drawing/2014/main" val="3066147821"/>
                    </a:ext>
                  </a:extLst>
                </a:gridCol>
                <a:gridCol w="4122887">
                  <a:extLst>
                    <a:ext uri="{9D8B030D-6E8A-4147-A177-3AD203B41FA5}">
                      <a16:colId xmlns:a16="http://schemas.microsoft.com/office/drawing/2014/main" val="3633921066"/>
                    </a:ext>
                  </a:extLst>
                </a:gridCol>
                <a:gridCol w="3346788">
                  <a:extLst>
                    <a:ext uri="{9D8B030D-6E8A-4147-A177-3AD203B41FA5}">
                      <a16:colId xmlns:a16="http://schemas.microsoft.com/office/drawing/2014/main" val="1260346786"/>
                    </a:ext>
                  </a:extLst>
                </a:gridCol>
              </a:tblGrid>
              <a:tr h="474829">
                <a:tc>
                  <a:txBody>
                    <a:bodyPr/>
                    <a:lstStyle/>
                    <a:p>
                      <a:pPr algn="ctr" fontAlgn="ctr">
                        <a:buNone/>
                      </a:pPr>
                      <a:r>
                        <a:rPr lang="en-US" sz="1400" b="1" dirty="0">
                          <a:solidFill>
                            <a:schemeClr val="bg1"/>
                          </a:solidFill>
                          <a:latin typeface="Helvetica" panose="020B0604020202020204" pitchFamily="34" charset="0"/>
                          <a:cs typeface="+mn-cs"/>
                        </a:rPr>
                        <a:t>Problem</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dirty="0">
                          <a:solidFill>
                            <a:schemeClr val="bg1"/>
                          </a:solidFill>
                          <a:latin typeface="Helvetica" panose="020B0604020202020204" pitchFamily="34" charset="0"/>
                          <a:cs typeface="+mn-cs"/>
                        </a:rPr>
                        <a:t>Design Condition</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dirty="0">
                          <a:solidFill>
                            <a:schemeClr val="bg1"/>
                          </a:solidFill>
                          <a:latin typeface="Helvetica" panose="020B0604020202020204" pitchFamily="34" charset="0"/>
                          <a:cs typeface="+mn-cs"/>
                        </a:rPr>
                        <a:t>Action</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786322214"/>
                  </a:ext>
                </a:extLst>
              </a:tr>
              <a:tr h="1407784">
                <a:tc>
                  <a:txBody>
                    <a:bodyPr/>
                    <a:lstStyle/>
                    <a:p>
                      <a:pPr algn="ctr">
                        <a:lnSpc>
                          <a:spcPct val="107000"/>
                        </a:lnSpc>
                        <a:spcAft>
                          <a:spcPts val="800"/>
                        </a:spcAft>
                        <a:buNone/>
                      </a:pPr>
                      <a:r>
                        <a:rPr lang="en-US" sz="1400" b="1"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Lack of Fixturing Mechanism </a:t>
                      </a: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(part placed on bare glass, no jig)	</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Must have a jig that physically holds the part, automatically centers it, and supports multiple sizes (2x2–2.5x2.5mm) </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lnSpc>
                          <a:spcPct val="107000"/>
                        </a:lnSpc>
                        <a:spcAft>
                          <a:spcPts val="800"/>
                        </a:spcAft>
                        <a:buNone/>
                      </a:pPr>
                      <a:r>
                        <a:rPr lang="en-US" sz="1400" b="1"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Alignment Jig Module </a:t>
                      </a:r>
                    </a:p>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Stepped V-Block</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32952113"/>
                  </a:ext>
                </a:extLst>
              </a:tr>
              <a:tr h="1407784">
                <a:tc>
                  <a:txBody>
                    <a:bodyPr/>
                    <a:lstStyle/>
                    <a:p>
                      <a:pPr algn="ctr">
                        <a:lnSpc>
                          <a:spcPct val="107000"/>
                        </a:lnSpc>
                        <a:spcAft>
                          <a:spcPts val="800"/>
                        </a:spcAft>
                        <a:buNone/>
                      </a:pPr>
                      <a:r>
                        <a:rPr lang="en-US" sz="1400" b="1"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Inconsistent Measurements </a:t>
                      </a:r>
                    </a:p>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(part tilts, results vary)</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Must constrain the part's plane/angle consistently every time it's loaded, independent of the operator</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lnSpc>
                          <a:spcPct val="107000"/>
                        </a:lnSpc>
                        <a:spcAft>
                          <a:spcPts val="800"/>
                        </a:spcAft>
                        <a:buNone/>
                      </a:pPr>
                      <a:r>
                        <a:rPr lang="en-US" sz="1400" b="1"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Alignment Jig Module</a:t>
                      </a:r>
                    </a:p>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Stepped V-Block (same module, also solves repeatability)</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54327917"/>
                  </a:ext>
                </a:extLst>
              </a:tr>
              <a:tr h="1407784">
                <a:tc>
                  <a:txBody>
                    <a:bodyPr/>
                    <a:lstStyle/>
                    <a:p>
                      <a:pPr algn="ctr">
                        <a:lnSpc>
                          <a:spcPct val="107000"/>
                        </a:lnSpc>
                        <a:spcAft>
                          <a:spcPts val="800"/>
                        </a:spcAft>
                        <a:buNone/>
                      </a:pPr>
                      <a:r>
                        <a:rPr lang="en-US" sz="1400" b="1"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Inconsistent Cycle Time </a:t>
                      </a:r>
                    </a:p>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(depends on operator skill)</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Must have an automated drive mechanism (actuator) replacing manual handling, so cycle time per unit stays constant</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800"/>
                        </a:spcAft>
                        <a:buNone/>
                      </a:pPr>
                      <a:r>
                        <a:rPr lang="en-US" sz="1400" b="1"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Alignment Module </a:t>
                      </a:r>
                    </a:p>
                    <a:p>
                      <a:pPr algn="ctr">
                        <a:lnSpc>
                          <a:spcPct val="100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Actuonix L12 (linear actuator pushes/positions the part)</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4415785"/>
                  </a:ext>
                </a:extLst>
              </a:tr>
            </a:tbl>
          </a:graphicData>
        </a:graphic>
      </p:graphicFrame>
      <p:sp>
        <p:nvSpPr>
          <p:cNvPr id="3" name="สี่เหลี่ยมผืนผ้า 2">
            <a:extLst>
              <a:ext uri="{FF2B5EF4-FFF2-40B4-BE49-F238E27FC236}">
                <a16:creationId xmlns:a16="http://schemas.microsoft.com/office/drawing/2014/main" id="{8ADABFD1-93A9-36C7-255E-725C88B2CE1B}"/>
              </a:ext>
            </a:extLst>
          </p:cNvPr>
          <p:cNvSpPr/>
          <p:nvPr/>
        </p:nvSpPr>
        <p:spPr>
          <a:xfrm>
            <a:off x="432244" y="533608"/>
            <a:ext cx="3104586" cy="618321"/>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8" name="สี่เหลี่ยมผืนผ้า 7">
            <a:extLst>
              <a:ext uri="{FF2B5EF4-FFF2-40B4-BE49-F238E27FC236}">
                <a16:creationId xmlns:a16="http://schemas.microsoft.com/office/drawing/2014/main" id="{9124B62E-EB55-DB9B-8786-CF1998362477}"/>
              </a:ext>
            </a:extLst>
          </p:cNvPr>
          <p:cNvSpPr/>
          <p:nvPr/>
        </p:nvSpPr>
        <p:spPr>
          <a:xfrm>
            <a:off x="432246" y="533608"/>
            <a:ext cx="132080" cy="61832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2" name="กล่องข้อความ 11">
            <a:extLst>
              <a:ext uri="{FF2B5EF4-FFF2-40B4-BE49-F238E27FC236}">
                <a16:creationId xmlns:a16="http://schemas.microsoft.com/office/drawing/2014/main" id="{EF77F029-2C72-87A3-D3C4-CF8E1F79B833}"/>
              </a:ext>
            </a:extLst>
          </p:cNvPr>
          <p:cNvSpPr txBox="1">
            <a:spLocks/>
          </p:cNvSpPr>
          <p:nvPr/>
        </p:nvSpPr>
        <p:spPr>
          <a:xfrm>
            <a:off x="768824" y="611935"/>
            <a:ext cx="2999238" cy="461665"/>
          </a:xfrm>
          <a:prstGeom prst="rect">
            <a:avLst/>
          </a:prstGeom>
          <a:noFill/>
        </p:spPr>
        <p:txBody>
          <a:bodyPr wrap="square" rtlCol="0">
            <a:spAutoFit/>
          </a:bodyPr>
          <a:lstStyle/>
          <a:p>
            <a:r>
              <a:rPr lang="en-US" sz="2400" b="1" dirty="0">
                <a:solidFill>
                  <a:srgbClr val="002060"/>
                </a:solidFill>
                <a:latin typeface="Helvetica" panose="020B0604020202020204" pitchFamily="34" charset="0"/>
                <a:cs typeface="Helvetica" panose="020B0604020202020204" pitchFamily="34" charset="0"/>
              </a:rPr>
              <a:t>Concept Design </a:t>
            </a:r>
            <a:endParaRPr lang="th-TH" sz="2400" b="1" dirty="0">
              <a:solidFill>
                <a:srgbClr val="002060"/>
              </a:solidFill>
              <a:latin typeface="Helvetica" panose="020B0604020202020204" pitchFamily="34" charset="0"/>
              <a:cs typeface="Mitr" panose="00000500000000000000" pitchFamily="2" charset="-34"/>
            </a:endParaRPr>
          </a:p>
        </p:txBody>
      </p:sp>
    </p:spTree>
    <p:extLst>
      <p:ext uri="{BB962C8B-B14F-4D97-AF65-F5344CB8AC3E}">
        <p14:creationId xmlns:p14="http://schemas.microsoft.com/office/powerpoint/2010/main" val="4266322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C9D6E-F640-DB9A-2EBD-D753322FAF68}"/>
            </a:ext>
          </a:extLst>
        </p:cNvPr>
        <p:cNvGrpSpPr/>
        <p:nvPr/>
      </p:nvGrpSpPr>
      <p:grpSpPr>
        <a:xfrm>
          <a:off x="0" y="0"/>
          <a:ext cx="0" cy="0"/>
          <a:chOff x="0" y="0"/>
          <a:chExt cx="0" cy="0"/>
        </a:xfrm>
      </p:grpSpPr>
      <p:sp>
        <p:nvSpPr>
          <p:cNvPr id="5" name="สี่เหลี่ยมผืนผ้า: มุมมน 4">
            <a:extLst>
              <a:ext uri="{FF2B5EF4-FFF2-40B4-BE49-F238E27FC236}">
                <a16:creationId xmlns:a16="http://schemas.microsoft.com/office/drawing/2014/main" id="{C50402E8-AD6F-B7AF-AA83-5F534354D127}"/>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13" name="Picture 2" descr="Analog Devices | Disruptive Technology for Clinical Trials">
            <a:extLst>
              <a:ext uri="{FF2B5EF4-FFF2-40B4-BE49-F238E27FC236}">
                <a16:creationId xmlns:a16="http://schemas.microsoft.com/office/drawing/2014/main" id="{3A4298BF-B253-E527-1656-C6F7F8D180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5" name="Picture 2" descr="LOGO_ENkku_color – Faculty of Engineering , Khon Kaen University">
            <a:extLst>
              <a:ext uri="{FF2B5EF4-FFF2-40B4-BE49-F238E27FC236}">
                <a16:creationId xmlns:a16="http://schemas.microsoft.com/office/drawing/2014/main" id="{B4230EE3-7091-4B85-4992-8DE96E2FA988}"/>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ตาราง 3">
            <a:extLst>
              <a:ext uri="{FF2B5EF4-FFF2-40B4-BE49-F238E27FC236}">
                <a16:creationId xmlns:a16="http://schemas.microsoft.com/office/drawing/2014/main" id="{0C2398FA-DB32-3A25-276E-CDF7FD546D54}"/>
              </a:ext>
            </a:extLst>
          </p:cNvPr>
          <p:cNvGraphicFramePr>
            <a:graphicFrameLocks noGrp="1"/>
          </p:cNvGraphicFramePr>
          <p:nvPr/>
        </p:nvGraphicFramePr>
        <p:xfrm>
          <a:off x="1028026" y="1393570"/>
          <a:ext cx="10304522" cy="4698181"/>
        </p:xfrm>
        <a:graphic>
          <a:graphicData uri="http://schemas.openxmlformats.org/drawingml/2006/table">
            <a:tbl>
              <a:tblPr/>
              <a:tblGrid>
                <a:gridCol w="2844178">
                  <a:extLst>
                    <a:ext uri="{9D8B030D-6E8A-4147-A177-3AD203B41FA5}">
                      <a16:colId xmlns:a16="http://schemas.microsoft.com/office/drawing/2014/main" val="3066147821"/>
                    </a:ext>
                  </a:extLst>
                </a:gridCol>
                <a:gridCol w="4113556">
                  <a:extLst>
                    <a:ext uri="{9D8B030D-6E8A-4147-A177-3AD203B41FA5}">
                      <a16:colId xmlns:a16="http://schemas.microsoft.com/office/drawing/2014/main" val="3633921066"/>
                    </a:ext>
                  </a:extLst>
                </a:gridCol>
                <a:gridCol w="3346788">
                  <a:extLst>
                    <a:ext uri="{9D8B030D-6E8A-4147-A177-3AD203B41FA5}">
                      <a16:colId xmlns:a16="http://schemas.microsoft.com/office/drawing/2014/main" val="1260346786"/>
                    </a:ext>
                  </a:extLst>
                </a:gridCol>
              </a:tblGrid>
              <a:tr h="474829">
                <a:tc>
                  <a:txBody>
                    <a:bodyPr/>
                    <a:lstStyle/>
                    <a:p>
                      <a:pPr algn="ctr" fontAlgn="ctr">
                        <a:buNone/>
                      </a:pPr>
                      <a:r>
                        <a:rPr lang="en-US" sz="1400" b="1" dirty="0">
                          <a:solidFill>
                            <a:schemeClr val="bg1"/>
                          </a:solidFill>
                          <a:latin typeface="Helvetica" panose="020B0604020202020204" pitchFamily="34" charset="0"/>
                          <a:cs typeface="+mn-cs"/>
                        </a:rPr>
                        <a:t>Problem</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dirty="0">
                          <a:solidFill>
                            <a:schemeClr val="bg1"/>
                          </a:solidFill>
                          <a:latin typeface="Helvetica" panose="020B0604020202020204" pitchFamily="34" charset="0"/>
                          <a:cs typeface="+mn-cs"/>
                        </a:rPr>
                        <a:t>Design Condition</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dirty="0">
                          <a:solidFill>
                            <a:schemeClr val="bg1"/>
                          </a:solidFill>
                          <a:latin typeface="Helvetica" panose="020B0604020202020204" pitchFamily="34" charset="0"/>
                          <a:cs typeface="+mn-cs"/>
                        </a:rPr>
                        <a:t>Action</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786322214"/>
                  </a:ext>
                </a:extLst>
              </a:tr>
              <a:tr h="1407784">
                <a:tc>
                  <a:txBody>
                    <a:bodyPr/>
                    <a:lstStyle/>
                    <a:p>
                      <a:pPr algn="ctr">
                        <a:lnSpc>
                          <a:spcPct val="107000"/>
                        </a:lnSpc>
                        <a:spcAft>
                          <a:spcPts val="800"/>
                        </a:spcAft>
                        <a:buNone/>
                      </a:pPr>
                      <a:r>
                        <a:rPr lang="en-US" sz="1400" b="1"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No Physical Enforcement </a:t>
                      </a:r>
                    </a:p>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(no barrier between Good/NG)</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Must have a physical mechanism that moves the part from the measurement point to the sorting point automatically, without passing through the operator's hands</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lnSpc>
                          <a:spcPct val="107000"/>
                        </a:lnSpc>
                        <a:spcAft>
                          <a:spcPts val="800"/>
                        </a:spcAft>
                        <a:buNone/>
                      </a:pPr>
                      <a:r>
                        <a:rPr lang="en-US" sz="1400" b="1"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Transition Module </a:t>
                      </a:r>
                    </a:p>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Servo + Micro switch</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32952113"/>
                  </a:ext>
                </a:extLst>
              </a:tr>
              <a:tr h="1407784">
                <a:tc>
                  <a:txBody>
                    <a:bodyPr/>
                    <a:lstStyle/>
                    <a:p>
                      <a:pPr algn="ctr">
                        <a:lnSpc>
                          <a:spcPct val="107000"/>
                        </a:lnSpc>
                        <a:spcAft>
                          <a:spcPts val="800"/>
                        </a:spcAft>
                        <a:buNone/>
                      </a:pPr>
                      <a:r>
                        <a:rPr lang="en-US" sz="1400" b="1"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Risk of Sorting Errors / Severe Business Impact </a:t>
                      </a:r>
                    </a:p>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(NG parts slipping into the line)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Must sort Good/NG automatically, accurately, without relying on operator judgment, and without damaging the part	</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lnSpc>
                          <a:spcPct val="107000"/>
                        </a:lnSpc>
                        <a:spcAft>
                          <a:spcPts val="800"/>
                        </a:spcAft>
                        <a:buNone/>
                      </a:pPr>
                      <a:r>
                        <a:rPr lang="en-US" sz="1400" b="1"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Sorter Module </a:t>
                      </a:r>
                    </a:p>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Stepper motor (Nema8 + DRV8825) </a:t>
                      </a:r>
                    </a:p>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 limit switch</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54327917"/>
                  </a:ext>
                </a:extLst>
              </a:tr>
              <a:tr h="1407784">
                <a:tc>
                  <a:txBody>
                    <a:bodyPr/>
                    <a:lstStyle/>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(Across all modules) Need a central point to command, read status, and alert the operator	</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Must have a controller that reads sensors, drives actuators, shows real-time status, and supports an emergency button	</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lnSpc>
                          <a:spcPct val="107000"/>
                        </a:lnSpc>
                        <a:spcAft>
                          <a:spcPts val="800"/>
                        </a:spcAft>
                        <a:buNone/>
                      </a:pPr>
                      <a:r>
                        <a:rPr lang="en-US" sz="1400" b="1"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Control &amp; Feedback Module</a:t>
                      </a:r>
                    </a:p>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Arduino Mega + OLED/LED </a:t>
                      </a:r>
                    </a:p>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 physical button</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4415785"/>
                  </a:ext>
                </a:extLst>
              </a:tr>
            </a:tbl>
          </a:graphicData>
        </a:graphic>
      </p:graphicFrame>
      <p:sp>
        <p:nvSpPr>
          <p:cNvPr id="3" name="สี่เหลี่ยมผืนผ้า 2">
            <a:extLst>
              <a:ext uri="{FF2B5EF4-FFF2-40B4-BE49-F238E27FC236}">
                <a16:creationId xmlns:a16="http://schemas.microsoft.com/office/drawing/2014/main" id="{F70AA682-CB0E-C9D9-9180-3A2FCCD61999}"/>
              </a:ext>
            </a:extLst>
          </p:cNvPr>
          <p:cNvSpPr/>
          <p:nvPr/>
        </p:nvSpPr>
        <p:spPr>
          <a:xfrm>
            <a:off x="432244" y="533608"/>
            <a:ext cx="3104586" cy="618321"/>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7" name="สี่เหลี่ยมผืนผ้า 6">
            <a:extLst>
              <a:ext uri="{FF2B5EF4-FFF2-40B4-BE49-F238E27FC236}">
                <a16:creationId xmlns:a16="http://schemas.microsoft.com/office/drawing/2014/main" id="{9517C80B-B69C-28AE-8218-E907CF950D6B}"/>
              </a:ext>
            </a:extLst>
          </p:cNvPr>
          <p:cNvSpPr/>
          <p:nvPr/>
        </p:nvSpPr>
        <p:spPr>
          <a:xfrm>
            <a:off x="432246" y="533608"/>
            <a:ext cx="132080" cy="61832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9" name="กล่องข้อความ 8">
            <a:extLst>
              <a:ext uri="{FF2B5EF4-FFF2-40B4-BE49-F238E27FC236}">
                <a16:creationId xmlns:a16="http://schemas.microsoft.com/office/drawing/2014/main" id="{CEA5B341-8F53-6CF8-B7AC-CC9D31DC4B17}"/>
              </a:ext>
            </a:extLst>
          </p:cNvPr>
          <p:cNvSpPr txBox="1">
            <a:spLocks/>
          </p:cNvSpPr>
          <p:nvPr/>
        </p:nvSpPr>
        <p:spPr>
          <a:xfrm>
            <a:off x="768824" y="611935"/>
            <a:ext cx="2999238" cy="461665"/>
          </a:xfrm>
          <a:prstGeom prst="rect">
            <a:avLst/>
          </a:prstGeom>
          <a:noFill/>
        </p:spPr>
        <p:txBody>
          <a:bodyPr wrap="square" rtlCol="0">
            <a:spAutoFit/>
          </a:bodyPr>
          <a:lstStyle/>
          <a:p>
            <a:r>
              <a:rPr lang="en-US" sz="2400" b="1" dirty="0">
                <a:solidFill>
                  <a:srgbClr val="002060"/>
                </a:solidFill>
                <a:latin typeface="Helvetica" panose="020B0604020202020204" pitchFamily="34" charset="0"/>
                <a:cs typeface="Helvetica" panose="020B0604020202020204" pitchFamily="34" charset="0"/>
              </a:rPr>
              <a:t>Concept Design </a:t>
            </a:r>
            <a:endParaRPr lang="th-TH" sz="2400" b="1" dirty="0">
              <a:solidFill>
                <a:srgbClr val="002060"/>
              </a:solidFill>
              <a:latin typeface="Helvetica" panose="020B0604020202020204" pitchFamily="34" charset="0"/>
              <a:cs typeface="Mitr" panose="00000500000000000000" pitchFamily="2" charset="-34"/>
            </a:endParaRPr>
          </a:p>
        </p:txBody>
      </p:sp>
    </p:spTree>
    <p:extLst>
      <p:ext uri="{BB962C8B-B14F-4D97-AF65-F5344CB8AC3E}">
        <p14:creationId xmlns:p14="http://schemas.microsoft.com/office/powerpoint/2010/main" val="35903549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1445A-5274-FF2A-81E9-45E5E18D325C}"/>
            </a:ext>
          </a:extLst>
        </p:cNvPr>
        <p:cNvGrpSpPr/>
        <p:nvPr/>
      </p:nvGrpSpPr>
      <p:grpSpPr>
        <a:xfrm>
          <a:off x="0" y="0"/>
          <a:ext cx="0" cy="0"/>
          <a:chOff x="0" y="0"/>
          <a:chExt cx="0" cy="0"/>
        </a:xfrm>
      </p:grpSpPr>
      <p:sp>
        <p:nvSpPr>
          <p:cNvPr id="5" name="สี่เหลี่ยมผืนผ้า: มุมมน 4">
            <a:extLst>
              <a:ext uri="{FF2B5EF4-FFF2-40B4-BE49-F238E27FC236}">
                <a16:creationId xmlns:a16="http://schemas.microsoft.com/office/drawing/2014/main" id="{D6FD7A2B-DF0D-4467-4CBC-CC7629404C1E}"/>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13" name="Picture 2" descr="Analog Devices | Disruptive Technology for Clinical Trials">
            <a:extLst>
              <a:ext uri="{FF2B5EF4-FFF2-40B4-BE49-F238E27FC236}">
                <a16:creationId xmlns:a16="http://schemas.microsoft.com/office/drawing/2014/main" id="{6B34A700-5551-154C-8E4F-58066A9894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5" name="Picture 2" descr="LOGO_ENkku_color – Faculty of Engineering , Khon Kaen University">
            <a:extLst>
              <a:ext uri="{FF2B5EF4-FFF2-40B4-BE49-F238E27FC236}">
                <a16:creationId xmlns:a16="http://schemas.microsoft.com/office/drawing/2014/main" id="{D1353887-EA1E-C3CB-C458-B662FE1C37DB}"/>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ตาราง 7">
            <a:extLst>
              <a:ext uri="{FF2B5EF4-FFF2-40B4-BE49-F238E27FC236}">
                <a16:creationId xmlns:a16="http://schemas.microsoft.com/office/drawing/2014/main" id="{14DB642F-A09D-33FD-BE7A-A25FC8AA72B2}"/>
              </a:ext>
            </a:extLst>
          </p:cNvPr>
          <p:cNvGraphicFramePr>
            <a:graphicFrameLocks noGrp="1"/>
          </p:cNvGraphicFramePr>
          <p:nvPr/>
        </p:nvGraphicFramePr>
        <p:xfrm>
          <a:off x="1028026" y="1415185"/>
          <a:ext cx="10169852" cy="5000084"/>
        </p:xfrm>
        <a:graphic>
          <a:graphicData uri="http://schemas.openxmlformats.org/drawingml/2006/table">
            <a:tbl>
              <a:tblPr/>
              <a:tblGrid>
                <a:gridCol w="6317654">
                  <a:extLst>
                    <a:ext uri="{9D8B030D-6E8A-4147-A177-3AD203B41FA5}">
                      <a16:colId xmlns:a16="http://schemas.microsoft.com/office/drawing/2014/main" val="3066147821"/>
                    </a:ext>
                  </a:extLst>
                </a:gridCol>
                <a:gridCol w="3852198">
                  <a:extLst>
                    <a:ext uri="{9D8B030D-6E8A-4147-A177-3AD203B41FA5}">
                      <a16:colId xmlns:a16="http://schemas.microsoft.com/office/drawing/2014/main" val="3633921066"/>
                    </a:ext>
                  </a:extLst>
                </a:gridCol>
              </a:tblGrid>
              <a:tr h="506684">
                <a:tc>
                  <a:txBody>
                    <a:bodyPr/>
                    <a:lstStyle/>
                    <a:p>
                      <a:pPr algn="ctr" fontAlgn="ctr">
                        <a:buNone/>
                      </a:pPr>
                      <a:r>
                        <a:rPr lang="en-US" sz="1400" b="1" dirty="0">
                          <a:solidFill>
                            <a:schemeClr val="bg1"/>
                          </a:solidFill>
                          <a:latin typeface="Helvetica" panose="020B0604020202020204" pitchFamily="34" charset="0"/>
                          <a:cs typeface="+mn-cs"/>
                        </a:rPr>
                        <a:t>Condition (functional requirement)</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dirty="0">
                          <a:solidFill>
                            <a:schemeClr val="bg1"/>
                          </a:solidFill>
                          <a:latin typeface="Helvetica" panose="020B0604020202020204" pitchFamily="34" charset="0"/>
                          <a:cs typeface="+mn-cs"/>
                        </a:rPr>
                        <a:t>Action (required function)</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786322214"/>
                  </a:ext>
                </a:extLst>
              </a:tr>
              <a:tr h="898680">
                <a:tc>
                  <a:txBody>
                    <a:bodyPr/>
                    <a:lstStyle/>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System must be ready every cycle, not stuck at a previous position</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742950" lvl="1" indent="-285750" algn="l">
                        <a:lnSpc>
                          <a:spcPct val="107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System_Homing()</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54327917"/>
                  </a:ext>
                </a:extLst>
              </a:tr>
              <a:tr h="898680">
                <a:tc>
                  <a:txBody>
                    <a:bodyPr/>
                    <a:lstStyle/>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Must detect that a real part is present, avoid false triggers from noise	</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742950" lvl="1" indent="-285750" algn="l">
                        <a:lnSpc>
                          <a:spcPct val="107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Detect_Part() + debounce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55715072"/>
                  </a:ext>
                </a:extLst>
              </a:tr>
              <a:tr h="898680">
                <a:tc>
                  <a:txBody>
                    <a:bodyPr/>
                    <a:lstStyle/>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Must position the part stably before sending it for measurement</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742950" lvl="1" indent="-285750" algn="l">
                        <a:lnSpc>
                          <a:spcPct val="107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Align_Part()</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4415785"/>
                  </a:ext>
                </a:extLst>
              </a:tr>
              <a:tr h="898680">
                <a:tc>
                  <a:txBody>
                    <a:bodyPr/>
                    <a:lstStyle/>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Must communicate with TM-X reliably to trigger </a:t>
                      </a:r>
                    </a:p>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measurement and wait for the result</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742950" lvl="1" indent="-285750" algn="l">
                        <a:lnSpc>
                          <a:spcPct val="107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Trigger_and_wait_TMX()</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706140493"/>
                  </a:ext>
                </a:extLst>
              </a:tr>
              <a:tr h="898680">
                <a:tc>
                  <a:txBody>
                    <a:bodyPr/>
                    <a:lstStyle/>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Must move the part through the transition point to the sorting point</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742950" marR="0" lvl="1" indent="-2857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Transition_Push()</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98829377"/>
                  </a:ext>
                </a:extLst>
              </a:tr>
            </a:tbl>
          </a:graphicData>
        </a:graphic>
      </p:graphicFrame>
      <p:sp>
        <p:nvSpPr>
          <p:cNvPr id="3" name="สี่เหลี่ยมผืนผ้า 2">
            <a:extLst>
              <a:ext uri="{FF2B5EF4-FFF2-40B4-BE49-F238E27FC236}">
                <a16:creationId xmlns:a16="http://schemas.microsoft.com/office/drawing/2014/main" id="{B6FE94C1-76CD-F90C-00B3-99BB561B7042}"/>
              </a:ext>
            </a:extLst>
          </p:cNvPr>
          <p:cNvSpPr/>
          <p:nvPr/>
        </p:nvSpPr>
        <p:spPr>
          <a:xfrm>
            <a:off x="432244" y="533608"/>
            <a:ext cx="3104586" cy="618321"/>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6" name="สี่เหลี่ยมผืนผ้า 5">
            <a:extLst>
              <a:ext uri="{FF2B5EF4-FFF2-40B4-BE49-F238E27FC236}">
                <a16:creationId xmlns:a16="http://schemas.microsoft.com/office/drawing/2014/main" id="{1E86FCC1-8B9E-9320-CF18-1558F49B31D3}"/>
              </a:ext>
            </a:extLst>
          </p:cNvPr>
          <p:cNvSpPr/>
          <p:nvPr/>
        </p:nvSpPr>
        <p:spPr>
          <a:xfrm>
            <a:off x="432246" y="533608"/>
            <a:ext cx="132080" cy="61832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9" name="กล่องข้อความ 8">
            <a:extLst>
              <a:ext uri="{FF2B5EF4-FFF2-40B4-BE49-F238E27FC236}">
                <a16:creationId xmlns:a16="http://schemas.microsoft.com/office/drawing/2014/main" id="{5A2D84F3-52FF-8637-E461-A459CBAE9AC3}"/>
              </a:ext>
            </a:extLst>
          </p:cNvPr>
          <p:cNvSpPr txBox="1">
            <a:spLocks/>
          </p:cNvSpPr>
          <p:nvPr/>
        </p:nvSpPr>
        <p:spPr>
          <a:xfrm>
            <a:off x="768824" y="611935"/>
            <a:ext cx="2999238" cy="461665"/>
          </a:xfrm>
          <a:prstGeom prst="rect">
            <a:avLst/>
          </a:prstGeom>
          <a:noFill/>
        </p:spPr>
        <p:txBody>
          <a:bodyPr wrap="square" rtlCol="0">
            <a:spAutoFit/>
          </a:bodyPr>
          <a:lstStyle/>
          <a:p>
            <a:r>
              <a:rPr lang="en-US" sz="2400" b="1" dirty="0">
                <a:solidFill>
                  <a:srgbClr val="002060"/>
                </a:solidFill>
                <a:latin typeface="Helvetica" panose="020B0604020202020204" pitchFamily="34" charset="0"/>
                <a:cs typeface="Helvetica" panose="020B0604020202020204" pitchFamily="34" charset="0"/>
              </a:rPr>
              <a:t>Concept Design </a:t>
            </a:r>
            <a:endParaRPr lang="th-TH" sz="2400" b="1" dirty="0">
              <a:solidFill>
                <a:srgbClr val="002060"/>
              </a:solidFill>
              <a:latin typeface="Helvetica" panose="020B0604020202020204" pitchFamily="34" charset="0"/>
              <a:cs typeface="Mitr" panose="00000500000000000000" pitchFamily="2" charset="-34"/>
            </a:endParaRPr>
          </a:p>
        </p:txBody>
      </p:sp>
    </p:spTree>
    <p:extLst>
      <p:ext uri="{BB962C8B-B14F-4D97-AF65-F5344CB8AC3E}">
        <p14:creationId xmlns:p14="http://schemas.microsoft.com/office/powerpoint/2010/main" val="5106206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14E63-3269-832C-84C2-0F6FE7B101EA}"/>
            </a:ext>
          </a:extLst>
        </p:cNvPr>
        <p:cNvGrpSpPr/>
        <p:nvPr/>
      </p:nvGrpSpPr>
      <p:grpSpPr>
        <a:xfrm>
          <a:off x="0" y="0"/>
          <a:ext cx="0" cy="0"/>
          <a:chOff x="0" y="0"/>
          <a:chExt cx="0" cy="0"/>
        </a:xfrm>
      </p:grpSpPr>
      <p:sp>
        <p:nvSpPr>
          <p:cNvPr id="5" name="สี่เหลี่ยมผืนผ้า: มุมมน 4">
            <a:extLst>
              <a:ext uri="{FF2B5EF4-FFF2-40B4-BE49-F238E27FC236}">
                <a16:creationId xmlns:a16="http://schemas.microsoft.com/office/drawing/2014/main" id="{87DB639C-A869-B1AE-DED0-B2259E444D43}"/>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13" name="Picture 2" descr="Analog Devices | Disruptive Technology for Clinical Trials">
            <a:extLst>
              <a:ext uri="{FF2B5EF4-FFF2-40B4-BE49-F238E27FC236}">
                <a16:creationId xmlns:a16="http://schemas.microsoft.com/office/drawing/2014/main" id="{EFED2816-4B02-0169-2300-CB696433B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5" name="Picture 2" descr="LOGO_ENkku_color – Faculty of Engineering , Khon Kaen University">
            <a:extLst>
              <a:ext uri="{FF2B5EF4-FFF2-40B4-BE49-F238E27FC236}">
                <a16:creationId xmlns:a16="http://schemas.microsoft.com/office/drawing/2014/main" id="{081F4A65-0387-4476-1079-C0474392A485}"/>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ตาราง 7">
            <a:extLst>
              <a:ext uri="{FF2B5EF4-FFF2-40B4-BE49-F238E27FC236}">
                <a16:creationId xmlns:a16="http://schemas.microsoft.com/office/drawing/2014/main" id="{F559A8A9-9D3E-F84E-D04B-79F848591734}"/>
              </a:ext>
            </a:extLst>
          </p:cNvPr>
          <p:cNvGraphicFramePr>
            <a:graphicFrameLocks noGrp="1"/>
          </p:cNvGraphicFramePr>
          <p:nvPr/>
        </p:nvGraphicFramePr>
        <p:xfrm>
          <a:off x="1028026" y="1415185"/>
          <a:ext cx="10169852" cy="5000084"/>
        </p:xfrm>
        <a:graphic>
          <a:graphicData uri="http://schemas.openxmlformats.org/drawingml/2006/table">
            <a:tbl>
              <a:tblPr/>
              <a:tblGrid>
                <a:gridCol w="6317654">
                  <a:extLst>
                    <a:ext uri="{9D8B030D-6E8A-4147-A177-3AD203B41FA5}">
                      <a16:colId xmlns:a16="http://schemas.microsoft.com/office/drawing/2014/main" val="3066147821"/>
                    </a:ext>
                  </a:extLst>
                </a:gridCol>
                <a:gridCol w="3852198">
                  <a:extLst>
                    <a:ext uri="{9D8B030D-6E8A-4147-A177-3AD203B41FA5}">
                      <a16:colId xmlns:a16="http://schemas.microsoft.com/office/drawing/2014/main" val="3633921066"/>
                    </a:ext>
                  </a:extLst>
                </a:gridCol>
              </a:tblGrid>
              <a:tr h="506684">
                <a:tc>
                  <a:txBody>
                    <a:bodyPr/>
                    <a:lstStyle/>
                    <a:p>
                      <a:pPr algn="ctr" fontAlgn="ctr">
                        <a:buNone/>
                      </a:pPr>
                      <a:r>
                        <a:rPr lang="en-US" sz="1400" b="1" dirty="0">
                          <a:solidFill>
                            <a:schemeClr val="bg1"/>
                          </a:solidFill>
                          <a:latin typeface="Helvetica" panose="020B0604020202020204" pitchFamily="34" charset="0"/>
                          <a:cs typeface="+mn-cs"/>
                        </a:rPr>
                        <a:t>Condition (functional requirement)</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dirty="0">
                          <a:solidFill>
                            <a:schemeClr val="bg1"/>
                          </a:solidFill>
                          <a:latin typeface="Helvetica" panose="020B0604020202020204" pitchFamily="34" charset="0"/>
                          <a:cs typeface="+mn-cs"/>
                        </a:rPr>
                        <a:t>Action (required function)</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786322214"/>
                  </a:ext>
                </a:extLst>
              </a:tr>
              <a:tr h="898680">
                <a:tc>
                  <a:txBody>
                    <a:bodyPr/>
                    <a:lstStyle/>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Must sort the part according to the Good/NG result from the system</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742950" lvl="1" indent="-285750" algn="l">
                        <a:lnSpc>
                          <a:spcPct val="107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Sort_Execute(result)</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54327917"/>
                  </a:ext>
                </a:extLst>
              </a:tr>
              <a:tr h="898680">
                <a:tc>
                  <a:txBody>
                    <a:bodyPr/>
                    <a:lstStyle/>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Must stop immediately in an emergency</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742950" lvl="1" indent="-285750" algn="l">
                        <a:lnSpc>
                          <a:spcPct val="107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Emergency_Halt()</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55715072"/>
                  </a:ext>
                </a:extLst>
              </a:tr>
              <a:tr h="898680">
                <a:tc>
                  <a:txBody>
                    <a:bodyPr/>
                    <a:lstStyle/>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Must allow calibration of each module's stroke/angle when part size changes</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742950" lvl="1" indent="-285750" algn="l">
                        <a:lnSpc>
                          <a:spcPct val="70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Set_Actuator_Stroke_lim()</a:t>
                      </a:r>
                    </a:p>
                    <a:p>
                      <a:pPr marL="742950" lvl="1" indent="-285750" algn="l">
                        <a:lnSpc>
                          <a:spcPct val="70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Set_Sorter_Offset()</a:t>
                      </a:r>
                    </a:p>
                    <a:p>
                      <a:pPr marL="742950" lvl="1" indent="-285750" algn="l">
                        <a:lnSpc>
                          <a:spcPct val="70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Set_Servo_Transition()</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4415785"/>
                  </a:ext>
                </a:extLst>
              </a:tr>
              <a:tr h="898680">
                <a:tc>
                  <a:txBody>
                    <a:bodyPr/>
                    <a:lstStyle/>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Must have a maintenance/testing mode separate from normal operation</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742950" lvl="1" indent="-285750" algn="l">
                        <a:lnSpc>
                          <a:spcPct val="70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Manual_Jogging_mode() </a:t>
                      </a:r>
                    </a:p>
                    <a:p>
                      <a:pPr marL="742950" lvl="1" indent="-285750" algn="l">
                        <a:lnSpc>
                          <a:spcPct val="70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IO_Diagnostic()</a:t>
                      </a:r>
                    </a:p>
                    <a:p>
                      <a:pPr marL="742950" lvl="1" indent="-285750" algn="l">
                        <a:lnSpc>
                          <a:spcPct val="70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Dry_Run_Cycle_test()</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706140493"/>
                  </a:ext>
                </a:extLst>
              </a:tr>
              <a:tr h="898680">
                <a:tc>
                  <a:txBody>
                    <a:bodyPr/>
                    <a:lstStyle/>
                    <a:p>
                      <a:pPr algn="ctr">
                        <a:lnSpc>
                          <a:spcPct val="107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Must support both single-cycle debug runs and continuous automatic runs</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742950" marR="0" lvl="1" indent="-285750" algn="l" defTabSz="914400" rtl="0" eaLnBrk="1" fontAlgn="auto" latinLnBrk="0" hangingPunct="1">
                        <a:lnSpc>
                          <a:spcPct val="70000"/>
                        </a:lnSpc>
                        <a:spcBef>
                          <a:spcPts val="0"/>
                        </a:spcBef>
                        <a:spcAft>
                          <a:spcPts val="800"/>
                        </a:spcAft>
                        <a:buClrTx/>
                        <a:buSzTx/>
                        <a:buFont typeface="Arial" panose="020B0604020202020204" pitchFamily="34" charset="0"/>
                        <a:buChar char="•"/>
                        <a:tabLst/>
                        <a:defRP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Standalone_run()</a:t>
                      </a:r>
                    </a:p>
                    <a:p>
                      <a:pPr marL="742950" marR="0" lvl="1" indent="-285750" algn="l" defTabSz="914400" rtl="0" eaLnBrk="1" fontAlgn="auto" latinLnBrk="0" hangingPunct="1">
                        <a:lnSpc>
                          <a:spcPct val="70000"/>
                        </a:lnSpc>
                        <a:spcBef>
                          <a:spcPts val="0"/>
                        </a:spcBef>
                        <a:spcAft>
                          <a:spcPts val="800"/>
                        </a:spcAft>
                        <a:buClrTx/>
                        <a:buSzTx/>
                        <a:buFont typeface="Arial" panose="020B0604020202020204" pitchFamily="34" charset="0"/>
                        <a:buChar char="•"/>
                        <a:tabLst/>
                        <a:defRP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Loop_run()</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98829377"/>
                  </a:ext>
                </a:extLst>
              </a:tr>
            </a:tbl>
          </a:graphicData>
        </a:graphic>
      </p:graphicFrame>
      <p:sp>
        <p:nvSpPr>
          <p:cNvPr id="3" name="สี่เหลี่ยมผืนผ้า 2">
            <a:extLst>
              <a:ext uri="{FF2B5EF4-FFF2-40B4-BE49-F238E27FC236}">
                <a16:creationId xmlns:a16="http://schemas.microsoft.com/office/drawing/2014/main" id="{D3297F21-78E7-6EC7-4C2A-37A447242C86}"/>
              </a:ext>
            </a:extLst>
          </p:cNvPr>
          <p:cNvSpPr/>
          <p:nvPr/>
        </p:nvSpPr>
        <p:spPr>
          <a:xfrm>
            <a:off x="432244" y="533608"/>
            <a:ext cx="3104586" cy="618321"/>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6" name="สี่เหลี่ยมผืนผ้า 5">
            <a:extLst>
              <a:ext uri="{FF2B5EF4-FFF2-40B4-BE49-F238E27FC236}">
                <a16:creationId xmlns:a16="http://schemas.microsoft.com/office/drawing/2014/main" id="{FC2FA229-919C-7AF9-1B37-A65025F65C47}"/>
              </a:ext>
            </a:extLst>
          </p:cNvPr>
          <p:cNvSpPr/>
          <p:nvPr/>
        </p:nvSpPr>
        <p:spPr>
          <a:xfrm>
            <a:off x="432246" y="533608"/>
            <a:ext cx="132080" cy="61832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2" name="กล่องข้อความ 11">
            <a:extLst>
              <a:ext uri="{FF2B5EF4-FFF2-40B4-BE49-F238E27FC236}">
                <a16:creationId xmlns:a16="http://schemas.microsoft.com/office/drawing/2014/main" id="{2B523815-DECA-34AA-0E45-9534AC85FA56}"/>
              </a:ext>
            </a:extLst>
          </p:cNvPr>
          <p:cNvSpPr txBox="1">
            <a:spLocks/>
          </p:cNvSpPr>
          <p:nvPr/>
        </p:nvSpPr>
        <p:spPr>
          <a:xfrm>
            <a:off x="768824" y="611935"/>
            <a:ext cx="2999238" cy="461665"/>
          </a:xfrm>
          <a:prstGeom prst="rect">
            <a:avLst/>
          </a:prstGeom>
          <a:noFill/>
        </p:spPr>
        <p:txBody>
          <a:bodyPr wrap="square" rtlCol="0">
            <a:spAutoFit/>
          </a:bodyPr>
          <a:lstStyle/>
          <a:p>
            <a:r>
              <a:rPr lang="en-US" sz="2400" b="1" dirty="0">
                <a:solidFill>
                  <a:srgbClr val="002060"/>
                </a:solidFill>
                <a:latin typeface="Helvetica" panose="020B0604020202020204" pitchFamily="34" charset="0"/>
                <a:cs typeface="Helvetica" panose="020B0604020202020204" pitchFamily="34" charset="0"/>
              </a:rPr>
              <a:t>Concept Design </a:t>
            </a:r>
            <a:endParaRPr lang="th-TH" sz="2400" b="1" dirty="0">
              <a:solidFill>
                <a:srgbClr val="002060"/>
              </a:solidFill>
              <a:latin typeface="Helvetica" panose="020B0604020202020204" pitchFamily="34" charset="0"/>
              <a:cs typeface="Mitr" panose="00000500000000000000" pitchFamily="2" charset="-34"/>
            </a:endParaRPr>
          </a:p>
        </p:txBody>
      </p:sp>
    </p:spTree>
    <p:extLst>
      <p:ext uri="{BB962C8B-B14F-4D97-AF65-F5344CB8AC3E}">
        <p14:creationId xmlns:p14="http://schemas.microsoft.com/office/powerpoint/2010/main" val="42010282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9DCF5-57AA-B696-C779-AD8EDF5BA00F}"/>
            </a:ext>
          </a:extLst>
        </p:cNvPr>
        <p:cNvGrpSpPr/>
        <p:nvPr/>
      </p:nvGrpSpPr>
      <p:grpSpPr>
        <a:xfrm>
          <a:off x="0" y="0"/>
          <a:ext cx="0" cy="0"/>
          <a:chOff x="0" y="0"/>
          <a:chExt cx="0" cy="0"/>
        </a:xfrm>
      </p:grpSpPr>
      <p:sp>
        <p:nvSpPr>
          <p:cNvPr id="5" name="สี่เหลี่ยมผืนผ้า: มุมมน 4">
            <a:extLst>
              <a:ext uri="{FF2B5EF4-FFF2-40B4-BE49-F238E27FC236}">
                <a16:creationId xmlns:a16="http://schemas.microsoft.com/office/drawing/2014/main" id="{BBA734A9-067C-672A-FBB1-937DBBD6ABAD}"/>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13" name="Picture 2" descr="Analog Devices | Disruptive Technology for Clinical Trials">
            <a:extLst>
              <a:ext uri="{FF2B5EF4-FFF2-40B4-BE49-F238E27FC236}">
                <a16:creationId xmlns:a16="http://schemas.microsoft.com/office/drawing/2014/main" id="{600093E7-3A3C-FD52-0884-723E1C7726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5" name="Picture 2" descr="LOGO_ENkku_color – Faculty of Engineering , Khon Kaen University">
            <a:extLst>
              <a:ext uri="{FF2B5EF4-FFF2-40B4-BE49-F238E27FC236}">
                <a16:creationId xmlns:a16="http://schemas.microsoft.com/office/drawing/2014/main" id="{E68D94B1-50E4-C67D-5E03-16A111961ECD}"/>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2" name="ตาราง 21">
            <a:extLst>
              <a:ext uri="{FF2B5EF4-FFF2-40B4-BE49-F238E27FC236}">
                <a16:creationId xmlns:a16="http://schemas.microsoft.com/office/drawing/2014/main" id="{C0EF1CF9-A2B0-4D5C-0A5E-A6A651F36496}"/>
              </a:ext>
            </a:extLst>
          </p:cNvPr>
          <p:cNvGraphicFramePr>
            <a:graphicFrameLocks noGrp="1"/>
          </p:cNvGraphicFramePr>
          <p:nvPr/>
        </p:nvGraphicFramePr>
        <p:xfrm>
          <a:off x="1028026" y="1508760"/>
          <a:ext cx="10169852" cy="4760437"/>
        </p:xfrm>
        <a:graphic>
          <a:graphicData uri="http://schemas.openxmlformats.org/drawingml/2006/table">
            <a:tbl>
              <a:tblPr/>
              <a:tblGrid>
                <a:gridCol w="2888241">
                  <a:extLst>
                    <a:ext uri="{9D8B030D-6E8A-4147-A177-3AD203B41FA5}">
                      <a16:colId xmlns:a16="http://schemas.microsoft.com/office/drawing/2014/main" val="3066147821"/>
                    </a:ext>
                  </a:extLst>
                </a:gridCol>
                <a:gridCol w="3779933">
                  <a:extLst>
                    <a:ext uri="{9D8B030D-6E8A-4147-A177-3AD203B41FA5}">
                      <a16:colId xmlns:a16="http://schemas.microsoft.com/office/drawing/2014/main" val="3633921066"/>
                    </a:ext>
                  </a:extLst>
                </a:gridCol>
                <a:gridCol w="3501678">
                  <a:extLst>
                    <a:ext uri="{9D8B030D-6E8A-4147-A177-3AD203B41FA5}">
                      <a16:colId xmlns:a16="http://schemas.microsoft.com/office/drawing/2014/main" val="1260346786"/>
                    </a:ext>
                  </a:extLst>
                </a:gridCol>
              </a:tblGrid>
              <a:tr h="563880">
                <a:tc>
                  <a:txBody>
                    <a:bodyPr/>
                    <a:lstStyle/>
                    <a:p>
                      <a:pPr algn="ctr" fontAlgn="ctr">
                        <a:buNone/>
                      </a:pPr>
                      <a:r>
                        <a:rPr lang="en-US" sz="1400" b="1" dirty="0">
                          <a:solidFill>
                            <a:schemeClr val="bg1"/>
                          </a:solidFill>
                          <a:latin typeface="Helvetica" panose="020B0604020202020204" pitchFamily="34" charset="0"/>
                          <a:cs typeface="+mn-cs"/>
                        </a:rPr>
                        <a:t>Module</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dirty="0">
                          <a:solidFill>
                            <a:schemeClr val="bg1"/>
                          </a:solidFill>
                          <a:latin typeface="Helvetica" panose="020B0604020202020204" pitchFamily="34" charset="0"/>
                          <a:cs typeface="+mn-cs"/>
                        </a:rPr>
                        <a:t>Component</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dirty="0">
                          <a:solidFill>
                            <a:schemeClr val="bg1"/>
                          </a:solidFill>
                          <a:latin typeface="Helvetica" panose="020B0604020202020204" pitchFamily="34" charset="0"/>
                          <a:cs typeface="+mn-cs"/>
                        </a:rPr>
                        <a:t>Function</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786322214"/>
                  </a:ext>
                </a:extLst>
              </a:tr>
              <a:tr h="1323721">
                <a:tc>
                  <a:txBody>
                    <a:bodyPr/>
                    <a:lstStyle/>
                    <a:p>
                      <a:pPr algn="ctr">
                        <a:lnSpc>
                          <a:spcPct val="70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Alignment Jig Module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742950" lvl="1" indent="-285750" algn="l">
                        <a:lnSpc>
                          <a:spcPct val="70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ST188 infrared sensor</a:t>
                      </a:r>
                    </a:p>
                    <a:p>
                      <a:pPr marL="742950" lvl="1" indent="-285750" algn="l">
                        <a:lnSpc>
                          <a:spcPct val="70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Actuonix L12-30-50-12-I actuator</a:t>
                      </a:r>
                    </a:p>
                    <a:p>
                      <a:pPr marL="742950" lvl="1" indent="-285750" algn="l">
                        <a:lnSpc>
                          <a:spcPct val="70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Stepped V-Block</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Detects the workpiece, then clamps and centers it against the V-Block using position-feedback-controlled pressure to prevent damage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32952113"/>
                  </a:ext>
                </a:extLst>
              </a:tr>
              <a:tr h="957612">
                <a:tc>
                  <a:txBody>
                    <a:bodyPr/>
                    <a:lstStyle/>
                    <a:p>
                      <a:pPr algn="ctr">
                        <a:lnSpc>
                          <a:spcPct val="70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Transition Module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742950" lvl="1" indent="-285750" algn="l">
                        <a:lnSpc>
                          <a:spcPct val="70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MG996R servo with 27T gear</a:t>
                      </a:r>
                    </a:p>
                    <a:p>
                      <a:pPr marL="742950" lvl="1" indent="-285750" algn="l">
                        <a:lnSpc>
                          <a:spcPct val="70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Gear pusher</a:t>
                      </a:r>
                    </a:p>
                    <a:p>
                      <a:pPr marL="742950" lvl="1" indent="-285750" algn="l">
                        <a:lnSpc>
                          <a:spcPct val="70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Limit switch</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Pushes the workpiece 30 mm from the alignment point toward the sorter, with a limit switch stopping travel precisely</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54327917"/>
                  </a:ext>
                </a:extLst>
              </a:tr>
              <a:tr h="957612">
                <a:tc>
                  <a:txBody>
                    <a:bodyPr/>
                    <a:lstStyle/>
                    <a:p>
                      <a:pPr algn="ctr">
                        <a:lnSpc>
                          <a:spcPct val="70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Sorter Module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742950" lvl="1" indent="-285750" algn="l">
                        <a:lnSpc>
                          <a:spcPct val="70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Stepper motor (Nema8 + DRV8825)</a:t>
                      </a:r>
                    </a:p>
                    <a:p>
                      <a:pPr marL="742950" lvl="1" indent="-285750" algn="l">
                        <a:lnSpc>
                          <a:spcPct val="70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25T gear</a:t>
                      </a:r>
                    </a:p>
                    <a:p>
                      <a:pPr marL="742950" lvl="1" indent="-285750" algn="l">
                        <a:lnSpc>
                          <a:spcPct val="70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45° tilted tray</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Moves the tray to the correct position so the part flows by gravity into a clearly separated Accept or Reject zone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13315432"/>
                  </a:ext>
                </a:extLst>
              </a:tr>
              <a:tr h="957612">
                <a:tc>
                  <a:txBody>
                    <a:bodyPr/>
                    <a:lstStyle/>
                    <a:p>
                      <a:pPr algn="ctr">
                        <a:lnSpc>
                          <a:spcPct val="70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Control &amp; Feedback Module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742950" lvl="1" indent="-285750" algn="l">
                        <a:lnSpc>
                          <a:spcPct val="70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Arduino Mega 2560</a:t>
                      </a:r>
                    </a:p>
                    <a:p>
                      <a:pPr marL="742950" lvl="1" indent="-285750" algn="l">
                        <a:lnSpc>
                          <a:spcPct val="70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OLED/LED indicators</a:t>
                      </a:r>
                    </a:p>
                    <a:p>
                      <a:pPr marL="742950" lvl="1" indent="-285750" algn="l">
                        <a:lnSpc>
                          <a:spcPct val="70000"/>
                        </a:lnSpc>
                        <a:spcAft>
                          <a:spcPts val="800"/>
                        </a:spcAft>
                        <a:buFont typeface="Arial" panose="020B0604020202020204" pitchFamily="34" charset="0"/>
                        <a:buChar cha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Physical button</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800"/>
                        </a:spcAft>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Central controller — reads all sensors, drives all actuators/motors, displays real-time status, and handles emergency stop</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4415785"/>
                  </a:ext>
                </a:extLst>
              </a:tr>
            </a:tbl>
          </a:graphicData>
        </a:graphic>
      </p:graphicFrame>
      <p:sp>
        <p:nvSpPr>
          <p:cNvPr id="3" name="สี่เหลี่ยมผืนผ้า 2">
            <a:extLst>
              <a:ext uri="{FF2B5EF4-FFF2-40B4-BE49-F238E27FC236}">
                <a16:creationId xmlns:a16="http://schemas.microsoft.com/office/drawing/2014/main" id="{2793BA28-77E8-0401-4C93-11A5CE5DF593}"/>
              </a:ext>
            </a:extLst>
          </p:cNvPr>
          <p:cNvSpPr/>
          <p:nvPr/>
        </p:nvSpPr>
        <p:spPr>
          <a:xfrm>
            <a:off x="432245" y="533608"/>
            <a:ext cx="2058316" cy="618321"/>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6" name="สี่เหลี่ยมผืนผ้า 5">
            <a:extLst>
              <a:ext uri="{FF2B5EF4-FFF2-40B4-BE49-F238E27FC236}">
                <a16:creationId xmlns:a16="http://schemas.microsoft.com/office/drawing/2014/main" id="{C035DA2B-B54A-F794-9124-906B9AF499C4}"/>
              </a:ext>
            </a:extLst>
          </p:cNvPr>
          <p:cNvSpPr/>
          <p:nvPr/>
        </p:nvSpPr>
        <p:spPr>
          <a:xfrm>
            <a:off x="432246" y="533608"/>
            <a:ext cx="132080" cy="61832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0" name="กล่องข้อความ 9">
            <a:extLst>
              <a:ext uri="{FF2B5EF4-FFF2-40B4-BE49-F238E27FC236}">
                <a16:creationId xmlns:a16="http://schemas.microsoft.com/office/drawing/2014/main" id="{B63FFF6D-13BF-1F7F-CDD3-BC6FBC2632E3}"/>
              </a:ext>
            </a:extLst>
          </p:cNvPr>
          <p:cNvSpPr txBox="1">
            <a:spLocks/>
          </p:cNvSpPr>
          <p:nvPr/>
        </p:nvSpPr>
        <p:spPr>
          <a:xfrm>
            <a:off x="719093" y="611935"/>
            <a:ext cx="2058316" cy="461665"/>
          </a:xfrm>
          <a:prstGeom prst="rect">
            <a:avLst/>
          </a:prstGeom>
          <a:noFill/>
        </p:spPr>
        <p:txBody>
          <a:bodyPr wrap="square" rtlCol="0">
            <a:spAutoFit/>
          </a:bodyPr>
          <a:lstStyle/>
          <a:p>
            <a:r>
              <a:rPr lang="en-US" sz="2400" b="1" dirty="0">
                <a:solidFill>
                  <a:srgbClr val="002060"/>
                </a:solidFill>
                <a:latin typeface="Helvetica" panose="020B0604020202020204" pitchFamily="34" charset="0"/>
                <a:cs typeface="Helvetica" panose="020B0604020202020204" pitchFamily="34" charset="0"/>
              </a:rPr>
              <a:t>Function</a:t>
            </a:r>
            <a:endParaRPr lang="th-TH" sz="2400" b="1" dirty="0">
              <a:solidFill>
                <a:srgbClr val="002060"/>
              </a:solidFill>
              <a:latin typeface="Helvetica" panose="020B0604020202020204" pitchFamily="34" charset="0"/>
              <a:cs typeface="Mitr" panose="00000500000000000000" pitchFamily="2" charset="-34"/>
            </a:endParaRPr>
          </a:p>
        </p:txBody>
      </p:sp>
    </p:spTree>
    <p:extLst>
      <p:ext uri="{BB962C8B-B14F-4D97-AF65-F5344CB8AC3E}">
        <p14:creationId xmlns:p14="http://schemas.microsoft.com/office/powerpoint/2010/main" val="41165007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8ACD0-B6E0-1C62-26E1-BB8ED30BB500}"/>
            </a:ext>
          </a:extLst>
        </p:cNvPr>
        <p:cNvGrpSpPr/>
        <p:nvPr/>
      </p:nvGrpSpPr>
      <p:grpSpPr>
        <a:xfrm>
          <a:off x="0" y="0"/>
          <a:ext cx="0" cy="0"/>
          <a:chOff x="0" y="0"/>
          <a:chExt cx="0" cy="0"/>
        </a:xfrm>
      </p:grpSpPr>
      <p:sp>
        <p:nvSpPr>
          <p:cNvPr id="5" name="สี่เหลี่ยมผืนผ้า: มุมมน 4">
            <a:extLst>
              <a:ext uri="{FF2B5EF4-FFF2-40B4-BE49-F238E27FC236}">
                <a16:creationId xmlns:a16="http://schemas.microsoft.com/office/drawing/2014/main" id="{EE8C8D97-87BA-EA26-A5CB-085C07ADA849}"/>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13" name="Picture 2" descr="Analog Devices | Disruptive Technology for Clinical Trials">
            <a:extLst>
              <a:ext uri="{FF2B5EF4-FFF2-40B4-BE49-F238E27FC236}">
                <a16:creationId xmlns:a16="http://schemas.microsoft.com/office/drawing/2014/main" id="{542199B5-FAE7-FCD7-E5C3-D8A6A57DFE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5" name="Picture 2" descr="LOGO_ENkku_color – Faculty of Engineering , Khon Kaen University">
            <a:extLst>
              <a:ext uri="{FF2B5EF4-FFF2-40B4-BE49-F238E27FC236}">
                <a16:creationId xmlns:a16="http://schemas.microsoft.com/office/drawing/2014/main" id="{5B42D872-76DD-CF3F-4121-A90EBFA8625A}"/>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ตาราง 7">
            <a:extLst>
              <a:ext uri="{FF2B5EF4-FFF2-40B4-BE49-F238E27FC236}">
                <a16:creationId xmlns:a16="http://schemas.microsoft.com/office/drawing/2014/main" id="{9063EEA2-2F19-3DD6-B3C4-24D911E9E1F1}"/>
              </a:ext>
            </a:extLst>
          </p:cNvPr>
          <p:cNvGraphicFramePr>
            <a:graphicFrameLocks noGrp="1"/>
          </p:cNvGraphicFramePr>
          <p:nvPr/>
        </p:nvGraphicFramePr>
        <p:xfrm>
          <a:off x="1028026" y="1415185"/>
          <a:ext cx="10169852" cy="5000084"/>
        </p:xfrm>
        <a:graphic>
          <a:graphicData uri="http://schemas.openxmlformats.org/drawingml/2006/table">
            <a:tbl>
              <a:tblPr/>
              <a:tblGrid>
                <a:gridCol w="3058733">
                  <a:extLst>
                    <a:ext uri="{9D8B030D-6E8A-4147-A177-3AD203B41FA5}">
                      <a16:colId xmlns:a16="http://schemas.microsoft.com/office/drawing/2014/main" val="444453741"/>
                    </a:ext>
                  </a:extLst>
                </a:gridCol>
                <a:gridCol w="3058733">
                  <a:extLst>
                    <a:ext uri="{9D8B030D-6E8A-4147-A177-3AD203B41FA5}">
                      <a16:colId xmlns:a16="http://schemas.microsoft.com/office/drawing/2014/main" val="3066147821"/>
                    </a:ext>
                  </a:extLst>
                </a:gridCol>
                <a:gridCol w="4052386">
                  <a:extLst>
                    <a:ext uri="{9D8B030D-6E8A-4147-A177-3AD203B41FA5}">
                      <a16:colId xmlns:a16="http://schemas.microsoft.com/office/drawing/2014/main" val="3633921066"/>
                    </a:ext>
                  </a:extLst>
                </a:gridCol>
              </a:tblGrid>
              <a:tr h="50668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dirty="0">
                          <a:solidFill>
                            <a:schemeClr val="bg1"/>
                          </a:solidFill>
                          <a:latin typeface="Helvetica" panose="020B0604020202020204" pitchFamily="34" charset="0"/>
                          <a:cs typeface="+mn-cs"/>
                        </a:rPr>
                        <a:t>Category Usage</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dirty="0">
                          <a:solidFill>
                            <a:schemeClr val="bg1"/>
                          </a:solidFill>
                          <a:latin typeface="Helvetica" panose="020B0604020202020204" pitchFamily="34" charset="0"/>
                          <a:cs typeface="+mn-cs"/>
                        </a:rPr>
                        <a:t>Function Definition</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dirty="0">
                          <a:solidFill>
                            <a:schemeClr val="bg1"/>
                          </a:solidFill>
                          <a:latin typeface="Helvetica" panose="020B0604020202020204" pitchFamily="34" charset="0"/>
                          <a:cs typeface="+mn-cs"/>
                        </a:rPr>
                        <a:t>Description</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786322214"/>
                  </a:ext>
                </a:extLst>
              </a:tr>
              <a:tr h="898680">
                <a:tc rowSpan="5">
                  <a:txBody>
                    <a:bodyPr/>
                    <a:lstStyle/>
                    <a:p>
                      <a:pPr marL="0" lvl="0" indent="0" algn="ctr">
                        <a:lnSpc>
                          <a:spcPct val="107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Operation</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lvl="0" indent="0" algn="ctr">
                        <a:lnSpc>
                          <a:spcPct val="107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System_Homing()</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lvl="1" indent="0" algn="l">
                        <a:lnSpc>
                          <a:spcPct val="107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Initialize Hardware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54327917"/>
                  </a:ext>
                </a:extLst>
              </a:tr>
              <a:tr h="898680">
                <a:tc vMerge="1">
                  <a:txBody>
                    <a:bodyPr/>
                    <a:lstStyle/>
                    <a:p>
                      <a:pPr marL="457200" lvl="1" indent="0" algn="ctr">
                        <a:lnSpc>
                          <a:spcPct val="107000"/>
                        </a:lnSpc>
                        <a:spcAft>
                          <a:spcPts val="800"/>
                        </a:spcAft>
                        <a:buFont typeface="Arial" panose="020B0604020202020204" pitchFamily="34" charset="0"/>
                        <a:buNone/>
                      </a:pPr>
                      <a:endPar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lvl="0" indent="0" algn="ctr">
                        <a:lnSpc>
                          <a:spcPct val="107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Detect_Part()</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lvl="1" indent="0" algn="l">
                        <a:lnSpc>
                          <a:spcPct val="107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Read Digital/Analog from ST188</a:t>
                      </a:r>
                    </a:p>
                    <a:p>
                      <a:pPr marL="457200" lvl="1" indent="0" algn="l">
                        <a:lnSpc>
                          <a:spcPct val="107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add debounce for confirm part</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55715072"/>
                  </a:ext>
                </a:extLst>
              </a:tr>
              <a:tr h="898680">
                <a:tc vMerge="1">
                  <a:txBody>
                    <a:bodyPr/>
                    <a:lstStyle/>
                    <a:p>
                      <a:pPr marL="457200" lvl="1" indent="0" algn="ctr">
                        <a:lnSpc>
                          <a:spcPct val="107000"/>
                        </a:lnSpc>
                        <a:spcAft>
                          <a:spcPts val="800"/>
                        </a:spcAft>
                        <a:buFont typeface="Arial" panose="020B0604020202020204" pitchFamily="34" charset="0"/>
                        <a:buNone/>
                      </a:pPr>
                      <a:endPar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lvl="0" indent="0" algn="ctr">
                        <a:lnSpc>
                          <a:spcPct val="107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Align_Part()</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lvl="1" indent="0" algn="l">
                        <a:lnSpc>
                          <a:spcPct val="70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Actuator using Analog/PWM signal</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4415785"/>
                  </a:ext>
                </a:extLst>
              </a:tr>
              <a:tr h="898680">
                <a:tc vMerge="1">
                  <a:txBody>
                    <a:bodyPr/>
                    <a:lstStyle/>
                    <a:p>
                      <a:pPr marL="457200" lvl="1" indent="0" algn="ctr">
                        <a:lnSpc>
                          <a:spcPct val="107000"/>
                        </a:lnSpc>
                        <a:spcAft>
                          <a:spcPts val="800"/>
                        </a:spcAft>
                        <a:buFont typeface="Arial" panose="020B0604020202020204" pitchFamily="34" charset="0"/>
                        <a:buNone/>
                      </a:pPr>
                      <a:endPar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lvl="0" indent="0" algn="ctr">
                        <a:lnSpc>
                          <a:spcPct val="107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Trigger_and_wait_TMX()</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lvl="1" indent="0" algn="l">
                        <a:lnSpc>
                          <a:spcPct val="70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Send command for trigger TM-X</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706140493"/>
                  </a:ext>
                </a:extLst>
              </a:tr>
              <a:tr h="898680">
                <a:tc vMerge="1">
                  <a:txBody>
                    <a:bodyPr/>
                    <a:lstStyle/>
                    <a:p>
                      <a:pPr marL="457200" marR="0" lvl="1" indent="0" algn="ctr"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Transition_Push()</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marR="0" lvl="1" indent="0" algn="l" defTabSz="914400" rtl="0" eaLnBrk="1" fontAlgn="auto" latinLnBrk="0" hangingPunct="1">
                        <a:lnSpc>
                          <a:spcPct val="70000"/>
                        </a:lnSpc>
                        <a:spcBef>
                          <a:spcPts val="0"/>
                        </a:spcBef>
                        <a:spcAft>
                          <a:spcPts val="800"/>
                        </a:spcAft>
                        <a:buClrTx/>
                        <a:buSzTx/>
                        <a:buFont typeface="Arial" panose="020B0604020202020204" pitchFamily="34" charset="0"/>
                        <a:buNone/>
                        <a:tabLst/>
                        <a:defRP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Control servo for push workpiece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98829377"/>
                  </a:ext>
                </a:extLst>
              </a:tr>
            </a:tbl>
          </a:graphicData>
        </a:graphic>
      </p:graphicFrame>
      <p:sp>
        <p:nvSpPr>
          <p:cNvPr id="3" name="สี่เหลี่ยมผืนผ้า 2">
            <a:extLst>
              <a:ext uri="{FF2B5EF4-FFF2-40B4-BE49-F238E27FC236}">
                <a16:creationId xmlns:a16="http://schemas.microsoft.com/office/drawing/2014/main" id="{F6B00FAB-9034-AD2F-9A1A-8D8D9AC38E55}"/>
              </a:ext>
            </a:extLst>
          </p:cNvPr>
          <p:cNvSpPr/>
          <p:nvPr/>
        </p:nvSpPr>
        <p:spPr>
          <a:xfrm>
            <a:off x="432245" y="533608"/>
            <a:ext cx="2058316" cy="618321"/>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6" name="สี่เหลี่ยมผืนผ้า 5">
            <a:extLst>
              <a:ext uri="{FF2B5EF4-FFF2-40B4-BE49-F238E27FC236}">
                <a16:creationId xmlns:a16="http://schemas.microsoft.com/office/drawing/2014/main" id="{43575F68-3018-E2B8-6D10-966357974A07}"/>
              </a:ext>
            </a:extLst>
          </p:cNvPr>
          <p:cNvSpPr/>
          <p:nvPr/>
        </p:nvSpPr>
        <p:spPr>
          <a:xfrm>
            <a:off x="432246" y="533608"/>
            <a:ext cx="132080" cy="61832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9" name="กล่องข้อความ 8">
            <a:extLst>
              <a:ext uri="{FF2B5EF4-FFF2-40B4-BE49-F238E27FC236}">
                <a16:creationId xmlns:a16="http://schemas.microsoft.com/office/drawing/2014/main" id="{5BFFAC63-5483-3544-7B56-AC97229C610B}"/>
              </a:ext>
            </a:extLst>
          </p:cNvPr>
          <p:cNvSpPr txBox="1">
            <a:spLocks/>
          </p:cNvSpPr>
          <p:nvPr/>
        </p:nvSpPr>
        <p:spPr>
          <a:xfrm>
            <a:off x="719093" y="611935"/>
            <a:ext cx="2058316" cy="461665"/>
          </a:xfrm>
          <a:prstGeom prst="rect">
            <a:avLst/>
          </a:prstGeom>
          <a:noFill/>
        </p:spPr>
        <p:txBody>
          <a:bodyPr wrap="square" rtlCol="0">
            <a:spAutoFit/>
          </a:bodyPr>
          <a:lstStyle/>
          <a:p>
            <a:r>
              <a:rPr lang="en-US" sz="2400" b="1" dirty="0">
                <a:solidFill>
                  <a:srgbClr val="002060"/>
                </a:solidFill>
                <a:latin typeface="Helvetica" panose="020B0604020202020204" pitchFamily="34" charset="0"/>
                <a:cs typeface="Helvetica" panose="020B0604020202020204" pitchFamily="34" charset="0"/>
              </a:rPr>
              <a:t>Function</a:t>
            </a:r>
            <a:endParaRPr lang="th-TH" sz="2400" b="1" dirty="0">
              <a:solidFill>
                <a:srgbClr val="002060"/>
              </a:solidFill>
              <a:latin typeface="Helvetica" panose="020B0604020202020204" pitchFamily="34" charset="0"/>
              <a:cs typeface="Mitr" panose="00000500000000000000" pitchFamily="2" charset="-34"/>
            </a:endParaRPr>
          </a:p>
        </p:txBody>
      </p:sp>
    </p:spTree>
    <p:extLst>
      <p:ext uri="{BB962C8B-B14F-4D97-AF65-F5344CB8AC3E}">
        <p14:creationId xmlns:p14="http://schemas.microsoft.com/office/powerpoint/2010/main" val="18049489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BB159-96F7-6D8D-C367-F1374FE9F1F1}"/>
            </a:ext>
          </a:extLst>
        </p:cNvPr>
        <p:cNvGrpSpPr/>
        <p:nvPr/>
      </p:nvGrpSpPr>
      <p:grpSpPr>
        <a:xfrm>
          <a:off x="0" y="0"/>
          <a:ext cx="0" cy="0"/>
          <a:chOff x="0" y="0"/>
          <a:chExt cx="0" cy="0"/>
        </a:xfrm>
      </p:grpSpPr>
      <p:sp>
        <p:nvSpPr>
          <p:cNvPr id="5" name="สี่เหลี่ยมผืนผ้า: มุมมน 4">
            <a:extLst>
              <a:ext uri="{FF2B5EF4-FFF2-40B4-BE49-F238E27FC236}">
                <a16:creationId xmlns:a16="http://schemas.microsoft.com/office/drawing/2014/main" id="{C1B80F72-B6A9-FC14-0F6B-CAE50073E974}"/>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13" name="Picture 2" descr="Analog Devices | Disruptive Technology for Clinical Trials">
            <a:extLst>
              <a:ext uri="{FF2B5EF4-FFF2-40B4-BE49-F238E27FC236}">
                <a16:creationId xmlns:a16="http://schemas.microsoft.com/office/drawing/2014/main" id="{B405FAE8-F535-A145-8A90-F45804CF58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5" name="Picture 2" descr="LOGO_ENkku_color – Faculty of Engineering , Khon Kaen University">
            <a:extLst>
              <a:ext uri="{FF2B5EF4-FFF2-40B4-BE49-F238E27FC236}">
                <a16:creationId xmlns:a16="http://schemas.microsoft.com/office/drawing/2014/main" id="{977A3874-5493-EEC3-79FC-FAA7B9EED51A}"/>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ตาราง 7">
            <a:extLst>
              <a:ext uri="{FF2B5EF4-FFF2-40B4-BE49-F238E27FC236}">
                <a16:creationId xmlns:a16="http://schemas.microsoft.com/office/drawing/2014/main" id="{30BF3D03-7760-2384-5767-57A1BEF624C4}"/>
              </a:ext>
            </a:extLst>
          </p:cNvPr>
          <p:cNvGraphicFramePr>
            <a:graphicFrameLocks noGrp="1"/>
          </p:cNvGraphicFramePr>
          <p:nvPr/>
        </p:nvGraphicFramePr>
        <p:xfrm>
          <a:off x="1028026" y="1415185"/>
          <a:ext cx="10169852" cy="5000084"/>
        </p:xfrm>
        <a:graphic>
          <a:graphicData uri="http://schemas.openxmlformats.org/drawingml/2006/table">
            <a:tbl>
              <a:tblPr/>
              <a:tblGrid>
                <a:gridCol w="3058733">
                  <a:extLst>
                    <a:ext uri="{9D8B030D-6E8A-4147-A177-3AD203B41FA5}">
                      <a16:colId xmlns:a16="http://schemas.microsoft.com/office/drawing/2014/main" val="497983200"/>
                    </a:ext>
                  </a:extLst>
                </a:gridCol>
                <a:gridCol w="3058733">
                  <a:extLst>
                    <a:ext uri="{9D8B030D-6E8A-4147-A177-3AD203B41FA5}">
                      <a16:colId xmlns:a16="http://schemas.microsoft.com/office/drawing/2014/main" val="3066147821"/>
                    </a:ext>
                  </a:extLst>
                </a:gridCol>
                <a:gridCol w="4052386">
                  <a:extLst>
                    <a:ext uri="{9D8B030D-6E8A-4147-A177-3AD203B41FA5}">
                      <a16:colId xmlns:a16="http://schemas.microsoft.com/office/drawing/2014/main" val="3633921066"/>
                    </a:ext>
                  </a:extLst>
                </a:gridCol>
              </a:tblGrid>
              <a:tr h="506684">
                <a:tc>
                  <a:txBody>
                    <a:bodyPr/>
                    <a:lstStyle/>
                    <a:p>
                      <a:pPr algn="ctr" fontAlgn="ctr">
                        <a:buNone/>
                      </a:pPr>
                      <a:r>
                        <a:rPr lang="en-US" sz="1400" b="1" dirty="0">
                          <a:solidFill>
                            <a:schemeClr val="bg1"/>
                          </a:solidFill>
                          <a:latin typeface="Helvetica" panose="020B0604020202020204" pitchFamily="34" charset="0"/>
                          <a:cs typeface="+mn-cs"/>
                        </a:rPr>
                        <a:t>Category Usage</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dirty="0">
                          <a:solidFill>
                            <a:schemeClr val="bg1"/>
                          </a:solidFill>
                          <a:latin typeface="Helvetica" panose="020B0604020202020204" pitchFamily="34" charset="0"/>
                          <a:cs typeface="+mn-cs"/>
                        </a:rPr>
                        <a:t>Function Definition</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dirty="0">
                          <a:solidFill>
                            <a:schemeClr val="bg1"/>
                          </a:solidFill>
                          <a:latin typeface="Helvetica" panose="020B0604020202020204" pitchFamily="34" charset="0"/>
                          <a:cs typeface="+mn-cs"/>
                        </a:rPr>
                        <a:t>Description</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786322214"/>
                  </a:ext>
                </a:extLst>
              </a:tr>
              <a:tr h="898680">
                <a:tc rowSpan="2">
                  <a:txBody>
                    <a:bodyPr/>
                    <a:lstStyle/>
                    <a:p>
                      <a:pPr marL="0" lvl="0" indent="0" algn="ctr">
                        <a:lnSpc>
                          <a:spcPct val="107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Operation</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lvl="0" indent="0" algn="ctr">
                        <a:lnSpc>
                          <a:spcPct val="107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Sort_Execute(result)</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lvl="1" indent="0" algn="l">
                        <a:lnSpc>
                          <a:spcPct val="100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Get Result from condition (raspberry pi) </a:t>
                      </a:r>
                    </a:p>
                    <a:p>
                      <a:pPr marL="457200" lvl="1" indent="0" algn="l">
                        <a:lnSpc>
                          <a:spcPct val="100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and move sorter</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54327917"/>
                  </a:ext>
                </a:extLst>
              </a:tr>
              <a:tr h="898680">
                <a:tc vMerge="1">
                  <a:txBody>
                    <a:bodyPr/>
                    <a:lstStyle/>
                    <a:p>
                      <a:pPr marL="457200" lvl="1" indent="0" algn="ctr">
                        <a:lnSpc>
                          <a:spcPct val="107000"/>
                        </a:lnSpc>
                        <a:spcAft>
                          <a:spcPts val="800"/>
                        </a:spcAft>
                        <a:buFont typeface="Arial" panose="020B0604020202020204" pitchFamily="34" charset="0"/>
                        <a:buNone/>
                      </a:pPr>
                      <a:endPar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lvl="0" indent="0" algn="ctr">
                        <a:lnSpc>
                          <a:spcPct val="107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Emergency_Halt()</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lvl="1" indent="0" algn="l">
                        <a:lnSpc>
                          <a:spcPct val="107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Emergency interrupt when press emergency button</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55715072"/>
                  </a:ext>
                </a:extLst>
              </a:tr>
              <a:tr h="898680">
                <a:tc rowSpan="3">
                  <a:txBody>
                    <a:bodyPr/>
                    <a:lstStyle/>
                    <a:p>
                      <a:pPr marL="0" lvl="0" indent="0" algn="ctr">
                        <a:lnSpc>
                          <a:spcPct val="70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Calibration</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lvl="0" indent="0" algn="ctr">
                        <a:lnSpc>
                          <a:spcPct val="70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Set_Actuator_Stroke_lim()</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lvl="1" indent="0" algn="l">
                        <a:lnSpc>
                          <a:spcPct val="70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Tuning Actuator Stroke in and out </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4415785"/>
                  </a:ext>
                </a:extLst>
              </a:tr>
              <a:tr h="898680">
                <a:tc vMerge="1">
                  <a:txBody>
                    <a:bodyPr/>
                    <a:lstStyle/>
                    <a:p>
                      <a:pPr marL="457200" lvl="1" indent="0" algn="ctr">
                        <a:lnSpc>
                          <a:spcPct val="70000"/>
                        </a:lnSpc>
                        <a:spcAft>
                          <a:spcPts val="800"/>
                        </a:spcAft>
                        <a:buFont typeface="Arial" panose="020B0604020202020204" pitchFamily="34" charset="0"/>
                        <a:buNone/>
                      </a:pPr>
                      <a:endPar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lvl="0" indent="0" algn="ctr">
                        <a:lnSpc>
                          <a:spcPct val="70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Set_Sorter_Offset()</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lvl="1" indent="0" algn="l">
                        <a:lnSpc>
                          <a:spcPct val="70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Set offset stepper motor sorter module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706140493"/>
                  </a:ext>
                </a:extLst>
              </a:tr>
              <a:tr h="898680">
                <a:tc vMerge="1">
                  <a:txBody>
                    <a:bodyPr/>
                    <a:lstStyle/>
                    <a:p>
                      <a:pPr marL="457200" marR="0" lvl="1" indent="0" algn="ctr" defTabSz="914400" rtl="0" eaLnBrk="1" fontAlgn="auto" latinLnBrk="0" hangingPunct="1">
                        <a:lnSpc>
                          <a:spcPct val="70000"/>
                        </a:lnSpc>
                        <a:spcBef>
                          <a:spcPts val="0"/>
                        </a:spcBef>
                        <a:spcAft>
                          <a:spcPts val="800"/>
                        </a:spcAft>
                        <a:buClrTx/>
                        <a:buSzTx/>
                        <a:buFont typeface="Arial" panose="020B0604020202020204" pitchFamily="34" charset="0"/>
                        <a:buNone/>
                        <a:tabLst/>
                        <a:defRPr/>
                      </a:pPr>
                      <a:endPar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70000"/>
                        </a:lnSpc>
                        <a:spcBef>
                          <a:spcPts val="0"/>
                        </a:spcBef>
                        <a:spcAft>
                          <a:spcPts val="800"/>
                        </a:spcAft>
                        <a:buClrTx/>
                        <a:buSzTx/>
                        <a:buFont typeface="Arial" panose="020B0604020202020204" pitchFamily="34" charset="0"/>
                        <a:buNone/>
                        <a:tabLst/>
                        <a:defRP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Set_Servo_Transition()</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marR="0" lvl="1" indent="0" algn="l" defTabSz="914400" rtl="0" eaLnBrk="1" fontAlgn="auto" latinLnBrk="0" hangingPunct="1">
                        <a:lnSpc>
                          <a:spcPct val="70000"/>
                        </a:lnSpc>
                        <a:spcBef>
                          <a:spcPts val="0"/>
                        </a:spcBef>
                        <a:spcAft>
                          <a:spcPts val="800"/>
                        </a:spcAft>
                        <a:buClrTx/>
                        <a:buSzTx/>
                        <a:buFont typeface="Arial" panose="020B0604020202020204" pitchFamily="34" charset="0"/>
                        <a:buNone/>
                        <a:tabLst/>
                        <a:defRP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Set limit servo of transition module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98829377"/>
                  </a:ext>
                </a:extLst>
              </a:tr>
            </a:tbl>
          </a:graphicData>
        </a:graphic>
      </p:graphicFrame>
      <p:sp>
        <p:nvSpPr>
          <p:cNvPr id="3" name="สี่เหลี่ยมผืนผ้า 2">
            <a:extLst>
              <a:ext uri="{FF2B5EF4-FFF2-40B4-BE49-F238E27FC236}">
                <a16:creationId xmlns:a16="http://schemas.microsoft.com/office/drawing/2014/main" id="{26992750-99D9-2889-9C5A-91EBCA4A837F}"/>
              </a:ext>
            </a:extLst>
          </p:cNvPr>
          <p:cNvSpPr/>
          <p:nvPr/>
        </p:nvSpPr>
        <p:spPr>
          <a:xfrm>
            <a:off x="432245" y="533608"/>
            <a:ext cx="2058316" cy="618321"/>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6" name="สี่เหลี่ยมผืนผ้า 5">
            <a:extLst>
              <a:ext uri="{FF2B5EF4-FFF2-40B4-BE49-F238E27FC236}">
                <a16:creationId xmlns:a16="http://schemas.microsoft.com/office/drawing/2014/main" id="{BCC6AD47-261C-5359-12BE-28D0FD9F9455}"/>
              </a:ext>
            </a:extLst>
          </p:cNvPr>
          <p:cNvSpPr/>
          <p:nvPr/>
        </p:nvSpPr>
        <p:spPr>
          <a:xfrm>
            <a:off x="432246" y="533608"/>
            <a:ext cx="132080" cy="61832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9" name="กล่องข้อความ 8">
            <a:extLst>
              <a:ext uri="{FF2B5EF4-FFF2-40B4-BE49-F238E27FC236}">
                <a16:creationId xmlns:a16="http://schemas.microsoft.com/office/drawing/2014/main" id="{10233DDD-F62E-A5A8-6C09-7B1B28B9EF67}"/>
              </a:ext>
            </a:extLst>
          </p:cNvPr>
          <p:cNvSpPr txBox="1">
            <a:spLocks/>
          </p:cNvSpPr>
          <p:nvPr/>
        </p:nvSpPr>
        <p:spPr>
          <a:xfrm>
            <a:off x="719093" y="611935"/>
            <a:ext cx="2058316" cy="461665"/>
          </a:xfrm>
          <a:prstGeom prst="rect">
            <a:avLst/>
          </a:prstGeom>
          <a:noFill/>
        </p:spPr>
        <p:txBody>
          <a:bodyPr wrap="square" rtlCol="0">
            <a:spAutoFit/>
          </a:bodyPr>
          <a:lstStyle/>
          <a:p>
            <a:r>
              <a:rPr lang="en-US" sz="2400" b="1" dirty="0">
                <a:solidFill>
                  <a:srgbClr val="002060"/>
                </a:solidFill>
                <a:latin typeface="Helvetica" panose="020B0604020202020204" pitchFamily="34" charset="0"/>
                <a:cs typeface="Helvetica" panose="020B0604020202020204" pitchFamily="34" charset="0"/>
              </a:rPr>
              <a:t>Function</a:t>
            </a:r>
            <a:endParaRPr lang="th-TH" sz="2400" b="1" dirty="0">
              <a:solidFill>
                <a:srgbClr val="002060"/>
              </a:solidFill>
              <a:latin typeface="Helvetica" panose="020B0604020202020204" pitchFamily="34" charset="0"/>
              <a:cs typeface="Mitr" panose="00000500000000000000" pitchFamily="2" charset="-34"/>
            </a:endParaRPr>
          </a:p>
        </p:txBody>
      </p:sp>
    </p:spTree>
    <p:extLst>
      <p:ext uri="{BB962C8B-B14F-4D97-AF65-F5344CB8AC3E}">
        <p14:creationId xmlns:p14="http://schemas.microsoft.com/office/powerpoint/2010/main" val="161126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6A0FB-86C5-D931-69BB-E4BC110AD00A}"/>
            </a:ext>
          </a:extLst>
        </p:cNvPr>
        <p:cNvGrpSpPr/>
        <p:nvPr/>
      </p:nvGrpSpPr>
      <p:grpSpPr>
        <a:xfrm>
          <a:off x="0" y="0"/>
          <a:ext cx="0" cy="0"/>
          <a:chOff x="0" y="0"/>
          <a:chExt cx="0" cy="0"/>
        </a:xfrm>
      </p:grpSpPr>
      <p:sp>
        <p:nvSpPr>
          <p:cNvPr id="5" name="สี่เหลี่ยมผืนผ้า: มุมมน 4">
            <a:extLst>
              <a:ext uri="{FF2B5EF4-FFF2-40B4-BE49-F238E27FC236}">
                <a16:creationId xmlns:a16="http://schemas.microsoft.com/office/drawing/2014/main" id="{5873DD62-C216-2A00-06A8-F408B5D23B4C}"/>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13" name="Picture 2" descr="Analog Devices | Disruptive Technology for Clinical Trials">
            <a:extLst>
              <a:ext uri="{FF2B5EF4-FFF2-40B4-BE49-F238E27FC236}">
                <a16:creationId xmlns:a16="http://schemas.microsoft.com/office/drawing/2014/main" id="{37069023-9A1B-F1B1-669B-F64AD12EB4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5" name="Picture 2" descr="LOGO_ENkku_color – Faculty of Engineering , Khon Kaen University">
            <a:extLst>
              <a:ext uri="{FF2B5EF4-FFF2-40B4-BE49-F238E27FC236}">
                <a16:creationId xmlns:a16="http://schemas.microsoft.com/office/drawing/2014/main" id="{44D171D1-F44C-58F1-7752-A9AE8F92C256}"/>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ตาราง 7">
            <a:extLst>
              <a:ext uri="{FF2B5EF4-FFF2-40B4-BE49-F238E27FC236}">
                <a16:creationId xmlns:a16="http://schemas.microsoft.com/office/drawing/2014/main" id="{8C5141E0-944E-D5B2-C713-7ED374495E6C}"/>
              </a:ext>
            </a:extLst>
          </p:cNvPr>
          <p:cNvGraphicFramePr>
            <a:graphicFrameLocks noGrp="1"/>
          </p:cNvGraphicFramePr>
          <p:nvPr/>
        </p:nvGraphicFramePr>
        <p:xfrm>
          <a:off x="1028026" y="1415185"/>
          <a:ext cx="10169852" cy="5000084"/>
        </p:xfrm>
        <a:graphic>
          <a:graphicData uri="http://schemas.openxmlformats.org/drawingml/2006/table">
            <a:tbl>
              <a:tblPr/>
              <a:tblGrid>
                <a:gridCol w="3058733">
                  <a:extLst>
                    <a:ext uri="{9D8B030D-6E8A-4147-A177-3AD203B41FA5}">
                      <a16:colId xmlns:a16="http://schemas.microsoft.com/office/drawing/2014/main" val="2346043409"/>
                    </a:ext>
                  </a:extLst>
                </a:gridCol>
                <a:gridCol w="3058733">
                  <a:extLst>
                    <a:ext uri="{9D8B030D-6E8A-4147-A177-3AD203B41FA5}">
                      <a16:colId xmlns:a16="http://schemas.microsoft.com/office/drawing/2014/main" val="3066147821"/>
                    </a:ext>
                  </a:extLst>
                </a:gridCol>
                <a:gridCol w="4052386">
                  <a:extLst>
                    <a:ext uri="{9D8B030D-6E8A-4147-A177-3AD203B41FA5}">
                      <a16:colId xmlns:a16="http://schemas.microsoft.com/office/drawing/2014/main" val="3633921066"/>
                    </a:ext>
                  </a:extLst>
                </a:gridCol>
              </a:tblGrid>
              <a:tr h="506684">
                <a:tc>
                  <a:txBody>
                    <a:bodyPr/>
                    <a:lstStyle/>
                    <a:p>
                      <a:pPr algn="ctr" fontAlgn="ctr">
                        <a:buNone/>
                      </a:pPr>
                      <a:r>
                        <a:rPr lang="en-US" sz="1400" b="1" dirty="0">
                          <a:solidFill>
                            <a:schemeClr val="bg1"/>
                          </a:solidFill>
                          <a:latin typeface="Helvetica" panose="020B0604020202020204" pitchFamily="34" charset="0"/>
                          <a:cs typeface="+mn-cs"/>
                        </a:rPr>
                        <a:t>Category Usage</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dirty="0">
                          <a:solidFill>
                            <a:schemeClr val="bg1"/>
                          </a:solidFill>
                          <a:latin typeface="Helvetica" panose="020B0604020202020204" pitchFamily="34" charset="0"/>
                          <a:cs typeface="+mn-cs"/>
                        </a:rPr>
                        <a:t>Function Definition</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tc>
                  <a:txBody>
                    <a:bodyPr/>
                    <a:lstStyle/>
                    <a:p>
                      <a:pPr algn="ctr" fontAlgn="ctr">
                        <a:buNone/>
                      </a:pPr>
                      <a:r>
                        <a:rPr lang="en-US" sz="1400" b="1" dirty="0">
                          <a:solidFill>
                            <a:schemeClr val="bg1"/>
                          </a:solidFill>
                          <a:latin typeface="Helvetica" panose="020B0604020202020204" pitchFamily="34" charset="0"/>
                          <a:cs typeface="+mn-cs"/>
                        </a:rPr>
                        <a:t>Description</a:t>
                      </a:r>
                    </a:p>
                  </a:txBody>
                  <a:tcPr marL="7620" marR="7620" marT="762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786322214"/>
                  </a:ext>
                </a:extLst>
              </a:tr>
              <a:tr h="898680">
                <a:tc rowSpan="3">
                  <a:txBody>
                    <a:bodyPr/>
                    <a:lstStyle/>
                    <a:p>
                      <a:pPr marL="0" lvl="0" indent="0" algn="ctr">
                        <a:lnSpc>
                          <a:spcPct val="70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PM</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lvl="1" indent="0" algn="ctr">
                        <a:lnSpc>
                          <a:spcPct val="70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Manual_Jogging_mode()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lvl="1" indent="0" algn="l">
                        <a:lnSpc>
                          <a:spcPct val="107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moving motor each module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54327917"/>
                  </a:ext>
                </a:extLst>
              </a:tr>
              <a:tr h="898680">
                <a:tc vMerge="1">
                  <a:txBody>
                    <a:bodyPr/>
                    <a:lstStyle/>
                    <a:p>
                      <a:pPr marL="457200" lvl="1" indent="0" algn="ctr">
                        <a:lnSpc>
                          <a:spcPct val="70000"/>
                        </a:lnSpc>
                        <a:spcAft>
                          <a:spcPts val="800"/>
                        </a:spcAft>
                        <a:buFont typeface="Arial" panose="020B0604020202020204" pitchFamily="34" charset="0"/>
                        <a:buNone/>
                      </a:pPr>
                      <a:endPar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lvl="1" indent="0" algn="ctr">
                        <a:lnSpc>
                          <a:spcPct val="70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IO_Diagnostic()</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lvl="1" indent="0" algn="l">
                        <a:lnSpc>
                          <a:spcPct val="107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check state of each sensor and limit switch display value on OLED</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55715072"/>
                  </a:ext>
                </a:extLst>
              </a:tr>
              <a:tr h="898680">
                <a:tc vMerge="1">
                  <a:txBody>
                    <a:bodyPr/>
                    <a:lstStyle/>
                    <a:p>
                      <a:pPr marL="457200" lvl="1" indent="0" algn="ctr">
                        <a:lnSpc>
                          <a:spcPct val="70000"/>
                        </a:lnSpc>
                        <a:spcAft>
                          <a:spcPts val="800"/>
                        </a:spcAft>
                        <a:buFont typeface="Arial" panose="020B0604020202020204" pitchFamily="34" charset="0"/>
                        <a:buNone/>
                      </a:pPr>
                      <a:endPar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marR="0" lvl="1" indent="0" algn="ctr" defTabSz="914400" rtl="0" eaLnBrk="1" fontAlgn="auto" latinLnBrk="0" hangingPunct="1">
                        <a:lnSpc>
                          <a:spcPct val="70000"/>
                        </a:lnSpc>
                        <a:spcBef>
                          <a:spcPts val="0"/>
                        </a:spcBef>
                        <a:spcAft>
                          <a:spcPts val="800"/>
                        </a:spcAft>
                        <a:buClrTx/>
                        <a:buSzTx/>
                        <a:buFont typeface="Arial" panose="020B0604020202020204" pitchFamily="34" charset="0"/>
                        <a:buNone/>
                        <a:tabLst/>
                        <a:defRP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Dry_Run_Cycle_test()</a:t>
                      </a:r>
                    </a:p>
                    <a:p>
                      <a:pPr marL="457200" lvl="1" indent="0" algn="ctr">
                        <a:lnSpc>
                          <a:spcPct val="70000"/>
                        </a:lnSpc>
                        <a:spcAft>
                          <a:spcPts val="800"/>
                        </a:spcAft>
                        <a:buFont typeface="Arial" panose="020B0604020202020204" pitchFamily="34" charset="0"/>
                        <a:buNone/>
                      </a:pPr>
                      <a:endPar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lvl="1" indent="0" algn="l">
                        <a:lnSpc>
                          <a:spcPct val="70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auto loop without workpiece for check</a:t>
                      </a:r>
                    </a:p>
                    <a:p>
                      <a:pPr marL="457200" lvl="1" indent="0" algn="l">
                        <a:lnSpc>
                          <a:spcPct val="70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temp and fatigue of motor</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4415785"/>
                  </a:ext>
                </a:extLst>
              </a:tr>
              <a:tr h="898680">
                <a:tc rowSpan="2">
                  <a:txBody>
                    <a:bodyPr/>
                    <a:lstStyle/>
                    <a:p>
                      <a:pPr marL="0" marR="0" lvl="0" indent="0" algn="ctr" defTabSz="914400" rtl="0" eaLnBrk="1" fontAlgn="auto" latinLnBrk="0" hangingPunct="1">
                        <a:lnSpc>
                          <a:spcPct val="70000"/>
                        </a:lnSpc>
                        <a:spcBef>
                          <a:spcPts val="0"/>
                        </a:spcBef>
                        <a:spcAft>
                          <a:spcPts val="800"/>
                        </a:spcAft>
                        <a:buClrTx/>
                        <a:buSzTx/>
                        <a:buFont typeface="Arial" panose="020B0604020202020204" pitchFamily="34" charset="0"/>
                        <a:buNone/>
                        <a:tabLst/>
                        <a:defRP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Mode</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marR="0" lvl="1" indent="0" algn="ctr" defTabSz="914400" rtl="0" eaLnBrk="1" fontAlgn="auto" latinLnBrk="0" hangingPunct="1">
                        <a:lnSpc>
                          <a:spcPct val="70000"/>
                        </a:lnSpc>
                        <a:spcBef>
                          <a:spcPts val="0"/>
                        </a:spcBef>
                        <a:spcAft>
                          <a:spcPts val="800"/>
                        </a:spcAft>
                        <a:buClrTx/>
                        <a:buSzTx/>
                        <a:buFont typeface="Arial" panose="020B0604020202020204" pitchFamily="34" charset="0"/>
                        <a:buNone/>
                        <a:tabLst/>
                        <a:defRP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Standalone_run()</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lvl="1" indent="0" algn="l">
                        <a:lnSpc>
                          <a:spcPct val="70000"/>
                        </a:lnSpc>
                        <a:spcAft>
                          <a:spcPts val="800"/>
                        </a:spcAft>
                        <a:buFont typeface="Arial" panose="020B0604020202020204" pitchFamily="34" charset="0"/>
                        <a:buNone/>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run 1 cycle without sensor detecting</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706140493"/>
                  </a:ext>
                </a:extLst>
              </a:tr>
              <a:tr h="898680">
                <a:tc vMerge="1">
                  <a:txBody>
                    <a:bodyPr/>
                    <a:lstStyle/>
                    <a:p>
                      <a:pPr marL="457200" marR="0" lvl="1" indent="0" algn="ctr" defTabSz="914400" rtl="0" eaLnBrk="1" fontAlgn="auto" latinLnBrk="0" hangingPunct="1">
                        <a:lnSpc>
                          <a:spcPct val="70000"/>
                        </a:lnSpc>
                        <a:spcBef>
                          <a:spcPts val="0"/>
                        </a:spcBef>
                        <a:spcAft>
                          <a:spcPts val="800"/>
                        </a:spcAft>
                        <a:buClrTx/>
                        <a:buSzTx/>
                        <a:buFont typeface="Arial" panose="020B0604020202020204" pitchFamily="34" charset="0"/>
                        <a:buNone/>
                        <a:tabLst/>
                        <a:defRPr/>
                      </a:pPr>
                      <a:endPar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marR="0" lvl="1" indent="0" algn="ctr" defTabSz="914400" rtl="0" eaLnBrk="1" fontAlgn="auto" latinLnBrk="0" hangingPunct="1">
                        <a:lnSpc>
                          <a:spcPct val="70000"/>
                        </a:lnSpc>
                        <a:spcBef>
                          <a:spcPts val="0"/>
                        </a:spcBef>
                        <a:spcAft>
                          <a:spcPts val="800"/>
                        </a:spcAft>
                        <a:buClrTx/>
                        <a:buSzTx/>
                        <a:buFont typeface="Arial" panose="020B0604020202020204" pitchFamily="34" charset="0"/>
                        <a:buNone/>
                        <a:tabLst/>
                        <a:defRP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Loop_run()</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457200" marR="0" lvl="1" indent="0" algn="l" defTabSz="914400" rtl="0" eaLnBrk="1" fontAlgn="auto" latinLnBrk="0" hangingPunct="1">
                        <a:lnSpc>
                          <a:spcPct val="70000"/>
                        </a:lnSpc>
                        <a:spcBef>
                          <a:spcPts val="0"/>
                        </a:spcBef>
                        <a:spcAft>
                          <a:spcPts val="800"/>
                        </a:spcAft>
                        <a:buClrTx/>
                        <a:buSzTx/>
                        <a:buFont typeface="Arial" panose="020B0604020202020204" pitchFamily="34" charset="0"/>
                        <a:buNone/>
                        <a:tabLst/>
                        <a:defRPr/>
                      </a:pPr>
                      <a:r>
                        <a:rPr lang="en-US" sz="1400" kern="100" dirty="0">
                          <a:solidFill>
                            <a:srgbClr val="002060"/>
                          </a:solidFill>
                          <a:effectLst/>
                          <a:latin typeface="Helvetica" panose="020B0604020202020204" pitchFamily="34" charset="0"/>
                          <a:ea typeface="Calibri" panose="020F0502020204030204" pitchFamily="34" charset="0"/>
                          <a:cs typeface="Helvetica" panose="020B0604020202020204" pitchFamily="34" charset="0"/>
                        </a:rPr>
                        <a:t>main run, from information in Dashboard</a:t>
                      </a:r>
                    </a:p>
                  </a:txBody>
                  <a:tcPr marL="68580" marR="6858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98829377"/>
                  </a:ext>
                </a:extLst>
              </a:tr>
            </a:tbl>
          </a:graphicData>
        </a:graphic>
      </p:graphicFrame>
      <p:sp>
        <p:nvSpPr>
          <p:cNvPr id="16" name="สี่เหลี่ยมผืนผ้า 15">
            <a:extLst>
              <a:ext uri="{FF2B5EF4-FFF2-40B4-BE49-F238E27FC236}">
                <a16:creationId xmlns:a16="http://schemas.microsoft.com/office/drawing/2014/main" id="{8CEEC39D-98E1-B9B0-3B85-6B373C71BF32}"/>
              </a:ext>
            </a:extLst>
          </p:cNvPr>
          <p:cNvSpPr/>
          <p:nvPr/>
        </p:nvSpPr>
        <p:spPr>
          <a:xfrm>
            <a:off x="432245" y="533608"/>
            <a:ext cx="2058316" cy="618321"/>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8" name="สี่เหลี่ยมผืนผ้า 17">
            <a:extLst>
              <a:ext uri="{FF2B5EF4-FFF2-40B4-BE49-F238E27FC236}">
                <a16:creationId xmlns:a16="http://schemas.microsoft.com/office/drawing/2014/main" id="{C131BE83-A06E-18DC-2B7A-F40E6CF73881}"/>
              </a:ext>
            </a:extLst>
          </p:cNvPr>
          <p:cNvSpPr/>
          <p:nvPr/>
        </p:nvSpPr>
        <p:spPr>
          <a:xfrm>
            <a:off x="432246" y="533608"/>
            <a:ext cx="132080" cy="61832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0" name="กล่องข้อความ 19">
            <a:extLst>
              <a:ext uri="{FF2B5EF4-FFF2-40B4-BE49-F238E27FC236}">
                <a16:creationId xmlns:a16="http://schemas.microsoft.com/office/drawing/2014/main" id="{BFD4BA77-149A-CF6C-F022-E63877282629}"/>
              </a:ext>
            </a:extLst>
          </p:cNvPr>
          <p:cNvSpPr txBox="1">
            <a:spLocks/>
          </p:cNvSpPr>
          <p:nvPr/>
        </p:nvSpPr>
        <p:spPr>
          <a:xfrm>
            <a:off x="719093" y="611935"/>
            <a:ext cx="2058316" cy="461665"/>
          </a:xfrm>
          <a:prstGeom prst="rect">
            <a:avLst/>
          </a:prstGeom>
          <a:noFill/>
        </p:spPr>
        <p:txBody>
          <a:bodyPr wrap="square" rtlCol="0">
            <a:spAutoFit/>
          </a:bodyPr>
          <a:lstStyle/>
          <a:p>
            <a:r>
              <a:rPr lang="en-US" sz="2400" b="1" dirty="0">
                <a:solidFill>
                  <a:srgbClr val="002060"/>
                </a:solidFill>
                <a:latin typeface="Helvetica" panose="020B0604020202020204" pitchFamily="34" charset="0"/>
                <a:cs typeface="Helvetica" panose="020B0604020202020204" pitchFamily="34" charset="0"/>
              </a:rPr>
              <a:t>Function</a:t>
            </a:r>
            <a:endParaRPr lang="th-TH" sz="2400" b="1" dirty="0">
              <a:solidFill>
                <a:srgbClr val="002060"/>
              </a:solidFill>
              <a:latin typeface="Helvetica" panose="020B0604020202020204" pitchFamily="34" charset="0"/>
              <a:cs typeface="Mitr" panose="00000500000000000000" pitchFamily="2" charset="-34"/>
            </a:endParaRPr>
          </a:p>
        </p:txBody>
      </p:sp>
    </p:spTree>
    <p:extLst>
      <p:ext uri="{BB962C8B-B14F-4D97-AF65-F5344CB8AC3E}">
        <p14:creationId xmlns:p14="http://schemas.microsoft.com/office/powerpoint/2010/main" val="39344863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09EC9-B9DB-E8A2-5B82-7F28CB7D1A43}"/>
            </a:ext>
          </a:extLst>
        </p:cNvPr>
        <p:cNvGrpSpPr/>
        <p:nvPr/>
      </p:nvGrpSpPr>
      <p:grpSpPr>
        <a:xfrm>
          <a:off x="0" y="0"/>
          <a:ext cx="0" cy="0"/>
          <a:chOff x="0" y="0"/>
          <a:chExt cx="0" cy="0"/>
        </a:xfrm>
      </p:grpSpPr>
      <p:sp>
        <p:nvSpPr>
          <p:cNvPr id="84" name="สี่เหลี่ยมผืนผ้า 83">
            <a:extLst>
              <a:ext uri="{FF2B5EF4-FFF2-40B4-BE49-F238E27FC236}">
                <a16:creationId xmlns:a16="http://schemas.microsoft.com/office/drawing/2014/main" id="{F0A7F690-391E-8E4B-98FE-884F66E2EF8B}"/>
              </a:ext>
            </a:extLst>
          </p:cNvPr>
          <p:cNvSpPr/>
          <p:nvPr/>
        </p:nvSpPr>
        <p:spPr>
          <a:xfrm>
            <a:off x="8948057" y="5394925"/>
            <a:ext cx="2843034" cy="1094013"/>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5" name="สี่เหลี่ยมผืนผ้า: มุมมน 4">
            <a:extLst>
              <a:ext uri="{FF2B5EF4-FFF2-40B4-BE49-F238E27FC236}">
                <a16:creationId xmlns:a16="http://schemas.microsoft.com/office/drawing/2014/main" id="{B2078FBA-6876-61E9-8855-ECFEC914DEF4}"/>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
        <p:nvSpPr>
          <p:cNvPr id="7" name="สี่เหลี่ยมผืนผ้า 6">
            <a:extLst>
              <a:ext uri="{FF2B5EF4-FFF2-40B4-BE49-F238E27FC236}">
                <a16:creationId xmlns:a16="http://schemas.microsoft.com/office/drawing/2014/main" id="{3BE07FD6-75D6-10B4-32DA-3F9FD935EDF4}"/>
              </a:ext>
            </a:extLst>
          </p:cNvPr>
          <p:cNvSpPr/>
          <p:nvPr/>
        </p:nvSpPr>
        <p:spPr>
          <a:xfrm>
            <a:off x="432244" y="533608"/>
            <a:ext cx="4950639" cy="618321"/>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9" name="สี่เหลี่ยมผืนผ้า 8">
            <a:extLst>
              <a:ext uri="{FF2B5EF4-FFF2-40B4-BE49-F238E27FC236}">
                <a16:creationId xmlns:a16="http://schemas.microsoft.com/office/drawing/2014/main" id="{9D8C029A-07DE-7713-1453-7714E1454D11}"/>
              </a:ext>
            </a:extLst>
          </p:cNvPr>
          <p:cNvSpPr/>
          <p:nvPr/>
        </p:nvSpPr>
        <p:spPr>
          <a:xfrm>
            <a:off x="432246" y="533608"/>
            <a:ext cx="132080" cy="61832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1" name="กล่องข้อความ 10">
            <a:extLst>
              <a:ext uri="{FF2B5EF4-FFF2-40B4-BE49-F238E27FC236}">
                <a16:creationId xmlns:a16="http://schemas.microsoft.com/office/drawing/2014/main" id="{92DED411-3C5A-E5B0-5ABD-C637A1B603AF}"/>
              </a:ext>
            </a:extLst>
          </p:cNvPr>
          <p:cNvSpPr txBox="1">
            <a:spLocks/>
          </p:cNvSpPr>
          <p:nvPr/>
        </p:nvSpPr>
        <p:spPr>
          <a:xfrm>
            <a:off x="400910" y="598067"/>
            <a:ext cx="5230563" cy="461665"/>
          </a:xfrm>
          <a:prstGeom prst="rect">
            <a:avLst/>
          </a:prstGeom>
          <a:noFill/>
        </p:spPr>
        <p:txBody>
          <a:bodyPr wrap="square" rtlCol="0">
            <a:spAutoFit/>
          </a:bodyPr>
          <a:lstStyle/>
          <a:p>
            <a:pPr algn="ctr"/>
            <a:r>
              <a:rPr lang="en-US" sz="2400" b="1" dirty="0">
                <a:solidFill>
                  <a:srgbClr val="002060"/>
                </a:solidFill>
                <a:latin typeface="Helvetica" panose="020B0604020202020204" pitchFamily="34" charset="0"/>
                <a:cs typeface="Helvetica" panose="020B0604020202020204" pitchFamily="34" charset="0"/>
              </a:rPr>
              <a:t>Alignment Jig Module Details</a:t>
            </a:r>
          </a:p>
        </p:txBody>
      </p:sp>
      <p:pic>
        <p:nvPicPr>
          <p:cNvPr id="13" name="Picture 2" descr="Analog Devices | Disruptive Technology for Clinical Trials">
            <a:extLst>
              <a:ext uri="{FF2B5EF4-FFF2-40B4-BE49-F238E27FC236}">
                <a16:creationId xmlns:a16="http://schemas.microsoft.com/office/drawing/2014/main" id="{080BD664-B819-FF92-7D83-47A27297C9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5" name="Picture 2" descr="LOGO_ENkku_color – Faculty of Engineering , Khon Kaen University">
            <a:extLst>
              <a:ext uri="{FF2B5EF4-FFF2-40B4-BE49-F238E27FC236}">
                <a16:creationId xmlns:a16="http://schemas.microsoft.com/office/drawing/2014/main" id="{CDF5C679-DD2C-FADF-38D9-FB08278EBEE4}"/>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14" name="กล่องข้อความ 13">
            <a:extLst>
              <a:ext uri="{FF2B5EF4-FFF2-40B4-BE49-F238E27FC236}">
                <a16:creationId xmlns:a16="http://schemas.microsoft.com/office/drawing/2014/main" id="{0F858FB1-0921-D53D-B3D1-099E94F0C5B5}"/>
              </a:ext>
            </a:extLst>
          </p:cNvPr>
          <p:cNvSpPr txBox="1"/>
          <p:nvPr/>
        </p:nvSpPr>
        <p:spPr>
          <a:xfrm>
            <a:off x="770956" y="1316385"/>
            <a:ext cx="10872403" cy="830997"/>
          </a:xfrm>
          <a:prstGeom prst="rect">
            <a:avLst/>
          </a:prstGeom>
          <a:noFill/>
        </p:spPr>
        <p:txBody>
          <a:bodyPr wrap="square">
            <a:spAutoFit/>
          </a:bodyPr>
          <a:lstStyle/>
          <a:p>
            <a:r>
              <a:rPr lang="en-US" sz="1600" dirty="0">
                <a:solidFill>
                  <a:srgbClr val="002060"/>
                </a:solidFill>
                <a:latin typeface="Helvetica" panose="020B0604020202020204" pitchFamily="34" charset="0"/>
                <a:cs typeface="Helvetica" panose="020B0604020202020204" pitchFamily="34" charset="0"/>
              </a:rPr>
              <a:t>	This module detects the workpiece via the ST188 sensor, then drives a linear actuator to push the part into the V-Block for automatic center alignment, using position feedback to detect contact and stop pressure precisely, preventing part damage.</a:t>
            </a:r>
          </a:p>
        </p:txBody>
      </p:sp>
      <p:pic>
        <p:nvPicPr>
          <p:cNvPr id="12" name="รูปภาพ 11">
            <a:extLst>
              <a:ext uri="{FF2B5EF4-FFF2-40B4-BE49-F238E27FC236}">
                <a16:creationId xmlns:a16="http://schemas.microsoft.com/office/drawing/2014/main" id="{EB31A3E8-AAEC-34FA-F465-3B1F50C0CB06}"/>
              </a:ext>
            </a:extLst>
          </p:cNvPr>
          <p:cNvPicPr>
            <a:picLocks noChangeAspect="1"/>
          </p:cNvPicPr>
          <p:nvPr/>
        </p:nvPicPr>
        <p:blipFill>
          <a:blip r:embed="rId5">
            <a:extLst>
              <a:ext uri="{28A0092B-C50C-407E-A947-70E740481C1C}">
                <a14:useLocalDpi xmlns:a14="http://schemas.microsoft.com/office/drawing/2010/main" val="0"/>
              </a:ext>
            </a:extLst>
          </a:blip>
          <a:srcRect l="24274" t="21766" r="5387" b="10614"/>
          <a:stretch>
            <a:fillRect/>
          </a:stretch>
        </p:blipFill>
        <p:spPr>
          <a:xfrm>
            <a:off x="4641480" y="3203878"/>
            <a:ext cx="5439932" cy="2879966"/>
          </a:xfrm>
          <a:prstGeom prst="rect">
            <a:avLst/>
          </a:prstGeom>
        </p:spPr>
      </p:pic>
      <p:pic>
        <p:nvPicPr>
          <p:cNvPr id="19" name="รูปภาพ 18">
            <a:extLst>
              <a:ext uri="{FF2B5EF4-FFF2-40B4-BE49-F238E27FC236}">
                <a16:creationId xmlns:a16="http://schemas.microsoft.com/office/drawing/2014/main" id="{E9683F65-FCD1-72E9-0117-9FD293C8D713}"/>
              </a:ext>
            </a:extLst>
          </p:cNvPr>
          <p:cNvPicPr>
            <a:picLocks noChangeAspect="1"/>
          </p:cNvPicPr>
          <p:nvPr/>
        </p:nvPicPr>
        <p:blipFill rotWithShape="1">
          <a:blip r:embed="rId6">
            <a:extLst>
              <a:ext uri="{28A0092B-C50C-407E-A947-70E740481C1C}">
                <a14:useLocalDpi xmlns:a14="http://schemas.microsoft.com/office/drawing/2010/main" val="0"/>
              </a:ext>
            </a:extLst>
          </a:blip>
          <a:srcRect l="22465" r="22465"/>
          <a:stretch>
            <a:fillRect/>
          </a:stretch>
        </p:blipFill>
        <p:spPr>
          <a:xfrm>
            <a:off x="3121899" y="2480154"/>
            <a:ext cx="1587918" cy="1587918"/>
          </a:xfrm>
          <a:prstGeom prst="ellipse">
            <a:avLst/>
          </a:prstGeom>
        </p:spPr>
      </p:pic>
      <p:sp>
        <p:nvSpPr>
          <p:cNvPr id="21" name="Rectangle 7">
            <a:extLst>
              <a:ext uri="{FF2B5EF4-FFF2-40B4-BE49-F238E27FC236}">
                <a16:creationId xmlns:a16="http://schemas.microsoft.com/office/drawing/2014/main" id="{B5801B9E-AD05-9CEE-91EF-40CA72EB68CD}"/>
              </a:ext>
            </a:extLst>
          </p:cNvPr>
          <p:cNvSpPr>
            <a:spLocks/>
          </p:cNvSpPr>
          <p:nvPr/>
        </p:nvSpPr>
        <p:spPr bwMode="auto">
          <a:xfrm>
            <a:off x="7845539" y="2166556"/>
            <a:ext cx="2961495"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800" dirty="0">
                <a:solidFill>
                  <a:srgbClr val="002060"/>
                </a:solidFill>
                <a:latin typeface="FC Minimal" panose="020B0500040200020003" pitchFamily="34" charset="-34"/>
                <a:cs typeface="FC Minimal" panose="020B0500040200020003" pitchFamily="34" charset="-34"/>
              </a:rPr>
              <a:t>Actuonix L12 (Linear Actuator 12V)</a:t>
            </a:r>
          </a:p>
        </p:txBody>
      </p:sp>
      <p:sp>
        <p:nvSpPr>
          <p:cNvPr id="33" name="Rectangle 7">
            <a:extLst>
              <a:ext uri="{FF2B5EF4-FFF2-40B4-BE49-F238E27FC236}">
                <a16:creationId xmlns:a16="http://schemas.microsoft.com/office/drawing/2014/main" id="{051CB522-C838-C3B5-42F7-F5DA5B5F2DC4}"/>
              </a:ext>
            </a:extLst>
          </p:cNvPr>
          <p:cNvSpPr>
            <a:spLocks/>
          </p:cNvSpPr>
          <p:nvPr/>
        </p:nvSpPr>
        <p:spPr bwMode="auto">
          <a:xfrm>
            <a:off x="7845539" y="2445284"/>
            <a:ext cx="1025605" cy="261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400" dirty="0">
                <a:solidFill>
                  <a:srgbClr val="FF0000"/>
                </a:solidFill>
                <a:latin typeface="FC Minimal" panose="020B0500040200020003" pitchFamily="34" charset="-34"/>
                <a:cs typeface="FC Minimal" panose="020B0500040200020003" pitchFamily="34" charset="-34"/>
              </a:rPr>
              <a:t>Stroke 30 mm</a:t>
            </a:r>
          </a:p>
        </p:txBody>
      </p:sp>
      <p:sp>
        <p:nvSpPr>
          <p:cNvPr id="37" name="Rectangle 7">
            <a:extLst>
              <a:ext uri="{FF2B5EF4-FFF2-40B4-BE49-F238E27FC236}">
                <a16:creationId xmlns:a16="http://schemas.microsoft.com/office/drawing/2014/main" id="{3C353CEE-34A7-F183-4366-19DD02A1C87E}"/>
              </a:ext>
            </a:extLst>
          </p:cNvPr>
          <p:cNvSpPr>
            <a:spLocks/>
          </p:cNvSpPr>
          <p:nvPr/>
        </p:nvSpPr>
        <p:spPr bwMode="auto">
          <a:xfrm>
            <a:off x="7845539" y="2811304"/>
            <a:ext cx="3868941" cy="470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600" dirty="0">
                <a:solidFill>
                  <a:srgbClr val="002060"/>
                </a:solidFill>
                <a:latin typeface="FC Minimal" panose="020B0500040200020003" pitchFamily="34" charset="-34"/>
                <a:cs typeface="FC Minimal" panose="020B0500040200020003" pitchFamily="34" charset="-34"/>
              </a:rPr>
              <a:t>Pushes the part into the V-Block, using position feedback to detect contact and limit clamping force</a:t>
            </a:r>
          </a:p>
        </p:txBody>
      </p:sp>
      <p:cxnSp>
        <p:nvCxnSpPr>
          <p:cNvPr id="39" name="ลูกศรเชื่อมต่อแบบตรง 38">
            <a:extLst>
              <a:ext uri="{FF2B5EF4-FFF2-40B4-BE49-F238E27FC236}">
                <a16:creationId xmlns:a16="http://schemas.microsoft.com/office/drawing/2014/main" id="{91A7C8C1-5085-61D6-1E85-FC4A0E45F497}"/>
              </a:ext>
            </a:extLst>
          </p:cNvPr>
          <p:cNvCxnSpPr>
            <a:cxnSpLocks/>
          </p:cNvCxnSpPr>
          <p:nvPr/>
        </p:nvCxnSpPr>
        <p:spPr>
          <a:xfrm>
            <a:off x="8948057" y="3429000"/>
            <a:ext cx="0" cy="75692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1" name="Rectangle 7">
            <a:extLst>
              <a:ext uri="{FF2B5EF4-FFF2-40B4-BE49-F238E27FC236}">
                <a16:creationId xmlns:a16="http://schemas.microsoft.com/office/drawing/2014/main" id="{5FBF0929-9CEA-1B55-904D-15A1C8032915}"/>
              </a:ext>
            </a:extLst>
          </p:cNvPr>
          <p:cNvSpPr>
            <a:spLocks/>
          </p:cNvSpPr>
          <p:nvPr/>
        </p:nvSpPr>
        <p:spPr bwMode="auto">
          <a:xfrm>
            <a:off x="861444" y="2677822"/>
            <a:ext cx="1865271"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800" dirty="0">
                <a:solidFill>
                  <a:srgbClr val="002060"/>
                </a:solidFill>
                <a:latin typeface="FC Minimal" panose="020B0500040200020003" pitchFamily="34" charset="-34"/>
                <a:cs typeface="FC Minimal" panose="020B0500040200020003" pitchFamily="34" charset="-34"/>
              </a:rPr>
              <a:t>ST188 Infrared Sensor</a:t>
            </a:r>
          </a:p>
        </p:txBody>
      </p:sp>
      <p:grpSp>
        <p:nvGrpSpPr>
          <p:cNvPr id="42" name="กลุ่ม 41">
            <a:extLst>
              <a:ext uri="{FF2B5EF4-FFF2-40B4-BE49-F238E27FC236}">
                <a16:creationId xmlns:a16="http://schemas.microsoft.com/office/drawing/2014/main" id="{8B81C305-B76C-1405-9994-C1616B905589}"/>
              </a:ext>
            </a:extLst>
          </p:cNvPr>
          <p:cNvGrpSpPr/>
          <p:nvPr/>
        </p:nvGrpSpPr>
        <p:grpSpPr>
          <a:xfrm>
            <a:off x="563592" y="2677397"/>
            <a:ext cx="287691" cy="310125"/>
            <a:chOff x="4831080" y="2402241"/>
            <a:chExt cx="287691" cy="310125"/>
          </a:xfrm>
        </p:grpSpPr>
        <p:sp>
          <p:nvSpPr>
            <p:cNvPr id="43" name="วงรี 42">
              <a:extLst>
                <a:ext uri="{FF2B5EF4-FFF2-40B4-BE49-F238E27FC236}">
                  <a16:creationId xmlns:a16="http://schemas.microsoft.com/office/drawing/2014/main" id="{3B0200CE-2387-C4F6-9B46-D6F8C06E181C}"/>
                </a:ext>
              </a:extLst>
            </p:cNvPr>
            <p:cNvSpPr/>
            <p:nvPr/>
          </p:nvSpPr>
          <p:spPr>
            <a:xfrm>
              <a:off x="4831080" y="2402241"/>
              <a:ext cx="287691" cy="287691"/>
            </a:xfrm>
            <a:prstGeom prst="ellipse">
              <a:avLst/>
            </a:prstGeom>
            <a:noFill/>
            <a:ln w="127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dirty="0"/>
            </a:p>
          </p:txBody>
        </p:sp>
        <p:sp>
          <p:nvSpPr>
            <p:cNvPr id="44" name="Rectangle 7">
              <a:extLst>
                <a:ext uri="{FF2B5EF4-FFF2-40B4-BE49-F238E27FC236}">
                  <a16:creationId xmlns:a16="http://schemas.microsoft.com/office/drawing/2014/main" id="{71BBEB70-0CA7-CA06-A0A7-29EC06D1B691}"/>
                </a:ext>
              </a:extLst>
            </p:cNvPr>
            <p:cNvSpPr>
              <a:spLocks/>
            </p:cNvSpPr>
            <p:nvPr/>
          </p:nvSpPr>
          <p:spPr bwMode="auto">
            <a:xfrm>
              <a:off x="4899417" y="2402666"/>
              <a:ext cx="151017"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75000"/>
                </a:lnSpc>
              </a:pPr>
              <a:r>
                <a:rPr lang="en-US" sz="1800" dirty="0">
                  <a:solidFill>
                    <a:srgbClr val="002060"/>
                  </a:solidFill>
                  <a:latin typeface="FC Minimal" panose="020B0500040200020003" pitchFamily="34" charset="-34"/>
                  <a:cs typeface="FC Minimal" panose="020B0500040200020003" pitchFamily="34" charset="-34"/>
                </a:rPr>
                <a:t>2</a:t>
              </a:r>
            </a:p>
          </p:txBody>
        </p:sp>
      </p:grpSp>
      <p:sp>
        <p:nvSpPr>
          <p:cNvPr id="45" name="Rectangle 7">
            <a:extLst>
              <a:ext uri="{FF2B5EF4-FFF2-40B4-BE49-F238E27FC236}">
                <a16:creationId xmlns:a16="http://schemas.microsoft.com/office/drawing/2014/main" id="{64FFCBBB-7D1A-6A9B-899B-FD6044A16758}"/>
              </a:ext>
            </a:extLst>
          </p:cNvPr>
          <p:cNvSpPr>
            <a:spLocks/>
          </p:cNvSpPr>
          <p:nvPr/>
        </p:nvSpPr>
        <p:spPr bwMode="auto">
          <a:xfrm>
            <a:off x="861444" y="2909536"/>
            <a:ext cx="1025605" cy="261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400" dirty="0">
                <a:solidFill>
                  <a:srgbClr val="FF0000"/>
                </a:solidFill>
                <a:latin typeface="FC Minimal" panose="020B0500040200020003" pitchFamily="34" charset="-34"/>
                <a:cs typeface="FC Minimal" panose="020B0500040200020003" pitchFamily="34" charset="-34"/>
              </a:rPr>
              <a:t>Stroke 30 mm</a:t>
            </a:r>
          </a:p>
        </p:txBody>
      </p:sp>
      <p:sp>
        <p:nvSpPr>
          <p:cNvPr id="47" name="Rectangle 7">
            <a:extLst>
              <a:ext uri="{FF2B5EF4-FFF2-40B4-BE49-F238E27FC236}">
                <a16:creationId xmlns:a16="http://schemas.microsoft.com/office/drawing/2014/main" id="{F1CAC234-EEED-B816-597A-9F3BC2D18BFD}"/>
              </a:ext>
            </a:extLst>
          </p:cNvPr>
          <p:cNvSpPr>
            <a:spLocks/>
          </p:cNvSpPr>
          <p:nvPr/>
        </p:nvSpPr>
        <p:spPr bwMode="auto">
          <a:xfrm>
            <a:off x="861444" y="3296286"/>
            <a:ext cx="1844952" cy="654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600" dirty="0">
                <a:solidFill>
                  <a:srgbClr val="002060"/>
                </a:solidFill>
                <a:latin typeface="FC Minimal" panose="020B0500040200020003" pitchFamily="34" charset="-34"/>
                <a:cs typeface="FC Minimal" panose="020B0500040200020003" pitchFamily="34" charset="-34"/>
              </a:rPr>
              <a:t>Detects the workpiece</a:t>
            </a:r>
          </a:p>
          <a:p>
            <a:pPr>
              <a:lnSpc>
                <a:spcPct val="75000"/>
              </a:lnSpc>
            </a:pPr>
            <a:r>
              <a:rPr lang="en-US" sz="1600" dirty="0">
                <a:solidFill>
                  <a:srgbClr val="002060"/>
                </a:solidFill>
                <a:latin typeface="FC Minimal" panose="020B0500040200020003" pitchFamily="34" charset="-34"/>
                <a:cs typeface="FC Minimal" panose="020B0500040200020003" pitchFamily="34" charset="-34"/>
              </a:rPr>
              <a:t>waits if absent, triggers </a:t>
            </a:r>
          </a:p>
          <a:p>
            <a:pPr>
              <a:lnSpc>
                <a:spcPct val="75000"/>
              </a:lnSpc>
            </a:pPr>
            <a:r>
              <a:rPr lang="en-US" sz="1600" dirty="0">
                <a:solidFill>
                  <a:srgbClr val="002060"/>
                </a:solidFill>
                <a:latin typeface="FC Minimal" panose="020B0500040200020003" pitchFamily="34" charset="-34"/>
                <a:cs typeface="FC Minimal" panose="020B0500040200020003" pitchFamily="34" charset="-34"/>
              </a:rPr>
              <a:t>alignment if present.</a:t>
            </a:r>
          </a:p>
        </p:txBody>
      </p:sp>
      <p:cxnSp>
        <p:nvCxnSpPr>
          <p:cNvPr id="49" name="ลูกศรเชื่อมต่อแบบตรง 48">
            <a:extLst>
              <a:ext uri="{FF2B5EF4-FFF2-40B4-BE49-F238E27FC236}">
                <a16:creationId xmlns:a16="http://schemas.microsoft.com/office/drawing/2014/main" id="{9ECEB25B-2AB8-54F7-DB15-62F6E0F80875}"/>
              </a:ext>
            </a:extLst>
          </p:cNvPr>
          <p:cNvCxnSpPr>
            <a:cxnSpLocks/>
            <a:stCxn id="41" idx="3"/>
          </p:cNvCxnSpPr>
          <p:nvPr/>
        </p:nvCxnSpPr>
        <p:spPr>
          <a:xfrm>
            <a:off x="2726715" y="2832672"/>
            <a:ext cx="897533" cy="396572"/>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59" name="รูปภาพ 58">
            <a:extLst>
              <a:ext uri="{FF2B5EF4-FFF2-40B4-BE49-F238E27FC236}">
                <a16:creationId xmlns:a16="http://schemas.microsoft.com/office/drawing/2014/main" id="{6B986F0D-7F08-9459-FF1F-CA92AD6DB865}"/>
              </a:ext>
            </a:extLst>
          </p:cNvPr>
          <p:cNvPicPr>
            <a:picLocks noChangeAspect="1"/>
          </p:cNvPicPr>
          <p:nvPr/>
        </p:nvPicPr>
        <p:blipFill rotWithShape="1">
          <a:blip r:embed="rId7">
            <a:extLst>
              <a:ext uri="{28A0092B-C50C-407E-A947-70E740481C1C}">
                <a14:useLocalDpi xmlns:a14="http://schemas.microsoft.com/office/drawing/2010/main" val="0"/>
              </a:ext>
            </a:extLst>
          </a:blip>
          <a:srcRect l="28371" t="5737" r="26145" b="11670"/>
          <a:stretch>
            <a:fillRect/>
          </a:stretch>
        </p:blipFill>
        <p:spPr>
          <a:xfrm>
            <a:off x="3206236" y="4590005"/>
            <a:ext cx="1587600" cy="1587600"/>
          </a:xfrm>
          <a:prstGeom prst="ellipse">
            <a:avLst/>
          </a:prstGeom>
        </p:spPr>
      </p:pic>
      <p:sp>
        <p:nvSpPr>
          <p:cNvPr id="60" name="Rectangle 7">
            <a:extLst>
              <a:ext uri="{FF2B5EF4-FFF2-40B4-BE49-F238E27FC236}">
                <a16:creationId xmlns:a16="http://schemas.microsoft.com/office/drawing/2014/main" id="{A76AF432-34B8-BD7E-722E-9D09EC785FA9}"/>
              </a:ext>
            </a:extLst>
          </p:cNvPr>
          <p:cNvSpPr>
            <a:spLocks/>
          </p:cNvSpPr>
          <p:nvPr/>
        </p:nvSpPr>
        <p:spPr bwMode="auto">
          <a:xfrm>
            <a:off x="843663" y="4823941"/>
            <a:ext cx="2034244"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800" dirty="0">
                <a:solidFill>
                  <a:srgbClr val="002060"/>
                </a:solidFill>
                <a:latin typeface="FC Minimal" panose="020B0500040200020003" pitchFamily="34" charset="-34"/>
                <a:cs typeface="FC Minimal" panose="020B0500040200020003" pitchFamily="34" charset="-34"/>
              </a:rPr>
              <a:t>Stepped V-Block</a:t>
            </a:r>
          </a:p>
        </p:txBody>
      </p:sp>
      <p:grpSp>
        <p:nvGrpSpPr>
          <p:cNvPr id="61" name="กลุ่ม 60">
            <a:extLst>
              <a:ext uri="{FF2B5EF4-FFF2-40B4-BE49-F238E27FC236}">
                <a16:creationId xmlns:a16="http://schemas.microsoft.com/office/drawing/2014/main" id="{52BD4F07-7EE2-F7CA-E8AC-972C477C3CA9}"/>
              </a:ext>
            </a:extLst>
          </p:cNvPr>
          <p:cNvGrpSpPr/>
          <p:nvPr/>
        </p:nvGrpSpPr>
        <p:grpSpPr>
          <a:xfrm>
            <a:off x="553431" y="4823516"/>
            <a:ext cx="287691" cy="310125"/>
            <a:chOff x="4831080" y="2402241"/>
            <a:chExt cx="287691" cy="310125"/>
          </a:xfrm>
        </p:grpSpPr>
        <p:sp>
          <p:nvSpPr>
            <p:cNvPr id="62" name="วงรี 61">
              <a:extLst>
                <a:ext uri="{FF2B5EF4-FFF2-40B4-BE49-F238E27FC236}">
                  <a16:creationId xmlns:a16="http://schemas.microsoft.com/office/drawing/2014/main" id="{E00A5F57-827F-94A9-2F54-1D8CCED5EC77}"/>
                </a:ext>
              </a:extLst>
            </p:cNvPr>
            <p:cNvSpPr/>
            <p:nvPr/>
          </p:nvSpPr>
          <p:spPr>
            <a:xfrm>
              <a:off x="4831080" y="2402241"/>
              <a:ext cx="287691" cy="287691"/>
            </a:xfrm>
            <a:prstGeom prst="ellipse">
              <a:avLst/>
            </a:prstGeom>
            <a:noFill/>
            <a:ln w="127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dirty="0"/>
            </a:p>
          </p:txBody>
        </p:sp>
        <p:sp>
          <p:nvSpPr>
            <p:cNvPr id="63" name="Rectangle 7">
              <a:extLst>
                <a:ext uri="{FF2B5EF4-FFF2-40B4-BE49-F238E27FC236}">
                  <a16:creationId xmlns:a16="http://schemas.microsoft.com/office/drawing/2014/main" id="{E50DE1BA-A820-77A3-7904-740FDC23C5F2}"/>
                </a:ext>
              </a:extLst>
            </p:cNvPr>
            <p:cNvSpPr>
              <a:spLocks/>
            </p:cNvSpPr>
            <p:nvPr/>
          </p:nvSpPr>
          <p:spPr bwMode="auto">
            <a:xfrm>
              <a:off x="4899417" y="2402666"/>
              <a:ext cx="151017"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75000"/>
                </a:lnSpc>
              </a:pPr>
              <a:r>
                <a:rPr lang="en-US" sz="1800" dirty="0">
                  <a:solidFill>
                    <a:srgbClr val="002060"/>
                  </a:solidFill>
                  <a:latin typeface="FC Minimal" panose="020B0500040200020003" pitchFamily="34" charset="-34"/>
                  <a:cs typeface="FC Minimal" panose="020B0500040200020003" pitchFamily="34" charset="-34"/>
                </a:rPr>
                <a:t>3</a:t>
              </a:r>
            </a:p>
          </p:txBody>
        </p:sp>
      </p:grpSp>
      <p:sp>
        <p:nvSpPr>
          <p:cNvPr id="65" name="Rectangle 7">
            <a:extLst>
              <a:ext uri="{FF2B5EF4-FFF2-40B4-BE49-F238E27FC236}">
                <a16:creationId xmlns:a16="http://schemas.microsoft.com/office/drawing/2014/main" id="{0F693D06-6652-FA54-64DD-9ADB456A6F32}"/>
              </a:ext>
            </a:extLst>
          </p:cNvPr>
          <p:cNvSpPr>
            <a:spLocks/>
          </p:cNvSpPr>
          <p:nvPr/>
        </p:nvSpPr>
        <p:spPr bwMode="auto">
          <a:xfrm>
            <a:off x="843663" y="5470368"/>
            <a:ext cx="2034244" cy="654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600" dirty="0">
                <a:solidFill>
                  <a:srgbClr val="002060"/>
                </a:solidFill>
                <a:latin typeface="FC Minimal" panose="020B0500040200020003" pitchFamily="34" charset="-34"/>
                <a:cs typeface="FC Minimal" panose="020B0500040200020003" pitchFamily="34" charset="-34"/>
              </a:rPr>
              <a:t>Re-centers the workpiece even if it was placed misaligned by the operator</a:t>
            </a:r>
          </a:p>
        </p:txBody>
      </p:sp>
      <p:sp>
        <p:nvSpPr>
          <p:cNvPr id="70" name="Rectangle 7">
            <a:extLst>
              <a:ext uri="{FF2B5EF4-FFF2-40B4-BE49-F238E27FC236}">
                <a16:creationId xmlns:a16="http://schemas.microsoft.com/office/drawing/2014/main" id="{BAED10F6-3A79-8F8A-71F0-DD0E79A20D53}"/>
              </a:ext>
            </a:extLst>
          </p:cNvPr>
          <p:cNvSpPr>
            <a:spLocks/>
          </p:cNvSpPr>
          <p:nvPr/>
        </p:nvSpPr>
        <p:spPr bwMode="auto">
          <a:xfrm>
            <a:off x="843663" y="5077360"/>
            <a:ext cx="2283478" cy="261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400" dirty="0">
                <a:solidFill>
                  <a:srgbClr val="FF0000"/>
                </a:solidFill>
                <a:latin typeface="FC Minimal" panose="020B0500040200020003" pitchFamily="34" charset="-34"/>
                <a:cs typeface="FC Minimal" panose="020B0500040200020003" pitchFamily="34" charset="-34"/>
              </a:rPr>
              <a:t>supporting multiple ALPL HT Shape </a:t>
            </a:r>
          </a:p>
        </p:txBody>
      </p:sp>
      <p:cxnSp>
        <p:nvCxnSpPr>
          <p:cNvPr id="71" name="ลูกศรเชื่อมต่อแบบตรง 70">
            <a:extLst>
              <a:ext uri="{FF2B5EF4-FFF2-40B4-BE49-F238E27FC236}">
                <a16:creationId xmlns:a16="http://schemas.microsoft.com/office/drawing/2014/main" id="{80334618-ED28-B930-4A1B-75392B5B0936}"/>
              </a:ext>
            </a:extLst>
          </p:cNvPr>
          <p:cNvCxnSpPr>
            <a:cxnSpLocks/>
          </p:cNvCxnSpPr>
          <p:nvPr/>
        </p:nvCxnSpPr>
        <p:spPr>
          <a:xfrm>
            <a:off x="2448259" y="4958954"/>
            <a:ext cx="1467599" cy="313128"/>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5" name="วงรี 74">
            <a:extLst>
              <a:ext uri="{FF2B5EF4-FFF2-40B4-BE49-F238E27FC236}">
                <a16:creationId xmlns:a16="http://schemas.microsoft.com/office/drawing/2014/main" id="{B5532BEA-317A-B7F2-3E46-3A4CD04C0C4F}"/>
              </a:ext>
            </a:extLst>
          </p:cNvPr>
          <p:cNvSpPr/>
          <p:nvPr/>
        </p:nvSpPr>
        <p:spPr>
          <a:xfrm>
            <a:off x="3944137" y="5071862"/>
            <a:ext cx="632224" cy="63222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78" name="วงรี 77">
            <a:extLst>
              <a:ext uri="{FF2B5EF4-FFF2-40B4-BE49-F238E27FC236}">
                <a16:creationId xmlns:a16="http://schemas.microsoft.com/office/drawing/2014/main" id="{34FF1D57-E188-7EA1-9D93-3406D6191D3C}"/>
              </a:ext>
            </a:extLst>
          </p:cNvPr>
          <p:cNvSpPr/>
          <p:nvPr/>
        </p:nvSpPr>
        <p:spPr>
          <a:xfrm>
            <a:off x="3624248" y="3120355"/>
            <a:ext cx="396429" cy="39642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82" name="Rectangle 7">
            <a:extLst>
              <a:ext uri="{FF2B5EF4-FFF2-40B4-BE49-F238E27FC236}">
                <a16:creationId xmlns:a16="http://schemas.microsoft.com/office/drawing/2014/main" id="{B9212D36-CD4E-F47E-7A67-371F54D49856}"/>
              </a:ext>
            </a:extLst>
          </p:cNvPr>
          <p:cNvSpPr>
            <a:spLocks/>
          </p:cNvSpPr>
          <p:nvPr/>
        </p:nvSpPr>
        <p:spPr bwMode="auto">
          <a:xfrm>
            <a:off x="9078046" y="5458744"/>
            <a:ext cx="3196320" cy="932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800" dirty="0">
                <a:solidFill>
                  <a:srgbClr val="002060"/>
                </a:solidFill>
                <a:latin typeface="FC Minimal" panose="020B0500040200020003" pitchFamily="34" charset="-34"/>
                <a:cs typeface="FC Minimal" panose="020B0500040200020003" pitchFamily="34" charset="-34"/>
              </a:rPr>
              <a:t>Solves: </a:t>
            </a:r>
          </a:p>
          <a:p>
            <a:pPr marL="285750" indent="-285750">
              <a:lnSpc>
                <a:spcPct val="75000"/>
              </a:lnSpc>
              <a:buFont typeface="Arial" panose="020B0604020202020204" pitchFamily="34" charset="0"/>
              <a:buChar char="•"/>
            </a:pPr>
            <a:r>
              <a:rPr lang="en-US" sz="1800" dirty="0">
                <a:solidFill>
                  <a:srgbClr val="002060"/>
                </a:solidFill>
                <a:latin typeface="FC Minimal" panose="020B0500040200020003" pitchFamily="34" charset="-34"/>
                <a:cs typeface="FC Minimal" panose="020B0500040200020003" pitchFamily="34" charset="-34"/>
              </a:rPr>
              <a:t>Lack of Fixturing Mechanism </a:t>
            </a:r>
          </a:p>
          <a:p>
            <a:pPr marL="285750" indent="-285750">
              <a:lnSpc>
                <a:spcPct val="75000"/>
              </a:lnSpc>
              <a:buFont typeface="Arial" panose="020B0604020202020204" pitchFamily="34" charset="0"/>
              <a:buChar char="•"/>
            </a:pPr>
            <a:r>
              <a:rPr lang="en-US" sz="1800" dirty="0">
                <a:solidFill>
                  <a:srgbClr val="002060"/>
                </a:solidFill>
                <a:latin typeface="FC Minimal" panose="020B0500040200020003" pitchFamily="34" charset="-34"/>
                <a:cs typeface="FC Minimal" panose="020B0500040200020003" pitchFamily="34" charset="-34"/>
              </a:rPr>
              <a:t>Inconsistent Measurements </a:t>
            </a:r>
          </a:p>
          <a:p>
            <a:pPr marL="285750" indent="-285750">
              <a:lnSpc>
                <a:spcPct val="75000"/>
              </a:lnSpc>
              <a:buFont typeface="Arial" panose="020B0604020202020204" pitchFamily="34" charset="0"/>
              <a:buChar char="•"/>
            </a:pPr>
            <a:r>
              <a:rPr lang="en-US" sz="1800" dirty="0">
                <a:solidFill>
                  <a:srgbClr val="002060"/>
                </a:solidFill>
                <a:latin typeface="FC Minimal" panose="020B0500040200020003" pitchFamily="34" charset="-34"/>
                <a:cs typeface="FC Minimal" panose="020B0500040200020003" pitchFamily="34" charset="-34"/>
              </a:rPr>
              <a:t>Inconsistent Cycle Time</a:t>
            </a:r>
          </a:p>
        </p:txBody>
      </p:sp>
      <p:grpSp>
        <p:nvGrpSpPr>
          <p:cNvPr id="2" name="กลุ่ม 1">
            <a:extLst>
              <a:ext uri="{FF2B5EF4-FFF2-40B4-BE49-F238E27FC236}">
                <a16:creationId xmlns:a16="http://schemas.microsoft.com/office/drawing/2014/main" id="{CF54EBE9-BB88-AE2B-8ADD-2815C301A6C4}"/>
              </a:ext>
            </a:extLst>
          </p:cNvPr>
          <p:cNvGrpSpPr/>
          <p:nvPr/>
        </p:nvGrpSpPr>
        <p:grpSpPr>
          <a:xfrm>
            <a:off x="7545531" y="2157593"/>
            <a:ext cx="287691" cy="310125"/>
            <a:chOff x="4831080" y="2402241"/>
            <a:chExt cx="287691" cy="310125"/>
          </a:xfrm>
        </p:grpSpPr>
        <p:sp>
          <p:nvSpPr>
            <p:cNvPr id="3" name="วงรี 2">
              <a:extLst>
                <a:ext uri="{FF2B5EF4-FFF2-40B4-BE49-F238E27FC236}">
                  <a16:creationId xmlns:a16="http://schemas.microsoft.com/office/drawing/2014/main" id="{3EAB11DD-4B08-6108-8CBD-68483A16698B}"/>
                </a:ext>
              </a:extLst>
            </p:cNvPr>
            <p:cNvSpPr/>
            <p:nvPr/>
          </p:nvSpPr>
          <p:spPr>
            <a:xfrm>
              <a:off x="4831080" y="2402241"/>
              <a:ext cx="287691" cy="287691"/>
            </a:xfrm>
            <a:prstGeom prst="ellipse">
              <a:avLst/>
            </a:prstGeom>
            <a:noFill/>
            <a:ln w="127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dirty="0"/>
            </a:p>
          </p:txBody>
        </p:sp>
        <p:sp>
          <p:nvSpPr>
            <p:cNvPr id="4" name="Rectangle 7">
              <a:extLst>
                <a:ext uri="{FF2B5EF4-FFF2-40B4-BE49-F238E27FC236}">
                  <a16:creationId xmlns:a16="http://schemas.microsoft.com/office/drawing/2014/main" id="{5EF0A73B-60FC-8E3C-56CA-6B9658FFA21F}"/>
                </a:ext>
              </a:extLst>
            </p:cNvPr>
            <p:cNvSpPr>
              <a:spLocks/>
            </p:cNvSpPr>
            <p:nvPr/>
          </p:nvSpPr>
          <p:spPr bwMode="auto">
            <a:xfrm>
              <a:off x="4899417" y="2402666"/>
              <a:ext cx="151017"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75000"/>
                </a:lnSpc>
              </a:pPr>
              <a:r>
                <a:rPr lang="en-US" sz="1800" dirty="0">
                  <a:solidFill>
                    <a:srgbClr val="002060"/>
                  </a:solidFill>
                  <a:latin typeface="FC Minimal" panose="020B0500040200020003" pitchFamily="34" charset="-34"/>
                  <a:cs typeface="FC Minimal" panose="020B0500040200020003" pitchFamily="34" charset="-34"/>
                </a:rPr>
                <a:t>1</a:t>
              </a:r>
            </a:p>
          </p:txBody>
        </p:sp>
      </p:grpSp>
      <p:cxnSp>
        <p:nvCxnSpPr>
          <p:cNvPr id="16" name="ตัวเชื่อมต่อตรง 15">
            <a:extLst>
              <a:ext uri="{FF2B5EF4-FFF2-40B4-BE49-F238E27FC236}">
                <a16:creationId xmlns:a16="http://schemas.microsoft.com/office/drawing/2014/main" id="{0CB587BD-1B67-1B97-58D2-2DCC364FDC74}"/>
              </a:ext>
            </a:extLst>
          </p:cNvPr>
          <p:cNvCxnSpPr/>
          <p:nvPr/>
        </p:nvCxnSpPr>
        <p:spPr>
          <a:xfrm>
            <a:off x="958452" y="3222596"/>
            <a:ext cx="1840230" cy="0"/>
          </a:xfrm>
          <a:prstGeom prst="line">
            <a:avLst/>
          </a:prstGeom>
          <a:ln w="19050">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cxnSp>
        <p:nvCxnSpPr>
          <p:cNvPr id="17" name="ตัวเชื่อมต่อตรง 16">
            <a:extLst>
              <a:ext uri="{FF2B5EF4-FFF2-40B4-BE49-F238E27FC236}">
                <a16:creationId xmlns:a16="http://schemas.microsoft.com/office/drawing/2014/main" id="{A42AF02B-9BD6-A4E8-AC0E-D03E85F29671}"/>
              </a:ext>
            </a:extLst>
          </p:cNvPr>
          <p:cNvCxnSpPr/>
          <p:nvPr/>
        </p:nvCxnSpPr>
        <p:spPr>
          <a:xfrm>
            <a:off x="940670" y="5402545"/>
            <a:ext cx="1840230" cy="0"/>
          </a:xfrm>
          <a:prstGeom prst="line">
            <a:avLst/>
          </a:prstGeom>
          <a:ln w="19050">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cxnSp>
        <p:nvCxnSpPr>
          <p:cNvPr id="18" name="ตัวเชื่อมต่อตรง 17">
            <a:extLst>
              <a:ext uri="{FF2B5EF4-FFF2-40B4-BE49-F238E27FC236}">
                <a16:creationId xmlns:a16="http://schemas.microsoft.com/office/drawing/2014/main" id="{FB40BDFE-7B98-7EFD-12FF-322F01E17ADF}"/>
              </a:ext>
            </a:extLst>
          </p:cNvPr>
          <p:cNvCxnSpPr>
            <a:cxnSpLocks/>
          </p:cNvCxnSpPr>
          <p:nvPr/>
        </p:nvCxnSpPr>
        <p:spPr>
          <a:xfrm>
            <a:off x="7939779" y="2755808"/>
            <a:ext cx="3459741" cy="0"/>
          </a:xfrm>
          <a:prstGeom prst="line">
            <a:avLst/>
          </a:prstGeom>
          <a:ln w="19050">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89915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4A032-AC86-FDCA-85FB-8D94F694FE11}"/>
            </a:ext>
          </a:extLst>
        </p:cNvPr>
        <p:cNvGrpSpPr/>
        <p:nvPr/>
      </p:nvGrpSpPr>
      <p:grpSpPr>
        <a:xfrm>
          <a:off x="0" y="0"/>
          <a:ext cx="0" cy="0"/>
          <a:chOff x="0" y="0"/>
          <a:chExt cx="0" cy="0"/>
        </a:xfrm>
      </p:grpSpPr>
      <p:sp>
        <p:nvSpPr>
          <p:cNvPr id="51" name="วงรี 50">
            <a:extLst>
              <a:ext uri="{FF2B5EF4-FFF2-40B4-BE49-F238E27FC236}">
                <a16:creationId xmlns:a16="http://schemas.microsoft.com/office/drawing/2014/main" id="{A703DA7B-19E9-7545-5B40-4E6F03940AF2}"/>
              </a:ext>
            </a:extLst>
          </p:cNvPr>
          <p:cNvSpPr/>
          <p:nvPr/>
        </p:nvSpPr>
        <p:spPr>
          <a:xfrm>
            <a:off x="1011468" y="4517740"/>
            <a:ext cx="1721280" cy="1721280"/>
          </a:xfrm>
          <a:prstGeom prst="ellipse">
            <a:avLst/>
          </a:prstGeom>
          <a:solidFill>
            <a:srgbClr val="A4A4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5" name="สี่เหลี่ยมผืนผ้า: มุมมน 4">
            <a:extLst>
              <a:ext uri="{FF2B5EF4-FFF2-40B4-BE49-F238E27FC236}">
                <a16:creationId xmlns:a16="http://schemas.microsoft.com/office/drawing/2014/main" id="{42316B5F-7127-716D-9329-3B2E68D069F7}"/>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
        <p:nvSpPr>
          <p:cNvPr id="7" name="สี่เหลี่ยมผืนผ้า 6">
            <a:extLst>
              <a:ext uri="{FF2B5EF4-FFF2-40B4-BE49-F238E27FC236}">
                <a16:creationId xmlns:a16="http://schemas.microsoft.com/office/drawing/2014/main" id="{53A53D5B-3AC1-21ED-9C6E-982BEBC0E9A3}"/>
              </a:ext>
            </a:extLst>
          </p:cNvPr>
          <p:cNvSpPr/>
          <p:nvPr/>
        </p:nvSpPr>
        <p:spPr>
          <a:xfrm>
            <a:off x="432244" y="533608"/>
            <a:ext cx="4527945" cy="618321"/>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p>
        </p:txBody>
      </p:sp>
      <p:sp>
        <p:nvSpPr>
          <p:cNvPr id="9" name="สี่เหลี่ยมผืนผ้า 8">
            <a:extLst>
              <a:ext uri="{FF2B5EF4-FFF2-40B4-BE49-F238E27FC236}">
                <a16:creationId xmlns:a16="http://schemas.microsoft.com/office/drawing/2014/main" id="{2E2D9D9A-9A3B-7079-D7C7-DC555F539AAC}"/>
              </a:ext>
            </a:extLst>
          </p:cNvPr>
          <p:cNvSpPr/>
          <p:nvPr/>
        </p:nvSpPr>
        <p:spPr>
          <a:xfrm>
            <a:off x="432246" y="533608"/>
            <a:ext cx="132080" cy="61832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p>
        </p:txBody>
      </p:sp>
      <p:sp>
        <p:nvSpPr>
          <p:cNvPr id="11" name="กล่องข้อความ 10">
            <a:extLst>
              <a:ext uri="{FF2B5EF4-FFF2-40B4-BE49-F238E27FC236}">
                <a16:creationId xmlns:a16="http://schemas.microsoft.com/office/drawing/2014/main" id="{AEE48FF5-65DB-AC46-E626-9DD01331B9C7}"/>
              </a:ext>
            </a:extLst>
          </p:cNvPr>
          <p:cNvSpPr txBox="1">
            <a:spLocks/>
          </p:cNvSpPr>
          <p:nvPr/>
        </p:nvSpPr>
        <p:spPr>
          <a:xfrm>
            <a:off x="216926" y="598400"/>
            <a:ext cx="5070380" cy="461665"/>
          </a:xfrm>
          <a:prstGeom prst="rect">
            <a:avLst/>
          </a:prstGeom>
          <a:noFill/>
        </p:spPr>
        <p:txBody>
          <a:bodyPr wrap="square" rtlCol="0">
            <a:spAutoFit/>
          </a:bodyPr>
          <a:lstStyle/>
          <a:p>
            <a:pPr algn="ctr"/>
            <a:r>
              <a:rPr lang="en-US" sz="2400" b="1" dirty="0">
                <a:solidFill>
                  <a:srgbClr val="002060"/>
                </a:solidFill>
                <a:latin typeface="Helvetica" panose="020B0604020202020204" pitchFamily="34" charset="0"/>
                <a:cs typeface="Helvetica" panose="020B0604020202020204" pitchFamily="34" charset="0"/>
              </a:rPr>
              <a:t>Transition Module Details</a:t>
            </a:r>
          </a:p>
        </p:txBody>
      </p:sp>
      <p:pic>
        <p:nvPicPr>
          <p:cNvPr id="13" name="Picture 2" descr="Analog Devices | Disruptive Technology for Clinical Trials">
            <a:extLst>
              <a:ext uri="{FF2B5EF4-FFF2-40B4-BE49-F238E27FC236}">
                <a16:creationId xmlns:a16="http://schemas.microsoft.com/office/drawing/2014/main" id="{ABC00766-CB01-E54F-0035-22098533CE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5" name="Picture 2" descr="LOGO_ENkku_color – Faculty of Engineering , Khon Kaen University">
            <a:extLst>
              <a:ext uri="{FF2B5EF4-FFF2-40B4-BE49-F238E27FC236}">
                <a16:creationId xmlns:a16="http://schemas.microsoft.com/office/drawing/2014/main" id="{911C320D-F06A-D369-B28F-57E99BE7B34A}"/>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14" name="กล่องข้อความ 13">
            <a:extLst>
              <a:ext uri="{FF2B5EF4-FFF2-40B4-BE49-F238E27FC236}">
                <a16:creationId xmlns:a16="http://schemas.microsoft.com/office/drawing/2014/main" id="{E945177F-40C6-B756-44EB-8DEA6197C23F}"/>
              </a:ext>
            </a:extLst>
          </p:cNvPr>
          <p:cNvSpPr txBox="1"/>
          <p:nvPr/>
        </p:nvSpPr>
        <p:spPr>
          <a:xfrm>
            <a:off x="770956" y="1316385"/>
            <a:ext cx="10872403" cy="830997"/>
          </a:xfrm>
          <a:prstGeom prst="rect">
            <a:avLst/>
          </a:prstGeom>
          <a:noFill/>
        </p:spPr>
        <p:txBody>
          <a:bodyPr wrap="square">
            <a:spAutoFit/>
          </a:bodyPr>
          <a:lstStyle/>
          <a:p>
            <a:r>
              <a:rPr lang="en-US" sz="1600" dirty="0">
                <a:solidFill>
                  <a:srgbClr val="002060"/>
                </a:solidFill>
                <a:latin typeface="Helvetica" panose="020B0604020202020204" pitchFamily="34" charset="0"/>
                <a:cs typeface="Helvetica" panose="020B0604020202020204" pitchFamily="34" charset="0"/>
              </a:rPr>
              <a:t>	This module transfers the workpiece from the alignment point to the sorting point using an MG996R 360° servo driving a 27-tooth gear and pusher, with a limit switch to precisely stop the pusher's travel and halt the servo — ensuring reliable, damage-free hand-off between modules.</a:t>
            </a:r>
          </a:p>
        </p:txBody>
      </p:sp>
      <p:sp>
        <p:nvSpPr>
          <p:cNvPr id="41" name="Rectangle 7">
            <a:extLst>
              <a:ext uri="{FF2B5EF4-FFF2-40B4-BE49-F238E27FC236}">
                <a16:creationId xmlns:a16="http://schemas.microsoft.com/office/drawing/2014/main" id="{62A10ED7-CD89-A4A9-B7C1-C1AC9EE4159C}"/>
              </a:ext>
            </a:extLst>
          </p:cNvPr>
          <p:cNvSpPr>
            <a:spLocks/>
          </p:cNvSpPr>
          <p:nvPr/>
        </p:nvSpPr>
        <p:spPr bwMode="auto">
          <a:xfrm>
            <a:off x="907164" y="2697275"/>
            <a:ext cx="2201837"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pt-BR" sz="1800" dirty="0">
                <a:solidFill>
                  <a:srgbClr val="002060"/>
                </a:solidFill>
                <a:latin typeface="FC Minimal" panose="020B0500040200020003" pitchFamily="34" charset="-34"/>
                <a:cs typeface="FC Minimal" panose="020B0500040200020003" pitchFamily="34" charset="-34"/>
              </a:rPr>
              <a:t>MG996R Servo (360°) </a:t>
            </a:r>
          </a:p>
        </p:txBody>
      </p:sp>
      <p:grpSp>
        <p:nvGrpSpPr>
          <p:cNvPr id="42" name="กลุ่ม 41">
            <a:extLst>
              <a:ext uri="{FF2B5EF4-FFF2-40B4-BE49-F238E27FC236}">
                <a16:creationId xmlns:a16="http://schemas.microsoft.com/office/drawing/2014/main" id="{DCDCEA1A-899E-07CE-C3C6-DC8B7CAEE3CB}"/>
              </a:ext>
            </a:extLst>
          </p:cNvPr>
          <p:cNvGrpSpPr/>
          <p:nvPr/>
        </p:nvGrpSpPr>
        <p:grpSpPr>
          <a:xfrm>
            <a:off x="563592" y="2692637"/>
            <a:ext cx="287691" cy="310125"/>
            <a:chOff x="4831080" y="2402241"/>
            <a:chExt cx="287691" cy="310125"/>
          </a:xfrm>
        </p:grpSpPr>
        <p:sp>
          <p:nvSpPr>
            <p:cNvPr id="43" name="วงรี 42">
              <a:extLst>
                <a:ext uri="{FF2B5EF4-FFF2-40B4-BE49-F238E27FC236}">
                  <a16:creationId xmlns:a16="http://schemas.microsoft.com/office/drawing/2014/main" id="{590D8415-7833-9FE6-63E1-284D09C35AA4}"/>
                </a:ext>
              </a:extLst>
            </p:cNvPr>
            <p:cNvSpPr/>
            <p:nvPr/>
          </p:nvSpPr>
          <p:spPr>
            <a:xfrm>
              <a:off x="4831080" y="2402241"/>
              <a:ext cx="287691" cy="287691"/>
            </a:xfrm>
            <a:prstGeom prst="ellipse">
              <a:avLst/>
            </a:prstGeom>
            <a:noFill/>
            <a:ln w="127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dirty="0"/>
            </a:p>
          </p:txBody>
        </p:sp>
        <p:sp>
          <p:nvSpPr>
            <p:cNvPr id="44" name="Rectangle 7">
              <a:extLst>
                <a:ext uri="{FF2B5EF4-FFF2-40B4-BE49-F238E27FC236}">
                  <a16:creationId xmlns:a16="http://schemas.microsoft.com/office/drawing/2014/main" id="{A1801464-F699-B841-776B-A21D29795918}"/>
                </a:ext>
              </a:extLst>
            </p:cNvPr>
            <p:cNvSpPr>
              <a:spLocks/>
            </p:cNvSpPr>
            <p:nvPr/>
          </p:nvSpPr>
          <p:spPr bwMode="auto">
            <a:xfrm>
              <a:off x="4899417" y="2402666"/>
              <a:ext cx="151017"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75000"/>
                </a:lnSpc>
              </a:pPr>
              <a:r>
                <a:rPr lang="en-US" sz="1800" dirty="0">
                  <a:solidFill>
                    <a:srgbClr val="002060"/>
                  </a:solidFill>
                  <a:latin typeface="FC Minimal" panose="020B0500040200020003" pitchFamily="34" charset="-34"/>
                  <a:cs typeface="FC Minimal" panose="020B0500040200020003" pitchFamily="34" charset="-34"/>
                </a:rPr>
                <a:t>1</a:t>
              </a:r>
            </a:p>
          </p:txBody>
        </p:sp>
      </p:grpSp>
      <p:sp>
        <p:nvSpPr>
          <p:cNvPr id="47" name="Rectangle 7">
            <a:extLst>
              <a:ext uri="{FF2B5EF4-FFF2-40B4-BE49-F238E27FC236}">
                <a16:creationId xmlns:a16="http://schemas.microsoft.com/office/drawing/2014/main" id="{25789322-6C85-CDD8-54B4-9493ADC7F12E}"/>
              </a:ext>
            </a:extLst>
          </p:cNvPr>
          <p:cNvSpPr>
            <a:spLocks/>
          </p:cNvSpPr>
          <p:nvPr/>
        </p:nvSpPr>
        <p:spPr bwMode="auto">
          <a:xfrm>
            <a:off x="907164" y="3312123"/>
            <a:ext cx="1844952" cy="654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600" dirty="0">
                <a:solidFill>
                  <a:srgbClr val="002060"/>
                </a:solidFill>
                <a:latin typeface="FC Minimal" panose="020B0500040200020003" pitchFamily="34" charset="-34"/>
                <a:cs typeface="FC Minimal" panose="020B0500040200020003" pitchFamily="34" charset="-34"/>
              </a:rPr>
              <a:t>Rotates the gear to drive the pusher, moving the workpiece forward.</a:t>
            </a:r>
          </a:p>
        </p:txBody>
      </p:sp>
      <p:sp>
        <p:nvSpPr>
          <p:cNvPr id="60" name="Rectangle 7">
            <a:extLst>
              <a:ext uri="{FF2B5EF4-FFF2-40B4-BE49-F238E27FC236}">
                <a16:creationId xmlns:a16="http://schemas.microsoft.com/office/drawing/2014/main" id="{84808B45-7A3A-D9BF-1DCF-78D1BC2534BE}"/>
              </a:ext>
            </a:extLst>
          </p:cNvPr>
          <p:cNvSpPr>
            <a:spLocks/>
          </p:cNvSpPr>
          <p:nvPr/>
        </p:nvSpPr>
        <p:spPr bwMode="auto">
          <a:xfrm>
            <a:off x="8611474" y="4165195"/>
            <a:ext cx="2034244"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800" dirty="0">
                <a:solidFill>
                  <a:srgbClr val="002060"/>
                </a:solidFill>
                <a:latin typeface="FC Minimal" panose="020B0500040200020003" pitchFamily="34" charset="-34"/>
                <a:cs typeface="FC Minimal" panose="020B0500040200020003" pitchFamily="34" charset="-34"/>
              </a:rPr>
              <a:t>Gear Pusher</a:t>
            </a:r>
          </a:p>
        </p:txBody>
      </p:sp>
      <p:grpSp>
        <p:nvGrpSpPr>
          <p:cNvPr id="61" name="กลุ่ม 60">
            <a:extLst>
              <a:ext uri="{FF2B5EF4-FFF2-40B4-BE49-F238E27FC236}">
                <a16:creationId xmlns:a16="http://schemas.microsoft.com/office/drawing/2014/main" id="{2E887F14-C5D4-4350-2B69-F90BA7C579C9}"/>
              </a:ext>
            </a:extLst>
          </p:cNvPr>
          <p:cNvGrpSpPr/>
          <p:nvPr/>
        </p:nvGrpSpPr>
        <p:grpSpPr>
          <a:xfrm>
            <a:off x="8313622" y="4164770"/>
            <a:ext cx="287691" cy="310125"/>
            <a:chOff x="4831080" y="2402241"/>
            <a:chExt cx="287691" cy="310125"/>
          </a:xfrm>
        </p:grpSpPr>
        <p:sp>
          <p:nvSpPr>
            <p:cNvPr id="62" name="วงรี 61">
              <a:extLst>
                <a:ext uri="{FF2B5EF4-FFF2-40B4-BE49-F238E27FC236}">
                  <a16:creationId xmlns:a16="http://schemas.microsoft.com/office/drawing/2014/main" id="{008C3DAB-8BE8-5E44-C9A3-AE3D8A3410BA}"/>
                </a:ext>
              </a:extLst>
            </p:cNvPr>
            <p:cNvSpPr/>
            <p:nvPr/>
          </p:nvSpPr>
          <p:spPr>
            <a:xfrm>
              <a:off x="4831080" y="2402241"/>
              <a:ext cx="287691" cy="287691"/>
            </a:xfrm>
            <a:prstGeom prst="ellipse">
              <a:avLst/>
            </a:prstGeom>
            <a:noFill/>
            <a:ln w="127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dirty="0"/>
            </a:p>
          </p:txBody>
        </p:sp>
        <p:sp>
          <p:nvSpPr>
            <p:cNvPr id="63" name="Rectangle 7">
              <a:extLst>
                <a:ext uri="{FF2B5EF4-FFF2-40B4-BE49-F238E27FC236}">
                  <a16:creationId xmlns:a16="http://schemas.microsoft.com/office/drawing/2014/main" id="{38C67A8B-F67F-0C88-ACF8-83B795F6F245}"/>
                </a:ext>
              </a:extLst>
            </p:cNvPr>
            <p:cNvSpPr>
              <a:spLocks/>
            </p:cNvSpPr>
            <p:nvPr/>
          </p:nvSpPr>
          <p:spPr bwMode="auto">
            <a:xfrm>
              <a:off x="4899417" y="2402666"/>
              <a:ext cx="151017"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75000"/>
                </a:lnSpc>
              </a:pPr>
              <a:r>
                <a:rPr lang="en-US" sz="1800" dirty="0">
                  <a:solidFill>
                    <a:srgbClr val="002060"/>
                  </a:solidFill>
                  <a:latin typeface="FC Minimal" panose="020B0500040200020003" pitchFamily="34" charset="-34"/>
                  <a:cs typeface="FC Minimal" panose="020B0500040200020003" pitchFamily="34" charset="-34"/>
                </a:rPr>
                <a:t>3</a:t>
              </a:r>
            </a:p>
          </p:txBody>
        </p:sp>
      </p:grpSp>
      <p:sp>
        <p:nvSpPr>
          <p:cNvPr id="65" name="Rectangle 7">
            <a:extLst>
              <a:ext uri="{FF2B5EF4-FFF2-40B4-BE49-F238E27FC236}">
                <a16:creationId xmlns:a16="http://schemas.microsoft.com/office/drawing/2014/main" id="{78E5F541-B06A-FF3B-523B-2E35DB83DF00}"/>
              </a:ext>
            </a:extLst>
          </p:cNvPr>
          <p:cNvSpPr>
            <a:spLocks/>
          </p:cNvSpPr>
          <p:nvPr/>
        </p:nvSpPr>
        <p:spPr bwMode="auto">
          <a:xfrm>
            <a:off x="8611474" y="4782395"/>
            <a:ext cx="2034244" cy="654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600" dirty="0">
                <a:solidFill>
                  <a:srgbClr val="002060"/>
                </a:solidFill>
                <a:latin typeface="FC Minimal" panose="020B0500040200020003" pitchFamily="34" charset="-34"/>
                <a:cs typeface="FC Minimal" panose="020B0500040200020003" pitchFamily="34" charset="-34"/>
              </a:rPr>
              <a:t>Physically pushes the part from the alignment station toward the sorter.</a:t>
            </a:r>
          </a:p>
        </p:txBody>
      </p:sp>
      <p:sp>
        <p:nvSpPr>
          <p:cNvPr id="70" name="Rectangle 7">
            <a:extLst>
              <a:ext uri="{FF2B5EF4-FFF2-40B4-BE49-F238E27FC236}">
                <a16:creationId xmlns:a16="http://schemas.microsoft.com/office/drawing/2014/main" id="{9DC0F2C8-6AEA-262E-5606-CEF3125513A8}"/>
              </a:ext>
            </a:extLst>
          </p:cNvPr>
          <p:cNvSpPr>
            <a:spLocks/>
          </p:cNvSpPr>
          <p:nvPr/>
        </p:nvSpPr>
        <p:spPr bwMode="auto">
          <a:xfrm>
            <a:off x="8621635" y="4438070"/>
            <a:ext cx="3034917" cy="261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400" dirty="0">
                <a:solidFill>
                  <a:srgbClr val="FF0000"/>
                </a:solidFill>
                <a:latin typeface="FC Minimal" panose="020B0500040200020003" pitchFamily="34" charset="-34"/>
                <a:cs typeface="FC Minimal" panose="020B0500040200020003" pitchFamily="34" charset="-34"/>
              </a:rPr>
              <a:t>Pushes the part 30 mm from original position</a:t>
            </a:r>
          </a:p>
        </p:txBody>
      </p:sp>
      <p:pic>
        <p:nvPicPr>
          <p:cNvPr id="16" name="รูปภาพ 15">
            <a:extLst>
              <a:ext uri="{FF2B5EF4-FFF2-40B4-BE49-F238E27FC236}">
                <a16:creationId xmlns:a16="http://schemas.microsoft.com/office/drawing/2014/main" id="{2BAA24BF-1EBF-9CAE-54C4-C33F0A190E93}"/>
              </a:ext>
            </a:extLst>
          </p:cNvPr>
          <p:cNvPicPr>
            <a:picLocks noChangeAspect="1"/>
          </p:cNvPicPr>
          <p:nvPr/>
        </p:nvPicPr>
        <p:blipFill>
          <a:blip r:embed="rId5">
            <a:extLst>
              <a:ext uri="{28A0092B-C50C-407E-A947-70E740481C1C}">
                <a14:useLocalDpi xmlns:a14="http://schemas.microsoft.com/office/drawing/2010/main" val="0"/>
              </a:ext>
            </a:extLst>
          </a:blip>
          <a:srcRect t="16562" b="16562"/>
          <a:stretch/>
        </p:blipFill>
        <p:spPr>
          <a:xfrm>
            <a:off x="3093877" y="3074898"/>
            <a:ext cx="4134613" cy="2765048"/>
          </a:xfrm>
          <a:prstGeom prst="rect">
            <a:avLst/>
          </a:prstGeom>
        </p:spPr>
      </p:pic>
      <p:cxnSp>
        <p:nvCxnSpPr>
          <p:cNvPr id="27" name="ตัวเชื่อมต่อตรง 26">
            <a:extLst>
              <a:ext uri="{FF2B5EF4-FFF2-40B4-BE49-F238E27FC236}">
                <a16:creationId xmlns:a16="http://schemas.microsoft.com/office/drawing/2014/main" id="{1FE63224-65A4-CFCC-C31D-87A7A082EE2A}"/>
              </a:ext>
            </a:extLst>
          </p:cNvPr>
          <p:cNvCxnSpPr>
            <a:cxnSpLocks/>
          </p:cNvCxnSpPr>
          <p:nvPr/>
        </p:nvCxnSpPr>
        <p:spPr>
          <a:xfrm>
            <a:off x="8710699" y="4740941"/>
            <a:ext cx="2047493" cy="0"/>
          </a:xfrm>
          <a:prstGeom prst="line">
            <a:avLst/>
          </a:prstGeom>
          <a:ln w="19050">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sp>
        <p:nvSpPr>
          <p:cNvPr id="29" name="Rectangle 7">
            <a:extLst>
              <a:ext uri="{FF2B5EF4-FFF2-40B4-BE49-F238E27FC236}">
                <a16:creationId xmlns:a16="http://schemas.microsoft.com/office/drawing/2014/main" id="{A6D54687-B74D-C660-B8AA-0853EEB02610}"/>
              </a:ext>
            </a:extLst>
          </p:cNvPr>
          <p:cNvSpPr>
            <a:spLocks/>
          </p:cNvSpPr>
          <p:nvPr/>
        </p:nvSpPr>
        <p:spPr bwMode="auto">
          <a:xfrm>
            <a:off x="907164" y="2966773"/>
            <a:ext cx="1120218" cy="261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400" dirty="0">
                <a:solidFill>
                  <a:srgbClr val="FF0000"/>
                </a:solidFill>
                <a:latin typeface="FC Minimal" panose="020B0500040200020003" pitchFamily="34" charset="-34"/>
                <a:cs typeface="FC Minimal" panose="020B0500040200020003" pitchFamily="34" charset="-34"/>
              </a:rPr>
              <a:t>With 27T Gear</a:t>
            </a:r>
          </a:p>
        </p:txBody>
      </p:sp>
      <p:cxnSp>
        <p:nvCxnSpPr>
          <p:cNvPr id="32" name="ตัวเชื่อมต่อตรง 31">
            <a:extLst>
              <a:ext uri="{FF2B5EF4-FFF2-40B4-BE49-F238E27FC236}">
                <a16:creationId xmlns:a16="http://schemas.microsoft.com/office/drawing/2014/main" id="{A244D146-7A5B-484E-7E8C-8A5D11F38253}"/>
              </a:ext>
            </a:extLst>
          </p:cNvPr>
          <p:cNvCxnSpPr>
            <a:cxnSpLocks/>
          </p:cNvCxnSpPr>
          <p:nvPr/>
        </p:nvCxnSpPr>
        <p:spPr>
          <a:xfrm>
            <a:off x="1011468" y="3268831"/>
            <a:ext cx="1666824" cy="0"/>
          </a:xfrm>
          <a:prstGeom prst="line">
            <a:avLst/>
          </a:prstGeom>
          <a:ln w="19050">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cxnSp>
        <p:nvCxnSpPr>
          <p:cNvPr id="34" name="ลูกศรเชื่อมต่อแบบตรง 33">
            <a:extLst>
              <a:ext uri="{FF2B5EF4-FFF2-40B4-BE49-F238E27FC236}">
                <a16:creationId xmlns:a16="http://schemas.microsoft.com/office/drawing/2014/main" id="{65297DEF-B1BC-34BD-0735-480EF3A2FB4E}"/>
              </a:ext>
            </a:extLst>
          </p:cNvPr>
          <p:cNvCxnSpPr>
            <a:cxnSpLocks/>
          </p:cNvCxnSpPr>
          <p:nvPr/>
        </p:nvCxnSpPr>
        <p:spPr>
          <a:xfrm>
            <a:off x="2816352" y="2834640"/>
            <a:ext cx="1466399" cy="1346312"/>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46" name="รูปภาพ 45">
            <a:extLst>
              <a:ext uri="{FF2B5EF4-FFF2-40B4-BE49-F238E27FC236}">
                <a16:creationId xmlns:a16="http://schemas.microsoft.com/office/drawing/2014/main" id="{3FB7278E-3A07-A25D-D30A-F25FA177A293}"/>
              </a:ext>
            </a:extLst>
          </p:cNvPr>
          <p:cNvPicPr>
            <a:picLocks noChangeAspect="1"/>
          </p:cNvPicPr>
          <p:nvPr/>
        </p:nvPicPr>
        <p:blipFill rotWithShape="1">
          <a:blip r:embed="rId6">
            <a:extLst>
              <a:ext uri="{28A0092B-C50C-407E-A947-70E740481C1C}">
                <a14:useLocalDpi xmlns:a14="http://schemas.microsoft.com/office/drawing/2010/main" val="0"/>
              </a:ext>
            </a:extLst>
          </a:blip>
          <a:srcRect l="37769" t="43731" r="33666" b="27704"/>
          <a:stretch>
            <a:fillRect/>
          </a:stretch>
        </p:blipFill>
        <p:spPr>
          <a:xfrm>
            <a:off x="1011468" y="4517740"/>
            <a:ext cx="1721280" cy="1721280"/>
          </a:xfrm>
          <a:prstGeom prst="ellipse">
            <a:avLst/>
          </a:prstGeom>
        </p:spPr>
      </p:pic>
      <p:cxnSp>
        <p:nvCxnSpPr>
          <p:cNvPr id="52" name="ลูกศรเชื่อมต่อแบบตรง 51">
            <a:extLst>
              <a:ext uri="{FF2B5EF4-FFF2-40B4-BE49-F238E27FC236}">
                <a16:creationId xmlns:a16="http://schemas.microsoft.com/office/drawing/2014/main" id="{1987C15A-05DD-C055-5A64-BBC2E8783B8F}"/>
              </a:ext>
            </a:extLst>
          </p:cNvPr>
          <p:cNvCxnSpPr>
            <a:cxnSpLocks/>
          </p:cNvCxnSpPr>
          <p:nvPr/>
        </p:nvCxnSpPr>
        <p:spPr>
          <a:xfrm>
            <a:off x="2816352" y="5283200"/>
            <a:ext cx="1466399" cy="54711"/>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5" name="ลูกศรเชื่อมต่อแบบตรง 54">
            <a:extLst>
              <a:ext uri="{FF2B5EF4-FFF2-40B4-BE49-F238E27FC236}">
                <a16:creationId xmlns:a16="http://schemas.microsoft.com/office/drawing/2014/main" id="{3F8BA006-1838-033C-EC2E-762DA2EC42BD}"/>
              </a:ext>
            </a:extLst>
          </p:cNvPr>
          <p:cNvCxnSpPr>
            <a:cxnSpLocks/>
          </p:cNvCxnSpPr>
          <p:nvPr/>
        </p:nvCxnSpPr>
        <p:spPr>
          <a:xfrm flipH="1">
            <a:off x="5415891" y="2647950"/>
            <a:ext cx="2897731" cy="964104"/>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2" name="ลูกศรเชื่อมต่อแบบตรง 71">
            <a:extLst>
              <a:ext uri="{FF2B5EF4-FFF2-40B4-BE49-F238E27FC236}">
                <a16:creationId xmlns:a16="http://schemas.microsoft.com/office/drawing/2014/main" id="{89653F0F-905F-D93A-275C-91C84756B4E7}"/>
              </a:ext>
            </a:extLst>
          </p:cNvPr>
          <p:cNvCxnSpPr>
            <a:cxnSpLocks/>
          </p:cNvCxnSpPr>
          <p:nvPr/>
        </p:nvCxnSpPr>
        <p:spPr>
          <a:xfrm flipH="1">
            <a:off x="5868288" y="4302059"/>
            <a:ext cx="2361312" cy="0"/>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4" name="Rectangle 7">
            <a:extLst>
              <a:ext uri="{FF2B5EF4-FFF2-40B4-BE49-F238E27FC236}">
                <a16:creationId xmlns:a16="http://schemas.microsoft.com/office/drawing/2014/main" id="{653705A3-D9CC-F13C-1661-0E2C70B37F96}"/>
              </a:ext>
            </a:extLst>
          </p:cNvPr>
          <p:cNvSpPr>
            <a:spLocks/>
          </p:cNvSpPr>
          <p:nvPr/>
        </p:nvSpPr>
        <p:spPr bwMode="auto">
          <a:xfrm>
            <a:off x="8679712" y="2450808"/>
            <a:ext cx="2034244"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800" dirty="0">
                <a:solidFill>
                  <a:srgbClr val="002060"/>
                </a:solidFill>
                <a:latin typeface="FC Minimal" panose="020B0500040200020003" pitchFamily="34" charset="-34"/>
                <a:cs typeface="FC Minimal" panose="020B0500040200020003" pitchFamily="34" charset="-34"/>
              </a:rPr>
              <a:t>Limit Switch</a:t>
            </a:r>
          </a:p>
        </p:txBody>
      </p:sp>
      <p:grpSp>
        <p:nvGrpSpPr>
          <p:cNvPr id="76" name="กลุ่ม 75">
            <a:extLst>
              <a:ext uri="{FF2B5EF4-FFF2-40B4-BE49-F238E27FC236}">
                <a16:creationId xmlns:a16="http://schemas.microsoft.com/office/drawing/2014/main" id="{B9E84A95-D9A0-56D1-37F6-8F430F113CC5}"/>
              </a:ext>
            </a:extLst>
          </p:cNvPr>
          <p:cNvGrpSpPr/>
          <p:nvPr/>
        </p:nvGrpSpPr>
        <p:grpSpPr>
          <a:xfrm>
            <a:off x="8381860" y="2450383"/>
            <a:ext cx="287691" cy="310125"/>
            <a:chOff x="4831080" y="2402241"/>
            <a:chExt cx="287691" cy="310125"/>
          </a:xfrm>
        </p:grpSpPr>
        <p:sp>
          <p:nvSpPr>
            <p:cNvPr id="77" name="วงรี 76">
              <a:extLst>
                <a:ext uri="{FF2B5EF4-FFF2-40B4-BE49-F238E27FC236}">
                  <a16:creationId xmlns:a16="http://schemas.microsoft.com/office/drawing/2014/main" id="{6E322DD8-C553-E978-C73D-6D308095758F}"/>
                </a:ext>
              </a:extLst>
            </p:cNvPr>
            <p:cNvSpPr/>
            <p:nvPr/>
          </p:nvSpPr>
          <p:spPr>
            <a:xfrm>
              <a:off x="4831080" y="2402241"/>
              <a:ext cx="287691" cy="287691"/>
            </a:xfrm>
            <a:prstGeom prst="ellipse">
              <a:avLst/>
            </a:prstGeom>
            <a:noFill/>
            <a:ln w="127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dirty="0"/>
            </a:p>
          </p:txBody>
        </p:sp>
        <p:sp>
          <p:nvSpPr>
            <p:cNvPr id="79" name="Rectangle 7">
              <a:extLst>
                <a:ext uri="{FF2B5EF4-FFF2-40B4-BE49-F238E27FC236}">
                  <a16:creationId xmlns:a16="http://schemas.microsoft.com/office/drawing/2014/main" id="{1F10E4A3-AA7D-FEF1-B966-4E03002C7FCC}"/>
                </a:ext>
              </a:extLst>
            </p:cNvPr>
            <p:cNvSpPr>
              <a:spLocks/>
            </p:cNvSpPr>
            <p:nvPr/>
          </p:nvSpPr>
          <p:spPr bwMode="auto">
            <a:xfrm>
              <a:off x="4899417" y="2402666"/>
              <a:ext cx="151017"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75000"/>
                </a:lnSpc>
              </a:pPr>
              <a:r>
                <a:rPr lang="en-US" sz="1800" dirty="0">
                  <a:solidFill>
                    <a:srgbClr val="002060"/>
                  </a:solidFill>
                  <a:latin typeface="FC Minimal" panose="020B0500040200020003" pitchFamily="34" charset="-34"/>
                  <a:cs typeface="FC Minimal" panose="020B0500040200020003" pitchFamily="34" charset="-34"/>
                </a:rPr>
                <a:t>2</a:t>
              </a:r>
            </a:p>
          </p:txBody>
        </p:sp>
      </p:grpSp>
      <p:sp>
        <p:nvSpPr>
          <p:cNvPr id="80" name="Rectangle 7">
            <a:extLst>
              <a:ext uri="{FF2B5EF4-FFF2-40B4-BE49-F238E27FC236}">
                <a16:creationId xmlns:a16="http://schemas.microsoft.com/office/drawing/2014/main" id="{EB6DC819-F075-746C-76F0-4D93B6C26287}"/>
              </a:ext>
            </a:extLst>
          </p:cNvPr>
          <p:cNvSpPr>
            <a:spLocks/>
          </p:cNvSpPr>
          <p:nvPr/>
        </p:nvSpPr>
        <p:spPr bwMode="auto">
          <a:xfrm>
            <a:off x="8679712" y="2892090"/>
            <a:ext cx="2880359" cy="83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600" dirty="0">
                <a:solidFill>
                  <a:srgbClr val="002060"/>
                </a:solidFill>
                <a:latin typeface="FC Minimal" panose="020B0500040200020003" pitchFamily="34" charset="-34"/>
                <a:cs typeface="FC Minimal" panose="020B0500040200020003" pitchFamily="34" charset="-34"/>
              </a:rPr>
              <a:t>Detects when the pusher reaches its travel limit and stops the servo, preventing over-travel or mechanical strain.</a:t>
            </a:r>
          </a:p>
        </p:txBody>
      </p:sp>
      <p:cxnSp>
        <p:nvCxnSpPr>
          <p:cNvPr id="83" name="ตัวเชื่อมต่อตรง 82">
            <a:extLst>
              <a:ext uri="{FF2B5EF4-FFF2-40B4-BE49-F238E27FC236}">
                <a16:creationId xmlns:a16="http://schemas.microsoft.com/office/drawing/2014/main" id="{AD2899FB-A630-40B8-D990-AB73F9A65676}"/>
              </a:ext>
            </a:extLst>
          </p:cNvPr>
          <p:cNvCxnSpPr>
            <a:cxnSpLocks/>
          </p:cNvCxnSpPr>
          <p:nvPr/>
        </p:nvCxnSpPr>
        <p:spPr>
          <a:xfrm>
            <a:off x="8778937" y="2830611"/>
            <a:ext cx="2418941" cy="0"/>
          </a:xfrm>
          <a:prstGeom prst="line">
            <a:avLst/>
          </a:prstGeom>
          <a:ln w="19050">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46723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E7984-188C-65EF-286E-06B4F8514402}"/>
            </a:ext>
          </a:extLst>
        </p:cNvPr>
        <p:cNvGrpSpPr/>
        <p:nvPr/>
      </p:nvGrpSpPr>
      <p:grpSpPr>
        <a:xfrm>
          <a:off x="0" y="0"/>
          <a:ext cx="0" cy="0"/>
          <a:chOff x="0" y="0"/>
          <a:chExt cx="0" cy="0"/>
        </a:xfrm>
      </p:grpSpPr>
      <p:sp>
        <p:nvSpPr>
          <p:cNvPr id="5" name="สี่เหลี่ยมผืนผ้า: มุมมน 4">
            <a:extLst>
              <a:ext uri="{FF2B5EF4-FFF2-40B4-BE49-F238E27FC236}">
                <a16:creationId xmlns:a16="http://schemas.microsoft.com/office/drawing/2014/main" id="{D00A47FC-CC97-2DB3-C230-588E1FDA408C}"/>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
        <p:nvSpPr>
          <p:cNvPr id="7" name="สี่เหลี่ยมผืนผ้า 6">
            <a:extLst>
              <a:ext uri="{FF2B5EF4-FFF2-40B4-BE49-F238E27FC236}">
                <a16:creationId xmlns:a16="http://schemas.microsoft.com/office/drawing/2014/main" id="{4B72C660-FD82-26D9-017F-DD524388ECB2}"/>
              </a:ext>
            </a:extLst>
          </p:cNvPr>
          <p:cNvSpPr/>
          <p:nvPr/>
        </p:nvSpPr>
        <p:spPr>
          <a:xfrm>
            <a:off x="432244" y="533608"/>
            <a:ext cx="5558009" cy="618321"/>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9" name="สี่เหลี่ยมผืนผ้า 8">
            <a:extLst>
              <a:ext uri="{FF2B5EF4-FFF2-40B4-BE49-F238E27FC236}">
                <a16:creationId xmlns:a16="http://schemas.microsoft.com/office/drawing/2014/main" id="{C7B55FBC-CBF7-74B3-A144-83848A869910}"/>
              </a:ext>
            </a:extLst>
          </p:cNvPr>
          <p:cNvSpPr/>
          <p:nvPr/>
        </p:nvSpPr>
        <p:spPr>
          <a:xfrm>
            <a:off x="432246" y="533608"/>
            <a:ext cx="132080" cy="61832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1" name="กล่องข้อความ 10">
            <a:extLst>
              <a:ext uri="{FF2B5EF4-FFF2-40B4-BE49-F238E27FC236}">
                <a16:creationId xmlns:a16="http://schemas.microsoft.com/office/drawing/2014/main" id="{FA2197DB-1697-EFBB-1E8A-D5E9745E8DC8}"/>
              </a:ext>
            </a:extLst>
          </p:cNvPr>
          <p:cNvSpPr txBox="1">
            <a:spLocks/>
          </p:cNvSpPr>
          <p:nvPr/>
        </p:nvSpPr>
        <p:spPr>
          <a:xfrm>
            <a:off x="676058" y="565158"/>
            <a:ext cx="5070380" cy="523220"/>
          </a:xfrm>
          <a:prstGeom prst="rect">
            <a:avLst/>
          </a:prstGeom>
          <a:noFill/>
        </p:spPr>
        <p:txBody>
          <a:bodyPr wrap="square" rtlCol="0">
            <a:spAutoFit/>
          </a:bodyPr>
          <a:lstStyle/>
          <a:p>
            <a:pPr algn="ctr"/>
            <a:r>
              <a:rPr lang="en-US" b="1" dirty="0">
                <a:solidFill>
                  <a:srgbClr val="002060"/>
                </a:solidFill>
                <a:latin typeface="Helvetica" panose="020B0604020202020204" pitchFamily="34" charset="0"/>
                <a:cs typeface="Helvetica" panose="020B0604020202020204" pitchFamily="34" charset="0"/>
              </a:rPr>
              <a:t>Sorter Module Details</a:t>
            </a:r>
          </a:p>
        </p:txBody>
      </p:sp>
      <p:pic>
        <p:nvPicPr>
          <p:cNvPr id="13" name="Picture 2" descr="Analog Devices | Disruptive Technology for Clinical Trials">
            <a:extLst>
              <a:ext uri="{FF2B5EF4-FFF2-40B4-BE49-F238E27FC236}">
                <a16:creationId xmlns:a16="http://schemas.microsoft.com/office/drawing/2014/main" id="{31C1EECF-0E11-D3FD-1768-EE1B8FEC3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5" name="Picture 2" descr="LOGO_ENkku_color – Faculty of Engineering , Khon Kaen University">
            <a:extLst>
              <a:ext uri="{FF2B5EF4-FFF2-40B4-BE49-F238E27FC236}">
                <a16:creationId xmlns:a16="http://schemas.microsoft.com/office/drawing/2014/main" id="{8C1913A3-7F0B-A1B6-5940-A00C819BF780}"/>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14" name="กล่องข้อความ 13">
            <a:extLst>
              <a:ext uri="{FF2B5EF4-FFF2-40B4-BE49-F238E27FC236}">
                <a16:creationId xmlns:a16="http://schemas.microsoft.com/office/drawing/2014/main" id="{9F8347C0-6528-29DD-6AC1-9B5A9BC967DA}"/>
              </a:ext>
            </a:extLst>
          </p:cNvPr>
          <p:cNvSpPr txBox="1"/>
          <p:nvPr/>
        </p:nvSpPr>
        <p:spPr>
          <a:xfrm>
            <a:off x="445298" y="1327855"/>
            <a:ext cx="11269182" cy="584775"/>
          </a:xfrm>
          <a:prstGeom prst="rect">
            <a:avLst/>
          </a:prstGeom>
          <a:noFill/>
        </p:spPr>
        <p:txBody>
          <a:bodyPr wrap="square">
            <a:spAutoFit/>
          </a:bodyPr>
          <a:lstStyle/>
          <a:p>
            <a:r>
              <a:rPr lang="en-US" sz="1600" dirty="0">
                <a:solidFill>
                  <a:srgbClr val="002060"/>
                </a:solidFill>
                <a:latin typeface="Helvetica" panose="020B0604020202020204" pitchFamily="34" charset="0"/>
                <a:cs typeface="Helvetica" panose="020B0604020202020204" pitchFamily="34" charset="0"/>
              </a:rPr>
              <a:t>	This module uses a stepper motor with a 25-tooth gear driving a gear rack to move a 45°-tilted tray into position, directing the workpiece by gravity into a clearly separated Accept or Reject zone based on the measurement result.</a:t>
            </a:r>
          </a:p>
        </p:txBody>
      </p:sp>
      <p:sp>
        <p:nvSpPr>
          <p:cNvPr id="36" name="Rectangle 7">
            <a:extLst>
              <a:ext uri="{FF2B5EF4-FFF2-40B4-BE49-F238E27FC236}">
                <a16:creationId xmlns:a16="http://schemas.microsoft.com/office/drawing/2014/main" id="{D9869460-90DB-6B69-81C2-625AF304DDA4}"/>
              </a:ext>
            </a:extLst>
          </p:cNvPr>
          <p:cNvSpPr>
            <a:spLocks/>
          </p:cNvSpPr>
          <p:nvPr/>
        </p:nvSpPr>
        <p:spPr bwMode="auto">
          <a:xfrm>
            <a:off x="1091397" y="3692246"/>
            <a:ext cx="2412893"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pt-BR" sz="1800" dirty="0">
                <a:solidFill>
                  <a:srgbClr val="002060"/>
                </a:solidFill>
                <a:latin typeface="FC Minimal" panose="020B0500040200020003" pitchFamily="34" charset="-34"/>
                <a:cs typeface="FC Minimal" panose="020B0500040200020003" pitchFamily="34" charset="-34"/>
              </a:rPr>
              <a:t>45° Tilted Tray</a:t>
            </a:r>
          </a:p>
        </p:txBody>
      </p:sp>
      <p:grpSp>
        <p:nvGrpSpPr>
          <p:cNvPr id="38" name="กลุ่ม 37">
            <a:extLst>
              <a:ext uri="{FF2B5EF4-FFF2-40B4-BE49-F238E27FC236}">
                <a16:creationId xmlns:a16="http://schemas.microsoft.com/office/drawing/2014/main" id="{4833775F-B841-0290-0A48-2700D73719AF}"/>
              </a:ext>
            </a:extLst>
          </p:cNvPr>
          <p:cNvGrpSpPr/>
          <p:nvPr/>
        </p:nvGrpSpPr>
        <p:grpSpPr>
          <a:xfrm>
            <a:off x="747825" y="3687608"/>
            <a:ext cx="287691" cy="310125"/>
            <a:chOff x="4831080" y="2402241"/>
            <a:chExt cx="287691" cy="310125"/>
          </a:xfrm>
        </p:grpSpPr>
        <p:sp>
          <p:nvSpPr>
            <p:cNvPr id="40" name="วงรี 39">
              <a:extLst>
                <a:ext uri="{FF2B5EF4-FFF2-40B4-BE49-F238E27FC236}">
                  <a16:creationId xmlns:a16="http://schemas.microsoft.com/office/drawing/2014/main" id="{6B59B92F-9177-0492-914D-69BE2780EC55}"/>
                </a:ext>
              </a:extLst>
            </p:cNvPr>
            <p:cNvSpPr/>
            <p:nvPr/>
          </p:nvSpPr>
          <p:spPr>
            <a:xfrm>
              <a:off x="4831080" y="2402241"/>
              <a:ext cx="287691" cy="287691"/>
            </a:xfrm>
            <a:prstGeom prst="ellipse">
              <a:avLst/>
            </a:prstGeom>
            <a:noFill/>
            <a:ln w="127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dirty="0"/>
            </a:p>
          </p:txBody>
        </p:sp>
        <p:sp>
          <p:nvSpPr>
            <p:cNvPr id="46" name="Rectangle 7">
              <a:extLst>
                <a:ext uri="{FF2B5EF4-FFF2-40B4-BE49-F238E27FC236}">
                  <a16:creationId xmlns:a16="http://schemas.microsoft.com/office/drawing/2014/main" id="{0D6E4839-5CB8-5466-F5CB-A9E446990800}"/>
                </a:ext>
              </a:extLst>
            </p:cNvPr>
            <p:cNvSpPr>
              <a:spLocks/>
            </p:cNvSpPr>
            <p:nvPr/>
          </p:nvSpPr>
          <p:spPr bwMode="auto">
            <a:xfrm>
              <a:off x="4899417" y="2402666"/>
              <a:ext cx="151017"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75000"/>
                </a:lnSpc>
              </a:pPr>
              <a:r>
                <a:rPr lang="en-US" sz="1800" dirty="0">
                  <a:solidFill>
                    <a:srgbClr val="002060"/>
                  </a:solidFill>
                  <a:latin typeface="FC Minimal" panose="020B0500040200020003" pitchFamily="34" charset="-34"/>
                  <a:cs typeface="FC Minimal" panose="020B0500040200020003" pitchFamily="34" charset="-34"/>
                </a:rPr>
                <a:t>1</a:t>
              </a:r>
            </a:p>
          </p:txBody>
        </p:sp>
      </p:grpSp>
      <p:sp>
        <p:nvSpPr>
          <p:cNvPr id="48" name="Rectangle 7">
            <a:extLst>
              <a:ext uri="{FF2B5EF4-FFF2-40B4-BE49-F238E27FC236}">
                <a16:creationId xmlns:a16="http://schemas.microsoft.com/office/drawing/2014/main" id="{9A373111-FCFF-5CF5-2078-031AED4A0169}"/>
              </a:ext>
            </a:extLst>
          </p:cNvPr>
          <p:cNvSpPr>
            <a:spLocks/>
          </p:cNvSpPr>
          <p:nvPr/>
        </p:nvSpPr>
        <p:spPr bwMode="auto">
          <a:xfrm>
            <a:off x="1091397" y="4129813"/>
            <a:ext cx="2668698" cy="654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600" dirty="0">
                <a:solidFill>
                  <a:srgbClr val="002060"/>
                </a:solidFill>
                <a:latin typeface="FC Minimal" panose="020B0500040200020003" pitchFamily="34" charset="-34"/>
                <a:cs typeface="FC Minimal" panose="020B0500040200020003" pitchFamily="34" charset="-34"/>
              </a:rPr>
              <a:t>Angled to let the workpiece slide/flow naturally into the target zone once positioned.</a:t>
            </a:r>
          </a:p>
        </p:txBody>
      </p:sp>
      <p:cxnSp>
        <p:nvCxnSpPr>
          <p:cNvPr id="51" name="ตัวเชื่อมต่อตรง 50">
            <a:extLst>
              <a:ext uri="{FF2B5EF4-FFF2-40B4-BE49-F238E27FC236}">
                <a16:creationId xmlns:a16="http://schemas.microsoft.com/office/drawing/2014/main" id="{CBBD53BC-DCEB-8161-2413-6D26502E7C42}"/>
              </a:ext>
            </a:extLst>
          </p:cNvPr>
          <p:cNvCxnSpPr>
            <a:cxnSpLocks/>
          </p:cNvCxnSpPr>
          <p:nvPr/>
        </p:nvCxnSpPr>
        <p:spPr>
          <a:xfrm>
            <a:off x="1195701" y="4086521"/>
            <a:ext cx="1666824" cy="0"/>
          </a:xfrm>
          <a:prstGeom prst="line">
            <a:avLst/>
          </a:prstGeom>
          <a:ln w="19050">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sp>
        <p:nvSpPr>
          <p:cNvPr id="52" name="Rectangle 7">
            <a:extLst>
              <a:ext uri="{FF2B5EF4-FFF2-40B4-BE49-F238E27FC236}">
                <a16:creationId xmlns:a16="http://schemas.microsoft.com/office/drawing/2014/main" id="{5B89F013-2E69-630C-AC43-33EEF6AF0DFF}"/>
              </a:ext>
            </a:extLst>
          </p:cNvPr>
          <p:cNvSpPr>
            <a:spLocks/>
          </p:cNvSpPr>
          <p:nvPr/>
        </p:nvSpPr>
        <p:spPr bwMode="auto">
          <a:xfrm>
            <a:off x="8981232" y="4711841"/>
            <a:ext cx="2412893"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pt-BR" sz="1800" dirty="0">
                <a:solidFill>
                  <a:srgbClr val="002060"/>
                </a:solidFill>
                <a:latin typeface="FC Minimal" panose="020B0500040200020003" pitchFamily="34" charset="-34"/>
                <a:cs typeface="FC Minimal" panose="020B0500040200020003" pitchFamily="34" charset="-34"/>
              </a:rPr>
              <a:t>Good/NG Zones</a:t>
            </a:r>
          </a:p>
        </p:txBody>
      </p:sp>
      <p:grpSp>
        <p:nvGrpSpPr>
          <p:cNvPr id="53" name="กลุ่ม 52">
            <a:extLst>
              <a:ext uri="{FF2B5EF4-FFF2-40B4-BE49-F238E27FC236}">
                <a16:creationId xmlns:a16="http://schemas.microsoft.com/office/drawing/2014/main" id="{0897F459-CEAD-2099-7BD2-67F9E72DFC13}"/>
              </a:ext>
            </a:extLst>
          </p:cNvPr>
          <p:cNvGrpSpPr/>
          <p:nvPr/>
        </p:nvGrpSpPr>
        <p:grpSpPr>
          <a:xfrm>
            <a:off x="8637660" y="4707203"/>
            <a:ext cx="287691" cy="310125"/>
            <a:chOff x="4831080" y="2402241"/>
            <a:chExt cx="287691" cy="310125"/>
          </a:xfrm>
        </p:grpSpPr>
        <p:sp>
          <p:nvSpPr>
            <p:cNvPr id="54" name="วงรี 53">
              <a:extLst>
                <a:ext uri="{FF2B5EF4-FFF2-40B4-BE49-F238E27FC236}">
                  <a16:creationId xmlns:a16="http://schemas.microsoft.com/office/drawing/2014/main" id="{92FD2565-E977-D617-D166-502D40842A7E}"/>
                </a:ext>
              </a:extLst>
            </p:cNvPr>
            <p:cNvSpPr/>
            <p:nvPr/>
          </p:nvSpPr>
          <p:spPr>
            <a:xfrm>
              <a:off x="4831080" y="2402241"/>
              <a:ext cx="287691" cy="287691"/>
            </a:xfrm>
            <a:prstGeom prst="ellipse">
              <a:avLst/>
            </a:prstGeom>
            <a:noFill/>
            <a:ln w="127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dirty="0"/>
            </a:p>
          </p:txBody>
        </p:sp>
        <p:sp>
          <p:nvSpPr>
            <p:cNvPr id="55" name="Rectangle 7">
              <a:extLst>
                <a:ext uri="{FF2B5EF4-FFF2-40B4-BE49-F238E27FC236}">
                  <a16:creationId xmlns:a16="http://schemas.microsoft.com/office/drawing/2014/main" id="{28F2C4E7-C257-A3A3-A28E-9A18F4A45FFC}"/>
                </a:ext>
              </a:extLst>
            </p:cNvPr>
            <p:cNvSpPr>
              <a:spLocks/>
            </p:cNvSpPr>
            <p:nvPr/>
          </p:nvSpPr>
          <p:spPr bwMode="auto">
            <a:xfrm>
              <a:off x="4899417" y="2402666"/>
              <a:ext cx="151017"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75000"/>
                </a:lnSpc>
              </a:pPr>
              <a:r>
                <a:rPr lang="en-US" sz="1800" dirty="0">
                  <a:solidFill>
                    <a:srgbClr val="002060"/>
                  </a:solidFill>
                  <a:latin typeface="FC Minimal" panose="020B0500040200020003" pitchFamily="34" charset="-34"/>
                  <a:cs typeface="FC Minimal" panose="020B0500040200020003" pitchFamily="34" charset="-34"/>
                </a:rPr>
                <a:t>3</a:t>
              </a:r>
            </a:p>
          </p:txBody>
        </p:sp>
      </p:grpSp>
      <p:sp>
        <p:nvSpPr>
          <p:cNvPr id="56" name="Rectangle 7">
            <a:extLst>
              <a:ext uri="{FF2B5EF4-FFF2-40B4-BE49-F238E27FC236}">
                <a16:creationId xmlns:a16="http://schemas.microsoft.com/office/drawing/2014/main" id="{E7FDE80B-8CE3-1582-87FC-D63A20A9208D}"/>
              </a:ext>
            </a:extLst>
          </p:cNvPr>
          <p:cNvSpPr>
            <a:spLocks/>
          </p:cNvSpPr>
          <p:nvPr/>
        </p:nvSpPr>
        <p:spPr bwMode="auto">
          <a:xfrm>
            <a:off x="8981232" y="5462149"/>
            <a:ext cx="3007730" cy="83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600" dirty="0">
                <a:solidFill>
                  <a:srgbClr val="002060"/>
                </a:solidFill>
                <a:latin typeface="FC Minimal" panose="020B0500040200020003" pitchFamily="34" charset="-34"/>
                <a:cs typeface="FC Minimal" panose="020B0500040200020003" pitchFamily="34" charset="-34"/>
              </a:rPr>
              <a:t>Physically separated areas ensure Good and NG parts cannot mix, with the tray moving to the correct zone before each part is released.</a:t>
            </a:r>
          </a:p>
        </p:txBody>
      </p:sp>
      <p:cxnSp>
        <p:nvCxnSpPr>
          <p:cNvPr id="57" name="ตัวเชื่อมต่อตรง 56">
            <a:extLst>
              <a:ext uri="{FF2B5EF4-FFF2-40B4-BE49-F238E27FC236}">
                <a16:creationId xmlns:a16="http://schemas.microsoft.com/office/drawing/2014/main" id="{8762EEBC-1D2E-82FD-EAFD-1C9AB6BEA9C6}"/>
              </a:ext>
            </a:extLst>
          </p:cNvPr>
          <p:cNvCxnSpPr>
            <a:cxnSpLocks/>
          </p:cNvCxnSpPr>
          <p:nvPr/>
        </p:nvCxnSpPr>
        <p:spPr>
          <a:xfrm>
            <a:off x="9085536" y="5395365"/>
            <a:ext cx="1666824" cy="0"/>
          </a:xfrm>
          <a:prstGeom prst="line">
            <a:avLst/>
          </a:prstGeom>
          <a:ln w="19050">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sp>
        <p:nvSpPr>
          <p:cNvPr id="67" name="Rectangle 7">
            <a:extLst>
              <a:ext uri="{FF2B5EF4-FFF2-40B4-BE49-F238E27FC236}">
                <a16:creationId xmlns:a16="http://schemas.microsoft.com/office/drawing/2014/main" id="{6877E9EF-06EE-99D2-1560-CBB3DD6A39B9}"/>
              </a:ext>
            </a:extLst>
          </p:cNvPr>
          <p:cNvSpPr>
            <a:spLocks/>
          </p:cNvSpPr>
          <p:nvPr/>
        </p:nvSpPr>
        <p:spPr bwMode="auto">
          <a:xfrm>
            <a:off x="8983870" y="5067165"/>
            <a:ext cx="2702358" cy="261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400" dirty="0">
                <a:solidFill>
                  <a:srgbClr val="FF0000"/>
                </a:solidFill>
                <a:latin typeface="FC Minimal" panose="020B0500040200020003" pitchFamily="34" charset="-34"/>
                <a:cs typeface="FC Minimal" panose="020B0500040200020003" pitchFamily="34" charset="-34"/>
              </a:rPr>
              <a:t>For Good Part 2 Slots, NG Part 2 Slots</a:t>
            </a:r>
          </a:p>
        </p:txBody>
      </p:sp>
      <p:pic>
        <p:nvPicPr>
          <p:cNvPr id="69" name="รูปภาพ 68">
            <a:extLst>
              <a:ext uri="{FF2B5EF4-FFF2-40B4-BE49-F238E27FC236}">
                <a16:creationId xmlns:a16="http://schemas.microsoft.com/office/drawing/2014/main" id="{2C28999B-3DB6-DBB3-4648-2270A660004E}"/>
              </a:ext>
            </a:extLst>
          </p:cNvPr>
          <p:cNvPicPr>
            <a:picLocks noChangeAspect="1"/>
          </p:cNvPicPr>
          <p:nvPr/>
        </p:nvPicPr>
        <p:blipFill>
          <a:blip r:embed="rId5">
            <a:extLst>
              <a:ext uri="{28A0092B-C50C-407E-A947-70E740481C1C}">
                <a14:useLocalDpi xmlns:a14="http://schemas.microsoft.com/office/drawing/2010/main" val="0"/>
              </a:ext>
            </a:extLst>
          </a:blip>
          <a:srcRect l="38355" t="9952" r="22443" b="13753"/>
          <a:stretch>
            <a:fillRect/>
          </a:stretch>
        </p:blipFill>
        <p:spPr>
          <a:xfrm>
            <a:off x="6548059" y="4509028"/>
            <a:ext cx="1778574" cy="1906241"/>
          </a:xfrm>
          <a:prstGeom prst="rect">
            <a:avLst/>
          </a:prstGeom>
        </p:spPr>
      </p:pic>
      <p:pic>
        <p:nvPicPr>
          <p:cNvPr id="3" name="รูปภาพ 2">
            <a:extLst>
              <a:ext uri="{FF2B5EF4-FFF2-40B4-BE49-F238E27FC236}">
                <a16:creationId xmlns:a16="http://schemas.microsoft.com/office/drawing/2014/main" id="{4D726BBE-B5AE-C283-37EB-29DC63D8EB09}"/>
              </a:ext>
            </a:extLst>
          </p:cNvPr>
          <p:cNvPicPr>
            <a:picLocks noChangeAspect="1"/>
          </p:cNvPicPr>
          <p:nvPr/>
        </p:nvPicPr>
        <p:blipFill>
          <a:blip r:embed="rId6">
            <a:extLst>
              <a:ext uri="{28A0092B-C50C-407E-A947-70E740481C1C}">
                <a14:useLocalDpi xmlns:a14="http://schemas.microsoft.com/office/drawing/2010/main" val="0"/>
              </a:ext>
            </a:extLst>
          </a:blip>
          <a:srcRect l="25347" t="7346" r="23724" b="10051"/>
          <a:stretch>
            <a:fillRect/>
          </a:stretch>
        </p:blipFill>
        <p:spPr>
          <a:xfrm>
            <a:off x="2366181" y="2111155"/>
            <a:ext cx="3891362" cy="3475748"/>
          </a:xfrm>
          <a:prstGeom prst="rect">
            <a:avLst/>
          </a:prstGeom>
        </p:spPr>
      </p:pic>
      <p:sp>
        <p:nvSpPr>
          <p:cNvPr id="6" name="Rectangle 7">
            <a:extLst>
              <a:ext uri="{FF2B5EF4-FFF2-40B4-BE49-F238E27FC236}">
                <a16:creationId xmlns:a16="http://schemas.microsoft.com/office/drawing/2014/main" id="{0B82F86C-86BC-86E9-4AF2-6B1753215FA8}"/>
              </a:ext>
            </a:extLst>
          </p:cNvPr>
          <p:cNvSpPr>
            <a:spLocks/>
          </p:cNvSpPr>
          <p:nvPr/>
        </p:nvSpPr>
        <p:spPr bwMode="auto">
          <a:xfrm rot="5400000">
            <a:off x="6534802" y="5437305"/>
            <a:ext cx="544432" cy="261418"/>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gn="ctr">
              <a:lnSpc>
                <a:spcPct val="75000"/>
              </a:lnSpc>
            </a:pPr>
            <a:r>
              <a:rPr lang="en-US" sz="1400" dirty="0">
                <a:solidFill>
                  <a:schemeClr val="accent6">
                    <a:lumMod val="75000"/>
                  </a:schemeClr>
                </a:solidFill>
                <a:latin typeface="FC Minimal" panose="020B0500040200020003" pitchFamily="34" charset="-34"/>
                <a:cs typeface="FC Minimal" panose="020B0500040200020003" pitchFamily="34" charset="-34"/>
              </a:rPr>
              <a:t>Good</a:t>
            </a:r>
          </a:p>
        </p:txBody>
      </p:sp>
      <p:sp>
        <p:nvSpPr>
          <p:cNvPr id="10" name="Rectangle 7">
            <a:extLst>
              <a:ext uri="{FF2B5EF4-FFF2-40B4-BE49-F238E27FC236}">
                <a16:creationId xmlns:a16="http://schemas.microsoft.com/office/drawing/2014/main" id="{8A892827-9E23-F309-2007-1BA538B31378}"/>
              </a:ext>
            </a:extLst>
          </p:cNvPr>
          <p:cNvSpPr>
            <a:spLocks/>
          </p:cNvSpPr>
          <p:nvPr/>
        </p:nvSpPr>
        <p:spPr bwMode="auto">
          <a:xfrm rot="5400000">
            <a:off x="6946282" y="5437305"/>
            <a:ext cx="544432" cy="261418"/>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gn="ctr">
              <a:lnSpc>
                <a:spcPct val="75000"/>
              </a:lnSpc>
            </a:pPr>
            <a:r>
              <a:rPr lang="en-US" sz="1400" dirty="0">
                <a:solidFill>
                  <a:schemeClr val="accent6">
                    <a:lumMod val="75000"/>
                  </a:schemeClr>
                </a:solidFill>
                <a:latin typeface="FC Minimal" panose="020B0500040200020003" pitchFamily="34" charset="-34"/>
                <a:cs typeface="FC Minimal" panose="020B0500040200020003" pitchFamily="34" charset="-34"/>
              </a:rPr>
              <a:t>Good</a:t>
            </a:r>
          </a:p>
        </p:txBody>
      </p:sp>
      <p:sp>
        <p:nvSpPr>
          <p:cNvPr id="16" name="Rectangle 7">
            <a:extLst>
              <a:ext uri="{FF2B5EF4-FFF2-40B4-BE49-F238E27FC236}">
                <a16:creationId xmlns:a16="http://schemas.microsoft.com/office/drawing/2014/main" id="{66176DC6-515B-30E2-A3FA-03CCF1C80EC0}"/>
              </a:ext>
            </a:extLst>
          </p:cNvPr>
          <p:cNvSpPr>
            <a:spLocks/>
          </p:cNvSpPr>
          <p:nvPr/>
        </p:nvSpPr>
        <p:spPr bwMode="auto">
          <a:xfrm rot="5400000">
            <a:off x="7359589" y="5437305"/>
            <a:ext cx="544432" cy="261418"/>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gn="ctr">
              <a:lnSpc>
                <a:spcPct val="75000"/>
              </a:lnSpc>
            </a:pPr>
            <a:r>
              <a:rPr lang="en-US" sz="1400" dirty="0">
                <a:solidFill>
                  <a:srgbClr val="FF0000"/>
                </a:solidFill>
                <a:latin typeface="FC Minimal" panose="020B0500040200020003" pitchFamily="34" charset="-34"/>
                <a:cs typeface="FC Minimal" panose="020B0500040200020003" pitchFamily="34" charset="-34"/>
              </a:rPr>
              <a:t>NG</a:t>
            </a:r>
          </a:p>
        </p:txBody>
      </p:sp>
      <p:sp>
        <p:nvSpPr>
          <p:cNvPr id="18" name="Rectangle 7">
            <a:extLst>
              <a:ext uri="{FF2B5EF4-FFF2-40B4-BE49-F238E27FC236}">
                <a16:creationId xmlns:a16="http://schemas.microsoft.com/office/drawing/2014/main" id="{F1FD5AA7-9857-0315-6AA6-E697722AAE6B}"/>
              </a:ext>
            </a:extLst>
          </p:cNvPr>
          <p:cNvSpPr>
            <a:spLocks/>
          </p:cNvSpPr>
          <p:nvPr/>
        </p:nvSpPr>
        <p:spPr bwMode="auto">
          <a:xfrm rot="5400000">
            <a:off x="7772357" y="5437305"/>
            <a:ext cx="544432" cy="261418"/>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gn="ctr">
              <a:lnSpc>
                <a:spcPct val="75000"/>
              </a:lnSpc>
            </a:pPr>
            <a:r>
              <a:rPr lang="en-US" sz="1400" dirty="0">
                <a:solidFill>
                  <a:srgbClr val="FF0000"/>
                </a:solidFill>
                <a:latin typeface="FC Minimal" panose="020B0500040200020003" pitchFamily="34" charset="-34"/>
                <a:cs typeface="FC Minimal" panose="020B0500040200020003" pitchFamily="34" charset="-34"/>
              </a:rPr>
              <a:t>NG</a:t>
            </a:r>
          </a:p>
        </p:txBody>
      </p:sp>
      <p:pic>
        <p:nvPicPr>
          <p:cNvPr id="20" name="รูปภาพ 19">
            <a:extLst>
              <a:ext uri="{FF2B5EF4-FFF2-40B4-BE49-F238E27FC236}">
                <a16:creationId xmlns:a16="http://schemas.microsoft.com/office/drawing/2014/main" id="{692C4C3B-80BF-5DD7-426E-E2AF9C128231}"/>
              </a:ext>
            </a:extLst>
          </p:cNvPr>
          <p:cNvPicPr>
            <a:picLocks noChangeAspect="1"/>
          </p:cNvPicPr>
          <p:nvPr/>
        </p:nvPicPr>
        <p:blipFill rotWithShape="1">
          <a:blip r:embed="rId7">
            <a:extLst>
              <a:ext uri="{28A0092B-C50C-407E-A947-70E740481C1C}">
                <a14:useLocalDpi xmlns:a14="http://schemas.microsoft.com/office/drawing/2010/main" val="0"/>
              </a:ext>
            </a:extLst>
          </a:blip>
          <a:srcRect l="36687" t="15319" r="25796" b="16556"/>
          <a:stretch>
            <a:fillRect/>
          </a:stretch>
        </p:blipFill>
        <p:spPr>
          <a:xfrm>
            <a:off x="6362471" y="2306494"/>
            <a:ext cx="1998446" cy="1998446"/>
          </a:xfrm>
          <a:prstGeom prst="rect">
            <a:avLst/>
          </a:prstGeom>
        </p:spPr>
      </p:pic>
      <p:sp>
        <p:nvSpPr>
          <p:cNvPr id="27" name="Rectangle 7">
            <a:extLst>
              <a:ext uri="{FF2B5EF4-FFF2-40B4-BE49-F238E27FC236}">
                <a16:creationId xmlns:a16="http://schemas.microsoft.com/office/drawing/2014/main" id="{2940C2AE-4877-15FA-9BBC-4392AE6530F9}"/>
              </a:ext>
            </a:extLst>
          </p:cNvPr>
          <p:cNvSpPr>
            <a:spLocks/>
          </p:cNvSpPr>
          <p:nvPr/>
        </p:nvSpPr>
        <p:spPr bwMode="auto">
          <a:xfrm>
            <a:off x="8992036" y="2584831"/>
            <a:ext cx="2412893"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pt-BR" sz="1800" dirty="0">
                <a:solidFill>
                  <a:srgbClr val="002060"/>
                </a:solidFill>
                <a:latin typeface="FC Minimal" panose="020B0500040200020003" pitchFamily="34" charset="-34"/>
                <a:cs typeface="FC Minimal" panose="020B0500040200020003" pitchFamily="34" charset="-34"/>
              </a:rPr>
              <a:t>NEMA 8 (Stepper Motor 12V)</a:t>
            </a:r>
          </a:p>
        </p:txBody>
      </p:sp>
      <p:grpSp>
        <p:nvGrpSpPr>
          <p:cNvPr id="33" name="กลุ่ม 32">
            <a:extLst>
              <a:ext uri="{FF2B5EF4-FFF2-40B4-BE49-F238E27FC236}">
                <a16:creationId xmlns:a16="http://schemas.microsoft.com/office/drawing/2014/main" id="{1580247B-2253-5997-8735-C772E88A77A1}"/>
              </a:ext>
            </a:extLst>
          </p:cNvPr>
          <p:cNvGrpSpPr/>
          <p:nvPr/>
        </p:nvGrpSpPr>
        <p:grpSpPr>
          <a:xfrm>
            <a:off x="8648464" y="2580193"/>
            <a:ext cx="287691" cy="310125"/>
            <a:chOff x="4831080" y="2402241"/>
            <a:chExt cx="287691" cy="310125"/>
          </a:xfrm>
        </p:grpSpPr>
        <p:sp>
          <p:nvSpPr>
            <p:cNvPr id="37" name="วงรี 36">
              <a:extLst>
                <a:ext uri="{FF2B5EF4-FFF2-40B4-BE49-F238E27FC236}">
                  <a16:creationId xmlns:a16="http://schemas.microsoft.com/office/drawing/2014/main" id="{53B25237-F35B-379C-4091-BA43F1F60B30}"/>
                </a:ext>
              </a:extLst>
            </p:cNvPr>
            <p:cNvSpPr/>
            <p:nvPr/>
          </p:nvSpPr>
          <p:spPr>
            <a:xfrm>
              <a:off x="4831080" y="2402241"/>
              <a:ext cx="287691" cy="287691"/>
            </a:xfrm>
            <a:prstGeom prst="ellipse">
              <a:avLst/>
            </a:prstGeom>
            <a:noFill/>
            <a:ln w="127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dirty="0"/>
            </a:p>
          </p:txBody>
        </p:sp>
        <p:sp>
          <p:nvSpPr>
            <p:cNvPr id="39" name="Rectangle 7">
              <a:extLst>
                <a:ext uri="{FF2B5EF4-FFF2-40B4-BE49-F238E27FC236}">
                  <a16:creationId xmlns:a16="http://schemas.microsoft.com/office/drawing/2014/main" id="{BAA65F8F-1FE0-FA86-03A7-23542E5AD13F}"/>
                </a:ext>
              </a:extLst>
            </p:cNvPr>
            <p:cNvSpPr>
              <a:spLocks/>
            </p:cNvSpPr>
            <p:nvPr/>
          </p:nvSpPr>
          <p:spPr bwMode="auto">
            <a:xfrm>
              <a:off x="4899417" y="2402666"/>
              <a:ext cx="151017" cy="3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75000"/>
                </a:lnSpc>
              </a:pPr>
              <a:r>
                <a:rPr lang="en-US" sz="1800" dirty="0">
                  <a:solidFill>
                    <a:srgbClr val="002060"/>
                  </a:solidFill>
                  <a:latin typeface="FC Minimal" panose="020B0500040200020003" pitchFamily="34" charset="-34"/>
                  <a:cs typeface="FC Minimal" panose="020B0500040200020003" pitchFamily="34" charset="-34"/>
                </a:rPr>
                <a:t>2</a:t>
              </a:r>
            </a:p>
          </p:txBody>
        </p:sp>
      </p:grpSp>
      <p:sp>
        <p:nvSpPr>
          <p:cNvPr id="41" name="Rectangle 7">
            <a:extLst>
              <a:ext uri="{FF2B5EF4-FFF2-40B4-BE49-F238E27FC236}">
                <a16:creationId xmlns:a16="http://schemas.microsoft.com/office/drawing/2014/main" id="{7941746D-171D-8617-C620-4660D3C7122C}"/>
              </a:ext>
            </a:extLst>
          </p:cNvPr>
          <p:cNvSpPr>
            <a:spLocks/>
          </p:cNvSpPr>
          <p:nvPr/>
        </p:nvSpPr>
        <p:spPr bwMode="auto">
          <a:xfrm>
            <a:off x="8992036" y="3199679"/>
            <a:ext cx="2722444" cy="654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600" dirty="0">
                <a:solidFill>
                  <a:srgbClr val="002060"/>
                </a:solidFill>
                <a:latin typeface="FC Minimal" panose="020B0500040200020003" pitchFamily="34" charset="-34"/>
                <a:cs typeface="FC Minimal" panose="020B0500040200020003" pitchFamily="34" charset="-34"/>
              </a:rPr>
              <a:t>Drives a gear rack mounted beneath the tray, precisely positioning the tray according to the sort command.</a:t>
            </a:r>
          </a:p>
        </p:txBody>
      </p:sp>
      <p:sp>
        <p:nvSpPr>
          <p:cNvPr id="42" name="Rectangle 7">
            <a:extLst>
              <a:ext uri="{FF2B5EF4-FFF2-40B4-BE49-F238E27FC236}">
                <a16:creationId xmlns:a16="http://schemas.microsoft.com/office/drawing/2014/main" id="{82877075-0E1E-B7FB-05C8-292C72DAF025}"/>
              </a:ext>
            </a:extLst>
          </p:cNvPr>
          <p:cNvSpPr>
            <a:spLocks/>
          </p:cNvSpPr>
          <p:nvPr/>
        </p:nvSpPr>
        <p:spPr bwMode="auto">
          <a:xfrm>
            <a:off x="8992036" y="2854329"/>
            <a:ext cx="1120218" cy="261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400" dirty="0">
                <a:solidFill>
                  <a:srgbClr val="FF0000"/>
                </a:solidFill>
                <a:latin typeface="FC Minimal" panose="020B0500040200020003" pitchFamily="34" charset="-34"/>
                <a:cs typeface="FC Minimal" panose="020B0500040200020003" pitchFamily="34" charset="-34"/>
              </a:rPr>
              <a:t>With 25T Gear</a:t>
            </a:r>
          </a:p>
        </p:txBody>
      </p:sp>
      <p:cxnSp>
        <p:nvCxnSpPr>
          <p:cNvPr id="43" name="ตัวเชื่อมต่อตรง 42">
            <a:extLst>
              <a:ext uri="{FF2B5EF4-FFF2-40B4-BE49-F238E27FC236}">
                <a16:creationId xmlns:a16="http://schemas.microsoft.com/office/drawing/2014/main" id="{73A2FD22-A25B-E992-DF4C-B7BF424F2EAC}"/>
              </a:ext>
            </a:extLst>
          </p:cNvPr>
          <p:cNvCxnSpPr>
            <a:cxnSpLocks/>
          </p:cNvCxnSpPr>
          <p:nvPr/>
        </p:nvCxnSpPr>
        <p:spPr>
          <a:xfrm>
            <a:off x="9096340" y="3156387"/>
            <a:ext cx="1666824" cy="0"/>
          </a:xfrm>
          <a:prstGeom prst="line">
            <a:avLst/>
          </a:prstGeom>
          <a:ln w="19050">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cxnSp>
        <p:nvCxnSpPr>
          <p:cNvPr id="44" name="ลูกศรเชื่อมต่อแบบตรง 43">
            <a:extLst>
              <a:ext uri="{FF2B5EF4-FFF2-40B4-BE49-F238E27FC236}">
                <a16:creationId xmlns:a16="http://schemas.microsoft.com/office/drawing/2014/main" id="{7CB843DF-7A28-7B1F-AA99-CDE3578F70E3}"/>
              </a:ext>
            </a:extLst>
          </p:cNvPr>
          <p:cNvCxnSpPr>
            <a:cxnSpLocks/>
          </p:cNvCxnSpPr>
          <p:nvPr/>
        </p:nvCxnSpPr>
        <p:spPr>
          <a:xfrm flipH="1">
            <a:off x="8210718" y="2824520"/>
            <a:ext cx="407269" cy="291227"/>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5" name="วงรี 44">
            <a:extLst>
              <a:ext uri="{FF2B5EF4-FFF2-40B4-BE49-F238E27FC236}">
                <a16:creationId xmlns:a16="http://schemas.microsoft.com/office/drawing/2014/main" id="{99B55B18-EB48-C14C-AE60-7DD1A0EBE856}"/>
              </a:ext>
            </a:extLst>
          </p:cNvPr>
          <p:cNvSpPr/>
          <p:nvPr/>
        </p:nvSpPr>
        <p:spPr>
          <a:xfrm>
            <a:off x="7315130" y="3014299"/>
            <a:ext cx="875393" cy="87539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59" name="สี่เหลี่ยมผืนผ้า 58">
            <a:extLst>
              <a:ext uri="{FF2B5EF4-FFF2-40B4-BE49-F238E27FC236}">
                <a16:creationId xmlns:a16="http://schemas.microsoft.com/office/drawing/2014/main" id="{0E69DF46-03BD-84C3-10D9-9089194CC32D}"/>
              </a:ext>
            </a:extLst>
          </p:cNvPr>
          <p:cNvSpPr/>
          <p:nvPr/>
        </p:nvSpPr>
        <p:spPr>
          <a:xfrm>
            <a:off x="558904" y="5530145"/>
            <a:ext cx="3359954" cy="922685"/>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400"/>
          </a:p>
        </p:txBody>
      </p:sp>
      <p:sp>
        <p:nvSpPr>
          <p:cNvPr id="61" name="Rectangle 7">
            <a:extLst>
              <a:ext uri="{FF2B5EF4-FFF2-40B4-BE49-F238E27FC236}">
                <a16:creationId xmlns:a16="http://schemas.microsoft.com/office/drawing/2014/main" id="{CAA0B91E-49BB-0D72-0B32-9514379630B9}"/>
              </a:ext>
            </a:extLst>
          </p:cNvPr>
          <p:cNvSpPr>
            <a:spLocks/>
          </p:cNvSpPr>
          <p:nvPr/>
        </p:nvSpPr>
        <p:spPr bwMode="auto">
          <a:xfrm>
            <a:off x="633549" y="5606051"/>
            <a:ext cx="3285310" cy="83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75000"/>
              </a:lnSpc>
            </a:pPr>
            <a:r>
              <a:rPr lang="en-US" sz="1600" dirty="0">
                <a:solidFill>
                  <a:srgbClr val="002060"/>
                </a:solidFill>
                <a:latin typeface="FC Minimal" panose="020B0500040200020003" pitchFamily="34" charset="-34"/>
                <a:cs typeface="FC Minimal" panose="020B0500040200020003" pitchFamily="34" charset="-34"/>
              </a:rPr>
              <a:t>Solves: </a:t>
            </a:r>
          </a:p>
          <a:p>
            <a:pPr marL="285750" indent="-285750">
              <a:lnSpc>
                <a:spcPct val="75000"/>
              </a:lnSpc>
              <a:buFont typeface="Arial" panose="020B0604020202020204" pitchFamily="34" charset="0"/>
              <a:buChar char="•"/>
            </a:pPr>
            <a:r>
              <a:rPr lang="en-US" sz="1600" dirty="0">
                <a:solidFill>
                  <a:srgbClr val="002060"/>
                </a:solidFill>
                <a:latin typeface="FC Minimal" panose="020B0500040200020003" pitchFamily="34" charset="-34"/>
                <a:cs typeface="FC Minimal" panose="020B0500040200020003" pitchFamily="34" charset="-34"/>
              </a:rPr>
              <a:t>No Physical Enforcement, </a:t>
            </a:r>
          </a:p>
          <a:p>
            <a:pPr marL="285750" indent="-285750">
              <a:lnSpc>
                <a:spcPct val="75000"/>
              </a:lnSpc>
              <a:buFont typeface="Arial" panose="020B0604020202020204" pitchFamily="34" charset="0"/>
              <a:buChar char="•"/>
            </a:pPr>
            <a:r>
              <a:rPr lang="en-US" sz="1600" dirty="0">
                <a:solidFill>
                  <a:srgbClr val="002060"/>
                </a:solidFill>
                <a:latin typeface="FC Minimal" panose="020B0500040200020003" pitchFamily="34" charset="-34"/>
                <a:cs typeface="FC Minimal" panose="020B0500040200020003" pitchFamily="34" charset="-34"/>
              </a:rPr>
              <a:t>Risk of Sorting Errors</a:t>
            </a:r>
          </a:p>
          <a:p>
            <a:pPr marL="285750" indent="-285750">
              <a:lnSpc>
                <a:spcPct val="75000"/>
              </a:lnSpc>
              <a:buFont typeface="Arial" panose="020B0604020202020204" pitchFamily="34" charset="0"/>
              <a:buChar char="•"/>
            </a:pPr>
            <a:r>
              <a:rPr lang="en-US" sz="1600" dirty="0">
                <a:solidFill>
                  <a:srgbClr val="002060"/>
                </a:solidFill>
                <a:latin typeface="FC Minimal" panose="020B0500040200020003" pitchFamily="34" charset="-34"/>
                <a:cs typeface="FC Minimal" panose="020B0500040200020003" pitchFamily="34" charset="-34"/>
              </a:rPr>
              <a:t>Severe Business Impact from NG mix-up</a:t>
            </a:r>
          </a:p>
        </p:txBody>
      </p:sp>
      <p:cxnSp>
        <p:nvCxnSpPr>
          <p:cNvPr id="22" name="ลูกศรเชื่อมต่อแบบตรง 21">
            <a:extLst>
              <a:ext uri="{FF2B5EF4-FFF2-40B4-BE49-F238E27FC236}">
                <a16:creationId xmlns:a16="http://schemas.microsoft.com/office/drawing/2014/main" id="{5AD52F8E-066F-CB7E-EC7D-B957C4688E6B}"/>
              </a:ext>
            </a:extLst>
          </p:cNvPr>
          <p:cNvCxnSpPr>
            <a:cxnSpLocks/>
          </p:cNvCxnSpPr>
          <p:nvPr/>
        </p:nvCxnSpPr>
        <p:spPr>
          <a:xfrm>
            <a:off x="2952750" y="4728768"/>
            <a:ext cx="1186709" cy="183771"/>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66153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9E292-73DD-974B-A537-D39509F27592}"/>
            </a:ext>
          </a:extLst>
        </p:cNvPr>
        <p:cNvGrpSpPr/>
        <p:nvPr/>
      </p:nvGrpSpPr>
      <p:grpSpPr>
        <a:xfrm>
          <a:off x="0" y="0"/>
          <a:ext cx="0" cy="0"/>
          <a:chOff x="0" y="0"/>
          <a:chExt cx="0" cy="0"/>
        </a:xfrm>
      </p:grpSpPr>
      <p:sp>
        <p:nvSpPr>
          <p:cNvPr id="5" name="สี่เหลี่ยมผืนผ้า: มุมมน 4">
            <a:extLst>
              <a:ext uri="{FF2B5EF4-FFF2-40B4-BE49-F238E27FC236}">
                <a16:creationId xmlns:a16="http://schemas.microsoft.com/office/drawing/2014/main" id="{46B6BB51-989D-B7A2-C343-792920658114}"/>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
        <p:nvSpPr>
          <p:cNvPr id="7" name="สี่เหลี่ยมผืนผ้า 6">
            <a:extLst>
              <a:ext uri="{FF2B5EF4-FFF2-40B4-BE49-F238E27FC236}">
                <a16:creationId xmlns:a16="http://schemas.microsoft.com/office/drawing/2014/main" id="{AD0F294A-C9C8-66B0-4A14-FB6B06D93732}"/>
              </a:ext>
            </a:extLst>
          </p:cNvPr>
          <p:cNvSpPr/>
          <p:nvPr/>
        </p:nvSpPr>
        <p:spPr>
          <a:xfrm>
            <a:off x="432244" y="533608"/>
            <a:ext cx="5212776" cy="618321"/>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9" name="สี่เหลี่ยมผืนผ้า 8">
            <a:extLst>
              <a:ext uri="{FF2B5EF4-FFF2-40B4-BE49-F238E27FC236}">
                <a16:creationId xmlns:a16="http://schemas.microsoft.com/office/drawing/2014/main" id="{270119E0-7BE1-BB8D-44A7-F1F8482C5096}"/>
              </a:ext>
            </a:extLst>
          </p:cNvPr>
          <p:cNvSpPr/>
          <p:nvPr/>
        </p:nvSpPr>
        <p:spPr>
          <a:xfrm>
            <a:off x="432246" y="533608"/>
            <a:ext cx="132080" cy="61832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1" name="กล่องข้อความ 10">
            <a:extLst>
              <a:ext uri="{FF2B5EF4-FFF2-40B4-BE49-F238E27FC236}">
                <a16:creationId xmlns:a16="http://schemas.microsoft.com/office/drawing/2014/main" id="{05085C37-61E0-219A-5A6D-B9A9FCFA2EB1}"/>
              </a:ext>
            </a:extLst>
          </p:cNvPr>
          <p:cNvSpPr txBox="1">
            <a:spLocks/>
          </p:cNvSpPr>
          <p:nvPr/>
        </p:nvSpPr>
        <p:spPr>
          <a:xfrm>
            <a:off x="798575" y="597115"/>
            <a:ext cx="4781132" cy="523220"/>
          </a:xfrm>
          <a:prstGeom prst="rect">
            <a:avLst/>
          </a:prstGeom>
          <a:noFill/>
        </p:spPr>
        <p:txBody>
          <a:bodyPr wrap="square" rtlCol="0">
            <a:spAutoFit/>
          </a:bodyPr>
          <a:lstStyle/>
          <a:p>
            <a:r>
              <a:rPr lang="en-US" b="1" dirty="0">
                <a:solidFill>
                  <a:srgbClr val="002060"/>
                </a:solidFill>
                <a:latin typeface="Helvetica" panose="020B0604020202020204" pitchFamily="34" charset="0"/>
                <a:cs typeface="Helvetica" panose="020B0604020202020204" pitchFamily="34" charset="0"/>
              </a:rPr>
              <a:t>Control &amp; Feedback Detail</a:t>
            </a:r>
            <a:endParaRPr lang="th-TH" b="1" dirty="0">
              <a:solidFill>
                <a:srgbClr val="002060"/>
              </a:solidFill>
              <a:latin typeface="Helvetica" panose="020B0604020202020204" pitchFamily="34" charset="0"/>
              <a:cs typeface="Mitr" panose="00000500000000000000" pitchFamily="2" charset="-34"/>
            </a:endParaRPr>
          </a:p>
        </p:txBody>
      </p:sp>
      <p:pic>
        <p:nvPicPr>
          <p:cNvPr id="13" name="Picture 2" descr="Analog Devices | Disruptive Technology for Clinical Trials">
            <a:extLst>
              <a:ext uri="{FF2B5EF4-FFF2-40B4-BE49-F238E27FC236}">
                <a16:creationId xmlns:a16="http://schemas.microsoft.com/office/drawing/2014/main" id="{F1A027D1-E913-E06B-B17E-10A3CBC593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5" name="Picture 2" descr="LOGO_ENkku_color – Faculty of Engineering , Khon Kaen University">
            <a:extLst>
              <a:ext uri="{FF2B5EF4-FFF2-40B4-BE49-F238E27FC236}">
                <a16:creationId xmlns:a16="http://schemas.microsoft.com/office/drawing/2014/main" id="{F4486DC3-D8B6-14E3-54A0-72D108358D57}"/>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8" name="กล่องข้อความ 7">
            <a:extLst>
              <a:ext uri="{FF2B5EF4-FFF2-40B4-BE49-F238E27FC236}">
                <a16:creationId xmlns:a16="http://schemas.microsoft.com/office/drawing/2014/main" id="{4C8094D6-9B79-F0B6-E91E-12E5BDB46626}"/>
              </a:ext>
            </a:extLst>
          </p:cNvPr>
          <p:cNvSpPr txBox="1"/>
          <p:nvPr/>
        </p:nvSpPr>
        <p:spPr>
          <a:xfrm>
            <a:off x="1050864" y="1340410"/>
            <a:ext cx="9783192" cy="2262158"/>
          </a:xfrm>
          <a:prstGeom prst="rect">
            <a:avLst/>
          </a:prstGeom>
          <a:noFill/>
        </p:spPr>
        <p:txBody>
          <a:bodyPr wrap="square">
            <a:spAutoFit/>
          </a:bodyPr>
          <a:lstStyle/>
          <a:p>
            <a:r>
              <a:rPr lang="en-US" sz="1400" dirty="0">
                <a:solidFill>
                  <a:srgbClr val="002060"/>
                </a:solidFill>
                <a:latin typeface="Helvetica" panose="020B0604020202020204" pitchFamily="34" charset="0"/>
                <a:cs typeface="Helvetica" panose="020B0604020202020204" pitchFamily="34" charset="0"/>
              </a:rPr>
              <a:t>The hardware brain (processing center) and User Interface interaction point.</a:t>
            </a:r>
          </a:p>
          <a:p>
            <a:pPr marL="285750" indent="-285750">
              <a:buFont typeface="Arial" panose="020B0604020202020204" pitchFamily="34" charset="0"/>
              <a:buChar char="•"/>
            </a:pPr>
            <a:endParaRPr lang="en-US" sz="500" dirty="0">
              <a:solidFill>
                <a:srgbClr val="002060"/>
              </a:solidFill>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US" sz="1400" b="1" dirty="0">
                <a:solidFill>
                  <a:srgbClr val="002060"/>
                </a:solidFill>
                <a:latin typeface="Helvetica" panose="020B0604020202020204" pitchFamily="34" charset="0"/>
                <a:cs typeface="Helvetica" panose="020B0604020202020204" pitchFamily="34" charset="0"/>
              </a:rPr>
              <a:t>Microcontroller: </a:t>
            </a:r>
            <a:r>
              <a:rPr lang="en-US" sz="1400" dirty="0">
                <a:solidFill>
                  <a:srgbClr val="002060"/>
                </a:solidFill>
                <a:latin typeface="Helvetica" panose="020B0604020202020204" pitchFamily="34" charset="0"/>
                <a:cs typeface="Helvetica" panose="020B0604020202020204" pitchFamily="34" charset="0"/>
              </a:rPr>
              <a:t>Acts as the control unit that reads sensor inputs (e.g., Limit switches for part detection), drives mechanisms (e.g., rotation motors, sorters), and serves as the communication bridge with the Backend Software to send/receive commands.</a:t>
            </a:r>
          </a:p>
          <a:p>
            <a:pPr marL="285750" indent="-285750">
              <a:buFont typeface="Arial" panose="020B0604020202020204" pitchFamily="34" charset="0"/>
              <a:buChar char="•"/>
            </a:pPr>
            <a:endParaRPr lang="en-US" sz="500" dirty="0">
              <a:solidFill>
                <a:srgbClr val="002060"/>
              </a:solidFill>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US" sz="1400" b="1" dirty="0">
                <a:solidFill>
                  <a:srgbClr val="002060"/>
                </a:solidFill>
                <a:latin typeface="Helvetica" panose="020B0604020202020204" pitchFamily="34" charset="0"/>
                <a:cs typeface="Helvetica" panose="020B0604020202020204" pitchFamily="34" charset="0"/>
              </a:rPr>
              <a:t>Status Indication: </a:t>
            </a:r>
            <a:r>
              <a:rPr lang="en-US" sz="1400" dirty="0">
                <a:solidFill>
                  <a:srgbClr val="002060"/>
                </a:solidFill>
                <a:latin typeface="Helvetica" panose="020B0604020202020204" pitchFamily="34" charset="0"/>
                <a:cs typeface="Helvetica" panose="020B0604020202020204" pitchFamily="34" charset="0"/>
              </a:rPr>
              <a:t>Features a small OLED display and/or LED indicators (Green/Red) mounted on the jig to provide real-time status updates (e.g., "Ready", "Measuring...", "Finished", "Good", "NG"), guiding the operator's next action instantly.</a:t>
            </a:r>
          </a:p>
          <a:p>
            <a:pPr marL="285750" indent="-285750">
              <a:buFont typeface="Arial" panose="020B0604020202020204" pitchFamily="34" charset="0"/>
              <a:buChar char="•"/>
            </a:pPr>
            <a:endParaRPr lang="en-US" sz="500">
              <a:solidFill>
                <a:srgbClr val="002060"/>
              </a:solidFill>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US" sz="1400" b="1">
                <a:solidFill>
                  <a:srgbClr val="002060"/>
                </a:solidFill>
                <a:latin typeface="Helvetica" panose="020B0604020202020204" pitchFamily="34" charset="0"/>
                <a:cs typeface="Helvetica" panose="020B0604020202020204" pitchFamily="34" charset="0"/>
              </a:rPr>
              <a:t>Physical Button (Hard Control): </a:t>
            </a:r>
            <a:r>
              <a:rPr lang="en-US" sz="1400">
                <a:solidFill>
                  <a:srgbClr val="002060"/>
                </a:solidFill>
                <a:latin typeface="Helvetica" panose="020B0604020202020204" pitchFamily="34" charset="0"/>
                <a:cs typeface="Helvetica" panose="020B0604020202020204" pitchFamily="34" charset="0"/>
              </a:rPr>
              <a:t>Supports direct manual triggering and operation from the machine side, in addition to the web-based UI Dashboard (Soft Control).</a:t>
            </a:r>
            <a:endParaRPr lang="en-US" sz="1400" dirty="0">
              <a:solidFill>
                <a:srgbClr val="002060"/>
              </a:solidFill>
              <a:latin typeface="Helvetica" panose="020B0604020202020204" pitchFamily="34" charset="0"/>
              <a:cs typeface="Helvetica" panose="020B0604020202020204" pitchFamily="34" charset="0"/>
            </a:endParaRPr>
          </a:p>
        </p:txBody>
      </p:sp>
      <p:pic>
        <p:nvPicPr>
          <p:cNvPr id="21" name="รูปภาพ 20">
            <a:extLst>
              <a:ext uri="{FF2B5EF4-FFF2-40B4-BE49-F238E27FC236}">
                <a16:creationId xmlns:a16="http://schemas.microsoft.com/office/drawing/2014/main" id="{F636D08C-F06D-DEA2-2D02-2711F216118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03482" y="4098079"/>
            <a:ext cx="3824100" cy="2105948"/>
          </a:xfrm>
          <a:prstGeom prst="rect">
            <a:avLst/>
          </a:prstGeom>
        </p:spPr>
      </p:pic>
    </p:spTree>
    <p:extLst>
      <p:ext uri="{BB962C8B-B14F-4D97-AF65-F5344CB8AC3E}">
        <p14:creationId xmlns:p14="http://schemas.microsoft.com/office/powerpoint/2010/main" val="21244339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AA227-AE0E-8C06-C002-04087374907F}"/>
            </a:ext>
          </a:extLst>
        </p:cNvPr>
        <p:cNvGrpSpPr/>
        <p:nvPr/>
      </p:nvGrpSpPr>
      <p:grpSpPr>
        <a:xfrm>
          <a:off x="0" y="0"/>
          <a:ext cx="0" cy="0"/>
          <a:chOff x="0" y="0"/>
          <a:chExt cx="0" cy="0"/>
        </a:xfrm>
      </p:grpSpPr>
      <p:cxnSp>
        <p:nvCxnSpPr>
          <p:cNvPr id="66" name="ลูกศรเชื่อมต่อแบบตรง 65">
            <a:extLst>
              <a:ext uri="{FF2B5EF4-FFF2-40B4-BE49-F238E27FC236}">
                <a16:creationId xmlns:a16="http://schemas.microsoft.com/office/drawing/2014/main" id="{CB1F2619-F9BE-6917-4793-8B499B2F3B18}"/>
              </a:ext>
            </a:extLst>
          </p:cNvPr>
          <p:cNvCxnSpPr>
            <a:cxnSpLocks/>
          </p:cNvCxnSpPr>
          <p:nvPr/>
        </p:nvCxnSpPr>
        <p:spPr>
          <a:xfrm>
            <a:off x="3928813" y="6278467"/>
            <a:ext cx="0" cy="602682"/>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grpSp>
        <p:nvGrpSpPr>
          <p:cNvPr id="65" name="กลุ่ม 64">
            <a:extLst>
              <a:ext uri="{FF2B5EF4-FFF2-40B4-BE49-F238E27FC236}">
                <a16:creationId xmlns:a16="http://schemas.microsoft.com/office/drawing/2014/main" id="{5443725C-A24B-A274-5003-720B643FEDE6}"/>
              </a:ext>
            </a:extLst>
          </p:cNvPr>
          <p:cNvGrpSpPr/>
          <p:nvPr/>
        </p:nvGrpSpPr>
        <p:grpSpPr>
          <a:xfrm>
            <a:off x="2738157" y="3547212"/>
            <a:ext cx="2340254" cy="628523"/>
            <a:chOff x="4655735" y="1082377"/>
            <a:chExt cx="1713921" cy="374663"/>
          </a:xfrm>
        </p:grpSpPr>
        <p:sp>
          <p:nvSpPr>
            <p:cNvPr id="64" name="Rectangle 160">
              <a:extLst>
                <a:ext uri="{FF2B5EF4-FFF2-40B4-BE49-F238E27FC236}">
                  <a16:creationId xmlns:a16="http://schemas.microsoft.com/office/drawing/2014/main" id="{33EE99AE-31E8-760E-623A-3C52206E158F}"/>
                </a:ext>
              </a:extLst>
            </p:cNvPr>
            <p:cNvSpPr/>
            <p:nvPr/>
          </p:nvSpPr>
          <p:spPr>
            <a:xfrm>
              <a:off x="4655735" y="1082377"/>
              <a:ext cx="1713921" cy="37466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a:solidFill>
                  <a:srgbClr val="002060"/>
                </a:solidFill>
                <a:latin typeface="Helvetica" panose="020B0604020202020204" pitchFamily="34" charset="0"/>
              </a:endParaRPr>
            </a:p>
          </p:txBody>
        </p:sp>
        <p:sp>
          <p:nvSpPr>
            <p:cNvPr id="24" name="กล่องข้อความ 23">
              <a:extLst>
                <a:ext uri="{FF2B5EF4-FFF2-40B4-BE49-F238E27FC236}">
                  <a16:creationId xmlns:a16="http://schemas.microsoft.com/office/drawing/2014/main" id="{782DDF08-A3CF-D708-FFFB-A0A8FD8D580F}"/>
                </a:ext>
              </a:extLst>
            </p:cNvPr>
            <p:cNvSpPr txBox="1"/>
            <p:nvPr/>
          </p:nvSpPr>
          <p:spPr>
            <a:xfrm>
              <a:off x="4655736" y="1134522"/>
              <a:ext cx="1713920" cy="275199"/>
            </a:xfrm>
            <a:prstGeom prst="rect">
              <a:avLst/>
            </a:prstGeom>
            <a:noFill/>
          </p:spPr>
          <p:txBody>
            <a:bodyPr wrap="square" rtlCol="0" anchor="ctr">
              <a:spAutoFit/>
            </a:bodyPr>
            <a:lstStyle/>
            <a:p>
              <a:pPr algn="ctr"/>
              <a:r>
                <a:rPr lang="en-US" sz="1200" b="1" dirty="0">
                  <a:solidFill>
                    <a:srgbClr val="002060"/>
                  </a:solidFill>
                  <a:latin typeface="Helvetica" panose="020B0604020202020204" pitchFamily="34" charset="0"/>
                </a:rPr>
                <a:t>Detect Part</a:t>
              </a:r>
            </a:p>
            <a:p>
              <a:pPr algn="ctr"/>
              <a:r>
                <a:rPr lang="en-US" sz="1200" dirty="0">
                  <a:solidFill>
                    <a:srgbClr val="002060"/>
                  </a:solidFill>
                  <a:latin typeface="Helvetica" panose="020B0604020202020204" pitchFamily="34" charset="0"/>
                </a:rPr>
                <a:t>ST188 + debounce</a:t>
              </a:r>
              <a:endParaRPr lang="th-TH" sz="1200" dirty="0">
                <a:solidFill>
                  <a:srgbClr val="002060"/>
                </a:solidFill>
                <a:latin typeface="Helvetica" panose="020B0604020202020204" pitchFamily="34" charset="0"/>
              </a:endParaRPr>
            </a:p>
          </p:txBody>
        </p:sp>
      </p:grpSp>
      <p:sp>
        <p:nvSpPr>
          <p:cNvPr id="5" name="สี่เหลี่ยมผืนผ้า: มุมมน 4">
            <a:extLst>
              <a:ext uri="{FF2B5EF4-FFF2-40B4-BE49-F238E27FC236}">
                <a16:creationId xmlns:a16="http://schemas.microsoft.com/office/drawing/2014/main" id="{A68434B6-C747-764B-01FF-AE796AE7DE6A}"/>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7" name="Picture 2" descr="Analog Devices | Disruptive Technology for Clinical Trials">
            <a:extLst>
              <a:ext uri="{FF2B5EF4-FFF2-40B4-BE49-F238E27FC236}">
                <a16:creationId xmlns:a16="http://schemas.microsoft.com/office/drawing/2014/main" id="{8A0C58D2-C407-718B-C372-0872F13178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9" name="Picture 2" descr="LOGO_ENkku_color – Faculty of Engineering , Khon Kaen University">
            <a:extLst>
              <a:ext uri="{FF2B5EF4-FFF2-40B4-BE49-F238E27FC236}">
                <a16:creationId xmlns:a16="http://schemas.microsoft.com/office/drawing/2014/main" id="{FD8707DF-F651-501B-6485-57424436F02A}"/>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8" name="สี่เหลี่ยมผืนผ้า 7">
            <a:extLst>
              <a:ext uri="{FF2B5EF4-FFF2-40B4-BE49-F238E27FC236}">
                <a16:creationId xmlns:a16="http://schemas.microsoft.com/office/drawing/2014/main" id="{3394FA99-CE3A-D91E-C3E6-627365492A62}"/>
              </a:ext>
            </a:extLst>
          </p:cNvPr>
          <p:cNvSpPr/>
          <p:nvPr/>
        </p:nvSpPr>
        <p:spPr>
          <a:xfrm>
            <a:off x="432246" y="533609"/>
            <a:ext cx="2365070" cy="473846"/>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000"/>
          </a:p>
        </p:txBody>
      </p:sp>
      <p:sp>
        <p:nvSpPr>
          <p:cNvPr id="11" name="สี่เหลี่ยมผืนผ้า 10">
            <a:extLst>
              <a:ext uri="{FF2B5EF4-FFF2-40B4-BE49-F238E27FC236}">
                <a16:creationId xmlns:a16="http://schemas.microsoft.com/office/drawing/2014/main" id="{51E4666B-2C1E-167C-6B24-3328139B683D}"/>
              </a:ext>
            </a:extLst>
          </p:cNvPr>
          <p:cNvSpPr/>
          <p:nvPr/>
        </p:nvSpPr>
        <p:spPr>
          <a:xfrm>
            <a:off x="432246" y="533609"/>
            <a:ext cx="127135" cy="473846"/>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000"/>
          </a:p>
        </p:txBody>
      </p:sp>
      <p:sp>
        <p:nvSpPr>
          <p:cNvPr id="13" name="กล่องข้อความ 12">
            <a:extLst>
              <a:ext uri="{FF2B5EF4-FFF2-40B4-BE49-F238E27FC236}">
                <a16:creationId xmlns:a16="http://schemas.microsoft.com/office/drawing/2014/main" id="{A369DC8E-4A13-C84D-8DDB-397D7DD6843C}"/>
              </a:ext>
            </a:extLst>
          </p:cNvPr>
          <p:cNvSpPr txBox="1">
            <a:spLocks/>
          </p:cNvSpPr>
          <p:nvPr/>
        </p:nvSpPr>
        <p:spPr>
          <a:xfrm>
            <a:off x="627329" y="547772"/>
            <a:ext cx="2169987" cy="461665"/>
          </a:xfrm>
          <a:prstGeom prst="rect">
            <a:avLst/>
          </a:prstGeom>
          <a:noFill/>
        </p:spPr>
        <p:txBody>
          <a:bodyPr wrap="square" rtlCol="0">
            <a:spAutoFit/>
          </a:bodyPr>
          <a:lstStyle/>
          <a:p>
            <a:r>
              <a:rPr lang="en-US" sz="2400" b="1" dirty="0">
                <a:solidFill>
                  <a:srgbClr val="002060"/>
                </a:solidFill>
                <a:latin typeface="Helvetica" panose="020B0604020202020204" pitchFamily="34" charset="0"/>
                <a:cs typeface="Helvetica" panose="020B0604020202020204" pitchFamily="34" charset="0"/>
              </a:rPr>
              <a:t>Flow Process</a:t>
            </a:r>
            <a:endParaRPr lang="th-TH" sz="2400" b="1" dirty="0">
              <a:solidFill>
                <a:srgbClr val="002060"/>
              </a:solidFill>
              <a:latin typeface="Helvetica" panose="020B0604020202020204" pitchFamily="34" charset="0"/>
              <a:cs typeface="Mitr" panose="00000500000000000000" pitchFamily="2" charset="-34"/>
            </a:endParaRPr>
          </a:p>
        </p:txBody>
      </p:sp>
      <p:grpSp>
        <p:nvGrpSpPr>
          <p:cNvPr id="3" name="กลุ่ม 2">
            <a:extLst>
              <a:ext uri="{FF2B5EF4-FFF2-40B4-BE49-F238E27FC236}">
                <a16:creationId xmlns:a16="http://schemas.microsoft.com/office/drawing/2014/main" id="{790D394A-3BBD-8569-B806-DF39334955CF}"/>
              </a:ext>
            </a:extLst>
          </p:cNvPr>
          <p:cNvGrpSpPr/>
          <p:nvPr/>
        </p:nvGrpSpPr>
        <p:grpSpPr>
          <a:xfrm>
            <a:off x="2738157" y="1448026"/>
            <a:ext cx="2340254" cy="628523"/>
            <a:chOff x="4655735" y="1082377"/>
            <a:chExt cx="1713921" cy="374663"/>
          </a:xfrm>
        </p:grpSpPr>
        <p:sp>
          <p:nvSpPr>
            <p:cNvPr id="10" name="Rectangle 160">
              <a:extLst>
                <a:ext uri="{FF2B5EF4-FFF2-40B4-BE49-F238E27FC236}">
                  <a16:creationId xmlns:a16="http://schemas.microsoft.com/office/drawing/2014/main" id="{25CAD86D-E044-22A7-70AB-7078A64FEF60}"/>
                </a:ext>
              </a:extLst>
            </p:cNvPr>
            <p:cNvSpPr/>
            <p:nvPr/>
          </p:nvSpPr>
          <p:spPr>
            <a:xfrm>
              <a:off x="4655735" y="1082377"/>
              <a:ext cx="1713921" cy="37466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a:solidFill>
                  <a:srgbClr val="002060"/>
                </a:solidFill>
                <a:latin typeface="Helvetica" panose="020B0604020202020204" pitchFamily="34" charset="0"/>
              </a:endParaRPr>
            </a:p>
          </p:txBody>
        </p:sp>
        <p:sp>
          <p:nvSpPr>
            <p:cNvPr id="12" name="กล่องข้อความ 11">
              <a:extLst>
                <a:ext uri="{FF2B5EF4-FFF2-40B4-BE49-F238E27FC236}">
                  <a16:creationId xmlns:a16="http://schemas.microsoft.com/office/drawing/2014/main" id="{31424AA4-89C2-46FC-38A4-406961C9909E}"/>
                </a:ext>
              </a:extLst>
            </p:cNvPr>
            <p:cNvSpPr txBox="1"/>
            <p:nvPr/>
          </p:nvSpPr>
          <p:spPr>
            <a:xfrm>
              <a:off x="4655736" y="1134522"/>
              <a:ext cx="1713920" cy="275199"/>
            </a:xfrm>
            <a:prstGeom prst="rect">
              <a:avLst/>
            </a:prstGeom>
            <a:noFill/>
          </p:spPr>
          <p:txBody>
            <a:bodyPr wrap="square" rtlCol="0" anchor="ctr">
              <a:spAutoFit/>
            </a:bodyPr>
            <a:lstStyle/>
            <a:p>
              <a:pPr algn="ctr"/>
              <a:r>
                <a:rPr lang="en-US" sz="1200" b="1" dirty="0">
                  <a:solidFill>
                    <a:srgbClr val="002060"/>
                  </a:solidFill>
                  <a:latin typeface="Helvetica" panose="020B0604020202020204" pitchFamily="34" charset="0"/>
                </a:rPr>
                <a:t>Homing</a:t>
              </a:r>
            </a:p>
            <a:p>
              <a:pPr algn="ctr"/>
              <a:r>
                <a:rPr lang="en-US" sz="1200" dirty="0">
                  <a:solidFill>
                    <a:srgbClr val="002060"/>
                  </a:solidFill>
                  <a:latin typeface="Helvetica" panose="020B0604020202020204" pitchFamily="34" charset="0"/>
                </a:rPr>
                <a:t>Init all modules</a:t>
              </a:r>
              <a:endParaRPr lang="th-TH" sz="1200" dirty="0">
                <a:solidFill>
                  <a:srgbClr val="002060"/>
                </a:solidFill>
                <a:latin typeface="Helvetica" panose="020B0604020202020204" pitchFamily="34" charset="0"/>
              </a:endParaRPr>
            </a:p>
          </p:txBody>
        </p:sp>
      </p:grpSp>
      <p:grpSp>
        <p:nvGrpSpPr>
          <p:cNvPr id="14" name="กลุ่ม 13">
            <a:extLst>
              <a:ext uri="{FF2B5EF4-FFF2-40B4-BE49-F238E27FC236}">
                <a16:creationId xmlns:a16="http://schemas.microsoft.com/office/drawing/2014/main" id="{E893587D-166A-18E1-DB9F-FA3915D581F0}"/>
              </a:ext>
            </a:extLst>
          </p:cNvPr>
          <p:cNvGrpSpPr/>
          <p:nvPr/>
        </p:nvGrpSpPr>
        <p:grpSpPr>
          <a:xfrm>
            <a:off x="2738157" y="2520254"/>
            <a:ext cx="2340254" cy="628523"/>
            <a:chOff x="4655735" y="1082377"/>
            <a:chExt cx="1713921" cy="374663"/>
          </a:xfrm>
        </p:grpSpPr>
        <p:sp>
          <p:nvSpPr>
            <p:cNvPr id="18" name="Rectangle 160">
              <a:extLst>
                <a:ext uri="{FF2B5EF4-FFF2-40B4-BE49-F238E27FC236}">
                  <a16:creationId xmlns:a16="http://schemas.microsoft.com/office/drawing/2014/main" id="{F93B8636-5384-86FB-4462-7F5ABB9D6A62}"/>
                </a:ext>
              </a:extLst>
            </p:cNvPr>
            <p:cNvSpPr/>
            <p:nvPr/>
          </p:nvSpPr>
          <p:spPr>
            <a:xfrm>
              <a:off x="4655735" y="1082377"/>
              <a:ext cx="1713921" cy="37466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a:solidFill>
                  <a:srgbClr val="002060"/>
                </a:solidFill>
                <a:latin typeface="Helvetica" panose="020B0604020202020204" pitchFamily="34" charset="0"/>
              </a:endParaRPr>
            </a:p>
          </p:txBody>
        </p:sp>
        <p:sp>
          <p:nvSpPr>
            <p:cNvPr id="19" name="กล่องข้อความ 18">
              <a:extLst>
                <a:ext uri="{FF2B5EF4-FFF2-40B4-BE49-F238E27FC236}">
                  <a16:creationId xmlns:a16="http://schemas.microsoft.com/office/drawing/2014/main" id="{43CB5A77-07AB-D3BF-F748-629DCDAAA747}"/>
                </a:ext>
              </a:extLst>
            </p:cNvPr>
            <p:cNvSpPr txBox="1"/>
            <p:nvPr/>
          </p:nvSpPr>
          <p:spPr>
            <a:xfrm>
              <a:off x="4655736" y="1134522"/>
              <a:ext cx="1713920" cy="275199"/>
            </a:xfrm>
            <a:prstGeom prst="rect">
              <a:avLst/>
            </a:prstGeom>
            <a:noFill/>
          </p:spPr>
          <p:txBody>
            <a:bodyPr wrap="square" rtlCol="0" anchor="ctr">
              <a:spAutoFit/>
            </a:bodyPr>
            <a:lstStyle/>
            <a:p>
              <a:pPr algn="ctr"/>
              <a:r>
                <a:rPr lang="en-US" sz="1200" b="1" dirty="0">
                  <a:solidFill>
                    <a:srgbClr val="002060"/>
                  </a:solidFill>
                  <a:latin typeface="Helvetica" panose="020B0604020202020204" pitchFamily="34" charset="0"/>
                </a:rPr>
                <a:t>Wait START </a:t>
              </a:r>
              <a:r>
                <a:rPr lang="en-US" sz="1200" b="1" dirty="0" err="1">
                  <a:solidFill>
                    <a:srgbClr val="002060"/>
                  </a:solidFill>
                  <a:latin typeface="Helvetica" panose="020B0604020202020204" pitchFamily="34" charset="0"/>
                </a:rPr>
                <a:t>cmd</a:t>
              </a:r>
              <a:endParaRPr lang="en-US" sz="1200" b="1" dirty="0">
                <a:solidFill>
                  <a:srgbClr val="002060"/>
                </a:solidFill>
                <a:latin typeface="Helvetica" panose="020B0604020202020204" pitchFamily="34" charset="0"/>
              </a:endParaRPr>
            </a:p>
            <a:p>
              <a:pPr algn="ctr"/>
              <a:r>
                <a:rPr lang="en-US" sz="1200" dirty="0">
                  <a:solidFill>
                    <a:srgbClr val="002060"/>
                  </a:solidFill>
                  <a:latin typeface="Helvetica" panose="020B0604020202020204" pitchFamily="34" charset="0"/>
                </a:rPr>
                <a:t>receive from raspberry pi</a:t>
              </a:r>
              <a:endParaRPr lang="th-TH" sz="1200" dirty="0">
                <a:solidFill>
                  <a:srgbClr val="002060"/>
                </a:solidFill>
                <a:latin typeface="Helvetica" panose="020B0604020202020204" pitchFamily="34" charset="0"/>
              </a:endParaRPr>
            </a:p>
          </p:txBody>
        </p:sp>
      </p:grpSp>
      <p:grpSp>
        <p:nvGrpSpPr>
          <p:cNvPr id="20" name="กลุ่ม 19">
            <a:extLst>
              <a:ext uri="{FF2B5EF4-FFF2-40B4-BE49-F238E27FC236}">
                <a16:creationId xmlns:a16="http://schemas.microsoft.com/office/drawing/2014/main" id="{6E2C0B2E-B95E-1B4E-D620-369D303CA5DC}"/>
              </a:ext>
            </a:extLst>
          </p:cNvPr>
          <p:cNvGrpSpPr/>
          <p:nvPr/>
        </p:nvGrpSpPr>
        <p:grpSpPr>
          <a:xfrm>
            <a:off x="2738157" y="4596805"/>
            <a:ext cx="2340254" cy="628523"/>
            <a:chOff x="4655735" y="1082377"/>
            <a:chExt cx="1713921" cy="374663"/>
          </a:xfrm>
        </p:grpSpPr>
        <p:sp>
          <p:nvSpPr>
            <p:cNvPr id="21" name="Rectangle 160">
              <a:extLst>
                <a:ext uri="{FF2B5EF4-FFF2-40B4-BE49-F238E27FC236}">
                  <a16:creationId xmlns:a16="http://schemas.microsoft.com/office/drawing/2014/main" id="{C2F0EC33-B666-A827-C6D7-ADAA15875ECD}"/>
                </a:ext>
              </a:extLst>
            </p:cNvPr>
            <p:cNvSpPr/>
            <p:nvPr/>
          </p:nvSpPr>
          <p:spPr>
            <a:xfrm>
              <a:off x="4655735" y="1082377"/>
              <a:ext cx="1713921" cy="37466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a:solidFill>
                  <a:srgbClr val="002060"/>
                </a:solidFill>
                <a:latin typeface="Helvetica" panose="020B0604020202020204" pitchFamily="34" charset="0"/>
              </a:endParaRPr>
            </a:p>
          </p:txBody>
        </p:sp>
        <p:sp>
          <p:nvSpPr>
            <p:cNvPr id="22" name="กล่องข้อความ 21">
              <a:extLst>
                <a:ext uri="{FF2B5EF4-FFF2-40B4-BE49-F238E27FC236}">
                  <a16:creationId xmlns:a16="http://schemas.microsoft.com/office/drawing/2014/main" id="{EC06ACD4-C689-F9A7-7101-28A05B9905DB}"/>
                </a:ext>
              </a:extLst>
            </p:cNvPr>
            <p:cNvSpPr txBox="1"/>
            <p:nvPr/>
          </p:nvSpPr>
          <p:spPr>
            <a:xfrm>
              <a:off x="4655736" y="1134522"/>
              <a:ext cx="1713920" cy="275199"/>
            </a:xfrm>
            <a:prstGeom prst="rect">
              <a:avLst/>
            </a:prstGeom>
            <a:noFill/>
          </p:spPr>
          <p:txBody>
            <a:bodyPr wrap="square" rtlCol="0" anchor="ctr">
              <a:spAutoFit/>
            </a:bodyPr>
            <a:lstStyle/>
            <a:p>
              <a:pPr algn="ctr"/>
              <a:r>
                <a:rPr lang="en-US" sz="1200" b="1" dirty="0">
                  <a:solidFill>
                    <a:srgbClr val="002060"/>
                  </a:solidFill>
                  <a:latin typeface="Helvetica" panose="020B0604020202020204" pitchFamily="34" charset="0"/>
                </a:rPr>
                <a:t>Align Part</a:t>
              </a:r>
            </a:p>
            <a:p>
              <a:pPr algn="ctr"/>
              <a:r>
                <a:rPr lang="en-US" sz="1200" dirty="0">
                  <a:solidFill>
                    <a:srgbClr val="002060"/>
                  </a:solidFill>
                  <a:latin typeface="Helvetica" panose="020B0604020202020204" pitchFamily="34" charset="0"/>
                </a:rPr>
                <a:t>Linear Actuator</a:t>
              </a:r>
              <a:endParaRPr lang="th-TH" sz="1200" dirty="0">
                <a:solidFill>
                  <a:srgbClr val="002060"/>
                </a:solidFill>
                <a:latin typeface="Helvetica" panose="020B0604020202020204" pitchFamily="34" charset="0"/>
              </a:endParaRPr>
            </a:p>
          </p:txBody>
        </p:sp>
      </p:grpSp>
      <p:grpSp>
        <p:nvGrpSpPr>
          <p:cNvPr id="23" name="กลุ่ม 22">
            <a:extLst>
              <a:ext uri="{FF2B5EF4-FFF2-40B4-BE49-F238E27FC236}">
                <a16:creationId xmlns:a16="http://schemas.microsoft.com/office/drawing/2014/main" id="{FB4EC52F-CF6D-4D47-10D8-EDE30B634046}"/>
              </a:ext>
            </a:extLst>
          </p:cNvPr>
          <p:cNvGrpSpPr/>
          <p:nvPr/>
        </p:nvGrpSpPr>
        <p:grpSpPr>
          <a:xfrm>
            <a:off x="2738157" y="5646400"/>
            <a:ext cx="2340254" cy="628523"/>
            <a:chOff x="4655735" y="1082377"/>
            <a:chExt cx="1713921" cy="374663"/>
          </a:xfrm>
        </p:grpSpPr>
        <p:sp>
          <p:nvSpPr>
            <p:cNvPr id="25" name="Rectangle 160">
              <a:extLst>
                <a:ext uri="{FF2B5EF4-FFF2-40B4-BE49-F238E27FC236}">
                  <a16:creationId xmlns:a16="http://schemas.microsoft.com/office/drawing/2014/main" id="{43BEECF7-2646-D27D-6DF8-C49456613BAD}"/>
                </a:ext>
              </a:extLst>
            </p:cNvPr>
            <p:cNvSpPr/>
            <p:nvPr/>
          </p:nvSpPr>
          <p:spPr>
            <a:xfrm>
              <a:off x="4655735" y="1082377"/>
              <a:ext cx="1713921" cy="37466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a:solidFill>
                  <a:srgbClr val="002060"/>
                </a:solidFill>
                <a:latin typeface="Helvetica" panose="020B0604020202020204" pitchFamily="34" charset="0"/>
              </a:endParaRPr>
            </a:p>
          </p:txBody>
        </p:sp>
        <p:sp>
          <p:nvSpPr>
            <p:cNvPr id="26" name="กล่องข้อความ 25">
              <a:extLst>
                <a:ext uri="{FF2B5EF4-FFF2-40B4-BE49-F238E27FC236}">
                  <a16:creationId xmlns:a16="http://schemas.microsoft.com/office/drawing/2014/main" id="{3A11DF82-5FF4-2E26-CF91-DA6EBFF48B9E}"/>
                </a:ext>
              </a:extLst>
            </p:cNvPr>
            <p:cNvSpPr txBox="1"/>
            <p:nvPr/>
          </p:nvSpPr>
          <p:spPr>
            <a:xfrm>
              <a:off x="4655736" y="1134522"/>
              <a:ext cx="1713920" cy="275199"/>
            </a:xfrm>
            <a:prstGeom prst="rect">
              <a:avLst/>
            </a:prstGeom>
            <a:noFill/>
          </p:spPr>
          <p:txBody>
            <a:bodyPr wrap="square" rtlCol="0" anchor="ctr">
              <a:spAutoFit/>
            </a:bodyPr>
            <a:lstStyle/>
            <a:p>
              <a:pPr algn="ctr"/>
              <a:r>
                <a:rPr lang="en-US" sz="1200" b="1" dirty="0">
                  <a:solidFill>
                    <a:srgbClr val="002060"/>
                  </a:solidFill>
                  <a:latin typeface="Helvetica" panose="020B0604020202020204" pitchFamily="34" charset="0"/>
                </a:rPr>
                <a:t>Trigger TM-X</a:t>
              </a:r>
            </a:p>
            <a:p>
              <a:pPr algn="ctr"/>
              <a:r>
                <a:rPr lang="en-US" sz="1200" dirty="0">
                  <a:solidFill>
                    <a:srgbClr val="002060"/>
                  </a:solidFill>
                  <a:latin typeface="Helvetica" panose="020B0604020202020204" pitchFamily="34" charset="0"/>
                </a:rPr>
                <a:t>Wait ACK</a:t>
              </a:r>
              <a:endParaRPr lang="th-TH" sz="1200" dirty="0">
                <a:solidFill>
                  <a:srgbClr val="002060"/>
                </a:solidFill>
                <a:latin typeface="Helvetica" panose="020B0604020202020204" pitchFamily="34" charset="0"/>
              </a:endParaRPr>
            </a:p>
          </p:txBody>
        </p:sp>
      </p:grpSp>
      <p:sp>
        <p:nvSpPr>
          <p:cNvPr id="28" name="Rectangle 160">
            <a:extLst>
              <a:ext uri="{FF2B5EF4-FFF2-40B4-BE49-F238E27FC236}">
                <a16:creationId xmlns:a16="http://schemas.microsoft.com/office/drawing/2014/main" id="{62858796-2C2C-DFB8-0D82-40D449C6995D}"/>
              </a:ext>
            </a:extLst>
          </p:cNvPr>
          <p:cNvSpPr/>
          <p:nvPr/>
        </p:nvSpPr>
        <p:spPr>
          <a:xfrm>
            <a:off x="7113591" y="1448026"/>
            <a:ext cx="2030410" cy="482689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dirty="0">
              <a:solidFill>
                <a:srgbClr val="002060"/>
              </a:solidFill>
              <a:latin typeface="Helvetica" panose="020B0604020202020204" pitchFamily="34" charset="0"/>
            </a:endParaRPr>
          </a:p>
        </p:txBody>
      </p:sp>
      <p:sp>
        <p:nvSpPr>
          <p:cNvPr id="30" name="กล่องข้อความ 29">
            <a:extLst>
              <a:ext uri="{FF2B5EF4-FFF2-40B4-BE49-F238E27FC236}">
                <a16:creationId xmlns:a16="http://schemas.microsoft.com/office/drawing/2014/main" id="{B75FAF9A-1BB2-A132-DBB8-2B0986D7694B}"/>
              </a:ext>
            </a:extLst>
          </p:cNvPr>
          <p:cNvSpPr txBox="1"/>
          <p:nvPr/>
        </p:nvSpPr>
        <p:spPr>
          <a:xfrm>
            <a:off x="6958669" y="1535503"/>
            <a:ext cx="2340253" cy="461665"/>
          </a:xfrm>
          <a:prstGeom prst="rect">
            <a:avLst/>
          </a:prstGeom>
          <a:noFill/>
        </p:spPr>
        <p:txBody>
          <a:bodyPr wrap="square" rtlCol="0" anchor="ctr">
            <a:spAutoFit/>
          </a:bodyPr>
          <a:lstStyle/>
          <a:p>
            <a:pPr algn="ctr"/>
            <a:r>
              <a:rPr lang="en-US" sz="1200" b="1" dirty="0">
                <a:solidFill>
                  <a:schemeClr val="tx2">
                    <a:lumMod val="50000"/>
                    <a:lumOff val="50000"/>
                  </a:schemeClr>
                </a:solidFill>
                <a:latin typeface="Helvetica" panose="020B0604020202020204" pitchFamily="34" charset="0"/>
              </a:rPr>
              <a:t>Raspberry pi</a:t>
            </a:r>
          </a:p>
          <a:p>
            <a:pPr algn="ctr"/>
            <a:r>
              <a:rPr lang="en-US" sz="1200" dirty="0">
                <a:solidFill>
                  <a:schemeClr val="tx2">
                    <a:lumMod val="50000"/>
                    <a:lumOff val="50000"/>
                  </a:schemeClr>
                </a:solidFill>
                <a:latin typeface="Helvetica" panose="020B0604020202020204" pitchFamily="34" charset="0"/>
              </a:rPr>
              <a:t>Software/dashboard</a:t>
            </a:r>
            <a:endParaRPr lang="th-TH" sz="1200" dirty="0">
              <a:solidFill>
                <a:schemeClr val="tx2">
                  <a:lumMod val="50000"/>
                  <a:lumOff val="50000"/>
                </a:schemeClr>
              </a:solidFill>
              <a:latin typeface="Helvetica" panose="020B0604020202020204" pitchFamily="34" charset="0"/>
            </a:endParaRPr>
          </a:p>
        </p:txBody>
      </p:sp>
      <p:cxnSp>
        <p:nvCxnSpPr>
          <p:cNvPr id="39" name="ลูกศรเชื่อมต่อแบบตรง 38">
            <a:extLst>
              <a:ext uri="{FF2B5EF4-FFF2-40B4-BE49-F238E27FC236}">
                <a16:creationId xmlns:a16="http://schemas.microsoft.com/office/drawing/2014/main" id="{751D676D-5C51-3A3B-4E15-5C4B96214E4D}"/>
              </a:ext>
            </a:extLst>
          </p:cNvPr>
          <p:cNvCxnSpPr>
            <a:cxnSpLocks/>
          </p:cNvCxnSpPr>
          <p:nvPr/>
        </p:nvCxnSpPr>
        <p:spPr>
          <a:xfrm>
            <a:off x="5078411" y="3861475"/>
            <a:ext cx="2035180" cy="4047"/>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40" name="ลูกศรเชื่อมต่อแบบตรง 39">
            <a:extLst>
              <a:ext uri="{FF2B5EF4-FFF2-40B4-BE49-F238E27FC236}">
                <a16:creationId xmlns:a16="http://schemas.microsoft.com/office/drawing/2014/main" id="{0132231B-3C4C-5282-6B5C-D319F1CEFC92}"/>
              </a:ext>
            </a:extLst>
          </p:cNvPr>
          <p:cNvCxnSpPr>
            <a:cxnSpLocks/>
          </p:cNvCxnSpPr>
          <p:nvPr/>
        </p:nvCxnSpPr>
        <p:spPr>
          <a:xfrm flipH="1">
            <a:off x="5078411" y="2834516"/>
            <a:ext cx="2035180" cy="4047"/>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1" name="ลูกศรเชื่อมต่อแบบตรง 40">
            <a:extLst>
              <a:ext uri="{FF2B5EF4-FFF2-40B4-BE49-F238E27FC236}">
                <a16:creationId xmlns:a16="http://schemas.microsoft.com/office/drawing/2014/main" id="{1FE9340F-1E3F-94C0-20B4-F8E2B002C813}"/>
              </a:ext>
            </a:extLst>
          </p:cNvPr>
          <p:cNvCxnSpPr>
            <a:cxnSpLocks/>
          </p:cNvCxnSpPr>
          <p:nvPr/>
        </p:nvCxnSpPr>
        <p:spPr>
          <a:xfrm>
            <a:off x="5078411" y="4911066"/>
            <a:ext cx="2035180" cy="4047"/>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43" name="ลูกศรเชื่อมต่อแบบตรง 42">
            <a:extLst>
              <a:ext uri="{FF2B5EF4-FFF2-40B4-BE49-F238E27FC236}">
                <a16:creationId xmlns:a16="http://schemas.microsoft.com/office/drawing/2014/main" id="{DABAC93E-81C6-A0E3-B087-25D95E551631}"/>
              </a:ext>
            </a:extLst>
          </p:cNvPr>
          <p:cNvCxnSpPr>
            <a:cxnSpLocks/>
          </p:cNvCxnSpPr>
          <p:nvPr/>
        </p:nvCxnSpPr>
        <p:spPr>
          <a:xfrm>
            <a:off x="5078411" y="5781429"/>
            <a:ext cx="2035180" cy="4047"/>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45" name="ลูกศรเชื่อมต่อแบบตรง 44">
            <a:extLst>
              <a:ext uri="{FF2B5EF4-FFF2-40B4-BE49-F238E27FC236}">
                <a16:creationId xmlns:a16="http://schemas.microsoft.com/office/drawing/2014/main" id="{CC0AB877-A632-0FDF-9FB1-BD90FCADCF5F}"/>
              </a:ext>
            </a:extLst>
          </p:cNvPr>
          <p:cNvCxnSpPr>
            <a:cxnSpLocks/>
          </p:cNvCxnSpPr>
          <p:nvPr/>
        </p:nvCxnSpPr>
        <p:spPr>
          <a:xfrm flipH="1">
            <a:off x="5078411" y="6127775"/>
            <a:ext cx="2035180" cy="4047"/>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7" name="ลูกศรเชื่อมต่อแบบตรง 46">
            <a:extLst>
              <a:ext uri="{FF2B5EF4-FFF2-40B4-BE49-F238E27FC236}">
                <a16:creationId xmlns:a16="http://schemas.microsoft.com/office/drawing/2014/main" id="{23A6C755-044F-27F3-8005-3AB99E9CE956}"/>
              </a:ext>
            </a:extLst>
          </p:cNvPr>
          <p:cNvCxnSpPr>
            <a:stCxn id="10" idx="2"/>
            <a:endCxn id="18" idx="0"/>
          </p:cNvCxnSpPr>
          <p:nvPr/>
        </p:nvCxnSpPr>
        <p:spPr>
          <a:xfrm>
            <a:off x="3908284" y="2076549"/>
            <a:ext cx="0" cy="443705"/>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49" name="ลูกศรเชื่อมต่อแบบตรง 48">
            <a:extLst>
              <a:ext uri="{FF2B5EF4-FFF2-40B4-BE49-F238E27FC236}">
                <a16:creationId xmlns:a16="http://schemas.microsoft.com/office/drawing/2014/main" id="{7F6ABBA0-BDA4-DECC-F70E-4D8023C91C8F}"/>
              </a:ext>
            </a:extLst>
          </p:cNvPr>
          <p:cNvCxnSpPr>
            <a:stCxn id="18" idx="2"/>
            <a:endCxn id="64" idx="0"/>
          </p:cNvCxnSpPr>
          <p:nvPr/>
        </p:nvCxnSpPr>
        <p:spPr>
          <a:xfrm>
            <a:off x="3908284" y="3148777"/>
            <a:ext cx="0" cy="398435"/>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51" name="ลูกศรเชื่อมต่อแบบตรง 50">
            <a:extLst>
              <a:ext uri="{FF2B5EF4-FFF2-40B4-BE49-F238E27FC236}">
                <a16:creationId xmlns:a16="http://schemas.microsoft.com/office/drawing/2014/main" id="{1251EE1E-E512-B9F5-F63F-E858FB3A085E}"/>
              </a:ext>
            </a:extLst>
          </p:cNvPr>
          <p:cNvCxnSpPr>
            <a:endCxn id="21" idx="0"/>
          </p:cNvCxnSpPr>
          <p:nvPr/>
        </p:nvCxnSpPr>
        <p:spPr>
          <a:xfrm>
            <a:off x="3908284" y="4175735"/>
            <a:ext cx="0" cy="421070"/>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53" name="ลูกศรเชื่อมต่อแบบตรง 52">
            <a:extLst>
              <a:ext uri="{FF2B5EF4-FFF2-40B4-BE49-F238E27FC236}">
                <a16:creationId xmlns:a16="http://schemas.microsoft.com/office/drawing/2014/main" id="{84768426-B126-32E1-EC7B-0C9069D96B3C}"/>
              </a:ext>
            </a:extLst>
          </p:cNvPr>
          <p:cNvCxnSpPr>
            <a:stCxn id="21" idx="2"/>
            <a:endCxn id="25" idx="0"/>
          </p:cNvCxnSpPr>
          <p:nvPr/>
        </p:nvCxnSpPr>
        <p:spPr>
          <a:xfrm>
            <a:off x="3908284" y="5225328"/>
            <a:ext cx="0" cy="421072"/>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sp>
        <p:nvSpPr>
          <p:cNvPr id="55" name="กล่องข้อความ 54">
            <a:extLst>
              <a:ext uri="{FF2B5EF4-FFF2-40B4-BE49-F238E27FC236}">
                <a16:creationId xmlns:a16="http://schemas.microsoft.com/office/drawing/2014/main" id="{B2530288-F9DF-5682-737E-8E172671A60C}"/>
              </a:ext>
            </a:extLst>
          </p:cNvPr>
          <p:cNvSpPr txBox="1"/>
          <p:nvPr/>
        </p:nvSpPr>
        <p:spPr>
          <a:xfrm>
            <a:off x="4925873" y="2581048"/>
            <a:ext cx="2340253" cy="230832"/>
          </a:xfrm>
          <a:prstGeom prst="rect">
            <a:avLst/>
          </a:prstGeom>
          <a:noFill/>
        </p:spPr>
        <p:txBody>
          <a:bodyPr wrap="square" rtlCol="0" anchor="ctr">
            <a:spAutoFit/>
          </a:bodyPr>
          <a:lstStyle/>
          <a:p>
            <a:pPr algn="ctr"/>
            <a:r>
              <a:rPr lang="en-US" sz="900" dirty="0">
                <a:solidFill>
                  <a:schemeClr val="accent6">
                    <a:lumMod val="75000"/>
                  </a:schemeClr>
                </a:solidFill>
                <a:latin typeface="Helvetica" panose="020B0604020202020204" pitchFamily="34" charset="0"/>
              </a:rPr>
              <a:t>CMD_START</a:t>
            </a:r>
          </a:p>
        </p:txBody>
      </p:sp>
      <p:sp>
        <p:nvSpPr>
          <p:cNvPr id="57" name="กล่องข้อความ 56">
            <a:extLst>
              <a:ext uri="{FF2B5EF4-FFF2-40B4-BE49-F238E27FC236}">
                <a16:creationId xmlns:a16="http://schemas.microsoft.com/office/drawing/2014/main" id="{25AC3F69-23A7-DF49-9FC1-33624EB86068}"/>
              </a:ext>
            </a:extLst>
          </p:cNvPr>
          <p:cNvSpPr txBox="1"/>
          <p:nvPr/>
        </p:nvSpPr>
        <p:spPr>
          <a:xfrm>
            <a:off x="4925872" y="3630641"/>
            <a:ext cx="2340253" cy="230832"/>
          </a:xfrm>
          <a:prstGeom prst="rect">
            <a:avLst/>
          </a:prstGeom>
          <a:noFill/>
        </p:spPr>
        <p:txBody>
          <a:bodyPr wrap="square" rtlCol="0" anchor="ctr">
            <a:spAutoFit/>
          </a:bodyPr>
          <a:lstStyle/>
          <a:p>
            <a:pPr algn="ctr"/>
            <a:r>
              <a:rPr lang="en-US" sz="900" dirty="0">
                <a:solidFill>
                  <a:srgbClr val="002060"/>
                </a:solidFill>
                <a:latin typeface="Helvetica" panose="020B0604020202020204" pitchFamily="34" charset="0"/>
              </a:rPr>
              <a:t>DETECTED_ACK</a:t>
            </a:r>
          </a:p>
        </p:txBody>
      </p:sp>
      <p:sp>
        <p:nvSpPr>
          <p:cNvPr id="59" name="กล่องข้อความ 58">
            <a:extLst>
              <a:ext uri="{FF2B5EF4-FFF2-40B4-BE49-F238E27FC236}">
                <a16:creationId xmlns:a16="http://schemas.microsoft.com/office/drawing/2014/main" id="{A5936614-A754-CE6C-3C6A-50329D28B670}"/>
              </a:ext>
            </a:extLst>
          </p:cNvPr>
          <p:cNvSpPr txBox="1"/>
          <p:nvPr/>
        </p:nvSpPr>
        <p:spPr>
          <a:xfrm>
            <a:off x="4925871" y="4680234"/>
            <a:ext cx="2340253" cy="230832"/>
          </a:xfrm>
          <a:prstGeom prst="rect">
            <a:avLst/>
          </a:prstGeom>
          <a:noFill/>
        </p:spPr>
        <p:txBody>
          <a:bodyPr wrap="square" rtlCol="0" anchor="ctr">
            <a:spAutoFit/>
          </a:bodyPr>
          <a:lstStyle/>
          <a:p>
            <a:pPr algn="ctr"/>
            <a:r>
              <a:rPr lang="en-US" sz="900" dirty="0">
                <a:solidFill>
                  <a:srgbClr val="002060"/>
                </a:solidFill>
                <a:latin typeface="Helvetica" panose="020B0604020202020204" pitchFamily="34" charset="0"/>
              </a:rPr>
              <a:t>ALIGNED_ACK</a:t>
            </a:r>
          </a:p>
        </p:txBody>
      </p:sp>
      <p:sp>
        <p:nvSpPr>
          <p:cNvPr id="61" name="กล่องข้อความ 60">
            <a:extLst>
              <a:ext uri="{FF2B5EF4-FFF2-40B4-BE49-F238E27FC236}">
                <a16:creationId xmlns:a16="http://schemas.microsoft.com/office/drawing/2014/main" id="{053E13B0-663F-FEAE-2923-137930044443}"/>
              </a:ext>
            </a:extLst>
          </p:cNvPr>
          <p:cNvSpPr txBox="1"/>
          <p:nvPr/>
        </p:nvSpPr>
        <p:spPr>
          <a:xfrm>
            <a:off x="4925870" y="5548438"/>
            <a:ext cx="2340253" cy="230832"/>
          </a:xfrm>
          <a:prstGeom prst="rect">
            <a:avLst/>
          </a:prstGeom>
          <a:noFill/>
        </p:spPr>
        <p:txBody>
          <a:bodyPr wrap="square" rtlCol="0" anchor="ctr">
            <a:spAutoFit/>
          </a:bodyPr>
          <a:lstStyle/>
          <a:p>
            <a:pPr algn="ctr"/>
            <a:r>
              <a:rPr lang="en-US" sz="900" dirty="0">
                <a:solidFill>
                  <a:srgbClr val="002060"/>
                </a:solidFill>
                <a:latin typeface="Helvetica" panose="020B0604020202020204" pitchFamily="34" charset="0"/>
              </a:rPr>
              <a:t>CMD_TRIGGER_TMX</a:t>
            </a:r>
          </a:p>
        </p:txBody>
      </p:sp>
      <p:sp>
        <p:nvSpPr>
          <p:cNvPr id="63" name="กล่องข้อความ 62">
            <a:extLst>
              <a:ext uri="{FF2B5EF4-FFF2-40B4-BE49-F238E27FC236}">
                <a16:creationId xmlns:a16="http://schemas.microsoft.com/office/drawing/2014/main" id="{FB494EAA-F818-BED4-667A-B0CB459ABED8}"/>
              </a:ext>
            </a:extLst>
          </p:cNvPr>
          <p:cNvSpPr txBox="1"/>
          <p:nvPr/>
        </p:nvSpPr>
        <p:spPr>
          <a:xfrm>
            <a:off x="4925870" y="6181761"/>
            <a:ext cx="2340253" cy="230832"/>
          </a:xfrm>
          <a:prstGeom prst="rect">
            <a:avLst/>
          </a:prstGeom>
          <a:noFill/>
        </p:spPr>
        <p:txBody>
          <a:bodyPr wrap="square" rtlCol="0" anchor="ctr">
            <a:spAutoFit/>
          </a:bodyPr>
          <a:lstStyle/>
          <a:p>
            <a:pPr algn="ctr"/>
            <a:r>
              <a:rPr lang="en-US" sz="900" dirty="0">
                <a:solidFill>
                  <a:schemeClr val="accent6">
                    <a:lumMod val="75000"/>
                  </a:schemeClr>
                </a:solidFill>
                <a:latin typeface="Helvetica" panose="020B0604020202020204" pitchFamily="34" charset="0"/>
              </a:rPr>
              <a:t>MEASURE_ACK</a:t>
            </a:r>
          </a:p>
        </p:txBody>
      </p:sp>
      <p:sp>
        <p:nvSpPr>
          <p:cNvPr id="4" name="กล่องข้อความ 3">
            <a:extLst>
              <a:ext uri="{FF2B5EF4-FFF2-40B4-BE49-F238E27FC236}">
                <a16:creationId xmlns:a16="http://schemas.microsoft.com/office/drawing/2014/main" id="{4FF2DB9A-316A-195C-9CDD-5DEC1978C1E8}"/>
              </a:ext>
            </a:extLst>
          </p:cNvPr>
          <p:cNvSpPr txBox="1">
            <a:spLocks/>
          </p:cNvSpPr>
          <p:nvPr/>
        </p:nvSpPr>
        <p:spPr>
          <a:xfrm>
            <a:off x="3507786" y="2653729"/>
            <a:ext cx="7690092" cy="2123658"/>
          </a:xfrm>
          <a:prstGeom prst="rect">
            <a:avLst/>
          </a:prstGeom>
          <a:noFill/>
        </p:spPr>
        <p:txBody>
          <a:bodyPr wrap="square" rtlCol="0">
            <a:spAutoFit/>
          </a:bodyPr>
          <a:lstStyle/>
          <a:p>
            <a:r>
              <a:rPr lang="th-TH" sz="6600" b="1" dirty="0">
                <a:solidFill>
                  <a:srgbClr val="002060"/>
                </a:solidFill>
                <a:latin typeface="Helvetica" panose="020B0604020202020204" pitchFamily="34" charset="0"/>
                <a:cs typeface="+mj-cs"/>
              </a:rPr>
              <a:t>ต้องเป็น </a:t>
            </a:r>
            <a:r>
              <a:rPr lang="en-US" sz="6600" b="1" dirty="0">
                <a:solidFill>
                  <a:srgbClr val="002060"/>
                </a:solidFill>
                <a:latin typeface="Helvetica" panose="020B0604020202020204" pitchFamily="34" charset="0"/>
                <a:cs typeface="+mj-cs"/>
              </a:rPr>
              <a:t>new process </a:t>
            </a:r>
            <a:r>
              <a:rPr lang="th-TH" sz="6600" b="1" dirty="0">
                <a:solidFill>
                  <a:srgbClr val="002060"/>
                </a:solidFill>
                <a:latin typeface="Helvetica" panose="020B0604020202020204" pitchFamily="34" charset="0"/>
                <a:cs typeface="+mj-cs"/>
              </a:rPr>
              <a:t>ของทั้งระบบ</a:t>
            </a:r>
          </a:p>
        </p:txBody>
      </p:sp>
    </p:spTree>
    <p:extLst>
      <p:ext uri="{BB962C8B-B14F-4D97-AF65-F5344CB8AC3E}">
        <p14:creationId xmlns:p14="http://schemas.microsoft.com/office/powerpoint/2010/main" val="19186487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CAE8A-107C-7754-4A34-3D562014277D}"/>
            </a:ext>
          </a:extLst>
        </p:cNvPr>
        <p:cNvGrpSpPr/>
        <p:nvPr/>
      </p:nvGrpSpPr>
      <p:grpSpPr>
        <a:xfrm>
          <a:off x="0" y="0"/>
          <a:ext cx="0" cy="0"/>
          <a:chOff x="0" y="0"/>
          <a:chExt cx="0" cy="0"/>
        </a:xfrm>
      </p:grpSpPr>
      <p:grpSp>
        <p:nvGrpSpPr>
          <p:cNvPr id="65" name="กลุ่ม 64">
            <a:extLst>
              <a:ext uri="{FF2B5EF4-FFF2-40B4-BE49-F238E27FC236}">
                <a16:creationId xmlns:a16="http://schemas.microsoft.com/office/drawing/2014/main" id="{B539B5E4-3B06-AADD-8A3B-AF6E0CE63E74}"/>
              </a:ext>
            </a:extLst>
          </p:cNvPr>
          <p:cNvGrpSpPr/>
          <p:nvPr/>
        </p:nvGrpSpPr>
        <p:grpSpPr>
          <a:xfrm>
            <a:off x="2738157" y="3873785"/>
            <a:ext cx="2340254" cy="628523"/>
            <a:chOff x="4655735" y="1082377"/>
            <a:chExt cx="1713921" cy="374663"/>
          </a:xfrm>
        </p:grpSpPr>
        <p:sp>
          <p:nvSpPr>
            <p:cNvPr id="64" name="Rectangle 160">
              <a:extLst>
                <a:ext uri="{FF2B5EF4-FFF2-40B4-BE49-F238E27FC236}">
                  <a16:creationId xmlns:a16="http://schemas.microsoft.com/office/drawing/2014/main" id="{AB75D3BA-F314-1802-9C37-4C58736D3C7A}"/>
                </a:ext>
              </a:extLst>
            </p:cNvPr>
            <p:cNvSpPr/>
            <p:nvPr/>
          </p:nvSpPr>
          <p:spPr>
            <a:xfrm>
              <a:off x="4655735" y="1082377"/>
              <a:ext cx="1713921" cy="37466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a:solidFill>
                  <a:srgbClr val="002060"/>
                </a:solidFill>
                <a:latin typeface="Helvetica" panose="020B0604020202020204" pitchFamily="34" charset="0"/>
              </a:endParaRPr>
            </a:p>
          </p:txBody>
        </p:sp>
        <p:sp>
          <p:nvSpPr>
            <p:cNvPr id="24" name="กล่องข้อความ 23">
              <a:extLst>
                <a:ext uri="{FF2B5EF4-FFF2-40B4-BE49-F238E27FC236}">
                  <a16:creationId xmlns:a16="http://schemas.microsoft.com/office/drawing/2014/main" id="{5646450E-E792-CDE3-E146-55749FA39D61}"/>
                </a:ext>
              </a:extLst>
            </p:cNvPr>
            <p:cNvSpPr txBox="1"/>
            <p:nvPr/>
          </p:nvSpPr>
          <p:spPr>
            <a:xfrm>
              <a:off x="4655736" y="1134522"/>
              <a:ext cx="1713920" cy="275199"/>
            </a:xfrm>
            <a:prstGeom prst="rect">
              <a:avLst/>
            </a:prstGeom>
            <a:noFill/>
          </p:spPr>
          <p:txBody>
            <a:bodyPr wrap="square" rtlCol="0" anchor="ctr">
              <a:spAutoFit/>
            </a:bodyPr>
            <a:lstStyle/>
            <a:p>
              <a:pPr algn="ctr"/>
              <a:r>
                <a:rPr lang="en-US" sz="1200" b="1" dirty="0">
                  <a:solidFill>
                    <a:srgbClr val="002060"/>
                  </a:solidFill>
                  <a:latin typeface="Helvetica" panose="020B0604020202020204" pitchFamily="34" charset="0"/>
                </a:rPr>
                <a:t>Sort Execute</a:t>
              </a:r>
            </a:p>
            <a:p>
              <a:pPr algn="ctr"/>
              <a:r>
                <a:rPr lang="en-US" sz="1200" dirty="0">
                  <a:solidFill>
                    <a:srgbClr val="002060"/>
                  </a:solidFill>
                  <a:latin typeface="Helvetica" panose="020B0604020202020204" pitchFamily="34" charset="0"/>
                </a:rPr>
                <a:t>Move tray</a:t>
              </a:r>
            </a:p>
          </p:txBody>
        </p:sp>
      </p:grpSp>
      <p:sp>
        <p:nvSpPr>
          <p:cNvPr id="5" name="สี่เหลี่ยมผืนผ้า: มุมมน 4">
            <a:extLst>
              <a:ext uri="{FF2B5EF4-FFF2-40B4-BE49-F238E27FC236}">
                <a16:creationId xmlns:a16="http://schemas.microsoft.com/office/drawing/2014/main" id="{964DEC5F-61B2-15B3-00CB-680BC457E071}"/>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pic>
        <p:nvPicPr>
          <p:cNvPr id="7" name="Picture 2" descr="Analog Devices | Disruptive Technology for Clinical Trials">
            <a:extLst>
              <a:ext uri="{FF2B5EF4-FFF2-40B4-BE49-F238E27FC236}">
                <a16:creationId xmlns:a16="http://schemas.microsoft.com/office/drawing/2014/main" id="{467559AB-FB08-EE47-36D1-5F6105EBFD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9" name="Picture 2" descr="LOGO_ENkku_color – Faculty of Engineering , Khon Kaen University">
            <a:extLst>
              <a:ext uri="{FF2B5EF4-FFF2-40B4-BE49-F238E27FC236}">
                <a16:creationId xmlns:a16="http://schemas.microsoft.com/office/drawing/2014/main" id="{357A4070-C9C8-8DC2-9998-E983A1529607}"/>
              </a:ext>
            </a:extLst>
          </p:cNvPr>
          <p:cNvPicPr>
            <a:picLocks noChangeAspect="1"/>
          </p:cNvPicPr>
          <p:nvPr/>
        </p:nvPicPr>
        <p:blipFill rotWithShape="1">
          <a:blip r:embed="rId3">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8" name="สี่เหลี่ยมผืนผ้า 7">
            <a:extLst>
              <a:ext uri="{FF2B5EF4-FFF2-40B4-BE49-F238E27FC236}">
                <a16:creationId xmlns:a16="http://schemas.microsoft.com/office/drawing/2014/main" id="{8F978298-807D-C565-888D-53C01B5E5711}"/>
              </a:ext>
            </a:extLst>
          </p:cNvPr>
          <p:cNvSpPr/>
          <p:nvPr/>
        </p:nvSpPr>
        <p:spPr>
          <a:xfrm>
            <a:off x="432246" y="533609"/>
            <a:ext cx="2365070" cy="473846"/>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000"/>
          </a:p>
        </p:txBody>
      </p:sp>
      <p:sp>
        <p:nvSpPr>
          <p:cNvPr id="11" name="สี่เหลี่ยมผืนผ้า 10">
            <a:extLst>
              <a:ext uri="{FF2B5EF4-FFF2-40B4-BE49-F238E27FC236}">
                <a16:creationId xmlns:a16="http://schemas.microsoft.com/office/drawing/2014/main" id="{6AE35D89-B1E0-97AD-DB13-1D526128D3CA}"/>
              </a:ext>
            </a:extLst>
          </p:cNvPr>
          <p:cNvSpPr/>
          <p:nvPr/>
        </p:nvSpPr>
        <p:spPr>
          <a:xfrm>
            <a:off x="432246" y="533609"/>
            <a:ext cx="127135" cy="473846"/>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2000"/>
          </a:p>
        </p:txBody>
      </p:sp>
      <p:sp>
        <p:nvSpPr>
          <p:cNvPr id="13" name="กล่องข้อความ 12">
            <a:extLst>
              <a:ext uri="{FF2B5EF4-FFF2-40B4-BE49-F238E27FC236}">
                <a16:creationId xmlns:a16="http://schemas.microsoft.com/office/drawing/2014/main" id="{5A77754C-C3AD-7739-9189-48B5827ACB6C}"/>
              </a:ext>
            </a:extLst>
          </p:cNvPr>
          <p:cNvSpPr txBox="1">
            <a:spLocks/>
          </p:cNvSpPr>
          <p:nvPr/>
        </p:nvSpPr>
        <p:spPr>
          <a:xfrm>
            <a:off x="627329" y="547772"/>
            <a:ext cx="2169987" cy="461665"/>
          </a:xfrm>
          <a:prstGeom prst="rect">
            <a:avLst/>
          </a:prstGeom>
          <a:noFill/>
        </p:spPr>
        <p:txBody>
          <a:bodyPr wrap="square" rtlCol="0">
            <a:spAutoFit/>
          </a:bodyPr>
          <a:lstStyle/>
          <a:p>
            <a:r>
              <a:rPr lang="en-US" sz="2400" b="1" dirty="0">
                <a:solidFill>
                  <a:srgbClr val="002060"/>
                </a:solidFill>
                <a:latin typeface="Helvetica" panose="020B0604020202020204" pitchFamily="34" charset="0"/>
                <a:cs typeface="Helvetica" panose="020B0604020202020204" pitchFamily="34" charset="0"/>
              </a:rPr>
              <a:t>Flow Process</a:t>
            </a:r>
            <a:endParaRPr lang="th-TH" sz="2400" b="1" dirty="0">
              <a:solidFill>
                <a:srgbClr val="002060"/>
              </a:solidFill>
              <a:latin typeface="Helvetica" panose="020B0604020202020204" pitchFamily="34" charset="0"/>
              <a:cs typeface="Mitr" panose="00000500000000000000" pitchFamily="2" charset="-34"/>
            </a:endParaRPr>
          </a:p>
        </p:txBody>
      </p:sp>
      <p:grpSp>
        <p:nvGrpSpPr>
          <p:cNvPr id="3" name="กลุ่ม 2">
            <a:extLst>
              <a:ext uri="{FF2B5EF4-FFF2-40B4-BE49-F238E27FC236}">
                <a16:creationId xmlns:a16="http://schemas.microsoft.com/office/drawing/2014/main" id="{0921190F-5B77-D501-426C-C59900B66DE5}"/>
              </a:ext>
            </a:extLst>
          </p:cNvPr>
          <p:cNvGrpSpPr/>
          <p:nvPr/>
        </p:nvGrpSpPr>
        <p:grpSpPr>
          <a:xfrm>
            <a:off x="2738157" y="1774599"/>
            <a:ext cx="2340254" cy="628523"/>
            <a:chOff x="4655735" y="1082377"/>
            <a:chExt cx="1713921" cy="374663"/>
          </a:xfrm>
        </p:grpSpPr>
        <p:sp>
          <p:nvSpPr>
            <p:cNvPr id="10" name="Rectangle 160">
              <a:extLst>
                <a:ext uri="{FF2B5EF4-FFF2-40B4-BE49-F238E27FC236}">
                  <a16:creationId xmlns:a16="http://schemas.microsoft.com/office/drawing/2014/main" id="{86DF0AB2-00FA-5288-81E1-76C650EA12E7}"/>
                </a:ext>
              </a:extLst>
            </p:cNvPr>
            <p:cNvSpPr/>
            <p:nvPr/>
          </p:nvSpPr>
          <p:spPr>
            <a:xfrm>
              <a:off x="4655735" y="1082377"/>
              <a:ext cx="1713921" cy="37466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a:solidFill>
                  <a:srgbClr val="002060"/>
                </a:solidFill>
                <a:latin typeface="Helvetica" panose="020B0604020202020204" pitchFamily="34" charset="0"/>
              </a:endParaRPr>
            </a:p>
          </p:txBody>
        </p:sp>
        <p:sp>
          <p:nvSpPr>
            <p:cNvPr id="12" name="กล่องข้อความ 11">
              <a:extLst>
                <a:ext uri="{FF2B5EF4-FFF2-40B4-BE49-F238E27FC236}">
                  <a16:creationId xmlns:a16="http://schemas.microsoft.com/office/drawing/2014/main" id="{02074D8B-7B3D-F23F-F32D-56C32279EC51}"/>
                </a:ext>
              </a:extLst>
            </p:cNvPr>
            <p:cNvSpPr txBox="1"/>
            <p:nvPr/>
          </p:nvSpPr>
          <p:spPr>
            <a:xfrm>
              <a:off x="4655736" y="1134522"/>
              <a:ext cx="1713920" cy="275199"/>
            </a:xfrm>
            <a:prstGeom prst="rect">
              <a:avLst/>
            </a:prstGeom>
            <a:noFill/>
          </p:spPr>
          <p:txBody>
            <a:bodyPr wrap="square" rtlCol="0" anchor="ctr">
              <a:spAutoFit/>
            </a:bodyPr>
            <a:lstStyle/>
            <a:p>
              <a:pPr algn="ctr"/>
              <a:r>
                <a:rPr lang="en-US" sz="1200" b="1" dirty="0">
                  <a:solidFill>
                    <a:srgbClr val="002060"/>
                  </a:solidFill>
                  <a:latin typeface="Helvetica" panose="020B0604020202020204" pitchFamily="34" charset="0"/>
                </a:rPr>
                <a:t>Push Part</a:t>
              </a:r>
            </a:p>
            <a:p>
              <a:pPr algn="ctr"/>
              <a:r>
                <a:rPr lang="en-US" sz="1200" dirty="0">
                  <a:solidFill>
                    <a:srgbClr val="002060"/>
                  </a:solidFill>
                  <a:latin typeface="Helvetica" panose="020B0604020202020204" pitchFamily="34" charset="0"/>
                </a:rPr>
                <a:t>Servo + limit switch</a:t>
              </a:r>
              <a:endParaRPr lang="th-TH" sz="1200" dirty="0">
                <a:solidFill>
                  <a:srgbClr val="002060"/>
                </a:solidFill>
                <a:latin typeface="Helvetica" panose="020B0604020202020204" pitchFamily="34" charset="0"/>
              </a:endParaRPr>
            </a:p>
          </p:txBody>
        </p:sp>
      </p:grpSp>
      <p:grpSp>
        <p:nvGrpSpPr>
          <p:cNvPr id="14" name="กลุ่ม 13">
            <a:extLst>
              <a:ext uri="{FF2B5EF4-FFF2-40B4-BE49-F238E27FC236}">
                <a16:creationId xmlns:a16="http://schemas.microsoft.com/office/drawing/2014/main" id="{C5B72140-0582-8245-B4DA-7473F434176C}"/>
              </a:ext>
            </a:extLst>
          </p:cNvPr>
          <p:cNvGrpSpPr/>
          <p:nvPr/>
        </p:nvGrpSpPr>
        <p:grpSpPr>
          <a:xfrm>
            <a:off x="2738157" y="2824192"/>
            <a:ext cx="2340254" cy="628523"/>
            <a:chOff x="4655735" y="1082377"/>
            <a:chExt cx="1713921" cy="374663"/>
          </a:xfrm>
        </p:grpSpPr>
        <p:sp>
          <p:nvSpPr>
            <p:cNvPr id="18" name="Rectangle 160">
              <a:extLst>
                <a:ext uri="{FF2B5EF4-FFF2-40B4-BE49-F238E27FC236}">
                  <a16:creationId xmlns:a16="http://schemas.microsoft.com/office/drawing/2014/main" id="{46F24CC3-AD2B-EB89-E180-2E019B35E60A}"/>
                </a:ext>
              </a:extLst>
            </p:cNvPr>
            <p:cNvSpPr/>
            <p:nvPr/>
          </p:nvSpPr>
          <p:spPr>
            <a:xfrm>
              <a:off x="4655735" y="1082377"/>
              <a:ext cx="1713921" cy="37466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a:solidFill>
                  <a:srgbClr val="002060"/>
                </a:solidFill>
                <a:latin typeface="Helvetica" panose="020B0604020202020204" pitchFamily="34" charset="0"/>
              </a:endParaRPr>
            </a:p>
          </p:txBody>
        </p:sp>
        <p:sp>
          <p:nvSpPr>
            <p:cNvPr id="19" name="กล่องข้อความ 18">
              <a:extLst>
                <a:ext uri="{FF2B5EF4-FFF2-40B4-BE49-F238E27FC236}">
                  <a16:creationId xmlns:a16="http://schemas.microsoft.com/office/drawing/2014/main" id="{160CF21D-5D4B-6E73-8E34-0DA2ACA28C9B}"/>
                </a:ext>
              </a:extLst>
            </p:cNvPr>
            <p:cNvSpPr txBox="1"/>
            <p:nvPr/>
          </p:nvSpPr>
          <p:spPr>
            <a:xfrm>
              <a:off x="4655736" y="1134522"/>
              <a:ext cx="1713920" cy="275199"/>
            </a:xfrm>
            <a:prstGeom prst="rect">
              <a:avLst/>
            </a:prstGeom>
            <a:noFill/>
          </p:spPr>
          <p:txBody>
            <a:bodyPr wrap="square" rtlCol="0" anchor="ctr">
              <a:spAutoFit/>
            </a:bodyPr>
            <a:lstStyle/>
            <a:p>
              <a:pPr algn="ctr"/>
              <a:r>
                <a:rPr lang="en-US" sz="1200" b="1" dirty="0">
                  <a:solidFill>
                    <a:srgbClr val="002060"/>
                  </a:solidFill>
                  <a:latin typeface="Helvetica" panose="020B0604020202020204" pitchFamily="34" charset="0"/>
                </a:rPr>
                <a:t>Wait Result</a:t>
              </a:r>
            </a:p>
            <a:p>
              <a:pPr algn="ctr"/>
              <a:r>
                <a:rPr lang="en-US" sz="1200" dirty="0">
                  <a:solidFill>
                    <a:srgbClr val="002060"/>
                  </a:solidFill>
                  <a:latin typeface="Helvetica" panose="020B0604020202020204" pitchFamily="34" charset="0"/>
                </a:rPr>
                <a:t>Good/NG</a:t>
              </a:r>
              <a:endParaRPr lang="th-TH" sz="1200" dirty="0">
                <a:solidFill>
                  <a:srgbClr val="002060"/>
                </a:solidFill>
                <a:latin typeface="Helvetica" panose="020B0604020202020204" pitchFamily="34" charset="0"/>
              </a:endParaRPr>
            </a:p>
          </p:txBody>
        </p:sp>
      </p:grpSp>
      <p:grpSp>
        <p:nvGrpSpPr>
          <p:cNvPr id="20" name="กลุ่ม 19">
            <a:extLst>
              <a:ext uri="{FF2B5EF4-FFF2-40B4-BE49-F238E27FC236}">
                <a16:creationId xmlns:a16="http://schemas.microsoft.com/office/drawing/2014/main" id="{EDD20980-3816-B383-9EDC-74EFE5B9B464}"/>
              </a:ext>
            </a:extLst>
          </p:cNvPr>
          <p:cNvGrpSpPr/>
          <p:nvPr/>
        </p:nvGrpSpPr>
        <p:grpSpPr>
          <a:xfrm>
            <a:off x="2738157" y="4923378"/>
            <a:ext cx="2340254" cy="628523"/>
            <a:chOff x="4655735" y="1082377"/>
            <a:chExt cx="1713921" cy="374663"/>
          </a:xfrm>
        </p:grpSpPr>
        <p:sp>
          <p:nvSpPr>
            <p:cNvPr id="21" name="Rectangle 160">
              <a:extLst>
                <a:ext uri="{FF2B5EF4-FFF2-40B4-BE49-F238E27FC236}">
                  <a16:creationId xmlns:a16="http://schemas.microsoft.com/office/drawing/2014/main" id="{4B61CB27-06F0-1B63-B976-5E85EE406484}"/>
                </a:ext>
              </a:extLst>
            </p:cNvPr>
            <p:cNvSpPr/>
            <p:nvPr/>
          </p:nvSpPr>
          <p:spPr>
            <a:xfrm>
              <a:off x="4655735" y="1082377"/>
              <a:ext cx="1713921" cy="37466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a:solidFill>
                  <a:srgbClr val="002060"/>
                </a:solidFill>
                <a:latin typeface="Helvetica" panose="020B0604020202020204" pitchFamily="34" charset="0"/>
              </a:endParaRPr>
            </a:p>
          </p:txBody>
        </p:sp>
        <p:sp>
          <p:nvSpPr>
            <p:cNvPr id="22" name="กล่องข้อความ 21">
              <a:extLst>
                <a:ext uri="{FF2B5EF4-FFF2-40B4-BE49-F238E27FC236}">
                  <a16:creationId xmlns:a16="http://schemas.microsoft.com/office/drawing/2014/main" id="{90B8F1FF-D97B-ED1E-CDE1-8533CEC29C06}"/>
                </a:ext>
              </a:extLst>
            </p:cNvPr>
            <p:cNvSpPr txBox="1"/>
            <p:nvPr/>
          </p:nvSpPr>
          <p:spPr>
            <a:xfrm>
              <a:off x="4655736" y="1189562"/>
              <a:ext cx="1713920" cy="165119"/>
            </a:xfrm>
            <a:prstGeom prst="rect">
              <a:avLst/>
            </a:prstGeom>
            <a:noFill/>
          </p:spPr>
          <p:txBody>
            <a:bodyPr wrap="square" rtlCol="0" anchor="ctr">
              <a:spAutoFit/>
            </a:bodyPr>
            <a:lstStyle/>
            <a:p>
              <a:pPr algn="ctr"/>
              <a:r>
                <a:rPr lang="en-US" sz="1200" b="1" dirty="0">
                  <a:solidFill>
                    <a:srgbClr val="002060"/>
                  </a:solidFill>
                  <a:latin typeface="Helvetica" panose="020B0604020202020204" pitchFamily="34" charset="0"/>
                </a:rPr>
                <a:t>Loop</a:t>
              </a:r>
              <a:endParaRPr lang="th-TH" sz="1200" dirty="0">
                <a:solidFill>
                  <a:srgbClr val="002060"/>
                </a:solidFill>
                <a:latin typeface="Helvetica" panose="020B0604020202020204" pitchFamily="34" charset="0"/>
              </a:endParaRPr>
            </a:p>
          </p:txBody>
        </p:sp>
      </p:grpSp>
      <p:sp>
        <p:nvSpPr>
          <p:cNvPr id="28" name="Rectangle 160">
            <a:extLst>
              <a:ext uri="{FF2B5EF4-FFF2-40B4-BE49-F238E27FC236}">
                <a16:creationId xmlns:a16="http://schemas.microsoft.com/office/drawing/2014/main" id="{5B63D35B-96C7-5A8A-8D93-0EB5EA26BF40}"/>
              </a:ext>
            </a:extLst>
          </p:cNvPr>
          <p:cNvSpPr/>
          <p:nvPr/>
        </p:nvSpPr>
        <p:spPr>
          <a:xfrm>
            <a:off x="7113591" y="1774600"/>
            <a:ext cx="2030410" cy="377730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1100" dirty="0">
              <a:solidFill>
                <a:srgbClr val="002060"/>
              </a:solidFill>
              <a:latin typeface="Helvetica" panose="020B0604020202020204" pitchFamily="34" charset="0"/>
            </a:endParaRPr>
          </a:p>
        </p:txBody>
      </p:sp>
      <p:sp>
        <p:nvSpPr>
          <p:cNvPr id="30" name="กล่องข้อความ 29">
            <a:extLst>
              <a:ext uri="{FF2B5EF4-FFF2-40B4-BE49-F238E27FC236}">
                <a16:creationId xmlns:a16="http://schemas.microsoft.com/office/drawing/2014/main" id="{EE6E7810-94DF-BD9E-5969-2FEB0B758BB9}"/>
              </a:ext>
            </a:extLst>
          </p:cNvPr>
          <p:cNvSpPr txBox="1"/>
          <p:nvPr/>
        </p:nvSpPr>
        <p:spPr>
          <a:xfrm>
            <a:off x="6958669" y="1862076"/>
            <a:ext cx="2340253" cy="461665"/>
          </a:xfrm>
          <a:prstGeom prst="rect">
            <a:avLst/>
          </a:prstGeom>
          <a:noFill/>
        </p:spPr>
        <p:txBody>
          <a:bodyPr wrap="square" rtlCol="0" anchor="ctr">
            <a:spAutoFit/>
          </a:bodyPr>
          <a:lstStyle/>
          <a:p>
            <a:pPr algn="ctr"/>
            <a:r>
              <a:rPr lang="en-US" sz="1200" b="1" dirty="0">
                <a:solidFill>
                  <a:schemeClr val="tx2">
                    <a:lumMod val="50000"/>
                    <a:lumOff val="50000"/>
                  </a:schemeClr>
                </a:solidFill>
                <a:latin typeface="Helvetica" panose="020B0604020202020204" pitchFamily="34" charset="0"/>
              </a:rPr>
              <a:t>Raspberry pi</a:t>
            </a:r>
          </a:p>
          <a:p>
            <a:pPr algn="ctr"/>
            <a:r>
              <a:rPr lang="en-US" sz="1200" dirty="0">
                <a:solidFill>
                  <a:schemeClr val="tx2">
                    <a:lumMod val="50000"/>
                    <a:lumOff val="50000"/>
                  </a:schemeClr>
                </a:solidFill>
                <a:latin typeface="Helvetica" panose="020B0604020202020204" pitchFamily="34" charset="0"/>
              </a:rPr>
              <a:t>Software/dashboard</a:t>
            </a:r>
            <a:endParaRPr lang="th-TH" sz="1200" dirty="0">
              <a:solidFill>
                <a:schemeClr val="tx2">
                  <a:lumMod val="50000"/>
                  <a:lumOff val="50000"/>
                </a:schemeClr>
              </a:solidFill>
              <a:latin typeface="Helvetica" panose="020B0604020202020204" pitchFamily="34" charset="0"/>
            </a:endParaRPr>
          </a:p>
        </p:txBody>
      </p:sp>
      <p:cxnSp>
        <p:nvCxnSpPr>
          <p:cNvPr id="40" name="ลูกศรเชื่อมต่อแบบตรง 39">
            <a:extLst>
              <a:ext uri="{FF2B5EF4-FFF2-40B4-BE49-F238E27FC236}">
                <a16:creationId xmlns:a16="http://schemas.microsoft.com/office/drawing/2014/main" id="{1909B1AC-2F3C-2ED6-5CB5-3CB48DA18215}"/>
              </a:ext>
            </a:extLst>
          </p:cNvPr>
          <p:cNvCxnSpPr>
            <a:cxnSpLocks/>
          </p:cNvCxnSpPr>
          <p:nvPr/>
        </p:nvCxnSpPr>
        <p:spPr>
          <a:xfrm flipH="1">
            <a:off x="5078411" y="3161089"/>
            <a:ext cx="2035180" cy="4047"/>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 name="กล่องข้อความ 3">
            <a:extLst>
              <a:ext uri="{FF2B5EF4-FFF2-40B4-BE49-F238E27FC236}">
                <a16:creationId xmlns:a16="http://schemas.microsoft.com/office/drawing/2014/main" id="{F383508C-000C-C53D-E44B-4F4C3DE93832}"/>
              </a:ext>
            </a:extLst>
          </p:cNvPr>
          <p:cNvSpPr txBox="1"/>
          <p:nvPr/>
        </p:nvSpPr>
        <p:spPr>
          <a:xfrm>
            <a:off x="2738158" y="5591592"/>
            <a:ext cx="2340253" cy="230832"/>
          </a:xfrm>
          <a:prstGeom prst="rect">
            <a:avLst/>
          </a:prstGeom>
          <a:noFill/>
        </p:spPr>
        <p:txBody>
          <a:bodyPr wrap="square" rtlCol="0" anchor="ctr">
            <a:spAutoFit/>
          </a:bodyPr>
          <a:lstStyle/>
          <a:p>
            <a:pPr algn="ctr"/>
            <a:r>
              <a:rPr lang="en-US" sz="900" dirty="0">
                <a:solidFill>
                  <a:srgbClr val="002060"/>
                </a:solidFill>
                <a:latin typeface="Helvetica" panose="020B0604020202020204" pitchFamily="34" charset="0"/>
              </a:rPr>
              <a:t>next part        back to detect part</a:t>
            </a:r>
          </a:p>
        </p:txBody>
      </p:sp>
      <p:cxnSp>
        <p:nvCxnSpPr>
          <p:cNvPr id="6" name="ลูกศรเชื่อมต่อแบบตรง 5">
            <a:extLst>
              <a:ext uri="{FF2B5EF4-FFF2-40B4-BE49-F238E27FC236}">
                <a16:creationId xmlns:a16="http://schemas.microsoft.com/office/drawing/2014/main" id="{4368D87D-5A8F-5A1C-6AE7-4300DEDC24DB}"/>
              </a:ext>
            </a:extLst>
          </p:cNvPr>
          <p:cNvCxnSpPr>
            <a:cxnSpLocks/>
          </p:cNvCxnSpPr>
          <p:nvPr/>
        </p:nvCxnSpPr>
        <p:spPr>
          <a:xfrm>
            <a:off x="3589971" y="5713469"/>
            <a:ext cx="162244" cy="0"/>
          </a:xfrm>
          <a:prstGeom prst="straightConnector1">
            <a:avLst/>
          </a:prstGeom>
          <a:ln w="12700">
            <a:solidFill>
              <a:srgbClr val="002060"/>
            </a:solidFill>
            <a:tailEnd type="arrow" w="sm" len="sm"/>
          </a:ln>
        </p:spPr>
        <p:style>
          <a:lnRef idx="2">
            <a:schemeClr val="accent1"/>
          </a:lnRef>
          <a:fillRef idx="0">
            <a:schemeClr val="accent1"/>
          </a:fillRef>
          <a:effectRef idx="1">
            <a:schemeClr val="accent1"/>
          </a:effectRef>
          <a:fontRef idx="minor">
            <a:schemeClr val="tx1"/>
          </a:fontRef>
        </p:style>
      </p:cxnSp>
      <p:cxnSp>
        <p:nvCxnSpPr>
          <p:cNvPr id="17" name="ลูกศรเชื่อมต่อแบบตรง 16">
            <a:extLst>
              <a:ext uri="{FF2B5EF4-FFF2-40B4-BE49-F238E27FC236}">
                <a16:creationId xmlns:a16="http://schemas.microsoft.com/office/drawing/2014/main" id="{DEC91D8C-4FE0-E8DE-5295-DB8253EA0804}"/>
              </a:ext>
            </a:extLst>
          </p:cNvPr>
          <p:cNvCxnSpPr>
            <a:cxnSpLocks/>
          </p:cNvCxnSpPr>
          <p:nvPr/>
        </p:nvCxnSpPr>
        <p:spPr>
          <a:xfrm>
            <a:off x="5078411" y="2110832"/>
            <a:ext cx="2035180" cy="4047"/>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ลูกศรเชื่อมต่อแบบตรง 28">
            <a:extLst>
              <a:ext uri="{FF2B5EF4-FFF2-40B4-BE49-F238E27FC236}">
                <a16:creationId xmlns:a16="http://schemas.microsoft.com/office/drawing/2014/main" id="{E8CC1D33-09FE-74DA-7D66-D764ADC779F3}"/>
              </a:ext>
            </a:extLst>
          </p:cNvPr>
          <p:cNvCxnSpPr>
            <a:endCxn id="18" idx="0"/>
          </p:cNvCxnSpPr>
          <p:nvPr/>
        </p:nvCxnSpPr>
        <p:spPr>
          <a:xfrm flipH="1">
            <a:off x="3908284" y="2403122"/>
            <a:ext cx="3316" cy="421070"/>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32" name="ลูกศรเชื่อมต่อแบบตรง 31">
            <a:extLst>
              <a:ext uri="{FF2B5EF4-FFF2-40B4-BE49-F238E27FC236}">
                <a16:creationId xmlns:a16="http://schemas.microsoft.com/office/drawing/2014/main" id="{52CD0735-74E4-693F-2F43-CEC58656BFC8}"/>
              </a:ext>
            </a:extLst>
          </p:cNvPr>
          <p:cNvCxnSpPr>
            <a:stCxn id="18" idx="2"/>
            <a:endCxn id="64" idx="0"/>
          </p:cNvCxnSpPr>
          <p:nvPr/>
        </p:nvCxnSpPr>
        <p:spPr>
          <a:xfrm>
            <a:off x="3908284" y="3452715"/>
            <a:ext cx="0" cy="421070"/>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34" name="ลูกศรเชื่อมต่อแบบตรง 33">
            <a:extLst>
              <a:ext uri="{FF2B5EF4-FFF2-40B4-BE49-F238E27FC236}">
                <a16:creationId xmlns:a16="http://schemas.microsoft.com/office/drawing/2014/main" id="{6B620EAA-38C5-9CB7-71CC-23B31BBEBB05}"/>
              </a:ext>
            </a:extLst>
          </p:cNvPr>
          <p:cNvCxnSpPr>
            <a:stCxn id="64" idx="2"/>
            <a:endCxn id="21" idx="0"/>
          </p:cNvCxnSpPr>
          <p:nvPr/>
        </p:nvCxnSpPr>
        <p:spPr>
          <a:xfrm>
            <a:off x="3908284" y="4502308"/>
            <a:ext cx="0" cy="421070"/>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sp>
        <p:nvSpPr>
          <p:cNvPr id="36" name="กล่องข้อความ 35">
            <a:extLst>
              <a:ext uri="{FF2B5EF4-FFF2-40B4-BE49-F238E27FC236}">
                <a16:creationId xmlns:a16="http://schemas.microsoft.com/office/drawing/2014/main" id="{B1619D17-DE05-F48E-BA45-0C571998796D}"/>
              </a:ext>
            </a:extLst>
          </p:cNvPr>
          <p:cNvSpPr txBox="1"/>
          <p:nvPr/>
        </p:nvSpPr>
        <p:spPr>
          <a:xfrm>
            <a:off x="4925873" y="1862076"/>
            <a:ext cx="2340253" cy="230832"/>
          </a:xfrm>
          <a:prstGeom prst="rect">
            <a:avLst/>
          </a:prstGeom>
          <a:noFill/>
        </p:spPr>
        <p:txBody>
          <a:bodyPr wrap="square" rtlCol="0" anchor="ctr">
            <a:spAutoFit/>
          </a:bodyPr>
          <a:lstStyle/>
          <a:p>
            <a:pPr algn="ctr"/>
            <a:r>
              <a:rPr lang="en-US" sz="900" dirty="0">
                <a:solidFill>
                  <a:srgbClr val="002060"/>
                </a:solidFill>
                <a:latin typeface="Helvetica" panose="020B0604020202020204" pitchFamily="34" charset="0"/>
              </a:rPr>
              <a:t>PUSHED_ACK</a:t>
            </a:r>
          </a:p>
        </p:txBody>
      </p:sp>
      <p:sp>
        <p:nvSpPr>
          <p:cNvPr id="38" name="กล่องข้อความ 37">
            <a:extLst>
              <a:ext uri="{FF2B5EF4-FFF2-40B4-BE49-F238E27FC236}">
                <a16:creationId xmlns:a16="http://schemas.microsoft.com/office/drawing/2014/main" id="{7D79869C-A08B-0BEB-FD50-7D7B7DCF43E6}"/>
              </a:ext>
            </a:extLst>
          </p:cNvPr>
          <p:cNvSpPr txBox="1"/>
          <p:nvPr/>
        </p:nvSpPr>
        <p:spPr>
          <a:xfrm>
            <a:off x="4925872" y="2905848"/>
            <a:ext cx="2340253" cy="230832"/>
          </a:xfrm>
          <a:prstGeom prst="rect">
            <a:avLst/>
          </a:prstGeom>
          <a:noFill/>
        </p:spPr>
        <p:txBody>
          <a:bodyPr wrap="square" rtlCol="0" anchor="ctr">
            <a:spAutoFit/>
          </a:bodyPr>
          <a:lstStyle/>
          <a:p>
            <a:pPr algn="ctr"/>
            <a:r>
              <a:rPr lang="en-US" sz="900" dirty="0">
                <a:solidFill>
                  <a:schemeClr val="accent6">
                    <a:lumMod val="75000"/>
                  </a:schemeClr>
                </a:solidFill>
                <a:latin typeface="Helvetica" panose="020B0604020202020204" pitchFamily="34" charset="0"/>
              </a:rPr>
              <a:t>RESULT GOOD/NG</a:t>
            </a:r>
          </a:p>
        </p:txBody>
      </p:sp>
      <p:cxnSp>
        <p:nvCxnSpPr>
          <p:cNvPr id="42" name="ลูกศรเชื่อมต่อแบบตรง 41">
            <a:extLst>
              <a:ext uri="{FF2B5EF4-FFF2-40B4-BE49-F238E27FC236}">
                <a16:creationId xmlns:a16="http://schemas.microsoft.com/office/drawing/2014/main" id="{E315E429-9949-0653-4F80-1C3978EDA7EA}"/>
              </a:ext>
            </a:extLst>
          </p:cNvPr>
          <p:cNvCxnSpPr/>
          <p:nvPr/>
        </p:nvCxnSpPr>
        <p:spPr>
          <a:xfrm flipH="1">
            <a:off x="3904968" y="1351755"/>
            <a:ext cx="3316" cy="421070"/>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07545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66A1A-CC7A-F6FA-50B3-13A08A498630}"/>
            </a:ext>
          </a:extLst>
        </p:cNvPr>
        <p:cNvGrpSpPr/>
        <p:nvPr/>
      </p:nvGrpSpPr>
      <p:grpSpPr>
        <a:xfrm>
          <a:off x="0" y="0"/>
          <a:ext cx="0" cy="0"/>
          <a:chOff x="0" y="0"/>
          <a:chExt cx="0" cy="0"/>
        </a:xfrm>
      </p:grpSpPr>
      <p:pic>
        <p:nvPicPr>
          <p:cNvPr id="5" name="Picture 2" descr="Analog Devices | Disruptive Technology for Clinical Trials">
            <a:extLst>
              <a:ext uri="{FF2B5EF4-FFF2-40B4-BE49-F238E27FC236}">
                <a16:creationId xmlns:a16="http://schemas.microsoft.com/office/drawing/2014/main" id="{52A18224-7442-5166-2377-CCA7CBFCFA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239546" y="43887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 name="Picture 2" descr="LOGO_ENkku_color – Faculty of Engineering , Khon Kaen University">
            <a:extLst>
              <a:ext uri="{FF2B5EF4-FFF2-40B4-BE49-F238E27FC236}">
                <a16:creationId xmlns:a16="http://schemas.microsoft.com/office/drawing/2014/main" id="{792F16E3-65E2-3C30-9854-DE0C82815FD6}"/>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411206" y="360124"/>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2">
            <a:extLst>
              <a:ext uri="{FF2B5EF4-FFF2-40B4-BE49-F238E27FC236}">
                <a16:creationId xmlns:a16="http://schemas.microsoft.com/office/drawing/2014/main" id="{5B6C31AD-58E4-4382-E5A8-F91E9BE6E3F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h-TH"/>
          </a:p>
        </p:txBody>
      </p:sp>
      <p:sp>
        <p:nvSpPr>
          <p:cNvPr id="54" name="TextBox 53">
            <a:extLst>
              <a:ext uri="{FF2B5EF4-FFF2-40B4-BE49-F238E27FC236}">
                <a16:creationId xmlns:a16="http://schemas.microsoft.com/office/drawing/2014/main" id="{16463F58-048B-A35A-26DC-E0455C992B0A}"/>
              </a:ext>
            </a:extLst>
          </p:cNvPr>
          <p:cNvSpPr txBox="1"/>
          <p:nvPr/>
        </p:nvSpPr>
        <p:spPr>
          <a:xfrm>
            <a:off x="809476" y="345626"/>
            <a:ext cx="6589699" cy="523220"/>
          </a:xfrm>
          <a:prstGeom prst="rect">
            <a:avLst/>
          </a:prstGeom>
          <a:noFill/>
        </p:spPr>
        <p:txBody>
          <a:bodyPr wrap="square">
            <a:spAutoFit/>
          </a:bodyPr>
          <a:lstStyle/>
          <a:p>
            <a:r>
              <a:rPr lang="th-TH" b="1" dirty="0" err="1">
                <a:solidFill>
                  <a:srgbClr val="002060"/>
                </a:solidFill>
                <a:latin typeface="Helvetica" panose="020B0604020202020204" pitchFamily="34" charset="0"/>
                <a:cs typeface="Mitr" panose="00000500000000000000" pitchFamily="2" charset="-34"/>
              </a:rPr>
              <a:t>Summ</a:t>
            </a:r>
            <a:r>
              <a:rPr lang="en-US" b="1" dirty="0">
                <a:solidFill>
                  <a:srgbClr val="002060"/>
                </a:solidFill>
                <a:latin typeface="Helvetica" panose="020B0604020202020204" pitchFamily="34" charset="0"/>
                <a:cs typeface="Mitr" panose="00000500000000000000" pitchFamily="2" charset="-34"/>
              </a:rPr>
              <a:t>ary</a:t>
            </a:r>
            <a:endParaRPr lang="th-TH" b="1" dirty="0">
              <a:solidFill>
                <a:srgbClr val="002060"/>
              </a:solidFill>
              <a:latin typeface="Helvetica" panose="020B0604020202020204" pitchFamily="34" charset="0"/>
              <a:cs typeface="Mitr" panose="00000500000000000000" pitchFamily="2" charset="-34"/>
            </a:endParaRPr>
          </a:p>
        </p:txBody>
      </p:sp>
      <p:sp>
        <p:nvSpPr>
          <p:cNvPr id="3" name="TextBox 2">
            <a:extLst>
              <a:ext uri="{FF2B5EF4-FFF2-40B4-BE49-F238E27FC236}">
                <a16:creationId xmlns:a16="http://schemas.microsoft.com/office/drawing/2014/main" id="{A0B13932-C9D5-5DB5-CC07-D787AAEFD267}"/>
              </a:ext>
            </a:extLst>
          </p:cNvPr>
          <p:cNvSpPr txBox="1"/>
          <p:nvPr/>
        </p:nvSpPr>
        <p:spPr>
          <a:xfrm>
            <a:off x="806632" y="1149860"/>
            <a:ext cx="10578735" cy="4832092"/>
          </a:xfrm>
          <a:prstGeom prst="rect">
            <a:avLst/>
          </a:prstGeom>
          <a:noFill/>
        </p:spPr>
        <p:txBody>
          <a:bodyPr wrap="square">
            <a:spAutoFit/>
          </a:bodyPr>
          <a:lstStyle/>
          <a:p>
            <a:pPr rtl="0">
              <a:buNone/>
            </a:pPr>
            <a:r>
              <a:rPr lang="th-TH" sz="1400" dirty="0"/>
              <a:t>	</a:t>
            </a:r>
            <a:r>
              <a:rPr lang="th-TH" sz="1400" dirty="0" err="1">
                <a:solidFill>
                  <a:srgbClr val="002060"/>
                </a:solidFill>
                <a:latin typeface="Helvetica" panose="020B0604020202020204" pitchFamily="34" charset="0"/>
              </a:rPr>
              <a:t>Today</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an</a:t>
            </a:r>
            <a:r>
              <a:rPr lang="th-TH" sz="1400" dirty="0">
                <a:solidFill>
                  <a:srgbClr val="002060"/>
                </a:solidFill>
                <a:latin typeface="Helvetica" panose="020B0604020202020204" pitchFamily="34" charset="0"/>
              </a:rPr>
              <a:t> ALPL </a:t>
            </a:r>
            <a:r>
              <a:rPr lang="th-TH" sz="1400" dirty="0" err="1">
                <a:solidFill>
                  <a:srgbClr val="002060"/>
                </a:solidFill>
                <a:latin typeface="Helvetica" panose="020B0604020202020204" pitchFamily="34" charset="0"/>
              </a:rPr>
              <a:t>is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taken</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out</a:t>
            </a:r>
            <a:r>
              <a:rPr lang="th-TH" sz="1400" dirty="0">
                <a:solidFill>
                  <a:srgbClr val="002060"/>
                </a:solidFill>
                <a:latin typeface="Helvetica" panose="020B0604020202020204" pitchFamily="34" charset="0"/>
              </a:rPr>
              <a:t> of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kit</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placed</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on</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glass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aligned</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by</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hand</a:t>
            </a:r>
            <a:r>
              <a:rPr lang="th-TH" sz="1400" dirty="0">
                <a:solidFill>
                  <a:srgbClr val="002060"/>
                </a:solidFill>
                <a:latin typeface="Helvetica" panose="020B0604020202020204" pitchFamily="34" charset="0"/>
              </a:rPr>
              <a:t> and </a:t>
            </a:r>
            <a:r>
              <a:rPr lang="th-TH" sz="1400" dirty="0" err="1">
                <a:solidFill>
                  <a:srgbClr val="002060"/>
                </a:solidFill>
                <a:latin typeface="Helvetica" panose="020B0604020202020204" pitchFamily="34" charset="0"/>
              </a:rPr>
              <a:t>matched</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to</a:t>
            </a:r>
            <a:r>
              <a:rPr lang="th-TH" sz="1400" dirty="0">
                <a:solidFill>
                  <a:srgbClr val="002060"/>
                </a:solidFill>
                <a:latin typeface="Helvetica" panose="020B0604020202020204" pitchFamily="34" charset="0"/>
              </a:rPr>
              <a:t> a </a:t>
            </a:r>
            <a:r>
              <a:rPr lang="th-TH" sz="1400" dirty="0" err="1">
                <a:solidFill>
                  <a:srgbClr val="002060"/>
                </a:solidFill>
                <a:latin typeface="Helvetica" panose="020B0604020202020204" pitchFamily="34" charset="0"/>
              </a:rPr>
              <a:t>program</a:t>
            </a:r>
            <a:r>
              <a:rPr lang="th-TH" sz="1400" dirty="0">
                <a:solidFill>
                  <a:srgbClr val="002060"/>
                </a:solidFill>
                <a:latin typeface="Helvetica" panose="020B0604020202020204" pitchFamily="34" charset="0"/>
              </a:rPr>
              <a:t>. The </a:t>
            </a:r>
            <a:r>
              <a:rPr lang="th-TH" sz="1400" dirty="0" err="1">
                <a:solidFill>
                  <a:srgbClr val="002060"/>
                </a:solidFill>
                <a:latin typeface="Helvetica" panose="020B0604020202020204" pitchFamily="34" charset="0"/>
              </a:rPr>
              <a:t>operator</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reads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each</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value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off</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screen</a:t>
            </a:r>
            <a:r>
              <a:rPr lang="th-TH" sz="1400" dirty="0">
                <a:solidFill>
                  <a:srgbClr val="002060"/>
                </a:solidFill>
                <a:latin typeface="Helvetica" panose="020B0604020202020204" pitchFamily="34" charset="0"/>
              </a:rPr>
              <a:t> and </a:t>
            </a:r>
            <a:r>
              <a:rPr lang="th-TH" sz="1400" dirty="0" err="1">
                <a:solidFill>
                  <a:srgbClr val="002060"/>
                </a:solidFill>
                <a:latin typeface="Helvetica" panose="020B0604020202020204" pitchFamily="34" charset="0"/>
              </a:rPr>
              <a:t>writes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it</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down</a:t>
            </a:r>
            <a:r>
              <a:rPr lang="th-TH" sz="1400" dirty="0">
                <a:solidFill>
                  <a:srgbClr val="002060"/>
                </a:solidFill>
                <a:latin typeface="Helvetica" panose="020B0604020202020204" pitchFamily="34" charset="0"/>
              </a:rPr>
              <a:t> — </a:t>
            </a:r>
            <a:r>
              <a:rPr lang="th-TH" sz="1400" dirty="0" err="1">
                <a:solidFill>
                  <a:srgbClr val="002060"/>
                </a:solidFill>
                <a:latin typeface="Helvetica" panose="020B0604020202020204" pitchFamily="34" charset="0"/>
              </a:rPr>
              <a:t>eight</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pieces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take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about</a:t>
            </a:r>
            <a:r>
              <a:rPr lang="th-TH" sz="1400" dirty="0">
                <a:solidFill>
                  <a:srgbClr val="002060"/>
                </a:solidFill>
                <a:latin typeface="Helvetica" panose="020B0604020202020204" pitchFamily="34" charset="0"/>
              </a:rPr>
              <a:t> 2.55 </a:t>
            </a:r>
            <a:r>
              <a:rPr lang="th-TH" sz="1400" dirty="0" err="1">
                <a:solidFill>
                  <a:srgbClr val="002060"/>
                </a:solidFill>
                <a:latin typeface="Helvetica" panose="020B0604020202020204" pitchFamily="34" charset="0"/>
              </a:rPr>
              <a:t>minutes</a:t>
            </a:r>
            <a:r>
              <a:rPr lang="th-TH" sz="1400" dirty="0">
                <a:solidFill>
                  <a:srgbClr val="002060"/>
                </a:solidFill>
                <a:latin typeface="Helvetica" panose="020B0604020202020204" pitchFamily="34" charset="0"/>
              </a:rPr>
              <a:t>.</a:t>
            </a:r>
          </a:p>
          <a:p>
            <a:pPr rtl="0">
              <a:buNone/>
            </a:pPr>
            <a:endParaRPr lang="th-TH" sz="1400" dirty="0">
              <a:solidFill>
                <a:srgbClr val="002060"/>
              </a:solidFill>
              <a:latin typeface="Helvetica" panose="020B0604020202020204" pitchFamily="34" charset="0"/>
            </a:endParaRPr>
          </a:p>
          <a:p>
            <a:pPr rtl="0">
              <a:buNone/>
            </a:pPr>
            <a:r>
              <a:rPr lang="th-TH" sz="1400" dirty="0">
                <a:solidFill>
                  <a:srgbClr val="002060"/>
                </a:solidFill>
                <a:latin typeface="Helvetica" panose="020B0604020202020204" pitchFamily="34" charset="0"/>
              </a:rPr>
              <a:t>	The </a:t>
            </a:r>
            <a:r>
              <a:rPr lang="th-TH" sz="1400" dirty="0" err="1">
                <a:solidFill>
                  <a:srgbClr val="002060"/>
                </a:solidFill>
                <a:latin typeface="Helvetica" panose="020B0604020202020204" pitchFamily="34" charset="0"/>
              </a:rPr>
              <a:t>trouble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where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those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records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end</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up</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They</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live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in</a:t>
            </a:r>
            <a:r>
              <a:rPr lang="th-TH" sz="1400" dirty="0">
                <a:solidFill>
                  <a:srgbClr val="002060"/>
                </a:solidFill>
                <a:latin typeface="Helvetica" panose="020B0604020202020204" pitchFamily="34" charset="0"/>
              </a:rPr>
              <a:t> Excel, </a:t>
            </a:r>
            <a:r>
              <a:rPr lang="th-TH" sz="1400" dirty="0" err="1">
                <a:solidFill>
                  <a:srgbClr val="002060"/>
                </a:solidFill>
                <a:latin typeface="Helvetica" panose="020B0604020202020204" pitchFamily="34" charset="0"/>
              </a:rPr>
              <a:t>split</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across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sheets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with</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no</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standard</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naming</a:t>
            </a:r>
            <a:r>
              <a:rPr lang="th-TH" sz="1400" dirty="0">
                <a:solidFill>
                  <a:srgbClr val="002060"/>
                </a:solidFill>
                <a:latin typeface="Helvetica" panose="020B0604020202020204" pitchFamily="34" charset="0"/>
              </a:rPr>
              <a:t>, and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specifications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are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not</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stored</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anywhere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central</a:t>
            </a:r>
            <a:r>
              <a:rPr lang="th-TH" sz="1400" dirty="0">
                <a:solidFill>
                  <a:srgbClr val="002060"/>
                </a:solidFill>
                <a:latin typeface="Helvetica" panose="020B0604020202020204" pitchFamily="34" charset="0"/>
              </a:rPr>
              <a:t> — </a:t>
            </a:r>
            <a:r>
              <a:rPr lang="th-TH" sz="1400" dirty="0" err="1">
                <a:solidFill>
                  <a:srgbClr val="002060"/>
                </a:solidFill>
                <a:latin typeface="Helvetica" panose="020B0604020202020204" pitchFamily="34" charset="0"/>
              </a:rPr>
              <a:t>to</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see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them</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you</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have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to</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go</a:t>
            </a:r>
            <a:r>
              <a:rPr lang="th-TH" sz="1400" dirty="0">
                <a:solidFill>
                  <a:srgbClr val="002060"/>
                </a:solidFill>
                <a:latin typeface="Helvetica" panose="020B0604020202020204" pitchFamily="34" charset="0"/>
              </a:rPr>
              <a:t> and </a:t>
            </a:r>
            <a:r>
              <a:rPr lang="th-TH" sz="1400" dirty="0" err="1">
                <a:solidFill>
                  <a:srgbClr val="002060"/>
                </a:solidFill>
                <a:latin typeface="Helvetica" panose="020B0604020202020204" pitchFamily="34" charset="0"/>
              </a:rPr>
              <a:t>ask</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operator</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Worse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numbers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themselves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cannot</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be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trusted</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we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found</a:t>
            </a:r>
            <a:r>
              <a:rPr lang="th-TH" sz="1400" dirty="0">
                <a:solidFill>
                  <a:srgbClr val="002060"/>
                </a:solidFill>
                <a:latin typeface="Helvetica" panose="020B0604020202020204" pitchFamily="34" charset="0"/>
              </a:rPr>
              <a:t> 700 of 1,978 </a:t>
            </a:r>
            <a:r>
              <a:rPr lang="th-TH" sz="1400" dirty="0" err="1">
                <a:solidFill>
                  <a:srgbClr val="002060"/>
                </a:solidFill>
                <a:latin typeface="Helvetica" panose="020B0604020202020204" pitchFamily="34" charset="0"/>
              </a:rPr>
              <a:t>parts</a:t>
            </a:r>
            <a:r>
              <a:rPr lang="th-TH" sz="1400" dirty="0">
                <a:solidFill>
                  <a:srgbClr val="002060"/>
                </a:solidFill>
                <a:latin typeface="Helvetica" panose="020B0604020202020204" pitchFamily="34" charset="0"/>
              </a:rPr>
              <a:t>, 35.39 </a:t>
            </a:r>
            <a:r>
              <a:rPr lang="th-TH" sz="1400" dirty="0" err="1">
                <a:solidFill>
                  <a:srgbClr val="002060"/>
                </a:solidFill>
                <a:latin typeface="Helvetica" panose="020B0604020202020204" pitchFamily="34" charset="0"/>
              </a:rPr>
              <a:t>percent</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recorded</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with</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wrong</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result</a:t>
            </a:r>
            <a:r>
              <a:rPr lang="th-TH" sz="1400" dirty="0">
                <a:solidFill>
                  <a:srgbClr val="002060"/>
                </a:solidFill>
                <a:latin typeface="Helvetica" panose="020B0604020202020204" pitchFamily="34" charset="0"/>
              </a:rPr>
              <a:t>.</a:t>
            </a:r>
          </a:p>
          <a:p>
            <a:pPr rtl="0">
              <a:buNone/>
            </a:pPr>
            <a:endParaRPr lang="th-TH" sz="1400" dirty="0">
              <a:solidFill>
                <a:srgbClr val="002060"/>
              </a:solidFill>
              <a:latin typeface="Helvetica" panose="020B0604020202020204" pitchFamily="34" charset="0"/>
            </a:endParaRPr>
          </a:p>
          <a:p>
            <a:pPr rtl="0">
              <a:buNone/>
            </a:pP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In</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new</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flow</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operator</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fills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in</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what</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being</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measured</a:t>
            </a:r>
            <a:r>
              <a:rPr lang="th-TH" sz="1400" dirty="0">
                <a:solidFill>
                  <a:srgbClr val="002060"/>
                </a:solidFill>
                <a:latin typeface="Helvetica" panose="020B0604020202020204" pitchFamily="34" charset="0"/>
              </a:rPr>
              <a:t> and </a:t>
            </a:r>
            <a:r>
              <a:rPr lang="th-TH" sz="1400" dirty="0" err="1">
                <a:solidFill>
                  <a:srgbClr val="002060"/>
                </a:solidFill>
                <a:latin typeface="Helvetica" panose="020B0604020202020204" pitchFamily="34" charset="0"/>
              </a:rPr>
              <a:t>presses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Start</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From</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there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edge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controller</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loads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program</a:t>
            </a:r>
            <a:r>
              <a:rPr lang="th-TH" sz="1400" dirty="0">
                <a:solidFill>
                  <a:srgbClr val="002060"/>
                </a:solidFill>
                <a:latin typeface="Helvetica" panose="020B0604020202020204" pitchFamily="34" charset="0"/>
              </a:rPr>
              <a:t> and </a:t>
            </a:r>
            <a:r>
              <a:rPr lang="th-TH" sz="1400" dirty="0" err="1">
                <a:solidFill>
                  <a:srgbClr val="002060"/>
                </a:solidFill>
                <a:latin typeface="Helvetica" panose="020B0604020202020204" pitchFamily="34" charset="0"/>
              </a:rPr>
              <a:t>triggers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each</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part</a:t>
            </a:r>
            <a:r>
              <a:rPr lang="th-TH" sz="1400" dirty="0">
                <a:solidFill>
                  <a:srgbClr val="002060"/>
                </a:solidFill>
                <a:latin typeface="Helvetica" panose="020B0604020202020204" pitchFamily="34" charset="0"/>
              </a:rPr>
              <a:t>, and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TM-X </a:t>
            </a:r>
            <a:r>
              <a:rPr lang="th-TH" sz="1400" dirty="0" err="1">
                <a:solidFill>
                  <a:srgbClr val="002060"/>
                </a:solidFill>
                <a:latin typeface="Helvetica" panose="020B0604020202020204" pitchFamily="34" charset="0"/>
              </a:rPr>
              <a:t>sends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value</a:t>
            </a:r>
            <a:r>
              <a:rPr lang="th-TH" sz="1400" dirty="0">
                <a:solidFill>
                  <a:srgbClr val="002060"/>
                </a:solidFill>
                <a:latin typeface="Helvetica" panose="020B0604020202020204" pitchFamily="34" charset="0"/>
              </a:rPr>
              <a:t> and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image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straight</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to</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PC. </a:t>
            </a:r>
            <a:r>
              <a:rPr lang="th-TH" sz="1400" dirty="0" err="1">
                <a:solidFill>
                  <a:srgbClr val="002060"/>
                </a:solidFill>
                <a:latin typeface="Helvetica" panose="020B0604020202020204" pitchFamily="34" charset="0"/>
              </a:rPr>
              <a:t>Nobody</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reads</a:t>
            </a:r>
            <a:r>
              <a:rPr lang="th-TH" sz="1400" dirty="0">
                <a:solidFill>
                  <a:srgbClr val="002060"/>
                </a:solidFill>
                <a:latin typeface="Helvetica" panose="020B0604020202020204" pitchFamily="34" charset="0"/>
              </a:rPr>
              <a:t> a </a:t>
            </a:r>
            <a:r>
              <a:rPr lang="th-TH" sz="1400" dirty="0" err="1">
                <a:solidFill>
                  <a:srgbClr val="002060"/>
                </a:solidFill>
                <a:latin typeface="Helvetica" panose="020B0604020202020204" pitchFamily="34" charset="0"/>
              </a:rPr>
              <a:t>number</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off</a:t>
            </a:r>
            <a:r>
              <a:rPr lang="th-TH" sz="1400" dirty="0">
                <a:solidFill>
                  <a:srgbClr val="002060"/>
                </a:solidFill>
                <a:latin typeface="Helvetica" panose="020B0604020202020204" pitchFamily="34" charset="0"/>
              </a:rPr>
              <a:t> a </a:t>
            </a:r>
            <a:r>
              <a:rPr lang="th-TH" sz="1400" dirty="0" err="1">
                <a:solidFill>
                  <a:srgbClr val="002060"/>
                </a:solidFill>
                <a:latin typeface="Helvetica" panose="020B0604020202020204" pitchFamily="34" charset="0"/>
              </a:rPr>
              <a:t>screen</a:t>
            </a:r>
            <a:r>
              <a:rPr lang="th-TH" sz="1400" dirty="0">
                <a:solidFill>
                  <a:srgbClr val="002060"/>
                </a:solidFill>
                <a:latin typeface="Helvetica" panose="020B0604020202020204" pitchFamily="34" charset="0"/>
              </a:rPr>
              <a:t>.</a:t>
            </a:r>
          </a:p>
          <a:p>
            <a:pPr rtl="0">
              <a:buNone/>
            </a:pPr>
            <a:endParaRPr lang="th-TH" sz="1400" dirty="0">
              <a:solidFill>
                <a:srgbClr val="002060"/>
              </a:solidFill>
              <a:latin typeface="Helvetica" panose="020B0604020202020204" pitchFamily="34" charset="0"/>
            </a:endParaRPr>
          </a:p>
          <a:p>
            <a:pPr rtl="0">
              <a:buNone/>
            </a:pPr>
            <a:r>
              <a:rPr lang="th-TH" sz="1400" dirty="0" err="1">
                <a:solidFill>
                  <a:srgbClr val="002060"/>
                </a:solidFill>
                <a:latin typeface="Helvetica" panose="020B0604020202020204" pitchFamily="34" charset="0"/>
              </a:rPr>
              <a:t>As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for</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scope</a:t>
            </a:r>
            <a:r>
              <a:rPr lang="th-TH" sz="1400" dirty="0">
                <a:solidFill>
                  <a:srgbClr val="002060"/>
                </a:solidFill>
                <a:latin typeface="Helvetica" panose="020B0604020202020204" pitchFamily="34" charset="0"/>
              </a:rPr>
              <a:t>, a </a:t>
            </a:r>
            <a:r>
              <a:rPr lang="th-TH" sz="1400" dirty="0" err="1">
                <a:solidFill>
                  <a:srgbClr val="002060"/>
                </a:solidFill>
                <a:latin typeface="Helvetica" panose="020B0604020202020204" pitchFamily="34" charset="0"/>
              </a:rPr>
              <a:t>week</a:t>
            </a:r>
            <a:r>
              <a:rPr lang="th-TH" sz="1400" dirty="0">
                <a:solidFill>
                  <a:srgbClr val="002060"/>
                </a:solidFill>
                <a:latin typeface="Helvetica" panose="020B0604020202020204" pitchFamily="34" charset="0"/>
              </a:rPr>
              <a:t> of </a:t>
            </a:r>
            <a:r>
              <a:rPr lang="th-TH" sz="1400" dirty="0" err="1">
                <a:solidFill>
                  <a:srgbClr val="002060"/>
                </a:solidFill>
                <a:latin typeface="Helvetica" panose="020B0604020202020204" pitchFamily="34" charset="0"/>
              </a:rPr>
              <a:t>records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showed</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HT </a:t>
            </a:r>
            <a:r>
              <a:rPr lang="th-TH" sz="1400" dirty="0" err="1">
                <a:solidFill>
                  <a:srgbClr val="002060"/>
                </a:solidFill>
                <a:latin typeface="Helvetica" panose="020B0604020202020204" pitchFamily="34" charset="0"/>
              </a:rPr>
              <a:t>shape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measured</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far</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more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often</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than</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others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so</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that</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where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system</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aimed</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first</a:t>
            </a:r>
            <a:r>
              <a:rPr lang="th-TH" sz="1400" dirty="0">
                <a:solidFill>
                  <a:srgbClr val="002060"/>
                </a:solidFill>
                <a:latin typeface="Helvetica" panose="020B0604020202020204" pitchFamily="34" charset="0"/>
              </a:rPr>
              <a:t>. And </a:t>
            </a:r>
            <a:r>
              <a:rPr lang="th-TH" sz="1400" dirty="0" err="1">
                <a:solidFill>
                  <a:srgbClr val="002060"/>
                </a:solidFill>
                <a:latin typeface="Helvetica" panose="020B0604020202020204" pitchFamily="34" charset="0"/>
              </a:rPr>
              <a:t>at</a:t>
            </a:r>
            <a:r>
              <a:rPr lang="th-TH" sz="1400" dirty="0">
                <a:solidFill>
                  <a:srgbClr val="002060"/>
                </a:solidFill>
                <a:latin typeface="Helvetica" panose="020B0604020202020204" pitchFamily="34" charset="0"/>
              </a:rPr>
              <a:t> 16 </a:t>
            </a:r>
            <a:r>
              <a:rPr lang="th-TH" sz="1400" dirty="0" err="1">
                <a:solidFill>
                  <a:srgbClr val="002060"/>
                </a:solidFill>
                <a:latin typeface="Helvetica" panose="020B0604020202020204" pitchFamily="34" charset="0"/>
              </a:rPr>
              <a:t>to</a:t>
            </a:r>
            <a:r>
              <a:rPr lang="th-TH" sz="1400" dirty="0">
                <a:solidFill>
                  <a:srgbClr val="002060"/>
                </a:solidFill>
                <a:latin typeface="Helvetica" panose="020B0604020202020204" pitchFamily="34" charset="0"/>
              </a:rPr>
              <a:t> 20 </a:t>
            </a:r>
            <a:r>
              <a:rPr lang="th-TH" sz="1400" dirty="0" err="1">
                <a:solidFill>
                  <a:srgbClr val="002060"/>
                </a:solidFill>
                <a:latin typeface="Helvetica" panose="020B0604020202020204" pitchFamily="34" charset="0"/>
              </a:rPr>
              <a:t>parts</a:t>
            </a:r>
            <a:r>
              <a:rPr lang="th-TH" sz="1400" dirty="0">
                <a:solidFill>
                  <a:srgbClr val="002060"/>
                </a:solidFill>
                <a:latin typeface="Helvetica" panose="020B0604020202020204" pitchFamily="34" charset="0"/>
              </a:rPr>
              <a:t> a </a:t>
            </a:r>
            <a:r>
              <a:rPr lang="th-TH" sz="1400" dirty="0" err="1">
                <a:solidFill>
                  <a:srgbClr val="002060"/>
                </a:solidFill>
                <a:latin typeface="Helvetica" panose="020B0604020202020204" pitchFamily="34" charset="0"/>
              </a:rPr>
              <a:t>day</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volume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small</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enough</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to</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run</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on</a:t>
            </a:r>
            <a:r>
              <a:rPr lang="th-TH" sz="1400" dirty="0">
                <a:solidFill>
                  <a:srgbClr val="002060"/>
                </a:solidFill>
                <a:latin typeface="Helvetica" panose="020B0604020202020204" pitchFamily="34" charset="0"/>
              </a:rPr>
              <a:t> a </a:t>
            </a:r>
            <a:r>
              <a:rPr lang="th-TH" sz="1400" dirty="0" err="1">
                <a:solidFill>
                  <a:srgbClr val="002060"/>
                </a:solidFill>
                <a:latin typeface="Helvetica" panose="020B0604020202020204" pitchFamily="34" charset="0"/>
              </a:rPr>
              <a:t>local</a:t>
            </a:r>
            <a:r>
              <a:rPr lang="th-TH" sz="1400" dirty="0">
                <a:solidFill>
                  <a:srgbClr val="002060"/>
                </a:solidFill>
                <a:latin typeface="Helvetica" panose="020B0604020202020204" pitchFamily="34" charset="0"/>
              </a:rPr>
              <a:t> PC </a:t>
            </a:r>
            <a:r>
              <a:rPr lang="th-TH" sz="1400" dirty="0" err="1">
                <a:solidFill>
                  <a:srgbClr val="002060"/>
                </a:solidFill>
                <a:latin typeface="Helvetica" panose="020B0604020202020204" pitchFamily="34" charset="0"/>
              </a:rPr>
              <a:t>beside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machine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so</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no</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company</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server</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was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needed</a:t>
            </a:r>
            <a:r>
              <a:rPr lang="th-TH" sz="1400" dirty="0">
                <a:solidFill>
                  <a:srgbClr val="002060"/>
                </a:solidFill>
                <a:latin typeface="Helvetica" panose="020B0604020202020204" pitchFamily="34" charset="0"/>
              </a:rPr>
              <a:t>.</a:t>
            </a:r>
          </a:p>
          <a:p>
            <a:pPr rtl="0">
              <a:buNone/>
            </a:pPr>
            <a:endParaRPr lang="th-TH" sz="1400" dirty="0">
              <a:solidFill>
                <a:srgbClr val="002060"/>
              </a:solidFill>
              <a:latin typeface="Helvetica" panose="020B0604020202020204" pitchFamily="34" charset="0"/>
            </a:endParaRPr>
          </a:p>
          <a:p>
            <a:pPr rtl="0">
              <a:buNone/>
            </a:pPr>
            <a:r>
              <a:rPr lang="th-TH" sz="1400" dirty="0">
                <a:solidFill>
                  <a:srgbClr val="002060"/>
                </a:solidFill>
                <a:latin typeface="Helvetica" panose="020B0604020202020204" pitchFamily="34" charset="0"/>
              </a:rPr>
              <a:t>	The </a:t>
            </a:r>
            <a:r>
              <a:rPr lang="th-TH" sz="1400" dirty="0" err="1">
                <a:solidFill>
                  <a:srgbClr val="002060"/>
                </a:solidFill>
                <a:latin typeface="Helvetica" panose="020B0604020202020204" pitchFamily="34" charset="0"/>
              </a:rPr>
              <a:t>system</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itself</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made</a:t>
            </a:r>
            <a:r>
              <a:rPr lang="th-TH" sz="1400" dirty="0">
                <a:solidFill>
                  <a:srgbClr val="002060"/>
                </a:solidFill>
                <a:latin typeface="Helvetica" panose="020B0604020202020204" pitchFamily="34" charset="0"/>
              </a:rPr>
              <a:t> of </a:t>
            </a:r>
            <a:r>
              <a:rPr lang="th-TH" sz="1400" dirty="0" err="1">
                <a:solidFill>
                  <a:srgbClr val="002060"/>
                </a:solidFill>
                <a:latin typeface="Helvetica" panose="020B0604020202020204" pitchFamily="34" charset="0"/>
              </a:rPr>
              <a:t>eight</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parts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web</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application</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core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service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data</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receiver</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image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server</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database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edge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controller</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Power BI </a:t>
            </a:r>
            <a:r>
              <a:rPr lang="th-TH" sz="1400" dirty="0" err="1">
                <a:solidFill>
                  <a:srgbClr val="002060"/>
                </a:solidFill>
                <a:latin typeface="Helvetica" panose="020B0604020202020204" pitchFamily="34" charset="0"/>
              </a:rPr>
              <a:t>dashboard</a:t>
            </a:r>
            <a:r>
              <a:rPr lang="th-TH" sz="1400" dirty="0">
                <a:solidFill>
                  <a:srgbClr val="002060"/>
                </a:solidFill>
                <a:latin typeface="Helvetica" panose="020B0604020202020204" pitchFamily="34" charset="0"/>
              </a:rPr>
              <a:t>, and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measuring</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program</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in</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TM-X.</a:t>
            </a:r>
          </a:p>
          <a:p>
            <a:pPr rtl="0">
              <a:buNone/>
            </a:pPr>
            <a:endParaRPr lang="th-TH" sz="1400" dirty="0">
              <a:solidFill>
                <a:srgbClr val="002060"/>
              </a:solidFill>
              <a:latin typeface="Helvetica" panose="020B0604020202020204" pitchFamily="34" charset="0"/>
            </a:endParaRPr>
          </a:p>
          <a:p>
            <a:pPr rtl="0">
              <a:buNone/>
            </a:pP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Four</a:t>
            </a:r>
            <a:r>
              <a:rPr lang="th-TH" sz="1400" dirty="0">
                <a:solidFill>
                  <a:srgbClr val="002060"/>
                </a:solidFill>
                <a:latin typeface="Helvetica" panose="020B0604020202020204" pitchFamily="34" charset="0"/>
              </a:rPr>
              <a:t> of </a:t>
            </a:r>
            <a:r>
              <a:rPr lang="th-TH" sz="1400" dirty="0" err="1">
                <a:solidFill>
                  <a:srgbClr val="002060"/>
                </a:solidFill>
                <a:latin typeface="Helvetica" panose="020B0604020202020204" pitchFamily="34" charset="0"/>
              </a:rPr>
              <a:t>those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are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finished</a:t>
            </a:r>
            <a:r>
              <a:rPr lang="th-TH" sz="1400" dirty="0">
                <a:solidFill>
                  <a:srgbClr val="002060"/>
                </a:solidFill>
                <a:latin typeface="Helvetica" panose="020B0604020202020204" pitchFamily="34" charset="0"/>
              </a:rPr>
              <a:t> —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core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service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data</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receiver</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image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server</a:t>
            </a:r>
            <a:r>
              <a:rPr lang="th-TH" sz="1400" dirty="0">
                <a:solidFill>
                  <a:srgbClr val="002060"/>
                </a:solidFill>
                <a:latin typeface="Helvetica" panose="020B0604020202020204" pitchFamily="34" charset="0"/>
              </a:rPr>
              <a:t> and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database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Three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are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on</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track</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web</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application</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still</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needs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its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interface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tidied</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edge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controller</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waiting</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on</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MCU, and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Power BI </a:t>
            </a:r>
            <a:r>
              <a:rPr lang="th-TH" sz="1400" dirty="0" err="1">
                <a:solidFill>
                  <a:srgbClr val="002060"/>
                </a:solidFill>
                <a:latin typeface="Helvetica" panose="020B0604020202020204" pitchFamily="34" charset="0"/>
              </a:rPr>
              <a:t>dashboard</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needs</a:t>
            </a:r>
            <a:r>
              <a:rPr lang="th-TH" sz="1400" dirty="0">
                <a:solidFill>
                  <a:srgbClr val="002060"/>
                </a:solidFill>
                <a:latin typeface="Helvetica" panose="020B0604020202020204" pitchFamily="34" charset="0"/>
              </a:rPr>
              <a:t> a </a:t>
            </a:r>
            <a:r>
              <a:rPr lang="th-TH" sz="1400" dirty="0" err="1">
                <a:solidFill>
                  <a:srgbClr val="002060"/>
                </a:solidFill>
                <a:latin typeface="Helvetica" panose="020B0604020202020204" pitchFamily="34" charset="0"/>
              </a:rPr>
              <a:t>shared</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filter</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Only</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measuring</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program</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in</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TM-X </a:t>
            </a:r>
            <a:r>
              <a:rPr lang="th-TH" sz="1400" dirty="0" err="1">
                <a:solidFill>
                  <a:srgbClr val="002060"/>
                </a:solidFill>
                <a:latin typeface="Helvetica" panose="020B0604020202020204" pitchFamily="34" charset="0"/>
              </a:rPr>
              <a:t>has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not</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started</a:t>
            </a:r>
            <a:r>
              <a:rPr lang="th-TH" sz="1400" dirty="0">
                <a:solidFill>
                  <a:srgbClr val="002060"/>
                </a:solidFill>
                <a:latin typeface="Helvetica" panose="020B0604020202020204" pitchFamily="34" charset="0"/>
              </a:rPr>
              <a:t>.</a:t>
            </a:r>
          </a:p>
          <a:p>
            <a:pPr rtl="0">
              <a:buNone/>
            </a:pPr>
            <a:endParaRPr lang="th-TH" sz="1400" dirty="0">
              <a:solidFill>
                <a:srgbClr val="002060"/>
              </a:solidFill>
              <a:latin typeface="Helvetica" panose="020B0604020202020204" pitchFamily="34" charset="0"/>
            </a:endParaRPr>
          </a:p>
          <a:p>
            <a:pPr rtl="0">
              <a:buNone/>
            </a:pP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That</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one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starts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today</a:t>
            </a:r>
            <a:r>
              <a:rPr lang="th-TH" sz="1400" dirty="0">
                <a:solidFill>
                  <a:srgbClr val="002060"/>
                </a:solidFill>
                <a:latin typeface="Helvetica" panose="020B0604020202020204" pitchFamily="34" charset="0"/>
              </a:rPr>
              <a:t>. And </a:t>
            </a:r>
            <a:r>
              <a:rPr lang="th-TH" sz="1400" dirty="0" err="1">
                <a:solidFill>
                  <a:srgbClr val="002060"/>
                </a:solidFill>
                <a:latin typeface="Helvetica" panose="020B0604020202020204" pitchFamily="34" charset="0"/>
              </a:rPr>
              <a:t>next</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week</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PC </a:t>
            </a:r>
            <a:r>
              <a:rPr lang="th-TH" sz="1400" dirty="0" err="1">
                <a:solidFill>
                  <a:srgbClr val="002060"/>
                </a:solidFill>
                <a:latin typeface="Helvetica" panose="020B0604020202020204" pitchFamily="34" charset="0"/>
              </a:rPr>
              <a:t>server</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goes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onto</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the</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floor</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so</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operators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can</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run</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real</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parts</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on</a:t>
            </a:r>
            <a:r>
              <a:rPr lang="th-TH" sz="1400" dirty="0">
                <a:solidFill>
                  <a:srgbClr val="002060"/>
                </a:solidFill>
                <a:latin typeface="Helvetica" panose="020B0604020202020204" pitchFamily="34" charset="0"/>
              </a:rPr>
              <a:t> </a:t>
            </a:r>
            <a:r>
              <a:rPr lang="th-TH" sz="1400" dirty="0" err="1">
                <a:solidFill>
                  <a:srgbClr val="002060"/>
                </a:solidFill>
                <a:latin typeface="Helvetica" panose="020B0604020202020204" pitchFamily="34" charset="0"/>
              </a:rPr>
              <a:t>it</a:t>
            </a:r>
            <a:r>
              <a:rPr lang="th-TH" sz="1400" dirty="0">
                <a:solidFill>
                  <a:srgbClr val="002060"/>
                </a:solidFill>
                <a:latin typeface="Helvetica" panose="020B0604020202020204" pitchFamily="34" charset="0"/>
              </a:rPr>
              <a:t>.</a:t>
            </a:r>
          </a:p>
        </p:txBody>
      </p:sp>
      <p:sp>
        <p:nvSpPr>
          <p:cNvPr id="4" name="สี่เหลี่ยมผืนผ้า: มุมมน 3">
            <a:extLst>
              <a:ext uri="{FF2B5EF4-FFF2-40B4-BE49-F238E27FC236}">
                <a16:creationId xmlns:a16="http://schemas.microsoft.com/office/drawing/2014/main" id="{AEC98107-3ECE-5BBC-BE53-7F3D0E430896}"/>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Tree>
    <p:extLst>
      <p:ext uri="{BB962C8B-B14F-4D97-AF65-F5344CB8AC3E}">
        <p14:creationId xmlns:p14="http://schemas.microsoft.com/office/powerpoint/2010/main" val="24088825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D02FA-CF1A-6E9B-5C01-76E231AEB74C}"/>
            </a:ext>
          </a:extLst>
        </p:cNvPr>
        <p:cNvGrpSpPr/>
        <p:nvPr/>
      </p:nvGrpSpPr>
      <p:grpSpPr>
        <a:xfrm>
          <a:off x="0" y="0"/>
          <a:ext cx="0" cy="0"/>
          <a:chOff x="0" y="0"/>
          <a:chExt cx="0" cy="0"/>
        </a:xfrm>
      </p:grpSpPr>
      <p:sp>
        <p:nvSpPr>
          <p:cNvPr id="5" name="สี่เหลี่ยมผืนผ้า: มุมมน 4">
            <a:extLst>
              <a:ext uri="{FF2B5EF4-FFF2-40B4-BE49-F238E27FC236}">
                <a16:creationId xmlns:a16="http://schemas.microsoft.com/office/drawing/2014/main" id="{154716A9-29D3-DB38-DC10-D5B6E6B13084}"/>
              </a:ext>
            </a:extLst>
          </p:cNvPr>
          <p:cNvSpPr/>
          <p:nvPr/>
        </p:nvSpPr>
        <p:spPr>
          <a:xfrm>
            <a:off x="0" y="6699539"/>
            <a:ext cx="12192000" cy="181610"/>
          </a:xfrm>
          <a:prstGeom prst="roundRect">
            <a:avLst>
              <a:gd name="adj" fmla="val 0"/>
            </a:avLst>
          </a:prstGeom>
          <a:gradFill flip="none" rotWithShape="1">
            <a:gsLst>
              <a:gs pos="0">
                <a:srgbClr val="00528A"/>
              </a:gs>
              <a:gs pos="66000">
                <a:srgbClr val="6290C5"/>
              </a:gs>
              <a:gs pos="100000">
                <a:srgbClr val="00528A">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sz="3200">
              <a:solidFill>
                <a:srgbClr val="00528A"/>
              </a:solidFill>
            </a:endParaRPr>
          </a:p>
        </p:txBody>
      </p:sp>
      <p:sp>
        <p:nvSpPr>
          <p:cNvPr id="7" name="สี่เหลี่ยมผืนผ้า 6">
            <a:extLst>
              <a:ext uri="{FF2B5EF4-FFF2-40B4-BE49-F238E27FC236}">
                <a16:creationId xmlns:a16="http://schemas.microsoft.com/office/drawing/2014/main" id="{A9823A30-CAE4-87F4-EBEB-E8A6EC330804}"/>
              </a:ext>
            </a:extLst>
          </p:cNvPr>
          <p:cNvSpPr/>
          <p:nvPr/>
        </p:nvSpPr>
        <p:spPr>
          <a:xfrm>
            <a:off x="432245" y="533608"/>
            <a:ext cx="2524316" cy="618321"/>
          </a:xfrm>
          <a:prstGeom prst="rect">
            <a:avLst/>
          </a:prstGeom>
          <a:solidFill>
            <a:srgbClr val="DCEAF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9" name="สี่เหลี่ยมผืนผ้า 8">
            <a:extLst>
              <a:ext uri="{FF2B5EF4-FFF2-40B4-BE49-F238E27FC236}">
                <a16:creationId xmlns:a16="http://schemas.microsoft.com/office/drawing/2014/main" id="{8100E814-5143-6585-95C2-E60891550C44}"/>
              </a:ext>
            </a:extLst>
          </p:cNvPr>
          <p:cNvSpPr/>
          <p:nvPr/>
        </p:nvSpPr>
        <p:spPr>
          <a:xfrm>
            <a:off x="432246" y="533608"/>
            <a:ext cx="132080" cy="61832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1" name="กล่องข้อความ 10">
            <a:extLst>
              <a:ext uri="{FF2B5EF4-FFF2-40B4-BE49-F238E27FC236}">
                <a16:creationId xmlns:a16="http://schemas.microsoft.com/office/drawing/2014/main" id="{24E04D08-4470-7818-E469-82595CB906B5}"/>
              </a:ext>
            </a:extLst>
          </p:cNvPr>
          <p:cNvSpPr txBox="1">
            <a:spLocks/>
          </p:cNvSpPr>
          <p:nvPr/>
        </p:nvSpPr>
        <p:spPr>
          <a:xfrm>
            <a:off x="798575" y="597115"/>
            <a:ext cx="1995426" cy="523220"/>
          </a:xfrm>
          <a:prstGeom prst="rect">
            <a:avLst/>
          </a:prstGeom>
          <a:noFill/>
        </p:spPr>
        <p:txBody>
          <a:bodyPr wrap="square" rtlCol="0">
            <a:spAutoFit/>
          </a:bodyPr>
          <a:lstStyle/>
          <a:p>
            <a:r>
              <a:rPr lang="en-US" b="1" dirty="0">
                <a:solidFill>
                  <a:srgbClr val="002060"/>
                </a:solidFill>
                <a:latin typeface="Helvetica" panose="020B0604020202020204" pitchFamily="34" charset="0"/>
                <a:cs typeface="Helvetica" panose="020B0604020202020204" pitchFamily="34" charset="0"/>
              </a:rPr>
              <a:t>Summary</a:t>
            </a:r>
            <a:endParaRPr lang="th-TH" b="1" dirty="0">
              <a:solidFill>
                <a:srgbClr val="002060"/>
              </a:solidFill>
              <a:latin typeface="Helvetica" panose="020B0604020202020204" pitchFamily="34" charset="0"/>
              <a:cs typeface="Mitr" panose="00000500000000000000" pitchFamily="2" charset="-34"/>
            </a:endParaRPr>
          </a:p>
        </p:txBody>
      </p:sp>
      <p:pic>
        <p:nvPicPr>
          <p:cNvPr id="13" name="Picture 2" descr="Analog Devices | Disruptive Technology for Clinical Trials">
            <a:extLst>
              <a:ext uri="{FF2B5EF4-FFF2-40B4-BE49-F238E27FC236}">
                <a16:creationId xmlns:a16="http://schemas.microsoft.com/office/drawing/2014/main" id="{BB96577E-EF3A-35B3-F0E5-DFBA9BBA35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154535" y="442731"/>
            <a:ext cx="1043343" cy="2973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5" name="Picture 2" descr="LOGO_ENkku_color – Faculty of Engineering , Khon Kaen University">
            <a:extLst>
              <a:ext uri="{FF2B5EF4-FFF2-40B4-BE49-F238E27FC236}">
                <a16:creationId xmlns:a16="http://schemas.microsoft.com/office/drawing/2014/main" id="{85A24B52-F526-9168-9F85-F106DB2D4CEA}"/>
              </a:ext>
            </a:extLst>
          </p:cNvPr>
          <p:cNvPicPr>
            <a:picLocks noChangeAspect="1"/>
          </p:cNvPicPr>
          <p:nvPr/>
        </p:nvPicPr>
        <p:blipFill rotWithShape="1">
          <a:blip r:embed="rId4">
            <a:extLst>
              <a:ext uri="{28A0092B-C50C-407E-A947-70E740481C1C}">
                <a14:useLocalDpi xmlns:a14="http://schemas.microsoft.com/office/drawing/2010/main" val="0"/>
              </a:ext>
            </a:extLst>
          </a:blip>
          <a:srcRect l="14714" r="14020"/>
          <a:stretch>
            <a:fillRect/>
          </a:stretch>
        </p:blipFill>
        <p:spPr bwMode="auto">
          <a:xfrm>
            <a:off x="11332548" y="369062"/>
            <a:ext cx="458542" cy="454849"/>
          </a:xfrm>
          <a:prstGeom prst="rect">
            <a:avLst/>
          </a:prstGeom>
          <a:noFill/>
          <a:extLst>
            <a:ext uri="{909E8E84-426E-40DD-AFC4-6F175D3DCCD1}">
              <a14:hiddenFill xmlns:a14="http://schemas.microsoft.com/office/drawing/2010/main">
                <a:solidFill>
                  <a:srgbClr val="FFFFFF"/>
                </a:solidFill>
              </a14:hiddenFill>
            </a:ext>
          </a:extLst>
        </p:spPr>
      </p:pic>
      <p:sp>
        <p:nvSpPr>
          <p:cNvPr id="3" name="กล่องข้อความ 2">
            <a:extLst>
              <a:ext uri="{FF2B5EF4-FFF2-40B4-BE49-F238E27FC236}">
                <a16:creationId xmlns:a16="http://schemas.microsoft.com/office/drawing/2014/main" id="{6C2E0225-A346-D5DD-8C9E-7C9B5C0102A3}"/>
              </a:ext>
            </a:extLst>
          </p:cNvPr>
          <p:cNvSpPr txBox="1"/>
          <p:nvPr/>
        </p:nvSpPr>
        <p:spPr>
          <a:xfrm>
            <a:off x="1206722" y="1611758"/>
            <a:ext cx="9991155" cy="3610732"/>
          </a:xfrm>
          <a:prstGeom prst="rect">
            <a:avLst/>
          </a:prstGeom>
          <a:noFill/>
        </p:spPr>
        <p:txBody>
          <a:bodyPr wrap="square">
            <a:spAutoFit/>
          </a:bodyPr>
          <a:lstStyle/>
          <a:p>
            <a:pPr>
              <a:lnSpc>
                <a:spcPct val="120000"/>
              </a:lnSpc>
            </a:pPr>
            <a:r>
              <a:rPr lang="en-US" sz="1600" dirty="0">
                <a:solidFill>
                  <a:srgbClr val="002060"/>
                </a:solidFill>
                <a:latin typeface="Helvetica" panose="020B0604020202020204" pitchFamily="34" charset="0"/>
                <a:cs typeface="Helvetica" panose="020B0604020202020204" pitchFamily="34" charset="0"/>
              </a:rPr>
              <a:t>	Tight ALPL tolerances are critical for reliable IC testing at ADI, but the current manual loading and sorting process causes inconsistent alignment and risks mixing Good/NG parts. This project addresses that by designing and building a semi-automated fixture and sorting system for the HT9046 platform.</a:t>
            </a:r>
          </a:p>
          <a:p>
            <a:pPr>
              <a:lnSpc>
                <a:spcPct val="120000"/>
              </a:lnSpc>
            </a:pPr>
            <a:endParaRPr lang="en-US" sz="1600" dirty="0">
              <a:solidFill>
                <a:srgbClr val="002060"/>
              </a:solidFill>
              <a:latin typeface="Helvetica" panose="020B0604020202020204" pitchFamily="34" charset="0"/>
              <a:cs typeface="Helvetica" panose="020B0604020202020204" pitchFamily="34" charset="0"/>
            </a:endParaRPr>
          </a:p>
          <a:p>
            <a:pPr marL="285750" indent="-285750">
              <a:lnSpc>
                <a:spcPct val="120000"/>
              </a:lnSpc>
              <a:buFont typeface="Arial" panose="020B0604020202020204" pitchFamily="34" charset="0"/>
              <a:buChar char="•"/>
            </a:pPr>
            <a:r>
              <a:rPr lang="en-US" sz="1600" dirty="0">
                <a:solidFill>
                  <a:srgbClr val="002060"/>
                </a:solidFill>
                <a:latin typeface="Helvetica" panose="020B0604020202020204" pitchFamily="34" charset="0"/>
                <a:cs typeface="Helvetica" panose="020B0604020202020204" pitchFamily="34" charset="0"/>
              </a:rPr>
              <a:t>Manual process relies on bare glass with no jig, placement angle/position depends entirely on operator skill</a:t>
            </a:r>
          </a:p>
          <a:p>
            <a:pPr marL="285750" indent="-285750">
              <a:lnSpc>
                <a:spcPct val="120000"/>
              </a:lnSpc>
              <a:buFont typeface="Arial" panose="020B0604020202020204" pitchFamily="34" charset="0"/>
              <a:buChar char="•"/>
            </a:pPr>
            <a:r>
              <a:rPr lang="en-US" sz="1600" dirty="0">
                <a:solidFill>
                  <a:srgbClr val="002060"/>
                </a:solidFill>
                <a:latin typeface="Helvetica" panose="020B0604020202020204" pitchFamily="34" charset="0"/>
                <a:cs typeface="Helvetica" panose="020B0604020202020204" pitchFamily="34" charset="0"/>
              </a:rPr>
              <a:t>No physical barrier between Good/NG parts during sorting, risking yield drops if NG parts slip into the line</a:t>
            </a:r>
          </a:p>
          <a:p>
            <a:pPr marL="285750" indent="-285750">
              <a:lnSpc>
                <a:spcPct val="120000"/>
              </a:lnSpc>
              <a:buFont typeface="Arial" panose="020B0604020202020204" pitchFamily="34" charset="0"/>
              <a:buChar char="•"/>
            </a:pPr>
            <a:r>
              <a:rPr lang="en-US" sz="1600" dirty="0">
                <a:solidFill>
                  <a:srgbClr val="002060"/>
                </a:solidFill>
                <a:latin typeface="Helvetica" panose="020B0604020202020204" pitchFamily="34" charset="0"/>
                <a:cs typeface="Helvetica" panose="020B0604020202020204" pitchFamily="34" charset="0"/>
              </a:rPr>
              <a:t>Focused on ALPL HT Shape (HT9046/HT9046MX), the highest-frequency and highest-quantity platform</a:t>
            </a:r>
          </a:p>
          <a:p>
            <a:pPr marL="285750" indent="-285750">
              <a:lnSpc>
                <a:spcPct val="120000"/>
              </a:lnSpc>
              <a:buFont typeface="Arial" panose="020B0604020202020204" pitchFamily="34" charset="0"/>
              <a:buChar char="•"/>
            </a:pPr>
            <a:r>
              <a:rPr lang="en-US" sz="1600" dirty="0">
                <a:solidFill>
                  <a:srgbClr val="002060"/>
                </a:solidFill>
                <a:latin typeface="Helvetica" panose="020B0604020202020204" pitchFamily="34" charset="0"/>
                <a:cs typeface="Helvetica" panose="020B0604020202020204" pitchFamily="34" charset="0"/>
              </a:rPr>
              <a:t>Designed 4 modules: Alignment Jig, Transition, Sorter, and Control &amp; Feedback</a:t>
            </a:r>
          </a:p>
          <a:p>
            <a:pPr marL="285750" indent="-285750">
              <a:lnSpc>
                <a:spcPct val="120000"/>
              </a:lnSpc>
              <a:buFont typeface="Arial" panose="020B0604020202020204" pitchFamily="34" charset="0"/>
              <a:buChar char="•"/>
            </a:pPr>
            <a:r>
              <a:rPr lang="en-US" sz="1600" dirty="0">
                <a:solidFill>
                  <a:srgbClr val="002060"/>
                </a:solidFill>
                <a:latin typeface="Helvetica" panose="020B0604020202020204" pitchFamily="34" charset="0"/>
                <a:cs typeface="Helvetica" panose="020B0604020202020204" pitchFamily="34" charset="0"/>
              </a:rPr>
              <a:t>Built hardware architecture and wiring diagram integrating Arduino Mega, Raspberry Pi, and the TM-X5065 camera</a:t>
            </a:r>
          </a:p>
          <a:p>
            <a:pPr marL="285750" indent="-285750">
              <a:lnSpc>
                <a:spcPct val="120000"/>
              </a:lnSpc>
              <a:buFont typeface="Arial" panose="020B0604020202020204" pitchFamily="34" charset="0"/>
              <a:buChar char="•"/>
            </a:pPr>
            <a:r>
              <a:rPr lang="en-US" sz="1600" dirty="0">
                <a:solidFill>
                  <a:srgbClr val="002060"/>
                </a:solidFill>
                <a:latin typeface="Helvetica" panose="020B0604020202020204" pitchFamily="34" charset="0"/>
                <a:cs typeface="Helvetica" panose="020B0604020202020204" pitchFamily="34" charset="0"/>
              </a:rPr>
              <a:t>Currently building and installing the physical prototype</a:t>
            </a:r>
          </a:p>
        </p:txBody>
      </p:sp>
    </p:spTree>
    <p:extLst>
      <p:ext uri="{BB962C8B-B14F-4D97-AF65-F5344CB8AC3E}">
        <p14:creationId xmlns:p14="http://schemas.microsoft.com/office/powerpoint/2010/main" val="425959348"/>
      </p:ext>
    </p:extLst>
  </p:cSld>
  <p:clrMapOvr>
    <a:masterClrMapping/>
  </p:clrMapOvr>
</p:sld>
</file>

<file path=ppt/theme/theme1.xml><?xml version="1.0" encoding="utf-8"?>
<a:theme xmlns:a="http://schemas.openxmlformats.org/drawingml/2006/main" name="ธีมของ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ธีมของ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TotalTime>
  <Words>8470</Words>
  <Application>Microsoft Office PowerPoint</Application>
  <PresentationFormat>Widescreen</PresentationFormat>
  <Paragraphs>976</Paragraphs>
  <Slides>58</Slides>
  <Notes>55</Notes>
  <HiddenSlides>3</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Aptos</vt:lpstr>
      <vt:lpstr>Aptos Display</vt:lpstr>
      <vt:lpstr>Arial</vt:lpstr>
      <vt:lpstr>FC Minimal</vt:lpstr>
      <vt:lpstr>Helvetica</vt:lpstr>
      <vt:lpstr>ธีมของ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Phubadine Mehom</dc:creator>
  <cp:lastModifiedBy>phubet jitpilia</cp:lastModifiedBy>
  <cp:revision>3</cp:revision>
  <dcterms:created xsi:type="dcterms:W3CDTF">2026-09-27T12:21:56Z</dcterms:created>
  <dcterms:modified xsi:type="dcterms:W3CDTF">2026-09-28T17:22:04Z</dcterms:modified>
</cp:coreProperties>
</file>